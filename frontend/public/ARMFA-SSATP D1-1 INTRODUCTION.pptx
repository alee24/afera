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62" r:id="rId5"/>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2192000" cy="6858000"/>
  <p:notesSz cx="6858000" cy="9144000"/>
  <p:embeddedFontLst>
    <p:embeddedFont>
      <p:font typeface="Play" pitchFamily="2" charset="0"/>
      <p:regular r:id="rId42"/>
      <p:bold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geQV3qqfN9aDnWuNUTxSU2cmj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E91C5B-582B-E341-8730-1BB403E8390C}" v="1" dt="2025-09-20T14:21:46.440"/>
  </p1510:revLst>
</p1510:revInfo>
</file>

<file path=ppt/tableStyles.xml><?xml version="1.0" encoding="utf-8"?>
<a:tblStyleLst xmlns:a="http://schemas.openxmlformats.org/drawingml/2006/main" def="{D279FA82-C67E-4F00-A040-18F45B381A43}">
  <a:tblStyle styleId="{D279FA82-C67E-4F00-A040-18F45B381A43}" styleName="Table_0">
    <a:wholeTbl>
      <a:tcTxStyle b="off" i="off">
        <a:font>
          <a:latin typeface="Verdana"/>
          <a:ea typeface="Verdana"/>
          <a:cs typeface="Verdana"/>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Verdana"/>
          <a:ea typeface="Verdana"/>
          <a:cs typeface="Verdana"/>
        </a:font>
        <a:srgbClr val="FFFFFF"/>
      </a:tcTxStyle>
      <a:tcStyle>
        <a:tcBdr/>
        <a:fill>
          <a:solidFill>
            <a:srgbClr val="4F81BD"/>
          </a:solidFill>
        </a:fill>
      </a:tcStyle>
    </a:lastCol>
    <a:firstCol>
      <a:tcTxStyle b="on" i="off">
        <a:font>
          <a:latin typeface="Verdana"/>
          <a:ea typeface="Verdana"/>
          <a:cs typeface="Verdana"/>
        </a:font>
        <a:srgbClr val="FFFFFF"/>
      </a:tcTxStyle>
      <a:tcStyle>
        <a:tcBdr/>
        <a:fill>
          <a:solidFill>
            <a:srgbClr val="4F81BD"/>
          </a:solidFill>
        </a:fill>
      </a:tcStyle>
    </a:firstCol>
    <a:lastRow>
      <a:tcTxStyle b="on" i="off">
        <a:font>
          <a:latin typeface="Verdana"/>
          <a:ea typeface="Verdana"/>
          <a:cs typeface="Verdana"/>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Verdana"/>
          <a:ea typeface="Verdana"/>
          <a:cs typeface="Verdana"/>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78D2BA57-521E-4D2C-BBA6-3BB788A7C9F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7F4BAB-E031-4B13-A655-99A20CF12724}" styleName="Table_2">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0"/>
  </p:normalViewPr>
  <p:slideViewPr>
    <p:cSldViewPr snapToGrid="0">
      <p:cViewPr varScale="1">
        <p:scale>
          <a:sx n="113" d="100"/>
          <a:sy n="113" d="100"/>
        </p:scale>
        <p:origin x="6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font" Target="fonts/font4.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2.fntdata"/><Relationship Id="rId48" Type="http://customschemas.google.com/relationships/presentationmetadata" Target="metadata"/><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5.fntdata"/><Relationship Id="rId20" Type="http://schemas.openxmlformats.org/officeDocument/2006/relationships/slide" Target="slides/slide15.xml"/><Relationship Id="rId41" Type="http://schemas.openxmlformats.org/officeDocument/2006/relationships/notesMaster" Target="notesMasters/notesMaster1.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DOVILLA JOSÉ" userId="3e432d2a-0840-4c3e-813e-0721a328213c" providerId="ADAL" clId="{74CA89A3-2F77-53C5-A871-4955137D542F}"/>
    <pc:docChg chg="modSld">
      <pc:chgData name="CORDOVILLA JOSÉ" userId="3e432d2a-0840-4c3e-813e-0721a328213c" providerId="ADAL" clId="{74CA89A3-2F77-53C5-A871-4955137D542F}" dt="2025-09-20T14:21:46.440" v="0" actId="18331"/>
      <pc:docMkLst>
        <pc:docMk/>
      </pc:docMkLst>
      <pc:sldChg chg="modSp">
        <pc:chgData name="CORDOVILLA JOSÉ" userId="3e432d2a-0840-4c3e-813e-0721a328213c" providerId="ADAL" clId="{74CA89A3-2F77-53C5-A871-4955137D542F}" dt="2025-09-20T14:21:46.440" v="0" actId="18331"/>
        <pc:sldMkLst>
          <pc:docMk/>
          <pc:sldMk cId="0" sldId="256"/>
        </pc:sldMkLst>
        <pc:picChg chg="mod">
          <ac:chgData name="CORDOVILLA JOSÉ" userId="3e432d2a-0840-4c3e-813e-0721a328213c" providerId="ADAL" clId="{74CA89A3-2F77-53C5-A871-4955137D542F}" dt="2025-09-20T14:21:46.440" v="0" actId="18331"/>
          <ac:picMkLst>
            <pc:docMk/>
            <pc:sldMk cId="0" sldId="256"/>
            <ac:picMk id="17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582182f26_1_3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582182f26_1_3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36582182f26_1_3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582182f2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6582182f2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36582182f26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582182f26_1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6582182f26_1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36582182f26_1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6582182f26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6582182f26_1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36582182f26_1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6582182f26_1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6582182f26_1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36582182f26_1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6582182f26_1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6582182f26_1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36582182f26_1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6582182f26_1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6582182f26_1_3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36582182f26_1_3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 name="Google Shape;3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6582182f26_1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6582182f26_1_3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g36582182f26_1_3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6582182f26_1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6582182f26_1_19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g36582182f26_1_19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6582182f26_1_2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6582182f26_1_2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g36582182f26_1_20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6582182f26_1_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6582182f26_1_2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g36582182f26_1_2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6582182f26_1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6582182f26_1_2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g36582182f26_1_2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6582182f26_1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6582182f26_1_2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g36582182f26_1_2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6582182f26_1_2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6582182f26_1_2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g36582182f26_1_2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6582182f26_1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6582182f26_1_3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g36582182f26_1_3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6582182f26_1_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6582182f26_1_2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g36582182f26_1_2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6582182f26_1_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6582182f26_1_2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g36582182f26_1_2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6582182f26_1_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36582182f26_1_2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g36582182f26_1_2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6582182f26_1_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6582182f26_1_2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g36582182f26_1_2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6582182f26_1_2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6582182f26_1_2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36582182f26_1_2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xto e Imagen 1">
  <p:cSld name="Texto e Imagen 1">
    <p:spTree>
      <p:nvGrpSpPr>
        <p:cNvPr id="1" name="Shape 16"/>
        <p:cNvGrpSpPr/>
        <p:nvPr/>
      </p:nvGrpSpPr>
      <p:grpSpPr>
        <a:xfrm>
          <a:off x="0" y="0"/>
          <a:ext cx="0" cy="0"/>
          <a:chOff x="0" y="0"/>
          <a:chExt cx="0" cy="0"/>
        </a:xfrm>
      </p:grpSpPr>
      <p:sp>
        <p:nvSpPr>
          <p:cNvPr id="17" name="Google Shape;17;p19"/>
          <p:cNvSpPr/>
          <p:nvPr/>
        </p:nvSpPr>
        <p:spPr>
          <a:xfrm>
            <a:off x="2" y="3"/>
            <a:ext cx="194471" cy="1028733"/>
          </a:xfrm>
          <a:prstGeom prst="rect">
            <a:avLst/>
          </a:prstGeom>
          <a:solidFill>
            <a:srgbClr val="E2081E"/>
          </a:solidFill>
          <a:ln>
            <a:noFill/>
          </a:ln>
        </p:spPr>
        <p:txBody>
          <a:bodyPr spcFirstLastPara="1" wrap="square" lIns="107250" tIns="53625" rIns="107250" bIns="5362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cxnSp>
        <p:nvCxnSpPr>
          <p:cNvPr id="18" name="Google Shape;18;p19"/>
          <p:cNvCxnSpPr/>
          <p:nvPr/>
        </p:nvCxnSpPr>
        <p:spPr>
          <a:xfrm>
            <a:off x="378184" y="1013409"/>
            <a:ext cx="11109067" cy="0"/>
          </a:xfrm>
          <a:prstGeom prst="straightConnector1">
            <a:avLst/>
          </a:prstGeom>
          <a:noFill/>
          <a:ln w="19050" cap="flat" cmpd="sng">
            <a:solidFill>
              <a:srgbClr val="D8D8D8"/>
            </a:solidFill>
            <a:prstDash val="dot"/>
            <a:miter lim="800000"/>
            <a:headEnd type="none" w="sm" len="sm"/>
            <a:tailEnd type="none" w="sm" len="sm"/>
          </a:ln>
        </p:spPr>
      </p:cxnSp>
      <p:pic>
        <p:nvPicPr>
          <p:cNvPr id="19" name="Google Shape;19;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730863" y="283908"/>
            <a:ext cx="919670" cy="546716"/>
          </a:xfrm>
          <a:prstGeom prst="rect">
            <a:avLst/>
          </a:prstGeom>
          <a:noFill/>
          <a:ln>
            <a:noFill/>
          </a:ln>
        </p:spPr>
      </p:pic>
      <p:pic>
        <p:nvPicPr>
          <p:cNvPr id="20" name="Google Shape;20;p19" descr="Home | SSATP"/>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9006589" y="283908"/>
            <a:ext cx="1562044" cy="546716"/>
          </a:xfrm>
          <a:prstGeom prst="rect">
            <a:avLst/>
          </a:prstGeom>
          <a:noFill/>
          <a:ln>
            <a:noFill/>
          </a:ln>
        </p:spPr>
      </p:pic>
      <p:pic>
        <p:nvPicPr>
          <p:cNvPr id="21" name="Google Shape;21;p19" descr="European Union Logo, symbol, meaning, history, PNG, bran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253882" y="338983"/>
            <a:ext cx="1562045" cy="46708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
        <p:nvSpPr>
          <p:cNvPr id="23" name="Google Shape;2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
        <p:cNvGrpSpPr/>
        <p:nvPr/>
      </p:nvGrpSpPr>
      <p:grpSpPr>
        <a:xfrm>
          <a:off x="0" y="0"/>
          <a:ext cx="0" cy="0"/>
          <a:chOff x="0" y="0"/>
          <a:chExt cx="0" cy="0"/>
        </a:xfrm>
      </p:grpSpPr>
      <p:sp>
        <p:nvSpPr>
          <p:cNvPr id="33" name="Google Shape;33;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1" name="Google Shape;4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a:spLocks noGrp="1"/>
          </p:cNvSpPr>
          <p:nvPr>
            <p:ph type="pic" idx="2"/>
          </p:nvPr>
        </p:nvSpPr>
        <p:spPr>
          <a:xfrm>
            <a:off x="5183188" y="987425"/>
            <a:ext cx="6172200" cy="4873625"/>
          </a:xfrm>
          <a:prstGeom prst="rect">
            <a:avLst/>
          </a:prstGeom>
          <a:noFill/>
          <a:ln>
            <a:noFill/>
          </a:ln>
        </p:spPr>
      </p:sp>
      <p:sp>
        <p:nvSpPr>
          <p:cNvPr id="75" name="Google Shape;75;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97"/>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exto e Imagen 1">
  <p:cSld name="Texto e Imagen 1">
    <p:spTree>
      <p:nvGrpSpPr>
        <p:cNvPr id="1" name="Shape 98"/>
        <p:cNvGrpSpPr/>
        <p:nvPr/>
      </p:nvGrpSpPr>
      <p:grpSpPr>
        <a:xfrm>
          <a:off x="0" y="0"/>
          <a:ext cx="0" cy="0"/>
          <a:chOff x="0" y="0"/>
          <a:chExt cx="0" cy="0"/>
        </a:xfrm>
      </p:grpSpPr>
      <p:sp>
        <p:nvSpPr>
          <p:cNvPr id="99" name="Google Shape;99;g36582182f26_1_275"/>
          <p:cNvSpPr/>
          <p:nvPr/>
        </p:nvSpPr>
        <p:spPr>
          <a:xfrm>
            <a:off x="2" y="3"/>
            <a:ext cx="194400" cy="1028700"/>
          </a:xfrm>
          <a:prstGeom prst="rect">
            <a:avLst/>
          </a:prstGeom>
          <a:solidFill>
            <a:srgbClr val="E2081E"/>
          </a:solidFill>
          <a:ln>
            <a:noFill/>
          </a:ln>
        </p:spPr>
        <p:txBody>
          <a:bodyPr spcFirstLastPara="1" wrap="square" lIns="107250" tIns="53625" rIns="107250" bIns="5362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cxnSp>
        <p:nvCxnSpPr>
          <p:cNvPr id="100" name="Google Shape;100;g36582182f26_1_275"/>
          <p:cNvCxnSpPr/>
          <p:nvPr/>
        </p:nvCxnSpPr>
        <p:spPr>
          <a:xfrm>
            <a:off x="378184" y="1013409"/>
            <a:ext cx="11109000" cy="0"/>
          </a:xfrm>
          <a:prstGeom prst="straightConnector1">
            <a:avLst/>
          </a:prstGeom>
          <a:noFill/>
          <a:ln w="19050" cap="flat" cmpd="sng">
            <a:solidFill>
              <a:srgbClr val="D8D8D8"/>
            </a:solidFill>
            <a:prstDash val="dot"/>
            <a:miter lim="800000"/>
            <a:headEnd type="none" w="sm" len="sm"/>
            <a:tailEnd type="none" w="sm" len="sm"/>
          </a:ln>
        </p:spPr>
      </p:cxnSp>
      <p:pic>
        <p:nvPicPr>
          <p:cNvPr id="101" name="Google Shape;101;g36582182f26_1_27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730863" y="283908"/>
            <a:ext cx="919670" cy="546716"/>
          </a:xfrm>
          <a:prstGeom prst="rect">
            <a:avLst/>
          </a:prstGeom>
          <a:noFill/>
          <a:ln>
            <a:noFill/>
          </a:ln>
        </p:spPr>
      </p:pic>
      <p:pic>
        <p:nvPicPr>
          <p:cNvPr id="102" name="Google Shape;102;g36582182f26_1_275" descr="Home | SSATP"/>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9006589" y="283908"/>
            <a:ext cx="1562044" cy="546716"/>
          </a:xfrm>
          <a:prstGeom prst="rect">
            <a:avLst/>
          </a:prstGeom>
          <a:noFill/>
          <a:ln>
            <a:noFill/>
          </a:ln>
        </p:spPr>
      </p:pic>
      <p:pic>
        <p:nvPicPr>
          <p:cNvPr id="103" name="Google Shape;103;g36582182f26_1_275" descr="European Union Logo, symbol, meaning, history, PNG, bran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253882" y="338983"/>
            <a:ext cx="1562045" cy="46708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105" name="Google Shape;105;g36582182f26_1_28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6582182f26_1_28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g36582182f26_1_28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8"/>
        <p:cNvGrpSpPr/>
        <p:nvPr/>
      </p:nvGrpSpPr>
      <p:grpSpPr>
        <a:xfrm>
          <a:off x="0" y="0"/>
          <a:ext cx="0" cy="0"/>
          <a:chOff x="0" y="0"/>
          <a:chExt cx="0" cy="0"/>
        </a:xfrm>
      </p:grpSpPr>
      <p:sp>
        <p:nvSpPr>
          <p:cNvPr id="109" name="Google Shape;109;g36582182f26_1_28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g36582182f26_1_28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6582182f26_1_28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g36582182f26_1_28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g36582182f26_1_28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4"/>
        <p:cNvGrpSpPr/>
        <p:nvPr/>
      </p:nvGrpSpPr>
      <p:grpSpPr>
        <a:xfrm>
          <a:off x="0" y="0"/>
          <a:ext cx="0" cy="0"/>
          <a:chOff x="0" y="0"/>
          <a:chExt cx="0" cy="0"/>
        </a:xfrm>
      </p:grpSpPr>
      <p:sp>
        <p:nvSpPr>
          <p:cNvPr id="115" name="Google Shape;115;g36582182f26_1_29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g36582182f26_1_29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7" name="Google Shape;117;g36582182f26_1_29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g36582182f26_1_29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6582182f26_1_29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0"/>
        <p:cNvGrpSpPr/>
        <p:nvPr/>
      </p:nvGrpSpPr>
      <p:grpSpPr>
        <a:xfrm>
          <a:off x="0" y="0"/>
          <a:ext cx="0" cy="0"/>
          <a:chOff x="0" y="0"/>
          <a:chExt cx="0" cy="0"/>
        </a:xfrm>
      </p:grpSpPr>
      <p:sp>
        <p:nvSpPr>
          <p:cNvPr id="121" name="Google Shape;121;g36582182f26_1_29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g36582182f26_1_29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123" name="Google Shape;123;g36582182f26_1_29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6582182f26_1_29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g36582182f26_1_29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6"/>
        <p:cNvGrpSpPr/>
        <p:nvPr/>
      </p:nvGrpSpPr>
      <p:grpSpPr>
        <a:xfrm>
          <a:off x="0" y="0"/>
          <a:ext cx="0" cy="0"/>
          <a:chOff x="0" y="0"/>
          <a:chExt cx="0" cy="0"/>
        </a:xfrm>
      </p:grpSpPr>
      <p:sp>
        <p:nvSpPr>
          <p:cNvPr id="127" name="Google Shape;127;g36582182f26_1_30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g36582182f26_1_303"/>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g36582182f26_1_303"/>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g36582182f26_1_30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6582182f26_1_30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g36582182f26_1_30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3"/>
        <p:cNvGrpSpPr/>
        <p:nvPr/>
      </p:nvGrpSpPr>
      <p:grpSpPr>
        <a:xfrm>
          <a:off x="0" y="0"/>
          <a:ext cx="0" cy="0"/>
          <a:chOff x="0" y="0"/>
          <a:chExt cx="0" cy="0"/>
        </a:xfrm>
      </p:grpSpPr>
      <p:sp>
        <p:nvSpPr>
          <p:cNvPr id="134" name="Google Shape;134;g36582182f26_1_310"/>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36582182f26_1_310"/>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6" name="Google Shape;136;g36582182f26_1_310"/>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g36582182f26_1_310"/>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8" name="Google Shape;138;g36582182f26_1_310"/>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9" name="Google Shape;139;g36582182f26_1_3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g36582182f26_1_3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36582182f26_1_3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2"/>
        <p:cNvGrpSpPr/>
        <p:nvPr/>
      </p:nvGrpSpPr>
      <p:grpSpPr>
        <a:xfrm>
          <a:off x="0" y="0"/>
          <a:ext cx="0" cy="0"/>
          <a:chOff x="0" y="0"/>
          <a:chExt cx="0" cy="0"/>
        </a:xfrm>
      </p:grpSpPr>
      <p:sp>
        <p:nvSpPr>
          <p:cNvPr id="143" name="Google Shape;143;g36582182f26_1_3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6582182f26_1_31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g36582182f26_1_31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g36582182f26_1_3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7"/>
        <p:cNvGrpSpPr/>
        <p:nvPr/>
      </p:nvGrpSpPr>
      <p:grpSpPr>
        <a:xfrm>
          <a:off x="0" y="0"/>
          <a:ext cx="0" cy="0"/>
          <a:chOff x="0" y="0"/>
          <a:chExt cx="0" cy="0"/>
        </a:xfrm>
      </p:grpSpPr>
      <p:sp>
        <p:nvSpPr>
          <p:cNvPr id="148" name="Google Shape;148;g36582182f26_1_3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6582182f26_1_32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50" name="Google Shape;150;g36582182f26_1_32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1" name="Google Shape;151;g36582182f26_1_3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g36582182f26_1_3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36582182f26_1_3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4"/>
        <p:cNvGrpSpPr/>
        <p:nvPr/>
      </p:nvGrpSpPr>
      <p:grpSpPr>
        <a:xfrm>
          <a:off x="0" y="0"/>
          <a:ext cx="0" cy="0"/>
          <a:chOff x="0" y="0"/>
          <a:chExt cx="0" cy="0"/>
        </a:xfrm>
      </p:grpSpPr>
      <p:sp>
        <p:nvSpPr>
          <p:cNvPr id="155" name="Google Shape;155;g36582182f26_1_33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g36582182f26_1_331"/>
          <p:cNvSpPr>
            <a:spLocks noGrp="1"/>
          </p:cNvSpPr>
          <p:nvPr>
            <p:ph type="pic" idx="2"/>
          </p:nvPr>
        </p:nvSpPr>
        <p:spPr>
          <a:xfrm>
            <a:off x="5183188" y="987425"/>
            <a:ext cx="6172200" cy="4873500"/>
          </a:xfrm>
          <a:prstGeom prst="rect">
            <a:avLst/>
          </a:prstGeom>
          <a:noFill/>
          <a:ln>
            <a:noFill/>
          </a:ln>
        </p:spPr>
      </p:sp>
      <p:sp>
        <p:nvSpPr>
          <p:cNvPr id="157" name="Google Shape;157;g36582182f26_1_33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8" name="Google Shape;158;g36582182f26_1_3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g36582182f26_1_3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g36582182f26_1_3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1"/>
        <p:cNvGrpSpPr/>
        <p:nvPr/>
      </p:nvGrpSpPr>
      <p:grpSpPr>
        <a:xfrm>
          <a:off x="0" y="0"/>
          <a:ext cx="0" cy="0"/>
          <a:chOff x="0" y="0"/>
          <a:chExt cx="0" cy="0"/>
        </a:xfrm>
      </p:grpSpPr>
      <p:sp>
        <p:nvSpPr>
          <p:cNvPr id="162" name="Google Shape;162;g36582182f26_1_3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g36582182f26_1_33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g36582182f26_1_33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g36582182f26_1_33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g36582182f26_1_33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7"/>
        <p:cNvGrpSpPr/>
        <p:nvPr/>
      </p:nvGrpSpPr>
      <p:grpSpPr>
        <a:xfrm>
          <a:off x="0" y="0"/>
          <a:ext cx="0" cy="0"/>
          <a:chOff x="0" y="0"/>
          <a:chExt cx="0" cy="0"/>
        </a:xfrm>
      </p:grpSpPr>
      <p:sp>
        <p:nvSpPr>
          <p:cNvPr id="168" name="Google Shape;168;g36582182f26_1_34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g36582182f26_1_34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0" name="Google Shape;170;g36582182f26_1_34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g36582182f26_1_34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g36582182f26_1_34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
        <p:cNvGrpSpPr/>
        <p:nvPr/>
      </p:nvGrpSpPr>
      <p:grpSpPr>
        <a:xfrm>
          <a:off x="0" y="0"/>
          <a:ext cx="0" cy="0"/>
          <a:chOff x="0" y="0"/>
          <a:chExt cx="0" cy="0"/>
        </a:xfrm>
      </p:grpSpPr>
      <p:sp>
        <p:nvSpPr>
          <p:cNvPr id="92" name="Google Shape;92;g36582182f26_1_26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3" name="Google Shape;93;g36582182f26_1_26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4" name="Google Shape;94;g36582182f26_1_26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5" name="Google Shape;95;g36582182f26_1_26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6" name="Google Shape;96;g36582182f26_1_26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8" Type="http://schemas.openxmlformats.org/officeDocument/2006/relationships/hyperlink" Target="https://docs.google.com/document/d/1XIOsWOr3hR-bnxGIXVNp8ntIsghxLO0oFc4CV5t24h0/edit?tab=t.0#heading=h.vtyk12708xeu" TargetMode="External"/><Relationship Id="rId3" Type="http://schemas.openxmlformats.org/officeDocument/2006/relationships/hyperlink" Target="https://docs.google.com/document/d/1XIOsWOr3hR-bnxGIXVNp8ntIsghxLO0oFc4CV5t24h0/edit?tab=t.0#heading=h.5e6elr1717kp" TargetMode="External"/><Relationship Id="rId7" Type="http://schemas.openxmlformats.org/officeDocument/2006/relationships/hyperlink" Target="https://docs.google.com/document/d/1XIOsWOr3hR-bnxGIXVNp8ntIsghxLO0oFc4CV5t24h0/edit?tab=t.0#heading=h.cz7ut6zdi65e" TargetMode="External"/><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hyperlink" Target="https://docs.google.com/document/d/1XIOsWOr3hR-bnxGIXVNp8ntIsghxLO0oFc4CV5t24h0/edit?tab=t.0#heading=h.vh4esdoq2i4l" TargetMode="External"/><Relationship Id="rId5" Type="http://schemas.openxmlformats.org/officeDocument/2006/relationships/hyperlink" Target="https://docs.google.com/document/d/1XIOsWOr3hR-bnxGIXVNp8ntIsghxLO0oFc4CV5t24h0/edit?tab=t.0#heading=h.lvgowqw7mf1w" TargetMode="External"/><Relationship Id="rId10" Type="http://schemas.openxmlformats.org/officeDocument/2006/relationships/hyperlink" Target="https://docs.google.com/document/d/1XIOsWOr3hR-bnxGIXVNp8ntIsghxLO0oFc4CV5t24h0/edit?tab=t.0#heading=h.xp77ja10a1ql" TargetMode="External"/><Relationship Id="rId4" Type="http://schemas.openxmlformats.org/officeDocument/2006/relationships/hyperlink" Target="https://docs.google.com/document/d/1XIOsWOr3hR-bnxGIXVNp8ntIsghxLO0oFc4CV5t24h0/edit?tab=t.0#heading=h.aze9em7qtqcm" TargetMode="External"/><Relationship Id="rId9" Type="http://schemas.openxmlformats.org/officeDocument/2006/relationships/hyperlink" Target="https://docs.google.com/document/d/1XIOsWOr3hR-bnxGIXVNp8ntIsghxLO0oFc4CV5t24h0/edit?tab=t.0#heading=h.2tpl8jo6tbuy"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5e6elr1717kp"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lvgowqw7mf1w" TargetMode="External"/><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vh4esdoq2i4l" TargetMode="External"/><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cz7ut6zdi65e" TargetMode="External"/><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nxiksgudq17i" TargetMode="External"/><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vtyk12708xeu" TargetMode="External"/><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2tpl8jo6tbuy" TargetMode="External"/><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hyperlink" Target="https://docs.google.com/document/d/1XIOsWOr3hR-bnxGIXVNp8ntIsghxLO0oFc4CV5t24h0/edit?tab=t.0#heading=h.xp77ja10a1ql" TargetMode="External"/><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8" Type="http://schemas.openxmlformats.org/officeDocument/2006/relationships/hyperlink" Target="mailto:epinero@typsa.es" TargetMode="External"/><Relationship Id="rId3" Type="http://schemas.openxmlformats.org/officeDocument/2006/relationships/image" Target="../media/image5.png"/><Relationship Id="rId7" Type="http://schemas.openxmlformats.org/officeDocument/2006/relationships/hyperlink" Target="mailto:jcordovilla@typsa.es"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jpeg"/><Relationship Id="rId11" Type="http://schemas.openxmlformats.org/officeDocument/2006/relationships/hyperlink" Target="mailto:annstellahwanjiru@gmail.com" TargetMode="External"/><Relationship Id="rId5" Type="http://schemas.openxmlformats.org/officeDocument/2006/relationships/image" Target="../media/image2.png"/><Relationship Id="rId10" Type="http://schemas.openxmlformats.org/officeDocument/2006/relationships/hyperlink" Target="mailto:mniatymouamba@gmail.com" TargetMode="External"/><Relationship Id="rId4" Type="http://schemas.openxmlformats.org/officeDocument/2006/relationships/image" Target="../media/image1.png"/><Relationship Id="rId9" Type="http://schemas.openxmlformats.org/officeDocument/2006/relationships/hyperlink" Target="mailto:Sid.boubekeur3@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 descr="Una carretera con pasto alrededo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1019175"/>
            <a:ext cx="12192000" cy="5226248"/>
          </a:xfrm>
          <a:prstGeom prst="rect">
            <a:avLst/>
          </a:prstGeom>
          <a:noFill/>
          <a:ln>
            <a:noFill/>
          </a:ln>
        </p:spPr>
      </p:pic>
      <p:pic>
        <p:nvPicPr>
          <p:cNvPr id="179" name="Google Shape;179;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0" y="0"/>
            <a:ext cx="10399059" cy="1019175"/>
          </a:xfrm>
          <a:prstGeom prst="rect">
            <a:avLst/>
          </a:prstGeom>
          <a:noFill/>
          <a:ln>
            <a:noFill/>
          </a:ln>
        </p:spPr>
      </p:pic>
      <p:sp>
        <p:nvSpPr>
          <p:cNvPr id="180" name="Google Shape;180;p1"/>
          <p:cNvSpPr/>
          <p:nvPr/>
        </p:nvSpPr>
        <p:spPr>
          <a:xfrm>
            <a:off x="4381826" y="1727953"/>
            <a:ext cx="7306155" cy="2982488"/>
          </a:xfrm>
          <a:prstGeom prst="round2DiagRect">
            <a:avLst>
              <a:gd name="adj1" fmla="val 16667"/>
              <a:gd name="adj2" fmla="val 0"/>
            </a:avLst>
          </a:prstGeom>
          <a:solidFill>
            <a:srgbClr val="FFFFFF">
              <a:alpha val="69411"/>
            </a:srgbClr>
          </a:solidFill>
          <a:ln>
            <a:noFill/>
          </a:ln>
        </p:spPr>
        <p:txBody>
          <a:bodyPr spcFirstLastPara="1" wrap="square" lIns="180000" tIns="108000" rIns="108000" bIns="1080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GB" sz="2300" b="1" i="0" u="none" strike="noStrike" cap="none">
                <a:solidFill>
                  <a:srgbClr val="C00000"/>
                </a:solidFill>
                <a:latin typeface="Arial"/>
                <a:ea typeface="Arial"/>
                <a:cs typeface="Arial"/>
                <a:sym typeface="Arial"/>
              </a:rPr>
              <a:t>BASELINE SURVEY OF AFRICAN ROAD FUNDS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00"/>
              <a:buFont typeface="Arial"/>
              <a:buNone/>
            </a:pPr>
            <a:endParaRPr sz="23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00"/>
              <a:buFont typeface="Arial"/>
              <a:buNone/>
            </a:pPr>
            <a:r>
              <a:rPr lang="en-GB" sz="2300" b="1" i="0" u="none" strike="noStrike" cap="none">
                <a:solidFill>
                  <a:srgbClr val="262626"/>
                </a:solidFill>
                <a:latin typeface="Arial"/>
                <a:ea typeface="Arial"/>
                <a:cs typeface="Arial"/>
                <a:sym typeface="Arial"/>
              </a:rPr>
              <a:t>Road Maintenance Funding and Resilience – Next Generation Funds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00"/>
              <a:buFont typeface="Arial"/>
              <a:buNone/>
            </a:pPr>
            <a:endParaRPr sz="2300" b="1" i="0" u="none" strike="noStrike" cap="none">
              <a:solidFill>
                <a:srgbClr val="262626"/>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300"/>
              <a:buFont typeface="Arial"/>
              <a:buNone/>
            </a:pPr>
            <a:r>
              <a:rPr lang="en-GB" sz="2300" b="1" i="0" u="none" strike="noStrike" cap="none">
                <a:solidFill>
                  <a:srgbClr val="262626"/>
                </a:solidFill>
                <a:latin typeface="Arial"/>
                <a:ea typeface="Arial"/>
                <a:cs typeface="Arial"/>
                <a:sym typeface="Arial"/>
              </a:rPr>
              <a:t>ARMFA-AFERA </a:t>
            </a:r>
            <a:r>
              <a:rPr lang="en-GB" sz="2300" b="1">
                <a:solidFill>
                  <a:srgbClr val="262626"/>
                </a:solidFill>
              </a:rPr>
              <a:t>Stakeholder Meeting</a:t>
            </a:r>
            <a:endParaRPr/>
          </a:p>
          <a:p>
            <a:pPr marL="0" marR="0" lvl="0" indent="0" algn="r" rtl="0">
              <a:lnSpc>
                <a:spcPct val="100000"/>
              </a:lnSpc>
              <a:spcBef>
                <a:spcPts val="0"/>
              </a:spcBef>
              <a:spcAft>
                <a:spcPts val="0"/>
              </a:spcAft>
              <a:buClr>
                <a:srgbClr val="000000"/>
              </a:buClr>
              <a:buSzPts val="2300"/>
              <a:buFont typeface="Arial"/>
              <a:buNone/>
            </a:pPr>
            <a:r>
              <a:rPr lang="en-GB" sz="2300" b="1" i="0" u="none" strike="noStrike" cap="none">
                <a:solidFill>
                  <a:srgbClr val="262626"/>
                </a:solidFill>
                <a:latin typeface="Arial"/>
                <a:ea typeface="Arial"/>
                <a:cs typeface="Arial"/>
                <a:sym typeface="Arial"/>
              </a:rPr>
              <a:t>Nairobi, Kenya 16-18 September 2025</a:t>
            </a:r>
            <a:endParaRPr sz="1400" b="0" i="0" u="none" strike="noStrike" cap="none">
              <a:solidFill>
                <a:srgbClr val="000000"/>
              </a:solidFill>
              <a:latin typeface="Arial"/>
              <a:ea typeface="Arial"/>
              <a:cs typeface="Arial"/>
              <a:sym typeface="Arial"/>
            </a:endParaRPr>
          </a:p>
        </p:txBody>
      </p:sp>
      <p:sp>
        <p:nvSpPr>
          <p:cNvPr id="181" name="Google Shape;181;p1"/>
          <p:cNvSpPr txBox="1"/>
          <p:nvPr/>
        </p:nvSpPr>
        <p:spPr>
          <a:xfrm>
            <a:off x="146088" y="6433601"/>
            <a:ext cx="61293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chemeClr val="dk1"/>
                </a:solidFill>
                <a:latin typeface="Arial"/>
                <a:ea typeface="Arial"/>
                <a:cs typeface="Arial"/>
                <a:sym typeface="Arial"/>
              </a:rPr>
              <a:t>EC-INTPA/2024/EARP/0021</a:t>
            </a:r>
            <a:endParaRPr sz="1400" b="0" i="0" u="none" strike="noStrike" cap="none">
              <a:solidFill>
                <a:schemeClr val="dk1"/>
              </a:solidFill>
              <a:latin typeface="Arial"/>
              <a:ea typeface="Arial"/>
              <a:cs typeface="Arial"/>
              <a:sym typeface="Arial"/>
            </a:endParaRPr>
          </a:p>
        </p:txBody>
      </p:sp>
      <p:pic>
        <p:nvPicPr>
          <p:cNvPr id="182" name="Google Shape;182;p1"/>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0730863" y="283908"/>
            <a:ext cx="919670" cy="546716"/>
          </a:xfrm>
          <a:prstGeom prst="rect">
            <a:avLst/>
          </a:prstGeom>
          <a:noFill/>
          <a:ln>
            <a:noFill/>
          </a:ln>
        </p:spPr>
      </p:pic>
      <p:pic>
        <p:nvPicPr>
          <p:cNvPr id="183" name="Google Shape;183;p1" descr="Home | SSATP"/>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9006589" y="283908"/>
            <a:ext cx="1562044" cy="546716"/>
          </a:xfrm>
          <a:prstGeom prst="rect">
            <a:avLst/>
          </a:prstGeom>
          <a:noFill/>
          <a:ln>
            <a:noFill/>
          </a:ln>
        </p:spPr>
      </p:pic>
      <p:pic>
        <p:nvPicPr>
          <p:cNvPr id="184" name="Google Shape;184;p1" descr="European Union Logo, symbol, meaning, history, PNG, brand"/>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7253882" y="338983"/>
            <a:ext cx="1562045" cy="4670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6582182f26_1_360"/>
          <p:cNvSpPr txBox="1"/>
          <p:nvPr/>
        </p:nvSpPr>
        <p:spPr>
          <a:xfrm>
            <a:off x="731700" y="2392050"/>
            <a:ext cx="10527000" cy="3468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800" b="1">
                <a:solidFill>
                  <a:srgbClr val="E2081E"/>
                </a:solidFill>
              </a:rPr>
              <a:t>PART 1: SITUATIONAL ANALYSIS</a:t>
            </a:r>
            <a:endParaRPr sz="2800" b="1">
              <a:solidFill>
                <a:srgbClr val="E2081E"/>
              </a:solidFill>
            </a:endParaRPr>
          </a:p>
          <a:p>
            <a:pPr marL="0" lvl="0" indent="0" algn="l" rtl="0">
              <a:spcBef>
                <a:spcPts val="0"/>
              </a:spcBef>
              <a:spcAft>
                <a:spcPts val="0"/>
              </a:spcAft>
              <a:buNone/>
            </a:pPr>
            <a:endParaRPr sz="2800">
              <a:solidFill>
                <a:schemeClr val="dk1"/>
              </a:solidFill>
            </a:endParaRPr>
          </a:p>
          <a:p>
            <a:pPr marL="0" lvl="0" indent="0" algn="l" rtl="0">
              <a:spcBef>
                <a:spcPts val="0"/>
              </a:spcBef>
              <a:spcAft>
                <a:spcPts val="0"/>
              </a:spcAft>
              <a:buNone/>
            </a:pPr>
            <a:endParaRPr sz="2800">
              <a:solidFill>
                <a:schemeClr val="dk1"/>
              </a:solidFill>
            </a:endParaRPr>
          </a:p>
          <a:p>
            <a:pPr marL="0" lvl="0" indent="0" algn="ctr" rtl="0">
              <a:spcBef>
                <a:spcPts val="0"/>
              </a:spcBef>
              <a:spcAft>
                <a:spcPts val="0"/>
              </a:spcAft>
              <a:buNone/>
            </a:pPr>
            <a:r>
              <a:rPr lang="en-GB" sz="2500" b="1">
                <a:solidFill>
                  <a:schemeClr val="dk1"/>
                </a:solidFill>
              </a:rPr>
              <a:t>Presented by Maurice Niaty-Mouamba</a:t>
            </a:r>
            <a:endParaRPr sz="2500" b="1">
              <a:solidFill>
                <a:schemeClr val="dk1"/>
              </a:solidFill>
            </a:endParaRPr>
          </a:p>
          <a:p>
            <a:pPr marL="0" lvl="0" indent="0" algn="ctr" rtl="0">
              <a:spcBef>
                <a:spcPts val="0"/>
              </a:spcBef>
              <a:spcAft>
                <a:spcPts val="0"/>
              </a:spcAft>
              <a:buNone/>
            </a:pPr>
            <a:endParaRPr sz="2500" b="1">
              <a:solidFill>
                <a:schemeClr val="dk1"/>
              </a:solidFill>
            </a:endParaRPr>
          </a:p>
          <a:p>
            <a:pPr marL="0" lvl="0" indent="0" algn="ctr" rtl="0">
              <a:spcBef>
                <a:spcPts val="0"/>
              </a:spcBef>
              <a:spcAft>
                <a:spcPts val="0"/>
              </a:spcAft>
              <a:buNone/>
            </a:pPr>
            <a:endParaRPr sz="2500">
              <a:solidFill>
                <a:schemeClr val="dk1"/>
              </a:solidFill>
            </a:endParaRPr>
          </a:p>
          <a:p>
            <a:pPr marL="0" lvl="0" indent="0" algn="ctr" rtl="0">
              <a:spcBef>
                <a:spcPts val="0"/>
              </a:spcBef>
              <a:spcAft>
                <a:spcPts val="0"/>
              </a:spcAft>
              <a:buNone/>
            </a:pPr>
            <a:r>
              <a:rPr lang="en-GB" sz="2200" i="1">
                <a:solidFill>
                  <a:schemeClr val="dk1"/>
                </a:solidFill>
              </a:rPr>
              <a:t>Institutional/Governance Expert, TA Team</a:t>
            </a:r>
            <a:endParaRPr sz="2200" i="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6582182f26_0_0"/>
          <p:cNvSpPr txBox="1"/>
          <p:nvPr/>
        </p:nvSpPr>
        <p:spPr>
          <a:xfrm>
            <a:off x="392847" y="446241"/>
            <a:ext cx="7654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2081E"/>
                </a:solidFill>
              </a:rPr>
              <a:t>Summary of the current situation</a:t>
            </a:r>
            <a:endParaRPr sz="2000" b="1">
              <a:solidFill>
                <a:srgbClr val="E2081E"/>
              </a:solidFill>
            </a:endParaRPr>
          </a:p>
        </p:txBody>
      </p:sp>
      <p:graphicFrame>
        <p:nvGraphicFramePr>
          <p:cNvPr id="197" name="Google Shape;197;g36582182f26_0_0"/>
          <p:cNvGraphicFramePr/>
          <p:nvPr/>
        </p:nvGraphicFramePr>
        <p:xfrm>
          <a:off x="392848" y="1199670"/>
          <a:ext cx="3000000" cy="3000000"/>
        </p:xfrm>
        <a:graphic>
          <a:graphicData uri="http://schemas.openxmlformats.org/drawingml/2006/table">
            <a:tbl>
              <a:tblPr firstRow="1" firstCol="1" bandRow="1">
                <a:noFill/>
                <a:tableStyleId>{D279FA82-C67E-4F00-A040-18F45B381A43}</a:tableStyleId>
              </a:tblPr>
              <a:tblGrid>
                <a:gridCol w="1462700">
                  <a:extLst>
                    <a:ext uri="{9D8B030D-6E8A-4147-A177-3AD203B41FA5}">
                      <a16:colId xmlns:a16="http://schemas.microsoft.com/office/drawing/2014/main" val="20000"/>
                    </a:ext>
                  </a:extLst>
                </a:gridCol>
                <a:gridCol w="2691425">
                  <a:extLst>
                    <a:ext uri="{9D8B030D-6E8A-4147-A177-3AD203B41FA5}">
                      <a16:colId xmlns:a16="http://schemas.microsoft.com/office/drawing/2014/main" val="20001"/>
                    </a:ext>
                  </a:extLst>
                </a:gridCol>
                <a:gridCol w="4925650">
                  <a:extLst>
                    <a:ext uri="{9D8B030D-6E8A-4147-A177-3AD203B41FA5}">
                      <a16:colId xmlns:a16="http://schemas.microsoft.com/office/drawing/2014/main" val="20002"/>
                    </a:ext>
                  </a:extLst>
                </a:gridCol>
                <a:gridCol w="2421850">
                  <a:extLst>
                    <a:ext uri="{9D8B030D-6E8A-4147-A177-3AD203B41FA5}">
                      <a16:colId xmlns:a16="http://schemas.microsoft.com/office/drawing/2014/main" val="20003"/>
                    </a:ext>
                  </a:extLst>
                </a:gridCol>
              </a:tblGrid>
              <a:tr h="671475">
                <a:tc>
                  <a:txBody>
                    <a:bodyPr/>
                    <a:lstStyle/>
                    <a:p>
                      <a:pPr marL="0" marR="0" lvl="0" indent="0" algn="ctr" rtl="0">
                        <a:lnSpc>
                          <a:spcPct val="115000"/>
                        </a:lnSpc>
                        <a:spcBef>
                          <a:spcPts val="0"/>
                        </a:spcBef>
                        <a:spcAft>
                          <a:spcPts val="0"/>
                        </a:spcAft>
                        <a:buClr>
                          <a:srgbClr val="000000"/>
                        </a:buClr>
                        <a:buSzPts val="1400"/>
                        <a:buFont typeface="Verdana"/>
                        <a:buNone/>
                      </a:pPr>
                      <a:r>
                        <a:rPr lang="en-GB" sz="1600" u="none" strike="noStrike" cap="none">
                          <a:solidFill>
                            <a:schemeClr val="lt1"/>
                          </a:solidFill>
                          <a:latin typeface="Arial"/>
                          <a:ea typeface="Arial"/>
                          <a:cs typeface="Arial"/>
                          <a:sym typeface="Arial"/>
                        </a:rPr>
                        <a:t>FACTORS</a:t>
                      </a:r>
                      <a:endParaRPr sz="1600" u="none" strike="noStrike" cap="none">
                        <a:solidFill>
                          <a:schemeClr val="lt1"/>
                        </a:solidFill>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400"/>
                        <a:buFont typeface="Verdana"/>
                        <a:buNone/>
                      </a:pPr>
                      <a:r>
                        <a:rPr lang="en-GB" sz="1600" u="none" strike="noStrike" cap="none">
                          <a:solidFill>
                            <a:schemeClr val="lt1"/>
                          </a:solidFill>
                          <a:latin typeface="Arial"/>
                          <a:ea typeface="Arial"/>
                          <a:cs typeface="Arial"/>
                          <a:sym typeface="Arial"/>
                        </a:rPr>
                        <a:t>FIRST GENERATION </a:t>
                      </a:r>
                      <a:endParaRPr sz="1600" u="none" strike="noStrike" cap="none">
                        <a:solidFill>
                          <a:schemeClr val="lt1"/>
                        </a:solidFill>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400"/>
                        <a:buFont typeface="Verdana"/>
                        <a:buNone/>
                      </a:pPr>
                      <a:r>
                        <a:rPr lang="en-GB" sz="1600">
                          <a:solidFill>
                            <a:schemeClr val="lt1"/>
                          </a:solidFill>
                          <a:latin typeface="Arial"/>
                          <a:ea typeface="Arial"/>
                          <a:cs typeface="Arial"/>
                          <a:sym typeface="Arial"/>
                        </a:rPr>
                        <a:t>   </a:t>
                      </a:r>
                      <a:r>
                        <a:rPr lang="en-GB" sz="1600" u="none" strike="noStrike" cap="none">
                          <a:solidFill>
                            <a:schemeClr val="lt1"/>
                          </a:solidFill>
                          <a:latin typeface="Arial"/>
                          <a:ea typeface="Arial"/>
                          <a:cs typeface="Arial"/>
                          <a:sym typeface="Arial"/>
                        </a:rPr>
                        <a:t>SECOND GENERATION </a:t>
                      </a:r>
                      <a:endParaRPr sz="1600" u="none" strike="noStrike" cap="none">
                        <a:solidFill>
                          <a:schemeClr val="lt1"/>
                        </a:solidFill>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lnSpc>
                          <a:spcPct val="115000"/>
                        </a:lnSpc>
                        <a:spcBef>
                          <a:spcPts val="0"/>
                        </a:spcBef>
                        <a:spcAft>
                          <a:spcPts val="0"/>
                        </a:spcAft>
                        <a:buClr>
                          <a:srgbClr val="000000"/>
                        </a:buClr>
                        <a:buSzPts val="1400"/>
                        <a:buFont typeface="Verdana"/>
                        <a:buNone/>
                      </a:pPr>
                      <a:r>
                        <a:rPr lang="en-GB" sz="1600" u="none" strike="noStrike" cap="none">
                          <a:solidFill>
                            <a:schemeClr val="lt1"/>
                          </a:solidFill>
                          <a:latin typeface="Arial"/>
                          <a:ea typeface="Arial"/>
                          <a:cs typeface="Arial"/>
                          <a:sym typeface="Arial"/>
                        </a:rPr>
                        <a:t>THIRD OR NEXT  GENERATION </a:t>
                      </a:r>
                      <a:endParaRPr sz="1600" u="none" strike="noStrike" cap="none">
                        <a:solidFill>
                          <a:schemeClr val="lt1"/>
                        </a:solidFill>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extLst>
                  <a:ext uri="{0D108BD9-81ED-4DB2-BD59-A6C34878D82A}">
                    <a16:rowId xmlns:a16="http://schemas.microsoft.com/office/drawing/2014/main" val="10000"/>
                  </a:ext>
                </a:extLst>
              </a:tr>
              <a:tr h="4785600">
                <a:tc>
                  <a:txBody>
                    <a:bodyPr/>
                    <a:lstStyle/>
                    <a:p>
                      <a:pPr marL="0" marR="0" lvl="0" indent="0" algn="l" rtl="0">
                        <a:lnSpc>
                          <a:spcPct val="115000"/>
                        </a:lnSpc>
                        <a:spcBef>
                          <a:spcPts val="0"/>
                        </a:spcBef>
                        <a:spcAft>
                          <a:spcPts val="0"/>
                        </a:spcAft>
                        <a:buClr>
                          <a:srgbClr val="000000"/>
                        </a:buClr>
                        <a:buSzPts val="1500"/>
                        <a:buFont typeface="Verdana"/>
                        <a:buNone/>
                      </a:pPr>
                      <a:r>
                        <a:rPr lang="en-GB" sz="1700" u="none" strike="noStrike" cap="none">
                          <a:solidFill>
                            <a:srgbClr val="000000"/>
                          </a:solidFill>
                          <a:latin typeface="Arial"/>
                          <a:ea typeface="Arial"/>
                          <a:cs typeface="Arial"/>
                          <a:sym typeface="Arial"/>
                        </a:rPr>
                        <a:t>Governance</a:t>
                      </a:r>
                      <a:endParaRPr sz="1700" u="none" strike="noStrike" cap="none">
                        <a:solidFill>
                          <a:srgbClr val="000000"/>
                        </a:solidFill>
                        <a:latin typeface="Arial"/>
                        <a:ea typeface="Arial"/>
                        <a:cs typeface="Arial"/>
                        <a:sym typeface="Arial"/>
                      </a:endParaRPr>
                    </a:p>
                  </a:txBody>
                  <a:tcPr marL="68575" marR="6857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Managed within ministries</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Weak autonomy</a:t>
                      </a:r>
                      <a:endParaRPr sz="1500" u="none" strike="noStrike" cap="none">
                        <a:solidFill>
                          <a:srgbClr val="000000"/>
                        </a:solidFill>
                        <a:latin typeface="Arial"/>
                        <a:ea typeface="Arial"/>
                        <a:cs typeface="Arial"/>
                        <a:sym typeface="Arial"/>
                      </a:endParaRPr>
                    </a:p>
                  </a:txBody>
                  <a:tcPr marL="68575" marR="6857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solidFill>
                      <a:srgbClr val="CFD7E7"/>
                    </a:solidFill>
                  </a:tcPr>
                </a:tc>
                <a:tc>
                  <a:txBody>
                    <a:bodyPr/>
                    <a:lstStyle/>
                    <a:p>
                      <a:pPr marL="0" marR="0" lvl="0" indent="0" algn="l" rtl="0">
                        <a:spcBef>
                          <a:spcPts val="0"/>
                        </a:spcBef>
                        <a:spcAft>
                          <a:spcPts val="0"/>
                        </a:spcAft>
                        <a:buClr>
                          <a:srgbClr val="000000"/>
                        </a:buClr>
                        <a:buSzPts val="1500"/>
                        <a:buFont typeface="Verdana"/>
                        <a:buNone/>
                      </a:pPr>
                      <a:r>
                        <a:rPr lang="en-GB" sz="1500" b="1" u="sng" strike="noStrike" cap="none">
                          <a:solidFill>
                            <a:srgbClr val="000000"/>
                          </a:solidFill>
                          <a:latin typeface="Arial"/>
                          <a:ea typeface="Arial"/>
                          <a:cs typeface="Arial"/>
                          <a:sym typeface="Arial"/>
                        </a:rPr>
                        <a:t>Expectations</a:t>
                      </a:r>
                      <a:endParaRPr sz="1500" b="1" u="none" strike="noStrike" cap="none">
                        <a:solidFill>
                          <a:srgbClr val="000000"/>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To improve governance structures and ensure greater accountability</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Strengthen autonomy by reducing direct control from central administrations and treasuries</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Managed within Board/management committee + management organs and/or a control organ</a:t>
                      </a:r>
                      <a:endParaRPr sz="150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500"/>
                        <a:buFont typeface="Verdana"/>
                        <a:buNone/>
                      </a:pPr>
                      <a:r>
                        <a:rPr lang="en-GB" sz="1500" u="none" strike="noStrike" cap="none">
                          <a:solidFill>
                            <a:srgbClr val="000000"/>
                          </a:solidFill>
                          <a:latin typeface="Arial"/>
                          <a:ea typeface="Arial"/>
                          <a:cs typeface="Arial"/>
                          <a:sym typeface="Arial"/>
                        </a:rPr>
                        <a:t> </a:t>
                      </a:r>
                      <a:endParaRPr sz="150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500"/>
                        <a:buFont typeface="Verdana"/>
                        <a:buNone/>
                      </a:pPr>
                      <a:r>
                        <a:rPr lang="en-GB" sz="1500" b="1" u="sng" strike="noStrike" cap="none">
                          <a:solidFill>
                            <a:srgbClr val="000000"/>
                          </a:solidFill>
                          <a:latin typeface="Arial"/>
                          <a:ea typeface="Arial"/>
                          <a:cs typeface="Arial"/>
                          <a:sym typeface="Arial"/>
                        </a:rPr>
                        <a:t>Present situation</a:t>
                      </a:r>
                      <a:endParaRPr sz="1500" b="1" u="none" strike="noStrike" cap="none">
                        <a:solidFill>
                          <a:srgbClr val="000000"/>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Unbalanced board composition</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Decisions often driven by political considerations</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Many Road Funds operate under control of ministries or national treasuries, reducing their independence.</a:t>
                      </a:r>
                      <a:endParaRPr sz="1500">
                        <a:solidFill>
                          <a:schemeClr val="dk1"/>
                        </a:solidFill>
                        <a:latin typeface="Arial"/>
                        <a:ea typeface="Arial"/>
                        <a:cs typeface="Arial"/>
                        <a:sym typeface="Arial"/>
                      </a:endParaRPr>
                    </a:p>
                    <a:p>
                      <a:pPr marL="536399" marR="0" lvl="0" indent="-350850" algn="l" rtl="0">
                        <a:lnSpc>
                          <a:spcPct val="100000"/>
                        </a:lnSpc>
                        <a:spcBef>
                          <a:spcPts val="12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Difficulties to assess performance due to limited monitoring and evaluation system</a:t>
                      </a:r>
                      <a:endParaRPr sz="1500" u="none" strike="noStrike" cap="none">
                        <a:solidFill>
                          <a:srgbClr val="000000"/>
                        </a:solidFill>
                        <a:latin typeface="Arial"/>
                        <a:ea typeface="Arial"/>
                        <a:cs typeface="Arial"/>
                        <a:sym typeface="Arial"/>
                      </a:endParaRPr>
                    </a:p>
                  </a:txBody>
                  <a:tcPr marL="68575" marR="6857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Verdana"/>
                        <a:buNone/>
                      </a:pPr>
                      <a:r>
                        <a:rPr lang="en-GB" sz="1500" u="none" strike="noStrike" cap="none">
                          <a:solidFill>
                            <a:srgbClr val="000000"/>
                          </a:solidFill>
                          <a:latin typeface="Arial"/>
                          <a:ea typeface="Arial"/>
                          <a:cs typeface="Arial"/>
                          <a:sym typeface="Arial"/>
                        </a:rPr>
                        <a:t>Autonomy with robust legal framework, transparent and accountable governance</a:t>
                      </a:r>
                      <a:endParaRPr sz="1500" u="none" strike="noStrike" cap="none">
                        <a:solidFill>
                          <a:srgbClr val="000000"/>
                        </a:solidFill>
                        <a:latin typeface="Arial"/>
                        <a:ea typeface="Arial"/>
                        <a:cs typeface="Arial"/>
                        <a:sym typeface="Arial"/>
                      </a:endParaRPr>
                    </a:p>
                  </a:txBody>
                  <a:tcPr marL="68575" marR="6857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aphicFrame>
        <p:nvGraphicFramePr>
          <p:cNvPr id="203" name="Google Shape;203;g36582182f26_1_2"/>
          <p:cNvGraphicFramePr/>
          <p:nvPr/>
        </p:nvGraphicFramePr>
        <p:xfrm>
          <a:off x="536132" y="1342738"/>
          <a:ext cx="3000000" cy="3000000"/>
        </p:xfrm>
        <a:graphic>
          <a:graphicData uri="http://schemas.openxmlformats.org/drawingml/2006/table">
            <a:tbl>
              <a:tblPr firstRow="1" firstCol="1" bandRow="1">
                <a:noFill/>
                <a:tableStyleId>{D279FA82-C67E-4F00-A040-18F45B381A43}</a:tableStyleId>
              </a:tblPr>
              <a:tblGrid>
                <a:gridCol w="1314250">
                  <a:extLst>
                    <a:ext uri="{9D8B030D-6E8A-4147-A177-3AD203B41FA5}">
                      <a16:colId xmlns:a16="http://schemas.microsoft.com/office/drawing/2014/main" val="20000"/>
                    </a:ext>
                  </a:extLst>
                </a:gridCol>
                <a:gridCol w="2854100">
                  <a:extLst>
                    <a:ext uri="{9D8B030D-6E8A-4147-A177-3AD203B41FA5}">
                      <a16:colId xmlns:a16="http://schemas.microsoft.com/office/drawing/2014/main" val="20001"/>
                    </a:ext>
                  </a:extLst>
                </a:gridCol>
                <a:gridCol w="4543175">
                  <a:extLst>
                    <a:ext uri="{9D8B030D-6E8A-4147-A177-3AD203B41FA5}">
                      <a16:colId xmlns:a16="http://schemas.microsoft.com/office/drawing/2014/main" val="20002"/>
                    </a:ext>
                  </a:extLst>
                </a:gridCol>
                <a:gridCol w="2787575">
                  <a:extLst>
                    <a:ext uri="{9D8B030D-6E8A-4147-A177-3AD203B41FA5}">
                      <a16:colId xmlns:a16="http://schemas.microsoft.com/office/drawing/2014/main" val="20003"/>
                    </a:ext>
                  </a:extLst>
                </a:gridCol>
              </a:tblGrid>
              <a:tr h="635225">
                <a:tc>
                  <a:txBody>
                    <a:bodyPr/>
                    <a:lstStyle/>
                    <a:p>
                      <a:pPr marL="0" marR="0" lvl="0" indent="0" algn="ctr" rtl="0">
                        <a:lnSpc>
                          <a:spcPct val="115000"/>
                        </a:lnSpc>
                        <a:spcBef>
                          <a:spcPts val="0"/>
                        </a:spcBef>
                        <a:spcAft>
                          <a:spcPts val="0"/>
                        </a:spcAft>
                        <a:buClr>
                          <a:srgbClr val="000000"/>
                        </a:buClr>
                        <a:buSzPts val="1400"/>
                        <a:buFont typeface="Verdana"/>
                        <a:buNone/>
                      </a:pPr>
                      <a:r>
                        <a:rPr lang="en-GB" sz="1600" u="none" strike="noStrike" cap="none">
                          <a:latin typeface="Arial"/>
                          <a:ea typeface="Arial"/>
                          <a:cs typeface="Arial"/>
                          <a:sym typeface="Arial"/>
                        </a:rPr>
                        <a:t>FACTORS</a:t>
                      </a:r>
                      <a:endParaRPr sz="1600" u="none" strike="noStrike" cap="none">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400"/>
                        <a:buFont typeface="Verdana"/>
                        <a:buNone/>
                      </a:pPr>
                      <a:r>
                        <a:rPr lang="en-GB" sz="1600" u="none" strike="noStrike" cap="none">
                          <a:latin typeface="Arial"/>
                          <a:ea typeface="Arial"/>
                          <a:cs typeface="Arial"/>
                          <a:sym typeface="Arial"/>
                        </a:rPr>
                        <a:t>FIRST GENERATION </a:t>
                      </a:r>
                      <a:endParaRPr sz="1600" u="none" strike="noStrike" cap="none">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400"/>
                        <a:buFont typeface="Verdana"/>
                        <a:buNone/>
                      </a:pPr>
                      <a:r>
                        <a:rPr lang="en-GB" sz="1600" u="none" strike="noStrike" cap="none">
                          <a:latin typeface="Arial"/>
                          <a:ea typeface="Arial"/>
                          <a:cs typeface="Arial"/>
                          <a:sym typeface="Arial"/>
                        </a:rPr>
                        <a:t>SECOND GENERATION </a:t>
                      </a:r>
                      <a:endParaRPr sz="1600" u="none" strike="noStrike" cap="none">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tc>
                  <a:txBody>
                    <a:bodyPr/>
                    <a:lstStyle/>
                    <a:p>
                      <a:pPr marL="0" marR="0" lvl="0" indent="0" algn="ctr" rtl="0">
                        <a:lnSpc>
                          <a:spcPct val="115000"/>
                        </a:lnSpc>
                        <a:spcBef>
                          <a:spcPts val="0"/>
                        </a:spcBef>
                        <a:spcAft>
                          <a:spcPts val="0"/>
                        </a:spcAft>
                        <a:buClr>
                          <a:srgbClr val="000000"/>
                        </a:buClr>
                        <a:buSzPts val="1400"/>
                        <a:buFont typeface="Verdana"/>
                        <a:buNone/>
                      </a:pPr>
                      <a:r>
                        <a:rPr lang="en-GB" sz="1600" u="none" strike="noStrike" cap="none">
                          <a:latin typeface="Arial"/>
                          <a:ea typeface="Arial"/>
                          <a:cs typeface="Arial"/>
                          <a:sym typeface="Arial"/>
                        </a:rPr>
                        <a:t>THIRD OR NEXT  GENERATION </a:t>
                      </a:r>
                      <a:endParaRPr sz="1600" u="none" strike="noStrike" cap="none">
                        <a:latin typeface="Arial"/>
                        <a:ea typeface="Arial"/>
                        <a:cs typeface="Arial"/>
                        <a:sym typeface="Arial"/>
                      </a:endParaRPr>
                    </a:p>
                  </a:txBody>
                  <a:tcPr marL="0" marR="106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2081E"/>
                    </a:solidFill>
                  </a:tcPr>
                </a:tc>
                <a:extLst>
                  <a:ext uri="{0D108BD9-81ED-4DB2-BD59-A6C34878D82A}">
                    <a16:rowId xmlns:a16="http://schemas.microsoft.com/office/drawing/2014/main" val="10000"/>
                  </a:ext>
                </a:extLst>
              </a:tr>
              <a:tr h="4770350">
                <a:tc>
                  <a:txBody>
                    <a:bodyPr/>
                    <a:lstStyle/>
                    <a:p>
                      <a:pPr marL="0" marR="0" lvl="0" indent="0" algn="l" rtl="0">
                        <a:lnSpc>
                          <a:spcPct val="115000"/>
                        </a:lnSpc>
                        <a:spcBef>
                          <a:spcPts val="0"/>
                        </a:spcBef>
                        <a:spcAft>
                          <a:spcPts val="0"/>
                        </a:spcAft>
                        <a:buClr>
                          <a:srgbClr val="000000"/>
                        </a:buClr>
                        <a:buSzPts val="1600"/>
                        <a:buFont typeface="Verdana"/>
                        <a:buNone/>
                      </a:pPr>
                      <a:r>
                        <a:rPr lang="en-GB" sz="1700" u="none" strike="noStrike" cap="none">
                          <a:solidFill>
                            <a:srgbClr val="000000"/>
                          </a:solidFill>
                          <a:latin typeface="Arial"/>
                          <a:ea typeface="Arial"/>
                          <a:cs typeface="Arial"/>
                          <a:sym typeface="Arial"/>
                        </a:rPr>
                        <a:t>Financing source</a:t>
                      </a:r>
                      <a:endParaRPr sz="1700" u="none" strike="noStrike" cap="none">
                        <a:solidFill>
                          <a:srgbClr val="000000"/>
                        </a:solidFill>
                        <a:latin typeface="Arial"/>
                        <a:ea typeface="Arial"/>
                        <a:cs typeface="Arial"/>
                        <a:sym typeface="Arial"/>
                      </a:endParaRPr>
                    </a:p>
                  </a:txBody>
                  <a:tcPr marL="0" marR="798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solidFill>
                  </a:tcPr>
                </a:tc>
                <a:tc>
                  <a:txBody>
                    <a:bodyPr/>
                    <a:lstStyle/>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Government budgets</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Inconsistent allocations</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Do no cover the minimal maintenance </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Poorly managed and diverted to other purposes </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Public budgets deficits no longer reliable to finance maintenance.</a:t>
                      </a:r>
                      <a:endParaRPr sz="1600" u="none" strike="noStrike" cap="none">
                        <a:solidFill>
                          <a:srgbClr val="000000"/>
                        </a:solidFill>
                        <a:latin typeface="Arial"/>
                        <a:ea typeface="Arial"/>
                        <a:cs typeface="Arial"/>
                        <a:sym typeface="Arial"/>
                      </a:endParaRPr>
                    </a:p>
                  </a:txBody>
                  <a:tcPr marL="0" marR="7982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600"/>
                        <a:buFont typeface="Verdana"/>
                        <a:buNone/>
                      </a:pPr>
                      <a:r>
                        <a:rPr lang="en-GB" sz="1500" b="1" u="sng" strike="noStrike" cap="none">
                          <a:solidFill>
                            <a:srgbClr val="000000"/>
                          </a:solidFill>
                          <a:latin typeface="Arial"/>
                          <a:ea typeface="Arial"/>
                          <a:cs typeface="Arial"/>
                          <a:sym typeface="Arial"/>
                        </a:rPr>
                        <a:t>Expectations</a:t>
                      </a:r>
                      <a:endParaRPr sz="1500" b="1" u="none" strike="noStrike" cap="none">
                        <a:solidFill>
                          <a:srgbClr val="000000"/>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Establish sound financial systems with transparent management of funds</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Enhance operational performance through better planning, management and monitoring</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Achieve financial sustainability by securing and managing the revenue sources (fuel levy, tolls, vehicle registration fees…)</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Integrate emerging priorities, including climate change resilience and social inclusion.</a:t>
                      </a:r>
                      <a:endParaRPr sz="150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600"/>
                        <a:buFont typeface="Verdana"/>
                        <a:buNone/>
                      </a:pPr>
                      <a:r>
                        <a:rPr lang="en-GB" sz="1500" u="none" strike="noStrike" cap="none">
                          <a:solidFill>
                            <a:srgbClr val="000000"/>
                          </a:solidFill>
                          <a:latin typeface="Arial"/>
                          <a:ea typeface="Arial"/>
                          <a:cs typeface="Arial"/>
                          <a:sym typeface="Arial"/>
                        </a:rPr>
                        <a:t> </a:t>
                      </a:r>
                      <a:endParaRPr sz="150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600"/>
                        <a:buFont typeface="Verdana"/>
                        <a:buNone/>
                      </a:pPr>
                      <a:r>
                        <a:rPr lang="en-GB" sz="1500" b="1" u="sng" strike="noStrike" cap="none">
                          <a:solidFill>
                            <a:srgbClr val="000000"/>
                          </a:solidFill>
                          <a:latin typeface="Arial"/>
                          <a:ea typeface="Arial"/>
                          <a:cs typeface="Arial"/>
                          <a:sym typeface="Arial"/>
                        </a:rPr>
                        <a:t>Present situation</a:t>
                      </a:r>
                      <a:endParaRPr sz="1500" b="1" u="none" strike="noStrike" cap="none">
                        <a:solidFill>
                          <a:srgbClr val="000000"/>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Despite efforts from of Road Funds few of them met these objectives</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Still vulnerable to fuel tax variation and diversion</a:t>
                      </a:r>
                      <a:endParaRPr sz="1500" u="none" strike="noStrike" cap="none">
                        <a:solidFill>
                          <a:srgbClr val="000000"/>
                        </a:solidFill>
                        <a:latin typeface="Arial"/>
                        <a:ea typeface="Arial"/>
                        <a:cs typeface="Arial"/>
                        <a:sym typeface="Arial"/>
                      </a:endParaRPr>
                    </a:p>
                  </a:txBody>
                  <a:tcPr marL="0" marR="7982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Diversified revenue mix: user charges + innovative sources (PPPs, climate finance, donor co-financing)</a:t>
                      </a:r>
                      <a:endParaRPr sz="1500">
                        <a:solidFill>
                          <a:schemeClr val="dk1"/>
                        </a:solidFill>
                        <a:latin typeface="Arial"/>
                        <a:ea typeface="Arial"/>
                        <a:cs typeface="Arial"/>
                        <a:sym typeface="Arial"/>
                      </a:endParaRPr>
                    </a:p>
                    <a:p>
                      <a:pPr marL="536399" marR="0" lvl="0" indent="-350850" algn="l" rtl="0">
                        <a:lnSpc>
                          <a:spcPct val="100000"/>
                        </a:lnSpc>
                        <a:spcBef>
                          <a:spcPts val="1000"/>
                        </a:spcBef>
                        <a:spcAft>
                          <a:spcPts val="0"/>
                        </a:spcAft>
                        <a:buClr>
                          <a:srgbClr val="E2081E"/>
                        </a:buClr>
                        <a:buSzPts val="1500"/>
                        <a:buFont typeface="Noto Sans Symbols"/>
                        <a:buChar char="▪"/>
                      </a:pPr>
                      <a:r>
                        <a:rPr lang="en-GB" sz="1500">
                          <a:solidFill>
                            <a:schemeClr val="dk1"/>
                          </a:solidFill>
                          <a:latin typeface="Arial"/>
                          <a:ea typeface="Arial"/>
                          <a:cs typeface="Arial"/>
                          <a:sym typeface="Arial"/>
                        </a:rPr>
                        <a:t>Ring-fenced against diversion</a:t>
                      </a:r>
                      <a:endParaRPr sz="1500" u="none" strike="noStrike" cap="none">
                        <a:solidFill>
                          <a:srgbClr val="000000"/>
                        </a:solidFill>
                        <a:latin typeface="Arial"/>
                        <a:ea typeface="Arial"/>
                        <a:cs typeface="Arial"/>
                        <a:sym typeface="Arial"/>
                      </a:endParaRPr>
                    </a:p>
                  </a:txBody>
                  <a:tcPr marL="0" marR="79825"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04" name="Google Shape;204;g36582182f26_1_2"/>
          <p:cNvSpPr txBox="1"/>
          <p:nvPr/>
        </p:nvSpPr>
        <p:spPr>
          <a:xfrm>
            <a:off x="392847" y="446241"/>
            <a:ext cx="7654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2081E"/>
                </a:solidFill>
              </a:rPr>
              <a:t>Summary of the current situation</a:t>
            </a:r>
            <a:endParaRPr sz="2000" b="1">
              <a:solidFill>
                <a:srgbClr val="E2081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aphicFrame>
        <p:nvGraphicFramePr>
          <p:cNvPr id="210" name="Google Shape;210;g36582182f26_1_8"/>
          <p:cNvGraphicFramePr/>
          <p:nvPr/>
        </p:nvGraphicFramePr>
        <p:xfrm>
          <a:off x="285002" y="1228392"/>
          <a:ext cx="3000000" cy="3000000"/>
        </p:xfrm>
        <a:graphic>
          <a:graphicData uri="http://schemas.openxmlformats.org/drawingml/2006/table">
            <a:tbl>
              <a:tblPr>
                <a:noFill/>
                <a:tableStyleId>{D279FA82-C67E-4F00-A040-18F45B381A43}</a:tableStyleId>
              </a:tblPr>
              <a:tblGrid>
                <a:gridCol w="857225">
                  <a:extLst>
                    <a:ext uri="{9D8B030D-6E8A-4147-A177-3AD203B41FA5}">
                      <a16:colId xmlns:a16="http://schemas.microsoft.com/office/drawing/2014/main" val="20000"/>
                    </a:ext>
                  </a:extLst>
                </a:gridCol>
                <a:gridCol w="770475">
                  <a:extLst>
                    <a:ext uri="{9D8B030D-6E8A-4147-A177-3AD203B41FA5}">
                      <a16:colId xmlns:a16="http://schemas.microsoft.com/office/drawing/2014/main" val="20001"/>
                    </a:ext>
                  </a:extLst>
                </a:gridCol>
                <a:gridCol w="803300">
                  <a:extLst>
                    <a:ext uri="{9D8B030D-6E8A-4147-A177-3AD203B41FA5}">
                      <a16:colId xmlns:a16="http://schemas.microsoft.com/office/drawing/2014/main" val="20002"/>
                    </a:ext>
                  </a:extLst>
                </a:gridCol>
                <a:gridCol w="797250">
                  <a:extLst>
                    <a:ext uri="{9D8B030D-6E8A-4147-A177-3AD203B41FA5}">
                      <a16:colId xmlns:a16="http://schemas.microsoft.com/office/drawing/2014/main" val="20003"/>
                    </a:ext>
                  </a:extLst>
                </a:gridCol>
                <a:gridCol w="755725">
                  <a:extLst>
                    <a:ext uri="{9D8B030D-6E8A-4147-A177-3AD203B41FA5}">
                      <a16:colId xmlns:a16="http://schemas.microsoft.com/office/drawing/2014/main" val="20004"/>
                    </a:ext>
                  </a:extLst>
                </a:gridCol>
                <a:gridCol w="913500">
                  <a:extLst>
                    <a:ext uri="{9D8B030D-6E8A-4147-A177-3AD203B41FA5}">
                      <a16:colId xmlns:a16="http://schemas.microsoft.com/office/drawing/2014/main" val="20005"/>
                    </a:ext>
                  </a:extLst>
                </a:gridCol>
                <a:gridCol w="913500">
                  <a:extLst>
                    <a:ext uri="{9D8B030D-6E8A-4147-A177-3AD203B41FA5}">
                      <a16:colId xmlns:a16="http://schemas.microsoft.com/office/drawing/2014/main" val="20006"/>
                    </a:ext>
                  </a:extLst>
                </a:gridCol>
              </a:tblGrid>
              <a:tr h="952275">
                <a:tc rowSpan="2">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Région</a:t>
                      </a:r>
                      <a:endParaRPr b="1" u="none" strike="noStrike" cap="none">
                        <a:latin typeface="Arial"/>
                        <a:ea typeface="Arial"/>
                        <a:cs typeface="Arial"/>
                        <a:sym typeface="Arial"/>
                      </a:endParaRPr>
                    </a:p>
                  </a:txBody>
                  <a:tcPr marL="68575" marR="68575"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Superficie</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Population</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Réseau routier</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Réseau revêtu</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Réseau non revêtu</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solidFill>
                            <a:schemeClr val="lt1"/>
                          </a:solidFill>
                          <a:latin typeface="Arial"/>
                          <a:ea typeface="Arial"/>
                          <a:cs typeface="Arial"/>
                          <a:sym typeface="Arial"/>
                        </a:rPr>
                        <a:t>Densité routière</a:t>
                      </a:r>
                      <a:endParaRPr b="1" u="none" strike="noStrike" cap="none">
                        <a:solidFill>
                          <a:schemeClr val="lt1"/>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2081E"/>
                    </a:solidFill>
                  </a:tcPr>
                </a:tc>
                <a:extLst>
                  <a:ext uri="{0D108BD9-81ED-4DB2-BD59-A6C34878D82A}">
                    <a16:rowId xmlns:a16="http://schemas.microsoft.com/office/drawing/2014/main" val="10000"/>
                  </a:ext>
                </a:extLst>
              </a:tr>
              <a:tr h="634850">
                <a:tc vMerge="1">
                  <a:txBody>
                    <a:bodyPr/>
                    <a:lstStyle/>
                    <a:p>
                      <a:endParaRPr lang="en-US"/>
                    </a:p>
                  </a:txBody>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(km</a:t>
                      </a:r>
                      <a:r>
                        <a:rPr lang="en-GB" b="1" u="none" strike="noStrike" cap="none" baseline="30000">
                          <a:latin typeface="Arial"/>
                          <a:ea typeface="Arial"/>
                          <a:cs typeface="Arial"/>
                          <a:sym typeface="Arial"/>
                        </a:rPr>
                        <a:t>2</a:t>
                      </a:r>
                      <a:r>
                        <a:rPr lang="en-GB" b="1" u="none" strike="noStrike" cap="none">
                          <a:latin typeface="Arial"/>
                          <a:ea typeface="Arial"/>
                          <a:cs typeface="Arial"/>
                          <a:sym typeface="Arial"/>
                        </a:rPr>
                        <a:t>)</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(10</a:t>
                      </a:r>
                      <a:r>
                        <a:rPr lang="en-GB" b="1" u="none" strike="noStrike" cap="none" baseline="30000">
                          <a:latin typeface="Arial"/>
                          <a:ea typeface="Arial"/>
                          <a:cs typeface="Arial"/>
                          <a:sym typeface="Arial"/>
                        </a:rPr>
                        <a:t>6 </a:t>
                      </a:r>
                      <a:r>
                        <a:rPr lang="en-GB" b="1" u="none" strike="noStrike" cap="none">
                          <a:latin typeface="Arial"/>
                          <a:ea typeface="Arial"/>
                          <a:cs typeface="Arial"/>
                          <a:sym typeface="Arial"/>
                        </a:rPr>
                        <a:t>hab.)</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(km)</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(km)</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(km)</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(km/100km</a:t>
                      </a:r>
                      <a:r>
                        <a:rPr lang="en-GB" b="1" u="none" strike="noStrike" cap="none" baseline="30000">
                          <a:latin typeface="Arial"/>
                          <a:ea typeface="Arial"/>
                          <a:cs typeface="Arial"/>
                          <a:sym typeface="Arial"/>
                        </a:rPr>
                        <a:t>2</a:t>
                      </a:r>
                      <a:r>
                        <a:rPr lang="en-GB" b="1" u="none" strike="noStrike" cap="none">
                          <a:latin typeface="Arial"/>
                          <a:ea typeface="Arial"/>
                          <a:cs typeface="Arial"/>
                          <a:sym typeface="Arial"/>
                        </a:rPr>
                        <a:t>)</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750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Centre</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3 021 180</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29,654</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115 677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18 531</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97 146</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3,83</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6348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Est</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6 755 902</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233,87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445 018</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103 600</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341 418</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6,59</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6348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Nord</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9 301 385</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165,07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70C0"/>
                        </a:buClr>
                        <a:buSzPts val="1200"/>
                        <a:buFont typeface="Verdana"/>
                        <a:buNone/>
                      </a:pPr>
                      <a:r>
                        <a:rPr lang="en-GB" b="1" u="none" strike="noStrike" cap="none">
                          <a:solidFill>
                            <a:srgbClr val="0070C0"/>
                          </a:solidFill>
                          <a:latin typeface="Arial"/>
                          <a:ea typeface="Arial"/>
                          <a:cs typeface="Arial"/>
                          <a:sym typeface="Arial"/>
                        </a:rPr>
                        <a:t>292 790</a:t>
                      </a:r>
                      <a:endParaRPr b="1" u="none" strike="noStrike" cap="none">
                        <a:solidFill>
                          <a:srgbClr val="0070C0"/>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70C0"/>
                        </a:buClr>
                        <a:buSzPts val="1200"/>
                        <a:buFont typeface="Verdana"/>
                        <a:buNone/>
                      </a:pPr>
                      <a:r>
                        <a:rPr lang="en-GB" b="1" u="none" strike="noStrike" cap="none">
                          <a:solidFill>
                            <a:srgbClr val="0070C0"/>
                          </a:solidFill>
                          <a:latin typeface="Arial"/>
                          <a:ea typeface="Arial"/>
                          <a:cs typeface="Arial"/>
                          <a:sym typeface="Arial"/>
                        </a:rPr>
                        <a:t>161 825</a:t>
                      </a:r>
                      <a:endParaRPr b="1" u="none" strike="noStrike" cap="none">
                        <a:solidFill>
                          <a:srgbClr val="0070C0"/>
                        </a:solidFill>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130 965</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3,15</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6348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Sud</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6 005 240</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108,77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801 751</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235 154</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566 597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13,35</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4750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Ouest</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5 112 060</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223,24</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409 377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91 660</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317 717</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u="none" strike="noStrike" cap="none">
                          <a:latin typeface="Arial"/>
                          <a:ea typeface="Arial"/>
                          <a:cs typeface="Arial"/>
                          <a:sym typeface="Arial"/>
                        </a:rPr>
                        <a:t>8,01</a:t>
                      </a:r>
                      <a:endParaRPr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634850">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Total</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30 195 767</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760,60</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2 064 613</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610 770</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1 453 843</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200"/>
                        <a:buFont typeface="Verdana"/>
                        <a:buNone/>
                      </a:pPr>
                      <a:r>
                        <a:rPr lang="en-GB" b="1" u="none" strike="noStrike" cap="none">
                          <a:latin typeface="Arial"/>
                          <a:ea typeface="Arial"/>
                          <a:cs typeface="Arial"/>
                          <a:sym typeface="Arial"/>
                        </a:rPr>
                        <a:t>6,84</a:t>
                      </a:r>
                      <a:endParaRPr b="1" u="none" strike="noStrike" cap="none">
                        <a:latin typeface="Arial"/>
                        <a:ea typeface="Arial"/>
                        <a:cs typeface="Arial"/>
                        <a:sym typeface="Arial"/>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211" name="Google Shape;211;g36582182f26_1_8"/>
          <p:cNvPicPr preferRelativeResize="0"/>
          <p:nvPr/>
        </p:nvPicPr>
        <p:blipFill rotWithShape="1">
          <a:blip r:embed="rId3">
            <a:alphaModFix/>
          </a:blip>
          <a:srcRect/>
          <a:stretch/>
        </p:blipFill>
        <p:spPr>
          <a:xfrm>
            <a:off x="6273850" y="1989150"/>
            <a:ext cx="5883975" cy="3632550"/>
          </a:xfrm>
          <a:prstGeom prst="rect">
            <a:avLst/>
          </a:prstGeom>
          <a:noFill/>
          <a:ln w="9525" cap="flat" cmpd="sng">
            <a:solidFill>
              <a:schemeClr val="lt1"/>
            </a:solidFill>
            <a:prstDash val="solid"/>
            <a:round/>
            <a:headEnd type="none" w="sm" len="sm"/>
            <a:tailEnd type="none" w="sm" len="sm"/>
          </a:ln>
        </p:spPr>
      </p:pic>
      <p:sp>
        <p:nvSpPr>
          <p:cNvPr id="212" name="Google Shape;212;g36582182f26_1_8"/>
          <p:cNvSpPr txBox="1"/>
          <p:nvPr/>
        </p:nvSpPr>
        <p:spPr>
          <a:xfrm>
            <a:off x="8700015" y="6206696"/>
            <a:ext cx="21555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i="1" u="sng">
                <a:solidFill>
                  <a:srgbClr val="000000"/>
                </a:solidFill>
                <a:latin typeface="Arial"/>
                <a:ea typeface="Arial"/>
                <a:cs typeface="Arial"/>
                <a:sym typeface="Arial"/>
              </a:rPr>
              <a:t>Source</a:t>
            </a:r>
            <a:r>
              <a:rPr lang="en-GB" sz="1200" i="1">
                <a:solidFill>
                  <a:srgbClr val="000000"/>
                </a:solidFill>
                <a:latin typeface="Arial"/>
                <a:ea typeface="Arial"/>
                <a:cs typeface="Arial"/>
                <a:sym typeface="Arial"/>
              </a:rPr>
              <a:t> : Ecowas RF study</a:t>
            </a:r>
            <a:r>
              <a:rPr lang="en-GB" sz="1200" i="1">
                <a:solidFill>
                  <a:srgbClr val="000000"/>
                </a:solidFill>
                <a:latin typeface="Verdana"/>
                <a:ea typeface="Verdana"/>
                <a:cs typeface="Verdana"/>
                <a:sym typeface="Verdana"/>
              </a:rPr>
              <a:t> </a:t>
            </a:r>
            <a:endParaRPr sz="1200" i="1">
              <a:solidFill>
                <a:srgbClr val="000000"/>
              </a:solidFill>
              <a:latin typeface="Verdana"/>
              <a:ea typeface="Verdana"/>
              <a:cs typeface="Verdana"/>
              <a:sym typeface="Verdana"/>
            </a:endParaRPr>
          </a:p>
        </p:txBody>
      </p:sp>
      <p:sp>
        <p:nvSpPr>
          <p:cNvPr id="213" name="Google Shape;213;g36582182f26_1_8"/>
          <p:cNvSpPr txBox="1"/>
          <p:nvPr/>
        </p:nvSpPr>
        <p:spPr>
          <a:xfrm>
            <a:off x="1967350" y="6483595"/>
            <a:ext cx="1545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i="1" u="sng">
                <a:solidFill>
                  <a:srgbClr val="000000"/>
                </a:solidFill>
                <a:latin typeface="Arial"/>
                <a:ea typeface="Arial"/>
                <a:cs typeface="Arial"/>
                <a:sym typeface="Arial"/>
              </a:rPr>
              <a:t>Source</a:t>
            </a:r>
            <a:r>
              <a:rPr lang="en-GB" sz="1200" i="1">
                <a:solidFill>
                  <a:srgbClr val="000000"/>
                </a:solidFill>
                <a:latin typeface="Arial"/>
                <a:ea typeface="Arial"/>
                <a:cs typeface="Arial"/>
                <a:sym typeface="Arial"/>
              </a:rPr>
              <a:t> : CEA</a:t>
            </a:r>
            <a:r>
              <a:rPr lang="en-GB" sz="1200" i="1">
                <a:solidFill>
                  <a:srgbClr val="000000"/>
                </a:solidFill>
                <a:latin typeface="Verdana"/>
                <a:ea typeface="Verdana"/>
                <a:cs typeface="Verdana"/>
                <a:sym typeface="Verdana"/>
              </a:rPr>
              <a:t> </a:t>
            </a:r>
            <a:endParaRPr sz="1200" i="1">
              <a:solidFill>
                <a:srgbClr val="000000"/>
              </a:solidFill>
              <a:latin typeface="Verdana"/>
              <a:ea typeface="Verdana"/>
              <a:cs typeface="Verdana"/>
              <a:sym typeface="Verdana"/>
            </a:endParaRPr>
          </a:p>
        </p:txBody>
      </p:sp>
      <p:sp>
        <p:nvSpPr>
          <p:cNvPr id="214" name="Google Shape;214;g36582182f26_1_8"/>
          <p:cNvSpPr txBox="1"/>
          <p:nvPr/>
        </p:nvSpPr>
        <p:spPr>
          <a:xfrm>
            <a:off x="392847" y="446241"/>
            <a:ext cx="7654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2081E"/>
                </a:solidFill>
              </a:rPr>
              <a:t>Summary of the current situation</a:t>
            </a:r>
            <a:endParaRPr sz="2000" b="1">
              <a:solidFill>
                <a:srgbClr val="E2081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g36582182f26_1_16"/>
          <p:cNvPicPr preferRelativeResize="0"/>
          <p:nvPr/>
        </p:nvPicPr>
        <p:blipFill rotWithShape="1">
          <a:blip r:embed="rId3">
            <a:alphaModFix/>
          </a:blip>
          <a:srcRect/>
          <a:stretch/>
        </p:blipFill>
        <p:spPr>
          <a:xfrm>
            <a:off x="1892950" y="1338300"/>
            <a:ext cx="8406099" cy="5404100"/>
          </a:xfrm>
          <a:prstGeom prst="rect">
            <a:avLst/>
          </a:prstGeom>
          <a:noFill/>
          <a:ln>
            <a:noFill/>
          </a:ln>
        </p:spPr>
      </p:pic>
      <p:sp>
        <p:nvSpPr>
          <p:cNvPr id="221" name="Google Shape;221;g36582182f26_1_16"/>
          <p:cNvSpPr txBox="1"/>
          <p:nvPr/>
        </p:nvSpPr>
        <p:spPr>
          <a:xfrm>
            <a:off x="392847" y="446241"/>
            <a:ext cx="7654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2081E"/>
                </a:solidFill>
              </a:rPr>
              <a:t>Summary of the current situation</a:t>
            </a:r>
            <a:endParaRPr sz="2000" b="1">
              <a:solidFill>
                <a:srgbClr val="E2081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g36582182f26_1_21"/>
          <p:cNvPicPr preferRelativeResize="0"/>
          <p:nvPr/>
        </p:nvPicPr>
        <p:blipFill rotWithShape="1">
          <a:blip r:embed="rId3">
            <a:alphaModFix/>
          </a:blip>
          <a:srcRect/>
          <a:stretch/>
        </p:blipFill>
        <p:spPr>
          <a:xfrm>
            <a:off x="517132" y="1414038"/>
            <a:ext cx="10623126" cy="1163509"/>
          </a:xfrm>
          <a:prstGeom prst="rect">
            <a:avLst/>
          </a:prstGeom>
          <a:noFill/>
          <a:ln>
            <a:noFill/>
          </a:ln>
        </p:spPr>
      </p:pic>
      <p:pic>
        <p:nvPicPr>
          <p:cNvPr id="228" name="Google Shape;228;g36582182f26_1_21"/>
          <p:cNvPicPr preferRelativeResize="0"/>
          <p:nvPr/>
        </p:nvPicPr>
        <p:blipFill rotWithShape="1">
          <a:blip r:embed="rId4">
            <a:alphaModFix/>
          </a:blip>
          <a:srcRect/>
          <a:stretch/>
        </p:blipFill>
        <p:spPr>
          <a:xfrm>
            <a:off x="517132" y="2701400"/>
            <a:ext cx="10755236" cy="2735826"/>
          </a:xfrm>
          <a:prstGeom prst="rect">
            <a:avLst/>
          </a:prstGeom>
          <a:noFill/>
          <a:ln>
            <a:noFill/>
          </a:ln>
        </p:spPr>
      </p:pic>
      <p:sp>
        <p:nvSpPr>
          <p:cNvPr id="229" name="Google Shape;229;g36582182f26_1_21"/>
          <p:cNvSpPr txBox="1"/>
          <p:nvPr/>
        </p:nvSpPr>
        <p:spPr>
          <a:xfrm>
            <a:off x="392847" y="446241"/>
            <a:ext cx="7654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2081E"/>
                </a:solidFill>
              </a:rPr>
              <a:t>Summary of the current situation</a:t>
            </a:r>
            <a:endParaRPr sz="2000" b="1">
              <a:solidFill>
                <a:srgbClr val="E2081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6582182f26_1_366"/>
          <p:cNvSpPr txBox="1"/>
          <p:nvPr/>
        </p:nvSpPr>
        <p:spPr>
          <a:xfrm>
            <a:off x="731700" y="2392050"/>
            <a:ext cx="10527000" cy="3468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800" b="1">
                <a:solidFill>
                  <a:srgbClr val="E2081E"/>
                </a:solidFill>
              </a:rPr>
              <a:t>PART 2: INCEPTION PHASE</a:t>
            </a:r>
            <a:endParaRPr sz="2800" b="1">
              <a:solidFill>
                <a:srgbClr val="E2081E"/>
              </a:solidFill>
            </a:endParaRPr>
          </a:p>
          <a:p>
            <a:pPr marL="0" lvl="0" indent="0" algn="l" rtl="0">
              <a:spcBef>
                <a:spcPts val="0"/>
              </a:spcBef>
              <a:spcAft>
                <a:spcPts val="0"/>
              </a:spcAft>
              <a:buNone/>
            </a:pPr>
            <a:endParaRPr sz="2800">
              <a:solidFill>
                <a:schemeClr val="dk1"/>
              </a:solidFill>
            </a:endParaRPr>
          </a:p>
          <a:p>
            <a:pPr marL="0" lvl="0" indent="0" algn="l" rtl="0">
              <a:spcBef>
                <a:spcPts val="0"/>
              </a:spcBef>
              <a:spcAft>
                <a:spcPts val="0"/>
              </a:spcAft>
              <a:buNone/>
            </a:pPr>
            <a:endParaRPr sz="2800">
              <a:solidFill>
                <a:schemeClr val="dk1"/>
              </a:solidFill>
            </a:endParaRPr>
          </a:p>
          <a:p>
            <a:pPr marL="0" lvl="0" indent="0" algn="ctr" rtl="0">
              <a:spcBef>
                <a:spcPts val="0"/>
              </a:spcBef>
              <a:spcAft>
                <a:spcPts val="0"/>
              </a:spcAft>
              <a:buNone/>
            </a:pPr>
            <a:r>
              <a:rPr lang="en-GB" sz="2500" b="1">
                <a:solidFill>
                  <a:schemeClr val="dk1"/>
                </a:solidFill>
              </a:rPr>
              <a:t>Presented by Dr. Sid Boubekeur</a:t>
            </a:r>
            <a:endParaRPr sz="2500" b="1">
              <a:solidFill>
                <a:schemeClr val="dk1"/>
              </a:solidFill>
            </a:endParaRPr>
          </a:p>
          <a:p>
            <a:pPr marL="0" lvl="0" indent="0" algn="ctr" rtl="0">
              <a:spcBef>
                <a:spcPts val="0"/>
              </a:spcBef>
              <a:spcAft>
                <a:spcPts val="0"/>
              </a:spcAft>
              <a:buNone/>
            </a:pPr>
            <a:endParaRPr sz="2500" b="1">
              <a:solidFill>
                <a:schemeClr val="dk1"/>
              </a:solidFill>
            </a:endParaRPr>
          </a:p>
          <a:p>
            <a:pPr marL="0" lvl="0" indent="0" algn="ctr" rtl="0">
              <a:spcBef>
                <a:spcPts val="0"/>
              </a:spcBef>
              <a:spcAft>
                <a:spcPts val="0"/>
              </a:spcAft>
              <a:buNone/>
            </a:pPr>
            <a:endParaRPr sz="2500">
              <a:solidFill>
                <a:schemeClr val="dk1"/>
              </a:solidFill>
            </a:endParaRPr>
          </a:p>
          <a:p>
            <a:pPr marL="0" lvl="0" indent="0" algn="ctr" rtl="0">
              <a:spcBef>
                <a:spcPts val="0"/>
              </a:spcBef>
              <a:spcAft>
                <a:spcPts val="0"/>
              </a:spcAft>
              <a:buNone/>
            </a:pPr>
            <a:r>
              <a:rPr lang="en-GB" sz="2200" i="1">
                <a:solidFill>
                  <a:schemeClr val="dk1"/>
                </a:solidFill>
              </a:rPr>
              <a:t>Public Financing Expert and Coordinator, TA Team</a:t>
            </a:r>
            <a:endParaRPr sz="2200" i="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
          <p:cNvSpPr txBox="1">
            <a:spLocks noGrp="1"/>
          </p:cNvSpPr>
          <p:nvPr>
            <p:ph type="title" idx="4294967295"/>
          </p:nvPr>
        </p:nvSpPr>
        <p:spPr>
          <a:xfrm>
            <a:off x="265050" y="890675"/>
            <a:ext cx="10515600" cy="464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7030A0"/>
              </a:buClr>
              <a:buSzPct val="100000"/>
              <a:buFont typeface="Calibri"/>
              <a:buNone/>
            </a:pPr>
            <a:br>
              <a:rPr lang="en-GB" sz="2000" b="1">
                <a:solidFill>
                  <a:srgbClr val="7030A0"/>
                </a:solidFill>
                <a:latin typeface="Calibri"/>
                <a:ea typeface="Calibri"/>
                <a:cs typeface="Calibri"/>
                <a:sym typeface="Calibri"/>
              </a:rPr>
            </a:br>
            <a:br>
              <a:rPr lang="en-GB" sz="2000" b="1">
                <a:solidFill>
                  <a:srgbClr val="7030A0"/>
                </a:solidFill>
                <a:latin typeface="Calibri"/>
                <a:ea typeface="Calibri"/>
                <a:cs typeface="Calibri"/>
                <a:sym typeface="Calibri"/>
              </a:rPr>
            </a:br>
            <a:br>
              <a:rPr lang="en-GB" sz="2000" b="1">
                <a:solidFill>
                  <a:srgbClr val="7030A0"/>
                </a:solidFill>
                <a:latin typeface="Calibri"/>
                <a:ea typeface="Calibri"/>
                <a:cs typeface="Calibri"/>
                <a:sym typeface="Calibri"/>
              </a:rPr>
            </a:br>
            <a:br>
              <a:rPr lang="en-GB" sz="2000" b="1">
                <a:solidFill>
                  <a:srgbClr val="7030A0"/>
                </a:solidFill>
                <a:latin typeface="Calibri"/>
                <a:ea typeface="Calibri"/>
                <a:cs typeface="Calibri"/>
                <a:sym typeface="Calibri"/>
              </a:rPr>
            </a:br>
            <a:r>
              <a:rPr lang="en-GB" sz="2200" b="1">
                <a:solidFill>
                  <a:srgbClr val="E2081E"/>
                </a:solidFill>
                <a:latin typeface="Arial"/>
                <a:ea typeface="Arial"/>
                <a:cs typeface="Arial"/>
                <a:sym typeface="Arial"/>
              </a:rPr>
              <a:t>Critical Questions for Road Fund Stakeholders and Managers</a:t>
            </a:r>
            <a:r>
              <a:rPr lang="en-GB" sz="2200">
                <a:solidFill>
                  <a:srgbClr val="7030A0"/>
                </a:solidFill>
                <a:latin typeface="Arial"/>
                <a:ea typeface="Arial"/>
                <a:cs typeface="Arial"/>
                <a:sym typeface="Arial"/>
              </a:rPr>
              <a:t> </a:t>
            </a:r>
            <a:br>
              <a:rPr lang="en-GB" sz="2111">
                <a:latin typeface="Arial"/>
                <a:ea typeface="Arial"/>
                <a:cs typeface="Arial"/>
                <a:sym typeface="Arial"/>
              </a:rPr>
            </a:br>
            <a:br>
              <a:rPr lang="en-GB" sz="2000" b="1">
                <a:solidFill>
                  <a:srgbClr val="7030A0"/>
                </a:solidFill>
                <a:latin typeface="Calibri"/>
                <a:ea typeface="Calibri"/>
                <a:cs typeface="Calibri"/>
                <a:sym typeface="Calibri"/>
              </a:rPr>
            </a:br>
            <a:endParaRPr/>
          </a:p>
        </p:txBody>
      </p:sp>
      <p:sp>
        <p:nvSpPr>
          <p:cNvPr id="241" name="Google Shape;241;p2"/>
          <p:cNvSpPr txBox="1">
            <a:spLocks noGrp="1"/>
          </p:cNvSpPr>
          <p:nvPr>
            <p:ph type="body" idx="4294967295"/>
          </p:nvPr>
        </p:nvSpPr>
        <p:spPr>
          <a:xfrm>
            <a:off x="265050" y="1355075"/>
            <a:ext cx="11860500" cy="539672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fontScale="25000" lnSpcReduction="20000"/>
          </a:bodyPr>
          <a:lstStyle/>
          <a:p>
            <a:pPr marL="0" lvl="0" indent="0" algn="l" rtl="0">
              <a:lnSpc>
                <a:spcPct val="90000"/>
              </a:lnSpc>
              <a:spcBef>
                <a:spcPts val="0"/>
              </a:spcBef>
              <a:spcAft>
                <a:spcPts val="0"/>
              </a:spcAft>
              <a:buClr>
                <a:schemeClr val="dk1"/>
              </a:buClr>
              <a:buSzPct val="36111"/>
              <a:buNone/>
            </a:pPr>
            <a:endParaRPr sz="7200">
              <a:latin typeface="Calibri"/>
              <a:ea typeface="Calibri"/>
              <a:cs typeface="Calibri"/>
              <a:sym typeface="Calibri"/>
            </a:endParaRPr>
          </a:p>
          <a:p>
            <a:pPr marL="457200" marR="0" lvl="0" indent="-342900" algn="l" rtl="0">
              <a:lnSpc>
                <a:spcPct val="90000"/>
              </a:lnSpc>
              <a:spcBef>
                <a:spcPts val="1000"/>
              </a:spcBef>
              <a:spcAft>
                <a:spcPts val="0"/>
              </a:spcAft>
              <a:buSzPct val="100000"/>
              <a:buAutoNum type="arabicPeriod"/>
            </a:pPr>
            <a:r>
              <a:rPr lang="en-GB" sz="5600" b="1"/>
              <a:t>How to enhance road maintenance:</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to improve connectivity between urban and rural areas </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increase people’s mobility, and facilitate the transport of goods</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reduce the cost and time for their commercialization?</a:t>
            </a:r>
            <a:endParaRPr/>
          </a:p>
          <a:p>
            <a:pPr marL="857250" marR="0" lvl="0" indent="-254000" algn="l" rtl="0">
              <a:lnSpc>
                <a:spcPct val="100000"/>
              </a:lnSpc>
              <a:spcBef>
                <a:spcPts val="1200"/>
              </a:spcBef>
              <a:spcAft>
                <a:spcPts val="0"/>
              </a:spcAft>
              <a:buClr>
                <a:schemeClr val="dk1"/>
              </a:buClr>
              <a:buSzPct val="100000"/>
              <a:buFont typeface="Noto Sans Symbols"/>
              <a:buNone/>
            </a:pPr>
            <a:endParaRPr sz="5600"/>
          </a:p>
          <a:p>
            <a:pPr marL="114300" lvl="0" indent="0" algn="l" rtl="0">
              <a:lnSpc>
                <a:spcPct val="115000"/>
              </a:lnSpc>
              <a:spcBef>
                <a:spcPts val="1000"/>
              </a:spcBef>
              <a:spcAft>
                <a:spcPts val="0"/>
              </a:spcAft>
              <a:buSzPct val="100000"/>
              <a:buNone/>
            </a:pPr>
            <a:r>
              <a:rPr lang="en-GB" sz="5600" b="1"/>
              <a:t>2. How can we leverage new financing models, including blended finance (user taxes, climate finance, PPPs) combined with technical assistance to Road Fund Boards to succeed the transition?</a:t>
            </a:r>
            <a:endParaRPr/>
          </a:p>
          <a:p>
            <a:pPr marL="114300" lvl="0" indent="0" algn="l" rtl="0">
              <a:lnSpc>
                <a:spcPct val="115000"/>
              </a:lnSpc>
              <a:spcBef>
                <a:spcPts val="1000"/>
              </a:spcBef>
              <a:spcAft>
                <a:spcPts val="0"/>
              </a:spcAft>
              <a:buSzPct val="100000"/>
              <a:buNone/>
            </a:pPr>
            <a:endParaRPr sz="5600"/>
          </a:p>
          <a:p>
            <a:pPr marL="114300" lvl="0" indent="0" algn="l" rtl="0">
              <a:lnSpc>
                <a:spcPct val="90000"/>
              </a:lnSpc>
              <a:spcBef>
                <a:spcPts val="1000"/>
              </a:spcBef>
              <a:spcAft>
                <a:spcPts val="0"/>
              </a:spcAft>
              <a:buSzPct val="100000"/>
              <a:buNone/>
            </a:pPr>
            <a:r>
              <a:rPr lang="en-GB" sz="5600" b="1"/>
              <a:t>3. How can new policy reforms support the transition of Road Funds to the next generation:</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With a robust legal framework </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Free from political interference </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Financially sustainable </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Integrating climate resilience into planning and budgeting,</a:t>
            </a:r>
            <a:endParaRPr sz="5600"/>
          </a:p>
          <a:p>
            <a:pPr marL="857250" marR="0" lvl="0" indent="-342900" algn="l" rtl="0">
              <a:lnSpc>
                <a:spcPct val="100000"/>
              </a:lnSpc>
              <a:spcBef>
                <a:spcPts val="1200"/>
              </a:spcBef>
              <a:spcAft>
                <a:spcPts val="0"/>
              </a:spcAft>
              <a:buClr>
                <a:srgbClr val="E2081E"/>
              </a:buClr>
              <a:buSzPct val="100000"/>
              <a:buFont typeface="Noto Sans Symbols"/>
              <a:buChar char="▪"/>
            </a:pPr>
            <a:r>
              <a:rPr lang="en-GB" sz="5600"/>
              <a:t>Promoting gender equality and youth participation </a:t>
            </a:r>
            <a:endParaRPr/>
          </a:p>
          <a:p>
            <a:pPr marL="857250" marR="0" lvl="0" indent="-254000" algn="l" rtl="0">
              <a:lnSpc>
                <a:spcPct val="100000"/>
              </a:lnSpc>
              <a:spcBef>
                <a:spcPts val="1200"/>
              </a:spcBef>
              <a:spcAft>
                <a:spcPts val="0"/>
              </a:spcAft>
              <a:buClr>
                <a:schemeClr val="dk1"/>
              </a:buClr>
              <a:buSzPct val="100000"/>
              <a:buFont typeface="Noto Sans Symbols"/>
              <a:buNone/>
            </a:pPr>
            <a:endParaRPr sz="5600"/>
          </a:p>
          <a:p>
            <a:pPr marL="114300" lvl="0" indent="0" algn="l" rtl="0">
              <a:lnSpc>
                <a:spcPct val="115000"/>
              </a:lnSpc>
              <a:spcBef>
                <a:spcPts val="1000"/>
              </a:spcBef>
              <a:spcAft>
                <a:spcPts val="0"/>
              </a:spcAft>
              <a:buSzPct val="100000"/>
              <a:buNone/>
            </a:pPr>
            <a:r>
              <a:rPr lang="en-GB" sz="5600" b="1"/>
              <a:t>4. How to position the Road Funds  at the forefront of emerging opportunities supported by donors and development finance institutions, focusing on the  development of  transport corridors in Africa, including road construction, rehabilitation and the essential maintenance needed to ensure their long-term sustainability.</a:t>
            </a:r>
            <a:endParaRPr sz="5600" b="1"/>
          </a:p>
          <a:p>
            <a:pPr marL="0" lvl="0" indent="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
          <p:cNvSpPr/>
          <p:nvPr/>
        </p:nvSpPr>
        <p:spPr>
          <a:xfrm>
            <a:off x="647710" y="1004961"/>
            <a:ext cx="11536800" cy="416100"/>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1. Background and Objective of the Assignment</a:t>
            </a:r>
            <a:endParaRPr sz="2000" b="0" i="0" u="none" strike="noStrike" cap="none">
              <a:solidFill>
                <a:schemeClr val="dk1"/>
              </a:solidFill>
              <a:latin typeface="Arial"/>
              <a:ea typeface="Arial"/>
              <a:cs typeface="Arial"/>
              <a:sym typeface="Arial"/>
            </a:endParaRPr>
          </a:p>
        </p:txBody>
      </p:sp>
      <p:sp>
        <p:nvSpPr>
          <p:cNvPr id="247" name="Google Shape;247;p3"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8" name="Google Shape;248;p3"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9" name="Google Shape;249;p3"/>
          <p:cNvSpPr txBox="1"/>
          <p:nvPr/>
        </p:nvSpPr>
        <p:spPr>
          <a:xfrm>
            <a:off x="543172" y="1931393"/>
            <a:ext cx="11210529" cy="2492990"/>
          </a:xfrm>
          <a:prstGeom prst="rect">
            <a:avLst/>
          </a:prstGeom>
          <a:noFill/>
          <a:ln>
            <a:noFill/>
          </a:ln>
        </p:spPr>
        <p:txBody>
          <a:bodyPr spcFirstLastPara="1" wrap="square" lIns="91425" tIns="45700" rIns="91425" bIns="45700" anchor="t" anchorCtr="0">
            <a:spAutoFit/>
          </a:bodyPr>
          <a:lstStyle/>
          <a:p>
            <a:pPr marL="5715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Two decades after the establishment of Second Generation  of Road Funds, several critical issues continue to affect their efficiency and long-term sustainability:</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Governance gaps persist, including imbalances in board members composition.</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The available budgets are insufficient to match the growing volume of roads requiring maintenance resulting in cumulative backlogs.</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Road Funds depend primarily on user charges, such as fuel levies and tolls, which are insufficient to effectively respond to the numerous road damages caused by climate change</a:t>
            </a:r>
            <a:endParaRPr sz="1400" b="0" i="0" u="none" strike="noStrike" cap="none">
              <a:solidFill>
                <a:srgbClr val="000000"/>
              </a:solidFill>
              <a:latin typeface="Arial"/>
              <a:ea typeface="Arial"/>
              <a:cs typeface="Arial"/>
              <a:sym typeface="Arial"/>
            </a:endParaRPr>
          </a:p>
        </p:txBody>
      </p:sp>
      <p:sp>
        <p:nvSpPr>
          <p:cNvPr id="250" name="Google Shape;250;p3"/>
          <p:cNvSpPr/>
          <p:nvPr/>
        </p:nvSpPr>
        <p:spPr>
          <a:xfrm>
            <a:off x="647700" y="4934720"/>
            <a:ext cx="10925175" cy="646331"/>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These issues place Road Funds under continuous stress, making it difficult to plan, prioritize, and implement maintenance activities efficiently and responding to the needs of road users</a:t>
            </a:r>
            <a:r>
              <a:rPr lang="en-GB" sz="1800" b="1"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p:nvPr/>
        </p:nvSpPr>
        <p:spPr>
          <a:xfrm>
            <a:off x="338334" y="1119515"/>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2. Design of a Policy Document for Transitioning Roads Funds to the Next Generation</a:t>
            </a:r>
            <a:endParaRPr sz="2000" b="0" i="0" u="none" strike="noStrike" cap="none">
              <a:solidFill>
                <a:schemeClr val="dk1"/>
              </a:solidFill>
              <a:latin typeface="Arial"/>
              <a:ea typeface="Arial"/>
              <a:cs typeface="Arial"/>
              <a:sym typeface="Arial"/>
            </a:endParaRPr>
          </a:p>
        </p:txBody>
      </p:sp>
      <p:sp>
        <p:nvSpPr>
          <p:cNvPr id="256" name="Google Shape;256;p4"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7" name="Google Shape;257;p4"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8" name="Google Shape;258;p4"/>
          <p:cNvSpPr txBox="1"/>
          <p:nvPr/>
        </p:nvSpPr>
        <p:spPr>
          <a:xfrm>
            <a:off x="338333" y="1935502"/>
            <a:ext cx="11210529" cy="3077766"/>
          </a:xfrm>
          <a:prstGeom prst="rect">
            <a:avLst/>
          </a:prstGeom>
          <a:noFill/>
          <a:ln>
            <a:noFill/>
          </a:ln>
        </p:spPr>
        <p:txBody>
          <a:bodyPr spcFirstLastPara="1" wrap="square" lIns="91425" tIns="45700" rIns="91425" bIns="45700" anchor="t" anchorCtr="0">
            <a:spAutoFit/>
          </a:bodyPr>
          <a:lstStyle/>
          <a:p>
            <a:pPr marL="5715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The project has three overarching purposes: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Diagnostic of the current status of 15 Road Funds focusing on governance practices, funding and operations mechanisms, resilience to climate change readiness, and inclusion of gender equity and equality.</a:t>
            </a:r>
            <a:endParaRPr sz="1400" b="0" i="0" u="none" strike="noStrike" cap="none">
              <a:solidFill>
                <a:srgbClr val="000000"/>
              </a:solidFill>
              <a:latin typeface="Arial"/>
              <a:ea typeface="Arial"/>
              <a:cs typeface="Arial"/>
              <a:sym typeface="Arial"/>
            </a:endParaRPr>
          </a:p>
          <a:p>
            <a:pPr marL="342900" marR="0" lvl="0"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Definition of principles and practices of “third-generation” Road that:  </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implement governance and transparency mechanisms</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blend diverse revenue sources for meeting the expected targets on road maintenance</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integrate resilience and climate finance are more inclusive.</a:t>
            </a:r>
            <a:endParaRPr sz="1400" b="0" i="0" u="none" strike="noStrike" cap="none">
              <a:solidFill>
                <a:srgbClr val="000000"/>
              </a:solidFill>
              <a:latin typeface="Arial"/>
              <a:ea typeface="Arial"/>
              <a:cs typeface="Arial"/>
              <a:sym typeface="Arial"/>
            </a:endParaRPr>
          </a:p>
        </p:txBody>
      </p:sp>
      <p:sp>
        <p:nvSpPr>
          <p:cNvPr id="259" name="Google Shape;259;p4"/>
          <p:cNvSpPr txBox="1"/>
          <p:nvPr/>
        </p:nvSpPr>
        <p:spPr>
          <a:xfrm>
            <a:off x="338332" y="5267537"/>
            <a:ext cx="11210529" cy="923330"/>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Develop a policy document, including the key findings, the Next-Generation Road Fund model, the recommendations and an action plan to be submitted to the next Ministerial Transport and Finance meeting  which will take in 2026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
          <p:cNvSpPr/>
          <p:nvPr/>
        </p:nvSpPr>
        <p:spPr>
          <a:xfrm>
            <a:off x="267866" y="1108589"/>
            <a:ext cx="11536718" cy="1031637"/>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3. Stakeholders’ Engagement  to ensure Project Success and Foster Ownership</a:t>
            </a:r>
            <a:br>
              <a:rPr lang="en-GB" sz="2000" b="1" i="0" u="none" strike="noStrike" cap="none">
                <a:solidFill>
                  <a:srgbClr val="E2081E"/>
                </a:solidFill>
                <a:latin typeface="Arial"/>
                <a:ea typeface="Arial"/>
                <a:cs typeface="Arial"/>
                <a:sym typeface="Arial"/>
              </a:rPr>
            </a:br>
            <a:endParaRPr sz="2000" b="1" i="0" u="none" strike="noStrike" cap="none">
              <a:solidFill>
                <a:srgbClr val="E2081E"/>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6" name="Google Shape;266;p5"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7" name="Google Shape;267;p5"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8" name="Google Shape;268;p5"/>
          <p:cNvSpPr txBox="1"/>
          <p:nvPr/>
        </p:nvSpPr>
        <p:spPr>
          <a:xfrm>
            <a:off x="338334" y="1624407"/>
            <a:ext cx="11210529" cy="4708981"/>
          </a:xfrm>
          <a:prstGeom prst="rect">
            <a:avLst/>
          </a:prstGeom>
          <a:noFill/>
          <a:ln>
            <a:noFill/>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A </a:t>
            </a:r>
            <a:r>
              <a:rPr lang="en-GB" sz="1800" b="1" i="0" u="none" strike="noStrike" cap="none">
                <a:solidFill>
                  <a:schemeClr val="dk1"/>
                </a:solidFill>
                <a:latin typeface="Arial"/>
                <a:ea typeface="Arial"/>
                <a:cs typeface="Arial"/>
                <a:sym typeface="Arial"/>
              </a:rPr>
              <a:t>participatory and consultative </a:t>
            </a:r>
            <a:r>
              <a:rPr lang="en-GB" sz="1800" b="0" i="0" u="none" strike="noStrike" cap="none">
                <a:solidFill>
                  <a:schemeClr val="dk1"/>
                </a:solidFill>
                <a:latin typeface="Arial"/>
                <a:ea typeface="Arial"/>
                <a:cs typeface="Arial"/>
                <a:sym typeface="Arial"/>
              </a:rPr>
              <a:t>approach will be implemented to ensure that ARMFA and the selected Road Funds focal points are fully engaged throughout the survey process. To this end, the Experts will:</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Establish continuous and effective communication with ARMFA, focal points, and relevant national stakeholders to facilitate collaboration on the project and to ensure timely responses to the requested questions.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If necessary, they will adapt tools and processes based on the quality of data received and response rates.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Provide regular reporting to SSATP-EU and ARMFA on the progress and challenges of the project.</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Sharing information with SSATP-EU and ARMFA on the challenges faced by Road Funds but also the best practices applied by the Road Funds and lessons learned. </a:t>
            </a:r>
            <a:endParaRPr sz="1400" b="0" i="0" u="none" strike="noStrike" cap="none">
              <a:solidFill>
                <a:srgbClr val="000000"/>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269" name="Google Shape;269;p5"/>
          <p:cNvSpPr txBox="1"/>
          <p:nvPr/>
        </p:nvSpPr>
        <p:spPr>
          <a:xfrm>
            <a:off x="455501" y="4841470"/>
            <a:ext cx="11280998" cy="1815882"/>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This approach will:</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Enhance information and data quality and sharing for analysis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Build ownership </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Ensure that the final recommendations and policy document are aligned with their expectations for transitioning to third-generation Road Funds</a:t>
            </a:r>
            <a:r>
              <a:rPr lang="en-GB" sz="1600" b="1"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
          <p:cNvSpPr txBox="1"/>
          <p:nvPr/>
        </p:nvSpPr>
        <p:spPr>
          <a:xfrm>
            <a:off x="1010065" y="1448434"/>
            <a:ext cx="1404156"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0"/>
              <a:buFont typeface="Arial"/>
              <a:buNone/>
            </a:pPr>
            <a:r>
              <a:rPr lang="en-GB" sz="10000" b="0" i="0" u="none" strike="noStrike" cap="none">
                <a:solidFill>
                  <a:srgbClr val="E6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76" name="Google Shape;276;p6"/>
          <p:cNvSpPr/>
          <p:nvPr/>
        </p:nvSpPr>
        <p:spPr>
          <a:xfrm>
            <a:off x="3090044" y="1684667"/>
            <a:ext cx="3778542" cy="531526"/>
          </a:xfrm>
          <a:prstGeom prst="rect">
            <a:avLst/>
          </a:prstGeom>
          <a:noFill/>
          <a:ln>
            <a:noFill/>
          </a:ln>
        </p:spPr>
        <p:txBody>
          <a:bodyPr spcFirstLastPara="1" wrap="square" lIns="107275" tIns="53625" rIns="107275" bIns="536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Key Implementation Phases</a:t>
            </a:r>
            <a:endParaRPr sz="1400" b="0" i="0" u="none" strike="noStrike" cap="none">
              <a:solidFill>
                <a:srgbClr val="000000"/>
              </a:solidFill>
              <a:latin typeface="Arial"/>
              <a:ea typeface="Arial"/>
              <a:cs typeface="Arial"/>
              <a:sym typeface="Arial"/>
            </a:endParaRPr>
          </a:p>
        </p:txBody>
      </p:sp>
      <p:pic>
        <p:nvPicPr>
          <p:cNvPr id="277" name="Google Shape;27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223751" y="2485155"/>
            <a:ext cx="5452094" cy="28202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7"/>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1. Inception</a:t>
            </a:r>
            <a:endParaRPr sz="2000" b="0" i="0" u="none" strike="noStrike" cap="none">
              <a:solidFill>
                <a:schemeClr val="dk1"/>
              </a:solidFill>
              <a:latin typeface="Arial"/>
              <a:ea typeface="Arial"/>
              <a:cs typeface="Arial"/>
              <a:sym typeface="Arial"/>
            </a:endParaRPr>
          </a:p>
        </p:txBody>
      </p:sp>
      <p:sp>
        <p:nvSpPr>
          <p:cNvPr id="284" name="Google Shape;284;p7"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5" name="Google Shape;285;p7"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86" name="Google Shape;286;p7"/>
          <p:cNvGrpSpPr/>
          <p:nvPr/>
        </p:nvGrpSpPr>
        <p:grpSpPr>
          <a:xfrm>
            <a:off x="457570" y="1295859"/>
            <a:ext cx="11636962" cy="4795703"/>
            <a:chOff x="5159" y="707136"/>
            <a:chExt cx="11636962" cy="4795703"/>
          </a:xfrm>
        </p:grpSpPr>
        <p:sp>
          <p:nvSpPr>
            <p:cNvPr id="287" name="Google Shape;287;p7"/>
            <p:cNvSpPr/>
            <p:nvPr/>
          </p:nvSpPr>
          <p:spPr>
            <a:xfrm>
              <a:off x="5159" y="766436"/>
              <a:ext cx="2255912" cy="4736403"/>
            </a:xfrm>
            <a:prstGeom prst="roundRect">
              <a:avLst>
                <a:gd name="adj" fmla="val 10000"/>
              </a:avLst>
            </a:prstGeom>
            <a:solidFill>
              <a:srgbClr val="C00000">
                <a:alpha val="49411"/>
              </a:srgbClr>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7"/>
            <p:cNvSpPr txBox="1"/>
            <p:nvPr/>
          </p:nvSpPr>
          <p:spPr>
            <a:xfrm>
              <a:off x="71232" y="832509"/>
              <a:ext cx="2123766" cy="4604257"/>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Arial"/>
                <a:buNone/>
              </a:pPr>
              <a:r>
                <a:rPr lang="en-GB" sz="1200" b="1" i="0" u="none" strike="noStrike" cap="none">
                  <a:solidFill>
                    <a:schemeClr val="lt1"/>
                  </a:solidFill>
                  <a:latin typeface="Arial"/>
                  <a:ea typeface="Arial"/>
                  <a:cs typeface="Arial"/>
                  <a:sym typeface="Arial"/>
                </a:rPr>
                <a:t>REVIEW OF EXISTING DOCUMENT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C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Arial"/>
                <a:buNone/>
              </a:pPr>
              <a:r>
                <a:rPr lang="en-GB" sz="1200" b="0" i="0" u="none" strike="noStrike" cap="none">
                  <a:solidFill>
                    <a:schemeClr val="lt1"/>
                  </a:solidFill>
                  <a:latin typeface="Arial"/>
                  <a:ea typeface="Arial"/>
                  <a:cs typeface="Arial"/>
                  <a:sym typeface="Arial"/>
                </a:rPr>
                <a:t>. Legal status of the Road Fund Second generation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Road Fund annual technical and financial reports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ARMFA annual reports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World Bank-SSATP studies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Reports on the impact of climate change on roads assets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EU and DFIs studies on transport corridors and regional integration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Other documents recommended by SSATP-ARMFA</a:t>
              </a:r>
              <a:endParaRPr sz="1200" b="0" i="0" u="none" strike="noStrike" cap="none">
                <a:solidFill>
                  <a:schemeClr val="lt1"/>
                </a:solidFill>
                <a:latin typeface="Arial"/>
                <a:ea typeface="Arial"/>
                <a:cs typeface="Arial"/>
                <a:sym typeface="Arial"/>
              </a:endParaRPr>
            </a:p>
          </p:txBody>
        </p:sp>
        <p:sp>
          <p:nvSpPr>
            <p:cNvPr id="289" name="Google Shape;289;p7"/>
            <p:cNvSpPr/>
            <p:nvPr/>
          </p:nvSpPr>
          <p:spPr>
            <a:xfrm>
              <a:off x="2486663" y="2854905"/>
              <a:ext cx="478253"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7"/>
            <p:cNvSpPr txBox="1"/>
            <p:nvPr/>
          </p:nvSpPr>
          <p:spPr>
            <a:xfrm>
              <a:off x="2486663" y="2966798"/>
              <a:ext cx="334777"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1" name="Google Shape;291;p7"/>
            <p:cNvSpPr/>
            <p:nvPr/>
          </p:nvSpPr>
          <p:spPr>
            <a:xfrm>
              <a:off x="3163437" y="7664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7"/>
            <p:cNvSpPr txBox="1"/>
            <p:nvPr/>
          </p:nvSpPr>
          <p:spPr>
            <a:xfrm>
              <a:off x="3229510" y="8325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STAKEHOLDER MAPPING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Identification of key institutions for interview:</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ARMFA selected Road Funds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Non ARMFA members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Ministries of Finance, Transport/ Public Work</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Donors, Partners,  Development Finance Institutions</a:t>
              </a:r>
              <a:endParaRPr sz="1200" b="0" i="0" u="none" strike="noStrike" cap="none">
                <a:solidFill>
                  <a:srgbClr val="FFFFFF"/>
                </a:solidFill>
                <a:latin typeface="Arial"/>
                <a:ea typeface="Arial"/>
                <a:cs typeface="Arial"/>
                <a:sym typeface="Arial"/>
              </a:endParaRPr>
            </a:p>
          </p:txBody>
        </p:sp>
        <p:sp>
          <p:nvSpPr>
            <p:cNvPr id="293" name="Google Shape;293;p7"/>
            <p:cNvSpPr/>
            <p:nvPr/>
          </p:nvSpPr>
          <p:spPr>
            <a:xfrm>
              <a:off x="5644941" y="2854905"/>
              <a:ext cx="478253"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7"/>
            <p:cNvSpPr txBox="1"/>
            <p:nvPr/>
          </p:nvSpPr>
          <p:spPr>
            <a:xfrm>
              <a:off x="5644941" y="2966798"/>
              <a:ext cx="334777"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5" name="Google Shape;295;p7"/>
            <p:cNvSpPr/>
            <p:nvPr/>
          </p:nvSpPr>
          <p:spPr>
            <a:xfrm>
              <a:off x="6321715" y="7664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7"/>
            <p:cNvSpPr txBox="1"/>
            <p:nvPr/>
          </p:nvSpPr>
          <p:spPr>
            <a:xfrm>
              <a:off x="6387788" y="8325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SURVEY DESIGN AND INTERVIEW GUIDES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AREAS: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Governance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Operation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Finance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Climate change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Social inclusion (gender equity-equality)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Regional integration/transport corridors initiatives</a:t>
              </a: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Policy reform recommendations from Road Funds</a:t>
              </a:r>
              <a:endParaRPr sz="1200" b="0" i="0" u="none" strike="noStrike" cap="none">
                <a:solidFill>
                  <a:srgbClr val="FFFFFF"/>
                </a:solidFill>
                <a:latin typeface="Arial"/>
                <a:ea typeface="Arial"/>
                <a:cs typeface="Arial"/>
                <a:sym typeface="Arial"/>
              </a:endParaRPr>
            </a:p>
          </p:txBody>
        </p:sp>
        <p:sp>
          <p:nvSpPr>
            <p:cNvPr id="297" name="Google Shape;297;p7"/>
            <p:cNvSpPr/>
            <p:nvPr/>
          </p:nvSpPr>
          <p:spPr>
            <a:xfrm rot="-66514">
              <a:off x="8779733" y="2825020"/>
              <a:ext cx="428628"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7"/>
            <p:cNvSpPr txBox="1"/>
            <p:nvPr/>
          </p:nvSpPr>
          <p:spPr>
            <a:xfrm rot="-66514">
              <a:off x="8779745" y="2938157"/>
              <a:ext cx="300040"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9" name="Google Shape;299;p7"/>
            <p:cNvSpPr/>
            <p:nvPr/>
          </p:nvSpPr>
          <p:spPr>
            <a:xfrm>
              <a:off x="9386209" y="7071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7"/>
            <p:cNvSpPr txBox="1"/>
            <p:nvPr/>
          </p:nvSpPr>
          <p:spPr>
            <a:xfrm>
              <a:off x="9452282" y="7732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INCEPTION REPORT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Methodology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Tools for collection of data and analysis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Engagement approach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Data risk management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Confidentiality aspects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Workplan</a:t>
              </a:r>
              <a:endParaRPr sz="1200" b="0" i="0" u="none" strike="noStrike" cap="none">
                <a:solidFill>
                  <a:srgbClr val="FFFFFF"/>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8"/>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Tools for Diagnostic and Analysis</a:t>
            </a:r>
            <a:endParaRPr sz="2000" b="0" i="0" u="none" strike="noStrike" cap="none">
              <a:solidFill>
                <a:schemeClr val="dk1"/>
              </a:solidFill>
              <a:latin typeface="Arial"/>
              <a:ea typeface="Arial"/>
              <a:cs typeface="Arial"/>
              <a:sym typeface="Arial"/>
            </a:endParaRPr>
          </a:p>
        </p:txBody>
      </p:sp>
      <p:sp>
        <p:nvSpPr>
          <p:cNvPr id="307" name="Google Shape;307;p8"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8" name="Google Shape;308;p8"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9" name="Google Shape;309;p8"/>
          <p:cNvSpPr txBox="1"/>
          <p:nvPr/>
        </p:nvSpPr>
        <p:spPr>
          <a:xfrm>
            <a:off x="338334" y="1624407"/>
            <a:ext cx="7374274" cy="4185761"/>
          </a:xfrm>
          <a:prstGeom prst="rect">
            <a:avLst/>
          </a:prstGeom>
          <a:noFill/>
          <a:ln>
            <a:noFill/>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Diagnostic exercise  combining  primary and secondary data sources.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Primary data will be collected through the survey questionnaires and interviews with Road Fund focal points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The secondary data will be mobilised through the Road Fund annual technical, financial and audit reports, ARMFA annual reports and conference records, World Bank-SSATP and AfDB, reports, TA TRAC database including reports on transport and road maintenance.</a:t>
            </a:r>
            <a:endParaRPr sz="1400" b="0" i="0" u="none" strike="noStrike" cap="none">
              <a:solidFill>
                <a:srgbClr val="000000"/>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310" name="Google Shape;310;p8"/>
          <p:cNvSpPr txBox="1"/>
          <p:nvPr/>
        </p:nvSpPr>
        <p:spPr>
          <a:xfrm>
            <a:off x="498947" y="5159048"/>
            <a:ext cx="7213661" cy="923330"/>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To process and analyse the collected data, the experts will use a range of analytical tools, including dashboards (Excel or Power BI), comparative matrices, reliability scoring grids.</a:t>
            </a:r>
            <a:endParaRPr sz="1600" b="1" i="0" u="none" strike="noStrike" cap="none">
              <a:solidFill>
                <a:schemeClr val="dk1"/>
              </a:solidFill>
              <a:latin typeface="Arial"/>
              <a:ea typeface="Arial"/>
              <a:cs typeface="Arial"/>
              <a:sym typeface="Arial"/>
            </a:endParaRPr>
          </a:p>
        </p:txBody>
      </p:sp>
      <p:pic>
        <p:nvPicPr>
          <p:cNvPr id="311" name="Google Shape;311;p8" descr="Magnifying glass showing decling performance"/>
          <p:cNvPicPr preferRelativeResize="0"/>
          <p:nvPr/>
        </p:nvPicPr>
        <p:blipFill rotWithShape="1">
          <a:blip r:embed="rId3" cstate="screen">
            <a:alphaModFix/>
            <a:extLst>
              <a:ext uri="{28A0092B-C50C-407E-A947-70E740481C1C}">
                <a14:useLocalDpi xmlns:a14="http://schemas.microsoft.com/office/drawing/2010/main"/>
              </a:ext>
            </a:extLst>
          </a:blip>
          <a:srcRect b="-1"/>
          <a:stretch/>
        </p:blipFill>
        <p:spPr>
          <a:xfrm>
            <a:off x="8225735" y="1034236"/>
            <a:ext cx="3947646" cy="5823764"/>
          </a:xfrm>
          <a:prstGeom prst="rect">
            <a:avLst/>
          </a:prstGeom>
          <a:noFill/>
          <a:ln>
            <a:noFill/>
          </a:ln>
          <a:effectLst>
            <a:outerShdw blurRad="127000" dist="50800" dir="10800000" sx="99000" sy="99000" algn="r" rotWithShape="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9"/>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2. Survey Launch and Data Mobilization</a:t>
            </a:r>
            <a:endParaRPr sz="2000" b="0" i="0" u="none" strike="noStrike" cap="none">
              <a:solidFill>
                <a:schemeClr val="dk1"/>
              </a:solidFill>
              <a:latin typeface="Arial"/>
              <a:ea typeface="Arial"/>
              <a:cs typeface="Arial"/>
              <a:sym typeface="Arial"/>
            </a:endParaRPr>
          </a:p>
        </p:txBody>
      </p:sp>
      <p:sp>
        <p:nvSpPr>
          <p:cNvPr id="318" name="Google Shape;318;p9"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9" name="Google Shape;319;p9"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20" name="Google Shape;320;p9"/>
          <p:cNvGrpSpPr/>
          <p:nvPr/>
        </p:nvGrpSpPr>
        <p:grpSpPr>
          <a:xfrm>
            <a:off x="1127585" y="1180020"/>
            <a:ext cx="9567798" cy="5284915"/>
            <a:chOff x="603710" y="103695"/>
            <a:chExt cx="9567798" cy="5284915"/>
          </a:xfrm>
        </p:grpSpPr>
        <p:sp>
          <p:nvSpPr>
            <p:cNvPr id="321" name="Google Shape;321;p9"/>
            <p:cNvSpPr/>
            <p:nvPr/>
          </p:nvSpPr>
          <p:spPr>
            <a:xfrm rot="5400000">
              <a:off x="1979124" y="2469899"/>
              <a:ext cx="1098941" cy="1251105"/>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9"/>
            <p:cNvSpPr/>
            <p:nvPr/>
          </p:nvSpPr>
          <p:spPr>
            <a:xfrm>
              <a:off x="603710" y="103695"/>
              <a:ext cx="3108616" cy="2446050"/>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9"/>
            <p:cNvSpPr txBox="1"/>
            <p:nvPr/>
          </p:nvSpPr>
          <p:spPr>
            <a:xfrm>
              <a:off x="723138" y="223123"/>
              <a:ext cx="2869760" cy="2207194"/>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1200"/>
                <a:buFont typeface="Arial"/>
                <a:buNone/>
              </a:pPr>
              <a:endParaRPr sz="1200" b="1" i="0" u="none" strike="noStrike" cap="none">
                <a:solidFill>
                  <a:schemeClr val="lt1"/>
                </a:solidFill>
                <a:latin typeface="Arial"/>
                <a:ea typeface="Arial"/>
                <a:cs typeface="Arial"/>
                <a:sym typeface="Arial"/>
              </a:endParaRPr>
            </a:p>
            <a:p>
              <a:pPr marL="0" marR="0" lvl="0" indent="0" algn="ctr" rtl="0">
                <a:lnSpc>
                  <a:spcPct val="90000"/>
                </a:lnSpc>
                <a:spcBef>
                  <a:spcPts val="42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STAKEHOLDER ENGAGEMENT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With the support of ARMFA</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Engage country focal points for collaboration leveraging the Nairobi September  2025</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Present the objectives, scope and expected outcomes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Secure commitment from focal points to  support and participate in the survey process.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Define roles, responsibilities, and  expectations from the Focal Points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dk1"/>
                </a:buClr>
                <a:buSzPts val="1200"/>
                <a:buFont typeface="Arial"/>
                <a:buNone/>
              </a:pPr>
              <a:endParaRPr sz="1200" b="1" i="0" u="none" strike="noStrike" cap="none">
                <a:solidFill>
                  <a:srgbClr val="FFFFFF"/>
                </a:solidFill>
                <a:latin typeface="Arial"/>
                <a:ea typeface="Arial"/>
                <a:cs typeface="Arial"/>
                <a:sym typeface="Arial"/>
              </a:endParaRPr>
            </a:p>
          </p:txBody>
        </p:sp>
        <p:sp>
          <p:nvSpPr>
            <p:cNvPr id="324" name="Google Shape;324;p9"/>
            <p:cNvSpPr/>
            <p:nvPr/>
          </p:nvSpPr>
          <p:spPr>
            <a:xfrm>
              <a:off x="4592099" y="721298"/>
              <a:ext cx="1345492" cy="104661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9"/>
            <p:cNvSpPr/>
            <p:nvPr/>
          </p:nvSpPr>
          <p:spPr>
            <a:xfrm rot="5400000">
              <a:off x="5648205" y="4070052"/>
              <a:ext cx="1098941" cy="1251105"/>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9"/>
            <p:cNvSpPr/>
            <p:nvPr/>
          </p:nvSpPr>
          <p:spPr>
            <a:xfrm>
              <a:off x="4020796" y="1929117"/>
              <a:ext cx="2795490" cy="2126309"/>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9"/>
            <p:cNvSpPr txBox="1"/>
            <p:nvPr/>
          </p:nvSpPr>
          <p:spPr>
            <a:xfrm>
              <a:off x="4124613" y="2032934"/>
              <a:ext cx="2587856" cy="1918675"/>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SURVEY LAUNCH AND DATA MOBILIZATION</a:t>
              </a:r>
              <a:endParaRPr sz="1000" b="1" i="0" u="none" strike="noStrike" cap="none">
                <a:solidFill>
                  <a:srgbClr val="FFFFFF"/>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Distribute the questionnaire to participating Road Funds  focal point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Schedule interviews and working sessions with  Focal points and concerned Ministries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Gather relevant information to refine and adjust the methodology.</a:t>
              </a:r>
              <a:endParaRPr sz="1400" b="0" i="0" u="none" strike="noStrike" cap="none">
                <a:solidFill>
                  <a:srgbClr val="000000"/>
                </a:solidFill>
                <a:latin typeface="Arial"/>
                <a:ea typeface="Arial"/>
                <a:cs typeface="Arial"/>
                <a:sym typeface="Arial"/>
              </a:endParaRPr>
            </a:p>
          </p:txBody>
        </p:sp>
        <p:sp>
          <p:nvSpPr>
            <p:cNvPr id="328" name="Google Shape;328;p9"/>
            <p:cNvSpPr/>
            <p:nvPr/>
          </p:nvSpPr>
          <p:spPr>
            <a:xfrm>
              <a:off x="6271433" y="2591614"/>
              <a:ext cx="1345492" cy="104661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9"/>
            <p:cNvSpPr/>
            <p:nvPr/>
          </p:nvSpPr>
          <p:spPr>
            <a:xfrm>
              <a:off x="7381864" y="3710654"/>
              <a:ext cx="2789644" cy="1677956"/>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9"/>
            <p:cNvSpPr txBox="1"/>
            <p:nvPr/>
          </p:nvSpPr>
          <p:spPr>
            <a:xfrm>
              <a:off x="7463790" y="3792580"/>
              <a:ext cx="2625792" cy="1514104"/>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INTERIM SUMMARY OF SURVEY RESPONSE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Highlight initial data quality findings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Identify data gaps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Define follow-up actions address data gaps </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0"/>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3. Data Collection and Validation</a:t>
            </a:r>
            <a:endParaRPr sz="2000" b="1" i="0" u="none" strike="noStrike" cap="none">
              <a:solidFill>
                <a:srgbClr val="E2081E"/>
              </a:solidFill>
              <a:latin typeface="Arial"/>
              <a:ea typeface="Arial"/>
              <a:cs typeface="Arial"/>
              <a:sym typeface="Arial"/>
            </a:endParaRPr>
          </a:p>
        </p:txBody>
      </p:sp>
      <p:sp>
        <p:nvSpPr>
          <p:cNvPr id="337" name="Google Shape;337;p10"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8" name="Google Shape;338;p10"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39" name="Google Shape;339;p10"/>
          <p:cNvGrpSpPr/>
          <p:nvPr/>
        </p:nvGrpSpPr>
        <p:grpSpPr>
          <a:xfrm>
            <a:off x="199005" y="2591705"/>
            <a:ext cx="11721416" cy="2371273"/>
            <a:chOff x="10320" y="1793419"/>
            <a:chExt cx="11721416" cy="2371273"/>
          </a:xfrm>
        </p:grpSpPr>
        <p:sp>
          <p:nvSpPr>
            <p:cNvPr id="340" name="Google Shape;340;p10"/>
            <p:cNvSpPr/>
            <p:nvPr/>
          </p:nvSpPr>
          <p:spPr>
            <a:xfrm>
              <a:off x="10320"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10"/>
            <p:cNvSpPr txBox="1"/>
            <p:nvPr/>
          </p:nvSpPr>
          <p:spPr>
            <a:xfrm>
              <a:off x="79772"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INFORMATION AND DATA COLLECTION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Conduct interviews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Collect questionnaires replies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Assessment of  secondary sources  other institutions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Triangulation to reconstruct missing elements. </a:t>
              </a: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p:txBody>
        </p:sp>
        <p:sp>
          <p:nvSpPr>
            <p:cNvPr id="342" name="Google Shape;342;p10"/>
            <p:cNvSpPr/>
            <p:nvPr/>
          </p:nvSpPr>
          <p:spPr>
            <a:xfrm>
              <a:off x="3403361" y="2596568"/>
              <a:ext cx="653931" cy="76497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0"/>
            <p:cNvSpPr txBox="1"/>
            <p:nvPr/>
          </p:nvSpPr>
          <p:spPr>
            <a:xfrm>
              <a:off x="3403361" y="2749563"/>
              <a:ext cx="457752" cy="45898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44" name="Google Shape;344;p10"/>
            <p:cNvSpPr/>
            <p:nvPr/>
          </p:nvSpPr>
          <p:spPr>
            <a:xfrm>
              <a:off x="4328736"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0"/>
            <p:cNvSpPr txBox="1"/>
            <p:nvPr/>
          </p:nvSpPr>
          <p:spPr>
            <a:xfrm>
              <a:off x="4398188"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GAP IDENTIFICATION AND CONFIDENCE SCORING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Identify mission or conflicting information and assign a confidence rating to each data point.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For low-confidence data, conduct  interviews or elaborate written queries to Focal Points  to minimize gaps.</a:t>
              </a:r>
              <a:endParaRPr sz="1400" b="0" i="0" u="none" strike="noStrike" cap="none">
                <a:solidFill>
                  <a:srgbClr val="000000"/>
                </a:solidFill>
                <a:latin typeface="Arial"/>
                <a:ea typeface="Arial"/>
                <a:cs typeface="Arial"/>
                <a:sym typeface="Arial"/>
              </a:endParaRPr>
            </a:p>
          </p:txBody>
        </p:sp>
        <p:sp>
          <p:nvSpPr>
            <p:cNvPr id="346" name="Google Shape;346;p10"/>
            <p:cNvSpPr/>
            <p:nvPr/>
          </p:nvSpPr>
          <p:spPr>
            <a:xfrm>
              <a:off x="7721778" y="2596568"/>
              <a:ext cx="653931" cy="76497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10"/>
            <p:cNvSpPr txBox="1"/>
            <p:nvPr/>
          </p:nvSpPr>
          <p:spPr>
            <a:xfrm>
              <a:off x="7721778" y="2749563"/>
              <a:ext cx="457752" cy="45898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48" name="Google Shape;348;p10"/>
            <p:cNvSpPr/>
            <p:nvPr/>
          </p:nvSpPr>
          <p:spPr>
            <a:xfrm>
              <a:off x="8647153"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10"/>
            <p:cNvSpPr txBox="1"/>
            <p:nvPr/>
          </p:nvSpPr>
          <p:spPr>
            <a:xfrm>
              <a:off x="8716605"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DATASET AND RELIABILITY MATRIX</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Compile collected data into a dataset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Elaborate a reliability matrix informing on the level confidence and any outstanding information requests.  </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1"/>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4. Analysis &amp; Synthesis</a:t>
            </a:r>
            <a:endParaRPr sz="2000" b="1" i="0" u="none" strike="noStrike" cap="none">
              <a:solidFill>
                <a:srgbClr val="E2081E"/>
              </a:solidFill>
              <a:latin typeface="Arial"/>
              <a:ea typeface="Arial"/>
              <a:cs typeface="Arial"/>
              <a:sym typeface="Arial"/>
            </a:endParaRPr>
          </a:p>
        </p:txBody>
      </p:sp>
      <p:sp>
        <p:nvSpPr>
          <p:cNvPr id="356" name="Google Shape;356;p11"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7" name="Google Shape;357;p11"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58" name="Google Shape;358;p11"/>
          <p:cNvGrpSpPr/>
          <p:nvPr/>
        </p:nvGrpSpPr>
        <p:grpSpPr>
          <a:xfrm>
            <a:off x="387527" y="1155637"/>
            <a:ext cx="10854579" cy="5309294"/>
            <a:chOff x="108928" y="98362"/>
            <a:chExt cx="10854579" cy="5309294"/>
          </a:xfrm>
        </p:grpSpPr>
        <p:sp>
          <p:nvSpPr>
            <p:cNvPr id="359" name="Google Shape;359;p11"/>
            <p:cNvSpPr/>
            <p:nvPr/>
          </p:nvSpPr>
          <p:spPr>
            <a:xfrm rot="5400000">
              <a:off x="2789951" y="2168850"/>
              <a:ext cx="1050926" cy="1740431"/>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1"/>
            <p:cNvSpPr/>
            <p:nvPr/>
          </p:nvSpPr>
          <p:spPr>
            <a:xfrm>
              <a:off x="108928" y="98362"/>
              <a:ext cx="3846564" cy="2344119"/>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11"/>
            <p:cNvSpPr txBox="1"/>
            <p:nvPr/>
          </p:nvSpPr>
          <p:spPr>
            <a:xfrm>
              <a:off x="223379" y="212813"/>
              <a:ext cx="3617662" cy="211521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COMPARATIVE ANALYSIS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Benchmark  Road Funds across key factors: governance structures, funding sources, revenue mechanisms, disbursement models, transparency practices, institutional frameworks, resilience-readiness, equity.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Typology of Road Funds (e.g., mature vs. emerging funds, single vs. multi-stream revenue).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p:txBody>
        </p:sp>
        <p:sp>
          <p:nvSpPr>
            <p:cNvPr id="362" name="Google Shape;362;p11"/>
            <p:cNvSpPr/>
            <p:nvPr/>
          </p:nvSpPr>
          <p:spPr>
            <a:xfrm>
              <a:off x="4888406" y="473693"/>
              <a:ext cx="1871733" cy="145595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11"/>
            <p:cNvSpPr/>
            <p:nvPr/>
          </p:nvSpPr>
          <p:spPr>
            <a:xfrm rot="5400000">
              <a:off x="6015998" y="3940928"/>
              <a:ext cx="1032275" cy="1758532"/>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11"/>
            <p:cNvSpPr/>
            <p:nvPr/>
          </p:nvSpPr>
          <p:spPr>
            <a:xfrm>
              <a:off x="4345578" y="2078470"/>
              <a:ext cx="2930751" cy="2181454"/>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11"/>
            <p:cNvSpPr txBox="1"/>
            <p:nvPr/>
          </p:nvSpPr>
          <p:spPr>
            <a:xfrm>
              <a:off x="4452087" y="2184979"/>
              <a:ext cx="2717733" cy="1968436"/>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ctr"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NEXT-GENERATION BLUEPRINT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Draft a set of principles and financing options (dedicated resilience lines, blended mechanisms, performance indicators)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Identify the best practices  for dissemination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p:txBody>
        </p:sp>
        <p:sp>
          <p:nvSpPr>
            <p:cNvPr id="366" name="Google Shape;366;p11"/>
            <p:cNvSpPr/>
            <p:nvPr/>
          </p:nvSpPr>
          <p:spPr>
            <a:xfrm>
              <a:off x="6869752" y="2448362"/>
              <a:ext cx="1871733" cy="145595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11"/>
            <p:cNvSpPr/>
            <p:nvPr/>
          </p:nvSpPr>
          <p:spPr>
            <a:xfrm>
              <a:off x="7563938" y="3851245"/>
              <a:ext cx="3399569" cy="1556411"/>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11"/>
            <p:cNvSpPr txBox="1"/>
            <p:nvPr/>
          </p:nvSpPr>
          <p:spPr>
            <a:xfrm>
              <a:off x="7639929" y="3927236"/>
              <a:ext cx="3247587" cy="140442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DRAFT REPORT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Key findings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Analytical report as a key input in SSATP-ARMFA meetings.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2"/>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5. Reporting and Dissemination</a:t>
            </a:r>
            <a:endParaRPr sz="2000" b="1" i="0" u="none" strike="noStrike" cap="none">
              <a:solidFill>
                <a:srgbClr val="E2081E"/>
              </a:solidFill>
              <a:latin typeface="Arial"/>
              <a:ea typeface="Arial"/>
              <a:cs typeface="Arial"/>
              <a:sym typeface="Arial"/>
            </a:endParaRPr>
          </a:p>
        </p:txBody>
      </p:sp>
      <p:sp>
        <p:nvSpPr>
          <p:cNvPr id="375" name="Google Shape;375;p12"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6" name="Google Shape;376;p12"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77" name="Google Shape;377;p12"/>
          <p:cNvGrpSpPr/>
          <p:nvPr/>
        </p:nvGrpSpPr>
        <p:grpSpPr>
          <a:xfrm>
            <a:off x="300619" y="2603128"/>
            <a:ext cx="11735904" cy="2189624"/>
            <a:chOff x="10332" y="2065245"/>
            <a:chExt cx="11735904" cy="2189624"/>
          </a:xfrm>
        </p:grpSpPr>
        <p:sp>
          <p:nvSpPr>
            <p:cNvPr id="378" name="Google Shape;378;p12"/>
            <p:cNvSpPr/>
            <p:nvPr/>
          </p:nvSpPr>
          <p:spPr>
            <a:xfrm>
              <a:off x="10332"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12"/>
            <p:cNvSpPr txBox="1"/>
            <p:nvPr/>
          </p:nvSpPr>
          <p:spPr>
            <a:xfrm>
              <a:off x="74464"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FINAL REPORT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Survey data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Typologies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Road Funds profiles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Benchmarking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Findings  </a:t>
              </a:r>
              <a:endParaRPr sz="1400" b="0" i="0" u="none" strike="noStrike" cap="none">
                <a:solidFill>
                  <a:srgbClr val="000000"/>
                </a:solidFill>
                <a:latin typeface="Arial"/>
                <a:ea typeface="Arial"/>
                <a:cs typeface="Arial"/>
                <a:sym typeface="Arial"/>
              </a:endParaRPr>
            </a:p>
          </p:txBody>
        </p:sp>
        <p:sp>
          <p:nvSpPr>
            <p:cNvPr id="380" name="Google Shape;380;p12"/>
            <p:cNvSpPr/>
            <p:nvPr/>
          </p:nvSpPr>
          <p:spPr>
            <a:xfrm>
              <a:off x="3378537" y="2891119"/>
              <a:ext cx="654739" cy="765922"/>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12"/>
            <p:cNvSpPr txBox="1"/>
            <p:nvPr/>
          </p:nvSpPr>
          <p:spPr>
            <a:xfrm>
              <a:off x="3378537" y="3044303"/>
              <a:ext cx="458317" cy="45955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82" name="Google Shape;382;p12"/>
            <p:cNvSpPr/>
            <p:nvPr/>
          </p:nvSpPr>
          <p:spPr>
            <a:xfrm>
              <a:off x="4334087"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12"/>
            <p:cNvSpPr txBox="1"/>
            <p:nvPr/>
          </p:nvSpPr>
          <p:spPr>
            <a:xfrm>
              <a:off x="4398219"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POLICY RECOMMENDATIONS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NEXT GENERATION OF ROAD FUNDS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chemeClr val="lt1"/>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Efficient and transparent governance,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Financial sustainability,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Cimate resilience,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Integration of gender equality and social inclusion </a:t>
              </a:r>
              <a:endParaRPr sz="1100" b="1" i="0" u="none" strike="noStrike" cap="none">
                <a:solidFill>
                  <a:schemeClr val="lt1"/>
                </a:solidFill>
                <a:latin typeface="Arial"/>
                <a:ea typeface="Arial"/>
                <a:cs typeface="Arial"/>
                <a:sym typeface="Arial"/>
              </a:endParaRPr>
            </a:p>
          </p:txBody>
        </p:sp>
        <p:sp>
          <p:nvSpPr>
            <p:cNvPr id="384" name="Google Shape;384;p12"/>
            <p:cNvSpPr/>
            <p:nvPr/>
          </p:nvSpPr>
          <p:spPr>
            <a:xfrm>
              <a:off x="7731322" y="2777096"/>
              <a:ext cx="654739" cy="765922"/>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12"/>
            <p:cNvSpPr txBox="1"/>
            <p:nvPr/>
          </p:nvSpPr>
          <p:spPr>
            <a:xfrm>
              <a:off x="7731322" y="2930280"/>
              <a:ext cx="458317" cy="45955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86" name="Google Shape;386;p12"/>
            <p:cNvSpPr/>
            <p:nvPr/>
          </p:nvSpPr>
          <p:spPr>
            <a:xfrm>
              <a:off x="8657841"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12"/>
            <p:cNvSpPr txBox="1"/>
            <p:nvPr/>
          </p:nvSpPr>
          <p:spPr>
            <a:xfrm>
              <a:off x="8721973"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DISSEMINATION</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Debriefing  sessions with ARMFA and its Road Fund focal points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Presentation of findings and policy document in the framework of SSATP-EU  conferences on Road maintenance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3"/>
          <p:cNvSpPr/>
          <p:nvPr/>
        </p:nvSpPr>
        <p:spPr>
          <a:xfrm>
            <a:off x="559610" y="462602"/>
            <a:ext cx="11536718" cy="477639"/>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E2081E"/>
                </a:solidFill>
                <a:latin typeface="Arial"/>
                <a:ea typeface="Arial"/>
                <a:cs typeface="Arial"/>
                <a:sym typeface="Arial"/>
              </a:rPr>
              <a:t>Risks and Mitigation Measures </a:t>
            </a:r>
            <a:endParaRPr sz="1800" b="0" i="0" u="none" strike="noStrike" cap="none">
              <a:solidFill>
                <a:schemeClr val="dk1"/>
              </a:solidFill>
              <a:latin typeface="Arial"/>
              <a:ea typeface="Arial"/>
              <a:cs typeface="Arial"/>
              <a:sym typeface="Arial"/>
            </a:endParaRPr>
          </a:p>
        </p:txBody>
      </p:sp>
      <p:pic>
        <p:nvPicPr>
          <p:cNvPr id="393" name="Google Shape;393;p13" descr="A white sheet with black text&#10;&#10;AI-generated content may be incorrect."/>
          <p:cNvPicPr preferRelativeResize="0"/>
          <p:nvPr/>
        </p:nvPicPr>
        <p:blipFill rotWithShape="1">
          <a:blip r:embed="rId3">
            <a:alphaModFix/>
          </a:blip>
          <a:srcRect/>
          <a:stretch/>
        </p:blipFill>
        <p:spPr>
          <a:xfrm>
            <a:off x="380078" y="1160434"/>
            <a:ext cx="11431844" cy="54812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4"/>
          <p:cNvSpPr/>
          <p:nvPr/>
        </p:nvSpPr>
        <p:spPr>
          <a:xfrm>
            <a:off x="559610" y="462602"/>
            <a:ext cx="11536718" cy="477639"/>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E2081E"/>
                </a:solidFill>
                <a:latin typeface="Arial"/>
                <a:ea typeface="Arial"/>
                <a:cs typeface="Arial"/>
                <a:sym typeface="Arial"/>
              </a:rPr>
              <a:t>Workplan</a:t>
            </a:r>
            <a:endParaRPr sz="1800" b="0" i="0" u="none" strike="noStrike" cap="none">
              <a:solidFill>
                <a:schemeClr val="dk1"/>
              </a:solidFill>
              <a:latin typeface="Arial"/>
              <a:ea typeface="Arial"/>
              <a:cs typeface="Arial"/>
              <a:sym typeface="Arial"/>
            </a:endParaRPr>
          </a:p>
        </p:txBody>
      </p:sp>
      <p:pic>
        <p:nvPicPr>
          <p:cNvPr id="399" name="Google Shape;399;p14"/>
          <p:cNvPicPr preferRelativeResize="0"/>
          <p:nvPr/>
        </p:nvPicPr>
        <p:blipFill rotWithShape="1">
          <a:blip r:embed="rId3">
            <a:alphaModFix/>
          </a:blip>
          <a:srcRect/>
          <a:stretch/>
        </p:blipFill>
        <p:spPr>
          <a:xfrm>
            <a:off x="1512763" y="1165175"/>
            <a:ext cx="9166476" cy="5692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6582182f26_1_372"/>
          <p:cNvSpPr txBox="1"/>
          <p:nvPr/>
        </p:nvSpPr>
        <p:spPr>
          <a:xfrm>
            <a:off x="731700" y="2392050"/>
            <a:ext cx="10527000" cy="3468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800" b="1">
                <a:solidFill>
                  <a:srgbClr val="E2081E"/>
                </a:solidFill>
              </a:rPr>
              <a:t>PART 3: PRE-SCREENING RESULTS</a:t>
            </a:r>
            <a:endParaRPr sz="2800" b="1">
              <a:solidFill>
                <a:srgbClr val="E2081E"/>
              </a:solidFill>
            </a:endParaRPr>
          </a:p>
          <a:p>
            <a:pPr marL="0" lvl="0" indent="0" algn="l" rtl="0">
              <a:spcBef>
                <a:spcPts val="0"/>
              </a:spcBef>
              <a:spcAft>
                <a:spcPts val="0"/>
              </a:spcAft>
              <a:buNone/>
            </a:pPr>
            <a:endParaRPr sz="2800">
              <a:solidFill>
                <a:schemeClr val="dk1"/>
              </a:solidFill>
            </a:endParaRPr>
          </a:p>
          <a:p>
            <a:pPr marL="0" lvl="0" indent="0" algn="l" rtl="0">
              <a:spcBef>
                <a:spcPts val="0"/>
              </a:spcBef>
              <a:spcAft>
                <a:spcPts val="0"/>
              </a:spcAft>
              <a:buNone/>
            </a:pPr>
            <a:endParaRPr sz="2800">
              <a:solidFill>
                <a:schemeClr val="dk1"/>
              </a:solidFill>
            </a:endParaRPr>
          </a:p>
          <a:p>
            <a:pPr marL="0" lvl="0" indent="0" algn="ctr" rtl="0">
              <a:spcBef>
                <a:spcPts val="0"/>
              </a:spcBef>
              <a:spcAft>
                <a:spcPts val="0"/>
              </a:spcAft>
              <a:buNone/>
            </a:pPr>
            <a:r>
              <a:rPr lang="en-GB" sz="2500" b="1">
                <a:solidFill>
                  <a:schemeClr val="dk1"/>
                </a:solidFill>
              </a:rPr>
              <a:t>Presented by Annstellah Wanjiru Maina</a:t>
            </a:r>
            <a:endParaRPr sz="2500" b="1">
              <a:solidFill>
                <a:schemeClr val="dk1"/>
              </a:solidFill>
            </a:endParaRPr>
          </a:p>
          <a:p>
            <a:pPr marL="0" lvl="0" indent="0" algn="ctr" rtl="0">
              <a:spcBef>
                <a:spcPts val="0"/>
              </a:spcBef>
              <a:spcAft>
                <a:spcPts val="0"/>
              </a:spcAft>
              <a:buNone/>
            </a:pPr>
            <a:endParaRPr sz="2500" b="1">
              <a:solidFill>
                <a:schemeClr val="dk1"/>
              </a:solidFill>
            </a:endParaRPr>
          </a:p>
          <a:p>
            <a:pPr marL="0" lvl="0" indent="0" algn="ctr" rtl="0">
              <a:spcBef>
                <a:spcPts val="0"/>
              </a:spcBef>
              <a:spcAft>
                <a:spcPts val="0"/>
              </a:spcAft>
              <a:buNone/>
            </a:pPr>
            <a:endParaRPr sz="2500">
              <a:solidFill>
                <a:schemeClr val="dk1"/>
              </a:solidFill>
            </a:endParaRPr>
          </a:p>
          <a:p>
            <a:pPr marL="0" lvl="0" indent="0" algn="ctr" rtl="0">
              <a:spcBef>
                <a:spcPts val="0"/>
              </a:spcBef>
              <a:spcAft>
                <a:spcPts val="0"/>
              </a:spcAft>
              <a:buNone/>
            </a:pPr>
            <a:r>
              <a:rPr lang="en-GB" sz="2200" i="1">
                <a:solidFill>
                  <a:schemeClr val="dk1"/>
                </a:solidFill>
              </a:rPr>
              <a:t>Data &amp; Survey Analyst Expert, TA Team</a:t>
            </a:r>
            <a:endParaRPr sz="2200" i="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g36582182f26_1_194"/>
          <p:cNvSpPr txBox="1"/>
          <p:nvPr/>
        </p:nvSpPr>
        <p:spPr>
          <a:xfrm>
            <a:off x="545950" y="333375"/>
            <a:ext cx="10341300" cy="6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b="1">
                <a:solidFill>
                  <a:srgbClr val="E2081E"/>
                </a:solidFill>
              </a:rPr>
              <a:t>Objectives &amp; Selection Criteria</a:t>
            </a:r>
            <a:endParaRPr sz="2000" b="1">
              <a:solidFill>
                <a:srgbClr val="E2081E"/>
              </a:solidFill>
            </a:endParaRPr>
          </a:p>
        </p:txBody>
      </p:sp>
      <p:sp>
        <p:nvSpPr>
          <p:cNvPr id="412" name="Google Shape;412;g36582182f26_1_194"/>
          <p:cNvSpPr txBox="1"/>
          <p:nvPr/>
        </p:nvSpPr>
        <p:spPr>
          <a:xfrm>
            <a:off x="313750" y="1153825"/>
            <a:ext cx="11672400" cy="57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solidFill>
                  <a:schemeClr val="dk1"/>
                </a:solidFill>
              </a:rPr>
              <a:t>Main Objectives: </a:t>
            </a:r>
            <a:endParaRPr sz="1800" b="1">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Create profile of AFERA countries</a:t>
            </a:r>
            <a:endParaRPr sz="1800">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Select 15 countries for the baseline survey </a:t>
            </a:r>
            <a:endParaRPr sz="2400">
              <a:solidFill>
                <a:schemeClr val="dk1"/>
              </a:solidFill>
            </a:endParaRPr>
          </a:p>
          <a:p>
            <a:pPr marL="0" marR="0" lvl="0" indent="0" algn="l" rtl="0">
              <a:lnSpc>
                <a:spcPct val="100000"/>
              </a:lnSpc>
              <a:spcBef>
                <a:spcPts val="1200"/>
              </a:spcBef>
              <a:spcAft>
                <a:spcPts val="0"/>
              </a:spcAft>
              <a:buNone/>
            </a:pPr>
            <a:endParaRPr sz="2400">
              <a:solidFill>
                <a:schemeClr val="dk1"/>
              </a:solidFill>
            </a:endParaRPr>
          </a:p>
          <a:p>
            <a:pPr marL="0" marR="0" lvl="0" indent="0" algn="l" rtl="0">
              <a:lnSpc>
                <a:spcPct val="100000"/>
              </a:lnSpc>
              <a:spcBef>
                <a:spcPts val="1200"/>
              </a:spcBef>
              <a:spcAft>
                <a:spcPts val="0"/>
              </a:spcAft>
              <a:buNone/>
            </a:pPr>
            <a:r>
              <a:rPr lang="en-GB" sz="1800" b="1">
                <a:solidFill>
                  <a:schemeClr val="dk1"/>
                </a:solidFill>
              </a:rPr>
              <a:t>Tentative Selection Criteria &amp; Rationale:</a:t>
            </a:r>
            <a:endParaRPr sz="1700" u="sng">
              <a:solidFill>
                <a:schemeClr val="dk1"/>
              </a:solidFill>
              <a:highlight>
                <a:srgbClr val="E2081E"/>
              </a:highlight>
              <a:latin typeface="Calibri"/>
              <a:ea typeface="Calibri"/>
              <a:cs typeface="Calibri"/>
              <a:sym typeface="Calibri"/>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Geographical representation (East Africa, West Africa, Central Africa &amp; Southern Africa)</a:t>
            </a:r>
            <a:endParaRPr sz="1800">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Evolution of Generations of Road Funds (1st, 2nd &amp; 3rd Generation)</a:t>
            </a:r>
            <a:endParaRPr sz="1800">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Scale of road networks (Total road network length in km)</a:t>
            </a:r>
            <a:endParaRPr sz="1800">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High Performance and Low performance (Finance and Resilience and RAMS)</a:t>
            </a:r>
            <a:endParaRPr sz="1800">
              <a:solidFill>
                <a:schemeClr val="dk1"/>
              </a:solidFill>
            </a:endParaRPr>
          </a:p>
          <a:p>
            <a:pPr marL="400050" marR="0" lvl="0" indent="-381000" algn="l" rtl="0">
              <a:lnSpc>
                <a:spcPct val="100000"/>
              </a:lnSpc>
              <a:spcBef>
                <a:spcPts val="1200"/>
              </a:spcBef>
              <a:spcAft>
                <a:spcPts val="0"/>
              </a:spcAft>
              <a:buClr>
                <a:srgbClr val="E60000"/>
              </a:buClr>
              <a:buSzPts val="2400"/>
              <a:buFont typeface="Noto Sans Symbols"/>
              <a:buChar char="▪"/>
            </a:pPr>
            <a:r>
              <a:rPr lang="en-GB" sz="1800">
                <a:solidFill>
                  <a:schemeClr val="dk1"/>
                </a:solidFill>
              </a:rPr>
              <a:t>Willingness and readiness to participate to in the baseline survey</a:t>
            </a:r>
            <a:endParaRPr sz="17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g36582182f26_1_200"/>
          <p:cNvSpPr txBox="1"/>
          <p:nvPr/>
        </p:nvSpPr>
        <p:spPr>
          <a:xfrm>
            <a:off x="545950" y="333375"/>
            <a:ext cx="10341300" cy="6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b="1">
                <a:solidFill>
                  <a:srgbClr val="E2081E"/>
                </a:solidFill>
              </a:rPr>
              <a:t>Variables of Data Analysis </a:t>
            </a:r>
            <a:endParaRPr sz="2000" b="1">
              <a:solidFill>
                <a:srgbClr val="E2081E"/>
              </a:solidFill>
            </a:endParaRPr>
          </a:p>
        </p:txBody>
      </p:sp>
      <p:sp>
        <p:nvSpPr>
          <p:cNvPr id="419" name="Google Shape;419;g36582182f26_1_200"/>
          <p:cNvSpPr txBox="1"/>
          <p:nvPr/>
        </p:nvSpPr>
        <p:spPr>
          <a:xfrm>
            <a:off x="322700" y="1349000"/>
            <a:ext cx="11772000" cy="5141100"/>
          </a:xfrm>
          <a:prstGeom prst="rect">
            <a:avLst/>
          </a:prstGeom>
          <a:noFill/>
          <a:ln>
            <a:noFill/>
          </a:ln>
        </p:spPr>
        <p:txBody>
          <a:bodyPr spcFirstLastPara="1" wrap="square" lIns="91425" tIns="91425" rIns="91425" bIns="91425" anchor="t" anchorCtr="0">
            <a:spAutoFit/>
          </a:bodyPr>
          <a:lstStyle/>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rPr>
              <a:t>Overall r</a:t>
            </a:r>
            <a:r>
              <a:rPr lang="en-GB" sz="1600">
                <a:solidFill>
                  <a:schemeClr val="dk1"/>
                </a:solidFill>
                <a:uFill>
                  <a:noFill/>
                </a:uFill>
                <a:hlinkClick r:id="rId3">
                  <a:extLst>
                    <a:ext uri="{A12FA001-AC4F-418D-AE19-62706E023703}">
                      <ahyp:hlinkClr xmlns:ahyp="http://schemas.microsoft.com/office/drawing/2018/hyperlinkcolor" val="tx"/>
                    </a:ext>
                  </a:extLst>
                </a:hlinkClick>
              </a:rPr>
              <a:t>esponsiveness to questionnaire</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rPr>
              <a:t>ARMFA-</a:t>
            </a:r>
            <a:r>
              <a:rPr lang="en-GB" sz="1600">
                <a:solidFill>
                  <a:schemeClr val="dk1"/>
                </a:solidFill>
                <a:uFill>
                  <a:noFill/>
                </a:uFill>
                <a:hlinkClick r:id="rId4">
                  <a:extLst>
                    <a:ext uri="{A12FA001-AC4F-418D-AE19-62706E023703}">
                      <ahyp:hlinkClr xmlns:ahyp="http://schemas.microsoft.com/office/drawing/2018/hyperlinkcolor" val="tx"/>
                    </a:ext>
                  </a:extLst>
                </a:hlinkClick>
              </a:rPr>
              <a:t>AFERA regional representation</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uFill>
                  <a:noFill/>
                </a:uFill>
                <a:hlinkClick r:id="rId5">
                  <a:extLst>
                    <a:ext uri="{A12FA001-AC4F-418D-AE19-62706E023703}">
                      <ahyp:hlinkClr xmlns:ahyp="http://schemas.microsoft.com/office/drawing/2018/hyperlinkcolor" val="tx"/>
                    </a:ext>
                  </a:extLst>
                </a:hlinkClick>
              </a:rPr>
              <a:t>Years of Road Fund Boards (RFB) operation</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uFill>
                  <a:noFill/>
                </a:uFill>
                <a:hlinkClick r:id="rId6">
                  <a:extLst>
                    <a:ext uri="{A12FA001-AC4F-418D-AE19-62706E023703}">
                      <ahyp:hlinkClr xmlns:ahyp="http://schemas.microsoft.com/office/drawing/2018/hyperlinkcolor" val="tx"/>
                    </a:ext>
                  </a:extLst>
                </a:hlinkClick>
              </a:rPr>
              <a:t>Generations of Road Fund</a:t>
            </a:r>
            <a:r>
              <a:rPr lang="en-GB" sz="1600">
                <a:solidFill>
                  <a:schemeClr val="dk1"/>
                </a:solidFill>
              </a:rPr>
              <a:t> (1st, 2nd &amp; 3rd-Generation)</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uFill>
                  <a:noFill/>
                </a:uFill>
                <a:hlinkClick r:id="rId7">
                  <a:extLst>
                    <a:ext uri="{A12FA001-AC4F-418D-AE19-62706E023703}">
                      <ahyp:hlinkClr xmlns:ahyp="http://schemas.microsoft.com/office/drawing/2018/hyperlinkcolor" val="tx"/>
                    </a:ext>
                  </a:extLst>
                </a:hlinkClick>
              </a:rPr>
              <a:t>Analysis of the correlation between years of road fund operation and generations of road funds</a:t>
            </a:r>
            <a:endParaRPr sz="1600" b="1">
              <a:solidFill>
                <a:srgbClr val="E2081E"/>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rPr>
              <a:t>Analysis Of Classified Trunk Road Networks</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rPr>
              <a:t>Estimated % of annual maintenance needs funded in the last fiscal year</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uFill>
                  <a:noFill/>
                </a:uFill>
                <a:hlinkClick r:id="rId8">
                  <a:extLst>
                    <a:ext uri="{A12FA001-AC4F-418D-AE19-62706E023703}">
                      <ahyp:hlinkClr xmlns:ahyp="http://schemas.microsoft.com/office/drawing/2018/hyperlinkcolor" val="tx"/>
                    </a:ext>
                  </a:extLst>
                </a:hlinkClick>
              </a:rPr>
              <a:t>Operations Road Asset Management System (RAMS)</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rPr>
              <a:t>Analysis</a:t>
            </a:r>
            <a:r>
              <a:rPr lang="en-GB" sz="1600">
                <a:solidFill>
                  <a:schemeClr val="dk1"/>
                </a:solidFill>
                <a:uFill>
                  <a:noFill/>
                </a:uFill>
                <a:hlinkClick r:id="rId9">
                  <a:extLst>
                    <a:ext uri="{A12FA001-AC4F-418D-AE19-62706E023703}">
                      <ahyp:hlinkClr xmlns:ahyp="http://schemas.microsoft.com/office/drawing/2018/hyperlinkcolor" val="tx"/>
                    </a:ext>
                  </a:extLst>
                </a:hlinkClick>
              </a:rPr>
              <a:t> of the correlation between the road fund generation and utilization of a Road Asset Management System</a:t>
            </a:r>
            <a:r>
              <a:rPr lang="en-GB" sz="1600">
                <a:solidFill>
                  <a:schemeClr val="dk1"/>
                </a:solidFill>
              </a:rPr>
              <a:t> (RAMS)</a:t>
            </a:r>
            <a:endParaRPr sz="1600">
              <a:solidFill>
                <a:schemeClr val="dk1"/>
              </a:solidFill>
            </a:endParaRPr>
          </a:p>
          <a:p>
            <a:pPr marL="400050" marR="0" lvl="0" indent="-330200" algn="l" rtl="0">
              <a:lnSpc>
                <a:spcPct val="150000"/>
              </a:lnSpc>
              <a:spcBef>
                <a:spcPts val="1200"/>
              </a:spcBef>
              <a:spcAft>
                <a:spcPts val="0"/>
              </a:spcAft>
              <a:buClr>
                <a:srgbClr val="E2081E"/>
              </a:buClr>
              <a:buSzPts val="1600"/>
              <a:buFont typeface="Noto Sans Symbols"/>
              <a:buAutoNum type="arabicPeriod"/>
            </a:pPr>
            <a:r>
              <a:rPr lang="en-GB" sz="1600">
                <a:solidFill>
                  <a:schemeClr val="dk1"/>
                </a:solidFill>
                <a:uFill>
                  <a:noFill/>
                </a:uFill>
                <a:hlinkClick r:id="rId10">
                  <a:extLst>
                    <a:ext uri="{A12FA001-AC4F-418D-AE19-62706E023703}">
                      <ahyp:hlinkClr xmlns:ahyp="http://schemas.microsoft.com/office/drawing/2018/hyperlinkcolor" val="tx"/>
                    </a:ext>
                  </a:extLst>
                </a:hlinkClick>
              </a:rPr>
              <a:t>Dedicated climate-resilience line in annual budget/Policy</a:t>
            </a:r>
            <a:r>
              <a:rPr lang="en-GB" sz="1600"/>
              <a:t> on Climate Resilience</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36582182f26_1_206"/>
          <p:cNvSpPr txBox="1"/>
          <p:nvPr/>
        </p:nvSpPr>
        <p:spPr>
          <a:xfrm>
            <a:off x="545950" y="3953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2000" b="1">
                <a:solidFill>
                  <a:srgbClr val="E2081E"/>
                </a:solidFill>
              </a:rPr>
              <a:t>R</a:t>
            </a:r>
            <a:r>
              <a:rPr lang="en-GB" sz="2000" b="1">
                <a:solidFill>
                  <a:srgbClr val="E2081E"/>
                </a:solidFill>
                <a:uFill>
                  <a:noFill/>
                </a:uFill>
                <a:hlinkClick r:id="rId3">
                  <a:extLst>
                    <a:ext uri="{A12FA001-AC4F-418D-AE19-62706E023703}">
                      <ahyp:hlinkClr xmlns:ahyp="http://schemas.microsoft.com/office/drawing/2018/hyperlinkcolor" val="tx"/>
                    </a:ext>
                  </a:extLst>
                </a:hlinkClick>
              </a:rPr>
              <a:t>esponsiveness to Screening Questionnaire</a:t>
            </a:r>
            <a:endParaRPr sz="2200" b="1">
              <a:solidFill>
                <a:srgbClr val="E2081E"/>
              </a:solidFill>
            </a:endParaRPr>
          </a:p>
        </p:txBody>
      </p:sp>
      <p:pic>
        <p:nvPicPr>
          <p:cNvPr id="426" name="Google Shape;426;g36582182f26_1_206"/>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66025" y="1161050"/>
            <a:ext cx="5696951" cy="5696951"/>
          </a:xfrm>
          <a:prstGeom prst="rect">
            <a:avLst/>
          </a:prstGeom>
          <a:noFill/>
          <a:ln>
            <a:noFill/>
          </a:ln>
        </p:spPr>
      </p:pic>
      <p:sp>
        <p:nvSpPr>
          <p:cNvPr id="427" name="Google Shape;427;g36582182f26_1_206"/>
          <p:cNvSpPr txBox="1"/>
          <p:nvPr/>
        </p:nvSpPr>
        <p:spPr>
          <a:xfrm>
            <a:off x="5670125" y="1161050"/>
            <a:ext cx="6177000" cy="5612400"/>
          </a:xfrm>
          <a:prstGeom prst="rect">
            <a:avLst/>
          </a:prstGeom>
          <a:noFill/>
          <a:ln>
            <a:noFill/>
          </a:ln>
        </p:spPr>
        <p:txBody>
          <a:bodyPr spcFirstLastPara="1" wrap="square" lIns="91425" tIns="91425" rIns="91425" bIns="91425" anchor="t" anchorCtr="0">
            <a:noAutofit/>
          </a:bodyPr>
          <a:lstStyle/>
          <a:p>
            <a:pPr marL="400050" marR="0" lvl="0" indent="-342900" algn="just" rtl="0">
              <a:lnSpc>
                <a:spcPct val="115000"/>
              </a:lnSpc>
              <a:spcBef>
                <a:spcPts val="1200"/>
              </a:spcBef>
              <a:spcAft>
                <a:spcPts val="0"/>
              </a:spcAft>
              <a:buClr>
                <a:srgbClr val="E60000"/>
              </a:buClr>
              <a:buSzPts val="1800"/>
              <a:buFont typeface="Noto Sans Symbols"/>
              <a:buChar char="▪"/>
            </a:pPr>
            <a:r>
              <a:rPr lang="en-GB" sz="1800">
                <a:solidFill>
                  <a:schemeClr val="dk1"/>
                </a:solidFill>
              </a:rPr>
              <a:t>Out of </a:t>
            </a:r>
            <a:r>
              <a:rPr lang="en-GB" sz="1800" b="1">
                <a:solidFill>
                  <a:schemeClr val="dk1"/>
                </a:solidFill>
              </a:rPr>
              <a:t>35 ARMFA/AFERA</a:t>
            </a:r>
            <a:r>
              <a:rPr lang="en-GB" sz="1800">
                <a:solidFill>
                  <a:schemeClr val="dk1"/>
                </a:solidFill>
              </a:rPr>
              <a:t> member states that received the pre-screening survey questionnaire, </a:t>
            </a:r>
            <a:r>
              <a:rPr lang="en-GB" sz="1800" b="1">
                <a:solidFill>
                  <a:schemeClr val="dk1"/>
                </a:solidFill>
              </a:rPr>
              <a:t>20 countries</a:t>
            </a:r>
            <a:r>
              <a:rPr lang="en-GB" sz="1800">
                <a:solidFill>
                  <a:schemeClr val="dk1"/>
                </a:solidFill>
              </a:rPr>
              <a:t> responded; representing </a:t>
            </a:r>
            <a:r>
              <a:rPr lang="en-GB" sz="1800" b="1">
                <a:solidFill>
                  <a:schemeClr val="dk1"/>
                </a:solidFill>
              </a:rPr>
              <a:t>57%</a:t>
            </a:r>
            <a:r>
              <a:rPr lang="en-GB" sz="1800">
                <a:solidFill>
                  <a:schemeClr val="dk1"/>
                </a:solidFill>
              </a:rPr>
              <a:t> of responses.</a:t>
            </a:r>
            <a:endParaRPr sz="1800">
              <a:solidFill>
                <a:schemeClr val="dk1"/>
              </a:solidFill>
            </a:endParaRPr>
          </a:p>
          <a:p>
            <a:pPr marL="400050" marR="0" lvl="0" indent="-342900" algn="just" rtl="0">
              <a:lnSpc>
                <a:spcPct val="115000"/>
              </a:lnSpc>
              <a:spcBef>
                <a:spcPts val="1200"/>
              </a:spcBef>
              <a:spcAft>
                <a:spcPts val="0"/>
              </a:spcAft>
              <a:buClr>
                <a:srgbClr val="E60000"/>
              </a:buClr>
              <a:buSzPts val="1800"/>
              <a:buFont typeface="Noto Sans Symbols"/>
              <a:buChar char="▪"/>
            </a:pPr>
            <a:r>
              <a:rPr lang="en-GB" sz="1800" b="1">
                <a:solidFill>
                  <a:schemeClr val="dk1"/>
                </a:solidFill>
              </a:rPr>
              <a:t>List of respondent countries: </a:t>
            </a:r>
            <a:r>
              <a:rPr lang="en-GB" sz="1800">
                <a:solidFill>
                  <a:schemeClr val="dk1"/>
                </a:solidFill>
              </a:rPr>
              <a:t>Rwanda, Togo, Sierra Leone, Lesotho, Cameroun, Kenya, Zambia, Chad, Zimbabwe, Senegal, Guinea, Malawi, Gabon, Niger, Mozambique, Tanzania, Liberia, Benin, Mali, Burkina Faso</a:t>
            </a:r>
            <a:endParaRPr sz="1800">
              <a:solidFill>
                <a:schemeClr val="dk1"/>
              </a:solidFill>
            </a:endParaRPr>
          </a:p>
          <a:p>
            <a:pPr marL="400050" marR="0" lvl="0" indent="-342900" algn="just" rtl="0">
              <a:lnSpc>
                <a:spcPct val="115000"/>
              </a:lnSpc>
              <a:spcBef>
                <a:spcPts val="1200"/>
              </a:spcBef>
              <a:spcAft>
                <a:spcPts val="0"/>
              </a:spcAft>
              <a:buClr>
                <a:srgbClr val="E60000"/>
              </a:buClr>
              <a:buSzPts val="1800"/>
              <a:buFont typeface="Noto Sans Symbols"/>
              <a:buChar char="▪"/>
            </a:pPr>
            <a:r>
              <a:rPr lang="en-GB" sz="1800" b="1">
                <a:solidFill>
                  <a:schemeClr val="dk1"/>
                </a:solidFill>
              </a:rPr>
              <a:t>West Africa </a:t>
            </a:r>
            <a:r>
              <a:rPr lang="en-GB" sz="1800">
                <a:solidFill>
                  <a:schemeClr val="dk1"/>
                </a:solidFill>
              </a:rPr>
              <a:t>represented </a:t>
            </a:r>
            <a:r>
              <a:rPr lang="en-GB" sz="1800" b="1">
                <a:solidFill>
                  <a:schemeClr val="dk1"/>
                </a:solidFill>
              </a:rPr>
              <a:t>45%</a:t>
            </a:r>
            <a:r>
              <a:rPr lang="en-GB" sz="1800">
                <a:solidFill>
                  <a:schemeClr val="dk1"/>
                </a:solidFill>
              </a:rPr>
              <a:t> of the total respondents with </a:t>
            </a:r>
            <a:r>
              <a:rPr lang="en-GB" sz="1800" b="1">
                <a:solidFill>
                  <a:schemeClr val="dk1"/>
                </a:solidFill>
              </a:rPr>
              <a:t>9 </a:t>
            </a:r>
            <a:r>
              <a:rPr lang="en-GB" sz="1800">
                <a:solidFill>
                  <a:schemeClr val="dk1"/>
                </a:solidFill>
              </a:rPr>
              <a:t>out of 12 countries.</a:t>
            </a:r>
            <a:endParaRPr sz="1800">
              <a:solidFill>
                <a:schemeClr val="dk1"/>
              </a:solidFill>
            </a:endParaRPr>
          </a:p>
          <a:p>
            <a:pPr marL="400050" marR="0" lvl="0" indent="-342900" algn="just" rtl="0">
              <a:lnSpc>
                <a:spcPct val="115000"/>
              </a:lnSpc>
              <a:spcBef>
                <a:spcPts val="1200"/>
              </a:spcBef>
              <a:spcAft>
                <a:spcPts val="0"/>
              </a:spcAft>
              <a:buClr>
                <a:srgbClr val="E60000"/>
              </a:buClr>
              <a:buSzPts val="1800"/>
              <a:buFont typeface="Noto Sans Symbols"/>
              <a:buChar char="▪"/>
            </a:pPr>
            <a:r>
              <a:rPr lang="en-GB" sz="1800" b="1">
                <a:solidFill>
                  <a:schemeClr val="dk1"/>
                </a:solidFill>
              </a:rPr>
              <a:t>Southern Africa </a:t>
            </a:r>
            <a:r>
              <a:rPr lang="en-GB" sz="1800">
                <a:solidFill>
                  <a:schemeClr val="dk1"/>
                </a:solidFill>
              </a:rPr>
              <a:t>represented with</a:t>
            </a:r>
            <a:r>
              <a:rPr lang="en-GB" sz="1800" b="1">
                <a:solidFill>
                  <a:schemeClr val="dk1"/>
                </a:solidFill>
              </a:rPr>
              <a:t> 5 countries</a:t>
            </a:r>
            <a:r>
              <a:rPr lang="en-GB" sz="1800">
                <a:solidFill>
                  <a:schemeClr val="dk1"/>
                </a:solidFill>
              </a:rPr>
              <a:t> out of 9 member states, accounting for </a:t>
            </a:r>
            <a:r>
              <a:rPr lang="en-GB" sz="1800" b="1">
                <a:solidFill>
                  <a:schemeClr val="dk1"/>
                </a:solidFill>
              </a:rPr>
              <a:t>25%</a:t>
            </a:r>
            <a:r>
              <a:rPr lang="en-GB" sz="1800">
                <a:solidFill>
                  <a:schemeClr val="dk1"/>
                </a:solidFill>
              </a:rPr>
              <a:t> of the responses.</a:t>
            </a:r>
            <a:endParaRPr sz="1800">
              <a:solidFill>
                <a:schemeClr val="dk1"/>
              </a:solidFill>
            </a:endParaRPr>
          </a:p>
          <a:p>
            <a:pPr marL="400050" marR="0" lvl="0" indent="-342900" algn="just" rtl="0">
              <a:lnSpc>
                <a:spcPct val="115000"/>
              </a:lnSpc>
              <a:spcBef>
                <a:spcPts val="1200"/>
              </a:spcBef>
              <a:spcAft>
                <a:spcPts val="0"/>
              </a:spcAft>
              <a:buClr>
                <a:srgbClr val="E60000"/>
              </a:buClr>
              <a:buSzPts val="1800"/>
              <a:buFont typeface="Noto Sans Symbols"/>
              <a:buChar char="▪"/>
            </a:pPr>
            <a:r>
              <a:rPr lang="en-GB" sz="1800">
                <a:solidFill>
                  <a:schemeClr val="dk1"/>
                </a:solidFill>
              </a:rPr>
              <a:t>Both </a:t>
            </a:r>
            <a:r>
              <a:rPr lang="en-GB" sz="1800" b="1">
                <a:solidFill>
                  <a:schemeClr val="dk1"/>
                </a:solidFill>
              </a:rPr>
              <a:t>Central Africa</a:t>
            </a:r>
            <a:r>
              <a:rPr lang="en-GB" sz="1800">
                <a:solidFill>
                  <a:schemeClr val="dk1"/>
                </a:solidFill>
              </a:rPr>
              <a:t> and </a:t>
            </a:r>
            <a:r>
              <a:rPr lang="en-GB" sz="1800" b="1">
                <a:solidFill>
                  <a:schemeClr val="dk1"/>
                </a:solidFill>
              </a:rPr>
              <a:t>East Africa</a:t>
            </a:r>
            <a:r>
              <a:rPr lang="en-GB" sz="1800">
                <a:solidFill>
                  <a:schemeClr val="dk1"/>
                </a:solidFill>
              </a:rPr>
              <a:t> each contributed </a:t>
            </a:r>
            <a:r>
              <a:rPr lang="en-GB" sz="1800" b="1">
                <a:solidFill>
                  <a:schemeClr val="dk1"/>
                </a:solidFill>
              </a:rPr>
              <a:t>3 countries, with 6 and 8 member states respectively</a:t>
            </a:r>
            <a:r>
              <a:rPr lang="en-GB" sz="1800">
                <a:solidFill>
                  <a:schemeClr val="dk1"/>
                </a:solidFill>
              </a:rPr>
              <a:t>, which represents </a:t>
            </a:r>
            <a:r>
              <a:rPr lang="en-GB" sz="1800" b="1">
                <a:solidFill>
                  <a:schemeClr val="dk1"/>
                </a:solidFill>
              </a:rPr>
              <a:t>15%</a:t>
            </a:r>
            <a:r>
              <a:rPr lang="en-GB" sz="1800">
                <a:solidFill>
                  <a:schemeClr val="dk1"/>
                </a:solidFill>
              </a:rPr>
              <a:t> of the total responses from each region.</a:t>
            </a:r>
            <a:endParaRPr sz="1800">
              <a:solidFill>
                <a:schemeClr val="dk1"/>
              </a:solidFill>
            </a:endParaRPr>
          </a:p>
          <a:p>
            <a:pPr marL="0" lvl="0" indent="0" algn="just" rtl="0">
              <a:lnSpc>
                <a:spcPct val="115000"/>
              </a:lnSpc>
              <a:spcBef>
                <a:spcPts val="1000"/>
              </a:spcBef>
              <a:spcAft>
                <a:spcPts val="0"/>
              </a:spcAft>
              <a:buNone/>
            </a:pPr>
            <a:endParaRPr sz="1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36582182f26_1_213"/>
          <p:cNvSpPr txBox="1"/>
          <p:nvPr/>
        </p:nvSpPr>
        <p:spPr>
          <a:xfrm>
            <a:off x="545950" y="333375"/>
            <a:ext cx="10341300" cy="6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b="1">
                <a:solidFill>
                  <a:srgbClr val="E2081E"/>
                </a:solidFill>
                <a:uFill>
                  <a:noFill/>
                </a:uFill>
                <a:hlinkClick r:id="rId3">
                  <a:extLst>
                    <a:ext uri="{A12FA001-AC4F-418D-AE19-62706E023703}">
                      <ahyp:hlinkClr xmlns:ahyp="http://schemas.microsoft.com/office/drawing/2018/hyperlinkcolor" val="tx"/>
                    </a:ext>
                  </a:extLst>
                </a:hlinkClick>
              </a:rPr>
              <a:t>Years of Road Fund Boards (RFB) operation</a:t>
            </a:r>
            <a:r>
              <a:rPr lang="en-GB" sz="2000" b="1">
                <a:solidFill>
                  <a:srgbClr val="E2081E"/>
                </a:solidFill>
              </a:rPr>
              <a:t> </a:t>
            </a:r>
            <a:endParaRPr sz="2000" b="1">
              <a:solidFill>
                <a:srgbClr val="E2081E"/>
              </a:solidFill>
            </a:endParaRPr>
          </a:p>
        </p:txBody>
      </p:sp>
      <p:sp>
        <p:nvSpPr>
          <p:cNvPr id="434" name="Google Shape;434;g36582182f26_1_213"/>
          <p:cNvSpPr txBox="1"/>
          <p:nvPr/>
        </p:nvSpPr>
        <p:spPr>
          <a:xfrm>
            <a:off x="6184400" y="1029975"/>
            <a:ext cx="6007500" cy="5963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GB" sz="1600">
                <a:solidFill>
                  <a:schemeClr val="dk1"/>
                </a:solidFill>
              </a:rPr>
              <a:t>The road fund boards' operational years spanning from </a:t>
            </a:r>
            <a:r>
              <a:rPr lang="en-GB" sz="1600" b="1">
                <a:solidFill>
                  <a:schemeClr val="dk1"/>
                </a:solidFill>
              </a:rPr>
              <a:t>4 to 30 years</a:t>
            </a:r>
            <a:r>
              <a:rPr lang="en-GB" sz="1600">
                <a:solidFill>
                  <a:schemeClr val="dk1"/>
                </a:solidFill>
              </a:rPr>
              <a:t>. </a:t>
            </a:r>
            <a:endParaRPr sz="1600">
              <a:solidFill>
                <a:schemeClr val="dk1"/>
              </a:solidFill>
            </a:endParaRPr>
          </a:p>
          <a:p>
            <a:pPr marL="0" lvl="0" indent="0" algn="just" rtl="0">
              <a:lnSpc>
                <a:spcPct val="115000"/>
              </a:lnSpc>
              <a:spcBef>
                <a:spcPts val="0"/>
              </a:spcBef>
              <a:spcAft>
                <a:spcPts val="0"/>
              </a:spcAft>
              <a:buNone/>
            </a:pPr>
            <a:r>
              <a:rPr lang="en-GB" sz="1600">
                <a:solidFill>
                  <a:schemeClr val="dk1"/>
                </a:solidFill>
              </a:rPr>
              <a:t>The average operational period is </a:t>
            </a:r>
            <a:r>
              <a:rPr lang="en-GB" sz="1600" b="1">
                <a:solidFill>
                  <a:schemeClr val="dk1"/>
                </a:solidFill>
              </a:rPr>
              <a:t>15 years</a:t>
            </a:r>
            <a:r>
              <a:rPr lang="en-GB" sz="1600">
                <a:solidFill>
                  <a:schemeClr val="dk1"/>
                </a:solidFill>
              </a:rPr>
              <a:t>, indicating that while some funds are well-established, many are still in their formative stages. </a:t>
            </a:r>
            <a:endParaRPr sz="1600">
              <a:solidFill>
                <a:schemeClr val="dk1"/>
              </a:solidFill>
            </a:endParaRPr>
          </a:p>
          <a:p>
            <a:pPr marL="0" lvl="0" indent="0" algn="just" rtl="0">
              <a:lnSpc>
                <a:spcPct val="115000"/>
              </a:lnSpc>
              <a:spcBef>
                <a:spcPts val="1000"/>
              </a:spcBef>
              <a:spcAft>
                <a:spcPts val="0"/>
              </a:spcAft>
              <a:buNone/>
            </a:pPr>
            <a:r>
              <a:rPr lang="en-GB" sz="1600">
                <a:solidFill>
                  <a:schemeClr val="dk1"/>
                </a:solidFill>
              </a:rPr>
              <a:t>The oldest fund is </a:t>
            </a:r>
            <a:r>
              <a:rPr lang="en-GB" sz="1600" b="1">
                <a:solidFill>
                  <a:schemeClr val="dk1"/>
                </a:solidFill>
              </a:rPr>
              <a:t>Lesotho's Road Fund Secretariat</a:t>
            </a:r>
            <a:r>
              <a:rPr lang="en-GB" sz="1600">
                <a:solidFill>
                  <a:schemeClr val="dk1"/>
                </a:solidFill>
              </a:rPr>
              <a:t> with </a:t>
            </a:r>
            <a:r>
              <a:rPr lang="en-GB" sz="1600" b="1">
                <a:solidFill>
                  <a:schemeClr val="dk1"/>
                </a:solidFill>
              </a:rPr>
              <a:t>30 </a:t>
            </a:r>
            <a:r>
              <a:rPr lang="en-GB" sz="1600">
                <a:solidFill>
                  <a:schemeClr val="dk1"/>
                </a:solidFill>
              </a:rPr>
              <a:t>years of operation.</a:t>
            </a:r>
            <a:endParaRPr sz="1600">
              <a:solidFill>
                <a:schemeClr val="dk1"/>
              </a:solidFill>
            </a:endParaRPr>
          </a:p>
          <a:p>
            <a:pPr marL="0" lvl="0" indent="0" algn="just" rtl="0">
              <a:lnSpc>
                <a:spcPct val="115000"/>
              </a:lnSpc>
              <a:spcBef>
                <a:spcPts val="1000"/>
              </a:spcBef>
              <a:spcAft>
                <a:spcPts val="0"/>
              </a:spcAft>
              <a:buNone/>
            </a:pPr>
            <a:r>
              <a:rPr lang="en-GB" sz="1600">
                <a:solidFill>
                  <a:schemeClr val="dk1"/>
                </a:solidFill>
              </a:rPr>
              <a:t>The newest is </a:t>
            </a:r>
            <a:r>
              <a:rPr lang="en-GB" sz="1600" b="1">
                <a:solidFill>
                  <a:schemeClr val="dk1"/>
                </a:solidFill>
              </a:rPr>
              <a:t>Gabon’s Fonds Autonome National d'Entretien et d'Investissement Routier (FANEIR)</a:t>
            </a:r>
            <a:r>
              <a:rPr lang="en-GB" sz="1600">
                <a:solidFill>
                  <a:schemeClr val="dk1"/>
                </a:solidFill>
              </a:rPr>
              <a:t> with only </a:t>
            </a:r>
            <a:r>
              <a:rPr lang="en-GB" sz="1600" b="1">
                <a:solidFill>
                  <a:schemeClr val="dk1"/>
                </a:solidFill>
              </a:rPr>
              <a:t>4</a:t>
            </a:r>
            <a:r>
              <a:rPr lang="en-GB" sz="1600">
                <a:solidFill>
                  <a:schemeClr val="dk1"/>
                </a:solidFill>
              </a:rPr>
              <a:t> years of operation.</a:t>
            </a:r>
            <a:endParaRPr sz="1600">
              <a:solidFill>
                <a:schemeClr val="dk1"/>
              </a:solidFill>
            </a:endParaRPr>
          </a:p>
          <a:p>
            <a:pPr marL="0" lvl="0" indent="0" algn="just" rtl="0">
              <a:lnSpc>
                <a:spcPct val="115000"/>
              </a:lnSpc>
              <a:spcBef>
                <a:spcPts val="1000"/>
              </a:spcBef>
              <a:spcAft>
                <a:spcPts val="0"/>
              </a:spcAft>
              <a:buNone/>
            </a:pPr>
            <a:r>
              <a:rPr lang="en-GB" sz="1600">
                <a:solidFill>
                  <a:schemeClr val="dk1"/>
                </a:solidFill>
              </a:rPr>
              <a:t>The distribution of evolution is as follows:</a:t>
            </a:r>
            <a:endParaRPr sz="1600">
              <a:solidFill>
                <a:schemeClr val="dk1"/>
              </a:solidFill>
            </a:endParaRPr>
          </a:p>
          <a:p>
            <a:pPr marL="400050" marR="0" lvl="0" indent="-342900" algn="just" rtl="0">
              <a:lnSpc>
                <a:spcPct val="100000"/>
              </a:lnSpc>
              <a:spcBef>
                <a:spcPts val="1200"/>
              </a:spcBef>
              <a:spcAft>
                <a:spcPts val="0"/>
              </a:spcAft>
              <a:buClr>
                <a:srgbClr val="E60000"/>
              </a:buClr>
              <a:buSzPts val="1800"/>
              <a:buFont typeface="Noto Sans Symbols"/>
              <a:buChar char="▪"/>
            </a:pPr>
            <a:r>
              <a:rPr lang="en-GB" sz="1600" b="1">
                <a:solidFill>
                  <a:schemeClr val="dk1"/>
                </a:solidFill>
              </a:rPr>
              <a:t>11 countries</a:t>
            </a:r>
            <a:r>
              <a:rPr lang="en-GB" sz="1600">
                <a:solidFill>
                  <a:schemeClr val="dk1"/>
                </a:solidFill>
              </a:rPr>
              <a:t> (55%) have funds that are over 21 years old, suggesting a high level of institutional entrenchment.</a:t>
            </a:r>
            <a:endParaRPr sz="1600">
              <a:solidFill>
                <a:schemeClr val="dk1"/>
              </a:solidFill>
            </a:endParaRPr>
          </a:p>
          <a:p>
            <a:pPr marL="400050" marR="0" lvl="0" indent="-342900" algn="just" rtl="0">
              <a:lnSpc>
                <a:spcPct val="100000"/>
              </a:lnSpc>
              <a:spcBef>
                <a:spcPts val="1200"/>
              </a:spcBef>
              <a:spcAft>
                <a:spcPts val="0"/>
              </a:spcAft>
              <a:buClr>
                <a:srgbClr val="E60000"/>
              </a:buClr>
              <a:buSzPts val="1800"/>
              <a:buFont typeface="Noto Sans Symbols"/>
              <a:buChar char="▪"/>
            </a:pPr>
            <a:r>
              <a:rPr lang="en-GB" sz="1600" b="1">
                <a:solidFill>
                  <a:schemeClr val="dk1"/>
                </a:solidFill>
              </a:rPr>
              <a:t>5 countries</a:t>
            </a:r>
            <a:r>
              <a:rPr lang="en-GB" sz="1600">
                <a:solidFill>
                  <a:schemeClr val="dk1"/>
                </a:solidFill>
              </a:rPr>
              <a:t> (25%) fall into the 11-20 year range, representing a mid-tier of evolution.</a:t>
            </a:r>
            <a:endParaRPr sz="1600">
              <a:solidFill>
                <a:schemeClr val="dk1"/>
              </a:solidFill>
            </a:endParaRPr>
          </a:p>
          <a:p>
            <a:pPr marL="400050" marR="0" lvl="0" indent="-342900" algn="just" rtl="0">
              <a:lnSpc>
                <a:spcPct val="100000"/>
              </a:lnSpc>
              <a:spcBef>
                <a:spcPts val="1200"/>
              </a:spcBef>
              <a:spcAft>
                <a:spcPts val="0"/>
              </a:spcAft>
              <a:buClr>
                <a:srgbClr val="E60000"/>
              </a:buClr>
              <a:buSzPts val="1800"/>
              <a:buFont typeface="Noto Sans Symbols"/>
              <a:buChar char="▪"/>
            </a:pPr>
            <a:r>
              <a:rPr lang="en-GB" sz="1600" b="1">
                <a:solidFill>
                  <a:schemeClr val="dk1"/>
                </a:solidFill>
              </a:rPr>
              <a:t>4 countries</a:t>
            </a:r>
            <a:r>
              <a:rPr lang="en-GB" sz="1600">
                <a:solidFill>
                  <a:schemeClr val="dk1"/>
                </a:solidFill>
              </a:rPr>
              <a:t> (20%) have funds that are 10 years old or younger, indicating they are in a nascent phase of development.</a:t>
            </a:r>
            <a:endParaRPr sz="1600"/>
          </a:p>
        </p:txBody>
      </p:sp>
      <p:graphicFrame>
        <p:nvGraphicFramePr>
          <p:cNvPr id="435" name="Google Shape;435;g36582182f26_1_213"/>
          <p:cNvGraphicFramePr/>
          <p:nvPr/>
        </p:nvGraphicFramePr>
        <p:xfrm>
          <a:off x="325100" y="1029963"/>
          <a:ext cx="3000000" cy="3000000"/>
        </p:xfrm>
        <a:graphic>
          <a:graphicData uri="http://schemas.openxmlformats.org/drawingml/2006/table">
            <a:tbl>
              <a:tblPr>
                <a:noFill/>
                <a:tableStyleId>{78D2BA57-521E-4D2C-BBA6-3BB788A7C9F9}</a:tableStyleId>
              </a:tblPr>
              <a:tblGrid>
                <a:gridCol w="1984700">
                  <a:extLst>
                    <a:ext uri="{9D8B030D-6E8A-4147-A177-3AD203B41FA5}">
                      <a16:colId xmlns:a16="http://schemas.microsoft.com/office/drawing/2014/main" val="20000"/>
                    </a:ext>
                  </a:extLst>
                </a:gridCol>
                <a:gridCol w="3487575">
                  <a:extLst>
                    <a:ext uri="{9D8B030D-6E8A-4147-A177-3AD203B41FA5}">
                      <a16:colId xmlns:a16="http://schemas.microsoft.com/office/drawing/2014/main" val="20001"/>
                    </a:ext>
                  </a:extLst>
                </a:gridCol>
              </a:tblGrid>
              <a:tr h="504900">
                <a:tc>
                  <a:txBody>
                    <a:bodyPr/>
                    <a:lstStyle/>
                    <a:p>
                      <a:pPr marL="0" lvl="0" indent="0" algn="l" rtl="0">
                        <a:lnSpc>
                          <a:spcPct val="115000"/>
                        </a:lnSpc>
                        <a:spcBef>
                          <a:spcPts val="0"/>
                        </a:spcBef>
                        <a:spcAft>
                          <a:spcPts val="0"/>
                        </a:spcAft>
                        <a:buNone/>
                      </a:pPr>
                      <a:r>
                        <a:rPr lang="en-GB" sz="1600" b="1">
                          <a:latin typeface="Calibri"/>
                          <a:ea typeface="Calibri"/>
                          <a:cs typeface="Calibri"/>
                          <a:sym typeface="Calibri"/>
                        </a:rPr>
                        <a:t>Country</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solidFill>
                            <a:srgbClr val="FFFFFF"/>
                          </a:solidFill>
                          <a:latin typeface="Calibri"/>
                          <a:ea typeface="Calibri"/>
                          <a:cs typeface="Calibri"/>
                          <a:sym typeface="Calibri"/>
                        </a:rPr>
                        <a:t>Years of Road Fund Board (RFB) Operation</a:t>
                      </a:r>
                      <a:endParaRPr sz="1600">
                        <a:solidFill>
                          <a:srgbClr val="FFFFFF"/>
                        </a:solidFill>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Gabon</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4</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1"/>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Liberia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7</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2"/>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Niger</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8</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3"/>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Togo</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12</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4"/>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Sierra Leone</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15</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5"/>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Burkina Faso</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17</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6"/>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Senegal</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18</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7"/>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Malawi</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18</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8"/>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Mozambique</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22</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9"/>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Cameroon</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23</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0"/>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Mali</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23</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1"/>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Zambia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23</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2"/>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Zimbabwe</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23</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3"/>
                  </a:ext>
                </a:extLst>
              </a:tr>
              <a:tr h="100000">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Tanzania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25</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4"/>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Chad</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25</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5"/>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Guinea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25</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6"/>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Kenya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26</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7"/>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Rwanda</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27</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8"/>
                  </a:ext>
                </a:extLst>
              </a:tr>
              <a:tr h="272925">
                <a:tc>
                  <a:txBody>
                    <a:bodyPr/>
                    <a:lstStyle/>
                    <a:p>
                      <a:pPr marL="0" lvl="0" indent="0" algn="l" rtl="0">
                        <a:lnSpc>
                          <a:spcPct val="115000"/>
                        </a:lnSpc>
                        <a:spcBef>
                          <a:spcPts val="0"/>
                        </a:spcBef>
                        <a:spcAft>
                          <a:spcPts val="0"/>
                        </a:spcAft>
                        <a:buNone/>
                      </a:pPr>
                      <a:r>
                        <a:rPr lang="en-GB" sz="1600">
                          <a:latin typeface="Calibri"/>
                          <a:ea typeface="Calibri"/>
                          <a:cs typeface="Calibri"/>
                          <a:sym typeface="Calibri"/>
                        </a:rPr>
                        <a:t>Lesotho</a:t>
                      </a:r>
                      <a:endParaRPr sz="1600">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600" b="1">
                          <a:latin typeface="Calibri"/>
                          <a:ea typeface="Calibri"/>
                          <a:cs typeface="Calibri"/>
                          <a:sym typeface="Calibri"/>
                        </a:rPr>
                        <a:t>30</a:t>
                      </a:r>
                      <a:endParaRPr sz="1600" b="1">
                        <a:latin typeface="Calibri"/>
                        <a:ea typeface="Calibri"/>
                        <a:cs typeface="Calibri"/>
                        <a:sym typeface="Calibri"/>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36582182f26_1_220"/>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2000" b="1">
                <a:solidFill>
                  <a:srgbClr val="E2081E"/>
                </a:solidFill>
                <a:uFill>
                  <a:noFill/>
                </a:uFill>
                <a:hlinkClick r:id="rId3">
                  <a:extLst>
                    <a:ext uri="{A12FA001-AC4F-418D-AE19-62706E023703}">
                      <ahyp:hlinkClr xmlns:ahyp="http://schemas.microsoft.com/office/drawing/2018/hyperlinkcolor" val="tx"/>
                    </a:ext>
                  </a:extLst>
                </a:hlinkClick>
              </a:rPr>
              <a:t>Generations of Road Fund</a:t>
            </a:r>
            <a:r>
              <a:rPr lang="en-GB" sz="2000" b="1">
                <a:solidFill>
                  <a:srgbClr val="E2081E"/>
                </a:solidFill>
              </a:rPr>
              <a:t> (1st, 2nd &amp; 3rd-Generation)</a:t>
            </a:r>
            <a:endParaRPr sz="2200" b="1">
              <a:solidFill>
                <a:srgbClr val="E2081E"/>
              </a:solidFill>
            </a:endParaRPr>
          </a:p>
        </p:txBody>
      </p:sp>
      <p:pic>
        <p:nvPicPr>
          <p:cNvPr id="442" name="Google Shape;442;g36582182f26_1_220" title="Char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29800" y="1057275"/>
            <a:ext cx="6496600" cy="5716100"/>
          </a:xfrm>
          <a:prstGeom prst="rect">
            <a:avLst/>
          </a:prstGeom>
          <a:noFill/>
          <a:ln>
            <a:noFill/>
          </a:ln>
        </p:spPr>
      </p:pic>
      <p:sp>
        <p:nvSpPr>
          <p:cNvPr id="443" name="Google Shape;443;g36582182f26_1_220"/>
          <p:cNvSpPr txBox="1"/>
          <p:nvPr/>
        </p:nvSpPr>
        <p:spPr>
          <a:xfrm>
            <a:off x="6726400" y="1662800"/>
            <a:ext cx="5321700" cy="4872300"/>
          </a:xfrm>
          <a:prstGeom prst="rect">
            <a:avLst/>
          </a:prstGeom>
          <a:noFill/>
          <a:ln>
            <a:noFill/>
          </a:ln>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chemeClr val="dk1"/>
              </a:buClr>
              <a:buSzPts val="1800"/>
              <a:buFont typeface="Calibri"/>
              <a:buChar char="●"/>
            </a:pPr>
            <a:r>
              <a:rPr lang="en-GB" sz="1800" b="1" u="sng">
                <a:solidFill>
                  <a:schemeClr val="dk1"/>
                </a:solidFill>
              </a:rPr>
              <a:t>1st-Generation:</a:t>
            </a:r>
            <a:r>
              <a:rPr lang="en-GB" sz="1800" b="1">
                <a:solidFill>
                  <a:schemeClr val="dk1"/>
                </a:solidFill>
              </a:rPr>
              <a:t> 1</a:t>
            </a:r>
            <a:r>
              <a:rPr lang="en-GB" sz="1800">
                <a:solidFill>
                  <a:schemeClr val="dk1"/>
                </a:solidFill>
              </a:rPr>
              <a:t> country </a:t>
            </a:r>
            <a:r>
              <a:rPr lang="en-GB" sz="1800" b="1">
                <a:solidFill>
                  <a:schemeClr val="dk1"/>
                </a:solidFill>
              </a:rPr>
              <a:t>(5% - Liberia) </a:t>
            </a:r>
            <a:r>
              <a:rPr lang="en-GB" sz="1800">
                <a:solidFill>
                  <a:schemeClr val="dk1"/>
                </a:solidFill>
              </a:rPr>
              <a:t>operates with a first-generation road fund, which is typically treasury-dependent.</a:t>
            </a:r>
            <a:endParaRPr sz="1800">
              <a:solidFill>
                <a:schemeClr val="dk1"/>
              </a:solidFill>
            </a:endParaRPr>
          </a:p>
          <a:p>
            <a:pPr marL="457200" lvl="0" indent="-342900" algn="just" rtl="0">
              <a:lnSpc>
                <a:spcPct val="150000"/>
              </a:lnSpc>
              <a:spcBef>
                <a:spcPts val="0"/>
              </a:spcBef>
              <a:spcAft>
                <a:spcPts val="0"/>
              </a:spcAft>
              <a:buClr>
                <a:schemeClr val="dk1"/>
              </a:buClr>
              <a:buSzPts val="1800"/>
              <a:buFont typeface="Calibri"/>
              <a:buChar char="●"/>
            </a:pPr>
            <a:r>
              <a:rPr lang="en-GB" sz="1800" b="1" u="sng">
                <a:solidFill>
                  <a:schemeClr val="dk1"/>
                </a:solidFill>
              </a:rPr>
              <a:t>2nd-Generation:</a:t>
            </a:r>
            <a:r>
              <a:rPr lang="en-GB" sz="1800" b="1">
                <a:solidFill>
                  <a:schemeClr val="dk1"/>
                </a:solidFill>
              </a:rPr>
              <a:t> </a:t>
            </a:r>
            <a:r>
              <a:rPr lang="en-GB" sz="1800">
                <a:solidFill>
                  <a:schemeClr val="dk1"/>
                </a:solidFill>
              </a:rPr>
              <a:t>The majority, </a:t>
            </a:r>
            <a:r>
              <a:rPr lang="en-GB" sz="1800" b="1">
                <a:solidFill>
                  <a:schemeClr val="dk1"/>
                </a:solidFill>
              </a:rPr>
              <a:t>16</a:t>
            </a:r>
            <a:r>
              <a:rPr lang="en-GB" sz="1800">
                <a:solidFill>
                  <a:schemeClr val="dk1"/>
                </a:solidFill>
              </a:rPr>
              <a:t> countries </a:t>
            </a:r>
            <a:r>
              <a:rPr lang="en-GB" sz="1800" b="1">
                <a:solidFill>
                  <a:schemeClr val="dk1"/>
                </a:solidFill>
              </a:rPr>
              <a:t>(80%)</a:t>
            </a:r>
            <a:r>
              <a:rPr lang="en-GB" sz="1800">
                <a:solidFill>
                  <a:schemeClr val="dk1"/>
                </a:solidFill>
              </a:rPr>
              <a:t>, have second-generation road funds, characterized by an autonomous model with dedicated revenue from user charges.</a:t>
            </a:r>
            <a:endParaRPr sz="1800">
              <a:solidFill>
                <a:schemeClr val="dk1"/>
              </a:solidFill>
            </a:endParaRPr>
          </a:p>
          <a:p>
            <a:pPr marL="457200" lvl="0" indent="-342900" algn="just" rtl="0">
              <a:lnSpc>
                <a:spcPct val="150000"/>
              </a:lnSpc>
              <a:spcBef>
                <a:spcPts val="0"/>
              </a:spcBef>
              <a:spcAft>
                <a:spcPts val="0"/>
              </a:spcAft>
              <a:buClr>
                <a:schemeClr val="dk1"/>
              </a:buClr>
              <a:buSzPts val="1800"/>
              <a:buFont typeface="Calibri"/>
              <a:buChar char="●"/>
            </a:pPr>
            <a:r>
              <a:rPr lang="en-GB" sz="1800" b="1" u="sng">
                <a:solidFill>
                  <a:schemeClr val="dk1"/>
                </a:solidFill>
              </a:rPr>
              <a:t>3rd-Generation:</a:t>
            </a:r>
            <a:r>
              <a:rPr lang="en-GB" sz="1800">
                <a:solidFill>
                  <a:schemeClr val="dk1"/>
                </a:solidFill>
              </a:rPr>
              <a:t> </a:t>
            </a:r>
            <a:r>
              <a:rPr lang="en-GB" sz="1800" b="1">
                <a:solidFill>
                  <a:schemeClr val="dk1"/>
                </a:solidFill>
              </a:rPr>
              <a:t>3</a:t>
            </a:r>
            <a:r>
              <a:rPr lang="en-GB" sz="1800">
                <a:solidFill>
                  <a:schemeClr val="dk1"/>
                </a:solidFill>
              </a:rPr>
              <a:t> countries </a:t>
            </a:r>
            <a:r>
              <a:rPr lang="en-GB" sz="1800" b="1">
                <a:solidFill>
                  <a:schemeClr val="dk1"/>
                </a:solidFill>
              </a:rPr>
              <a:t>(15%)</a:t>
            </a:r>
            <a:r>
              <a:rPr lang="en-GB" sz="1800">
                <a:solidFill>
                  <a:schemeClr val="dk1"/>
                </a:solidFill>
              </a:rPr>
              <a:t> have advanced to the third-generation model, which includes diversified revenue streams and a focus on performance management.</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36582182f26_1_227"/>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1800" b="1">
                <a:solidFill>
                  <a:srgbClr val="E2081E"/>
                </a:solidFill>
              </a:rPr>
              <a:t>Y</a:t>
            </a:r>
            <a:r>
              <a:rPr lang="en-GB" sz="1800" b="1">
                <a:solidFill>
                  <a:srgbClr val="E2081E"/>
                </a:solidFill>
                <a:uFill>
                  <a:noFill/>
                </a:uFill>
                <a:hlinkClick r:id="rId3">
                  <a:extLst>
                    <a:ext uri="{A12FA001-AC4F-418D-AE19-62706E023703}">
                      <ahyp:hlinkClr xmlns:ahyp="http://schemas.microsoft.com/office/drawing/2018/hyperlinkcolor" val="tx"/>
                    </a:ext>
                  </a:extLst>
                </a:hlinkClick>
              </a:rPr>
              <a:t>ears of Road Fund Operation Vs Generations of Road Funds</a:t>
            </a:r>
            <a:endParaRPr sz="1800" b="1">
              <a:solidFill>
                <a:srgbClr val="E2081E"/>
              </a:solidFill>
            </a:endParaRPr>
          </a:p>
          <a:p>
            <a:pPr marL="0" lvl="0" indent="0" algn="l" rtl="0">
              <a:lnSpc>
                <a:spcPct val="150000"/>
              </a:lnSpc>
              <a:spcBef>
                <a:spcPts val="1200"/>
              </a:spcBef>
              <a:spcAft>
                <a:spcPts val="0"/>
              </a:spcAft>
              <a:buNone/>
            </a:pPr>
            <a:endParaRPr sz="2000" b="1">
              <a:solidFill>
                <a:srgbClr val="E2081E"/>
              </a:solidFill>
            </a:endParaRPr>
          </a:p>
        </p:txBody>
      </p:sp>
      <p:graphicFrame>
        <p:nvGraphicFramePr>
          <p:cNvPr id="450" name="Google Shape;450;g36582182f26_1_227"/>
          <p:cNvGraphicFramePr/>
          <p:nvPr/>
        </p:nvGraphicFramePr>
        <p:xfrm>
          <a:off x="492975" y="1174125"/>
          <a:ext cx="3000000" cy="3000000"/>
        </p:xfrm>
        <a:graphic>
          <a:graphicData uri="http://schemas.openxmlformats.org/drawingml/2006/table">
            <a:tbl>
              <a:tblPr>
                <a:noFill/>
                <a:tableStyleId>{78D2BA57-521E-4D2C-BBA6-3BB788A7C9F9}</a:tableStyleId>
              </a:tblPr>
              <a:tblGrid>
                <a:gridCol w="1310525">
                  <a:extLst>
                    <a:ext uri="{9D8B030D-6E8A-4147-A177-3AD203B41FA5}">
                      <a16:colId xmlns:a16="http://schemas.microsoft.com/office/drawing/2014/main" val="20000"/>
                    </a:ext>
                  </a:extLst>
                </a:gridCol>
                <a:gridCol w="1892625">
                  <a:extLst>
                    <a:ext uri="{9D8B030D-6E8A-4147-A177-3AD203B41FA5}">
                      <a16:colId xmlns:a16="http://schemas.microsoft.com/office/drawing/2014/main" val="20001"/>
                    </a:ext>
                  </a:extLst>
                </a:gridCol>
                <a:gridCol w="2399875">
                  <a:extLst>
                    <a:ext uri="{9D8B030D-6E8A-4147-A177-3AD203B41FA5}">
                      <a16:colId xmlns:a16="http://schemas.microsoft.com/office/drawing/2014/main" val="20002"/>
                    </a:ext>
                  </a:extLst>
                </a:gridCol>
              </a:tblGrid>
              <a:tr h="476250">
                <a:tc>
                  <a:txBody>
                    <a:bodyPr/>
                    <a:lstStyle/>
                    <a:p>
                      <a:pPr marL="0" lvl="0" indent="0" algn="l" rtl="0">
                        <a:lnSpc>
                          <a:spcPct val="115000"/>
                        </a:lnSpc>
                        <a:spcBef>
                          <a:spcPts val="0"/>
                        </a:spcBef>
                        <a:spcAft>
                          <a:spcPts val="0"/>
                        </a:spcAft>
                        <a:buNone/>
                      </a:pPr>
                      <a:r>
                        <a:rPr lang="en-GB" b="1"/>
                        <a:t>Country</a:t>
                      </a:r>
                      <a:endParaRPr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solidFill>
                            <a:srgbClr val="FFFFFF"/>
                          </a:solidFill>
                        </a:rPr>
                        <a:t>Years of RFB operation</a:t>
                      </a:r>
                      <a:endParaRPr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b="1">
                          <a:solidFill>
                            <a:srgbClr val="FFFFFF"/>
                          </a:solidFill>
                        </a:rPr>
                        <a:t>Generation of Road Fund</a:t>
                      </a:r>
                      <a:endParaRPr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190500">
                <a:tc>
                  <a:txBody>
                    <a:bodyPr/>
                    <a:lstStyle/>
                    <a:p>
                      <a:pPr marL="0" lvl="0" indent="0" algn="l" rtl="0">
                        <a:lnSpc>
                          <a:spcPct val="115000"/>
                        </a:lnSpc>
                        <a:spcBef>
                          <a:spcPts val="0"/>
                        </a:spcBef>
                        <a:spcAft>
                          <a:spcPts val="0"/>
                        </a:spcAft>
                        <a:buNone/>
                      </a:pPr>
                      <a:r>
                        <a:rPr lang="en-GB"/>
                        <a:t>Lesotho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30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1"/>
                  </a:ext>
                </a:extLst>
              </a:tr>
              <a:tr h="190500">
                <a:tc>
                  <a:txBody>
                    <a:bodyPr/>
                    <a:lstStyle/>
                    <a:p>
                      <a:pPr marL="0" lvl="0" indent="0" algn="l" rtl="0">
                        <a:lnSpc>
                          <a:spcPct val="115000"/>
                        </a:lnSpc>
                        <a:spcBef>
                          <a:spcPts val="0"/>
                        </a:spcBef>
                        <a:spcAft>
                          <a:spcPts val="0"/>
                        </a:spcAft>
                        <a:buNone/>
                      </a:pPr>
                      <a:r>
                        <a:rPr lang="en-GB"/>
                        <a:t>Rwanda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27</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GB"/>
                        <a:t>Kenya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26</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b="1"/>
                        <a:t>3rd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3"/>
                  </a:ext>
                </a:extLst>
              </a:tr>
              <a:tr h="190500">
                <a:tc>
                  <a:txBody>
                    <a:bodyPr/>
                    <a:lstStyle/>
                    <a:p>
                      <a:pPr marL="0" lvl="0" indent="0" algn="l" rtl="0">
                        <a:lnSpc>
                          <a:spcPct val="115000"/>
                        </a:lnSpc>
                        <a:spcBef>
                          <a:spcPts val="0"/>
                        </a:spcBef>
                        <a:spcAft>
                          <a:spcPts val="0"/>
                        </a:spcAft>
                        <a:buNone/>
                      </a:pPr>
                      <a:r>
                        <a:rPr lang="en-GB"/>
                        <a:t>Tanzania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4"/>
                  </a:ext>
                </a:extLst>
              </a:tr>
              <a:tr h="190500">
                <a:tc>
                  <a:txBody>
                    <a:bodyPr/>
                    <a:lstStyle/>
                    <a:p>
                      <a:pPr marL="0" lvl="0" indent="0" algn="l" rtl="0">
                        <a:lnSpc>
                          <a:spcPct val="115000"/>
                        </a:lnSpc>
                        <a:spcBef>
                          <a:spcPts val="0"/>
                        </a:spcBef>
                        <a:spcAft>
                          <a:spcPts val="0"/>
                        </a:spcAft>
                        <a:buNone/>
                      </a:pPr>
                      <a:r>
                        <a:rPr lang="en-GB"/>
                        <a:t>Guinea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5"/>
                  </a:ext>
                </a:extLst>
              </a:tr>
              <a:tr h="190500">
                <a:tc>
                  <a:txBody>
                    <a:bodyPr/>
                    <a:lstStyle/>
                    <a:p>
                      <a:pPr marL="0" lvl="0" indent="0" algn="l" rtl="0">
                        <a:lnSpc>
                          <a:spcPct val="115000"/>
                        </a:lnSpc>
                        <a:spcBef>
                          <a:spcPts val="0"/>
                        </a:spcBef>
                        <a:spcAft>
                          <a:spcPts val="0"/>
                        </a:spcAft>
                        <a:buNone/>
                      </a:pPr>
                      <a:r>
                        <a:rPr lang="en-GB"/>
                        <a:t>Chad</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6"/>
                  </a:ext>
                </a:extLst>
              </a:tr>
              <a:tr h="190500">
                <a:tc>
                  <a:txBody>
                    <a:bodyPr/>
                    <a:lstStyle/>
                    <a:p>
                      <a:pPr marL="0" lvl="0" indent="0" algn="l" rtl="0">
                        <a:lnSpc>
                          <a:spcPct val="115000"/>
                        </a:lnSpc>
                        <a:spcBef>
                          <a:spcPts val="0"/>
                        </a:spcBef>
                        <a:spcAft>
                          <a:spcPts val="0"/>
                        </a:spcAft>
                        <a:buNone/>
                      </a:pPr>
                      <a:r>
                        <a:rPr lang="en-GB"/>
                        <a:t>Mali</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23</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7"/>
                  </a:ext>
                </a:extLst>
              </a:tr>
              <a:tr h="190500">
                <a:tc>
                  <a:txBody>
                    <a:bodyPr/>
                    <a:lstStyle/>
                    <a:p>
                      <a:pPr marL="0" lvl="0" indent="0" algn="l" rtl="0">
                        <a:lnSpc>
                          <a:spcPct val="115000"/>
                        </a:lnSpc>
                        <a:spcBef>
                          <a:spcPts val="0"/>
                        </a:spcBef>
                        <a:spcAft>
                          <a:spcPts val="0"/>
                        </a:spcAft>
                        <a:buNone/>
                      </a:pPr>
                      <a:r>
                        <a:rPr lang="en-GB"/>
                        <a:t>Zimbabwe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23</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8"/>
                  </a:ext>
                </a:extLst>
              </a:tr>
              <a:tr h="190500">
                <a:tc>
                  <a:txBody>
                    <a:bodyPr/>
                    <a:lstStyle/>
                    <a:p>
                      <a:pPr marL="0" lvl="0" indent="0" algn="l" rtl="0">
                        <a:lnSpc>
                          <a:spcPct val="115000"/>
                        </a:lnSpc>
                        <a:spcBef>
                          <a:spcPts val="0"/>
                        </a:spcBef>
                        <a:spcAft>
                          <a:spcPts val="0"/>
                        </a:spcAft>
                        <a:buNone/>
                      </a:pPr>
                      <a:r>
                        <a:rPr lang="en-GB"/>
                        <a:t>Cameroun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23</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b="1"/>
                        <a:t>3rd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9"/>
                  </a:ext>
                </a:extLst>
              </a:tr>
              <a:tr h="190500">
                <a:tc>
                  <a:txBody>
                    <a:bodyPr/>
                    <a:lstStyle/>
                    <a:p>
                      <a:pPr marL="0" lvl="0" indent="0" algn="l" rtl="0">
                        <a:lnSpc>
                          <a:spcPct val="115000"/>
                        </a:lnSpc>
                        <a:spcBef>
                          <a:spcPts val="0"/>
                        </a:spcBef>
                        <a:spcAft>
                          <a:spcPts val="0"/>
                        </a:spcAft>
                        <a:buNone/>
                      </a:pPr>
                      <a:r>
                        <a:rPr lang="en-GB"/>
                        <a:t>Zambia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23</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0"/>
                  </a:ext>
                </a:extLst>
              </a:tr>
              <a:tr h="190500">
                <a:tc>
                  <a:txBody>
                    <a:bodyPr/>
                    <a:lstStyle/>
                    <a:p>
                      <a:pPr marL="0" lvl="0" indent="0" algn="l" rtl="0">
                        <a:lnSpc>
                          <a:spcPct val="115000"/>
                        </a:lnSpc>
                        <a:spcBef>
                          <a:spcPts val="0"/>
                        </a:spcBef>
                        <a:spcAft>
                          <a:spcPts val="0"/>
                        </a:spcAft>
                        <a:buNone/>
                      </a:pPr>
                      <a:r>
                        <a:rPr lang="en-GB"/>
                        <a:t>Mozambique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22</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1"/>
                  </a:ext>
                </a:extLst>
              </a:tr>
              <a:tr h="190500">
                <a:tc>
                  <a:txBody>
                    <a:bodyPr/>
                    <a:lstStyle/>
                    <a:p>
                      <a:pPr marL="0" lvl="0" indent="0" algn="l" rtl="0">
                        <a:lnSpc>
                          <a:spcPct val="115000"/>
                        </a:lnSpc>
                        <a:spcBef>
                          <a:spcPts val="0"/>
                        </a:spcBef>
                        <a:spcAft>
                          <a:spcPts val="0"/>
                        </a:spcAft>
                        <a:buNone/>
                      </a:pPr>
                      <a:r>
                        <a:rPr lang="en-GB"/>
                        <a:t>Malawi</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18</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2"/>
                  </a:ext>
                </a:extLst>
              </a:tr>
              <a:tr h="190500">
                <a:tc>
                  <a:txBody>
                    <a:bodyPr/>
                    <a:lstStyle/>
                    <a:p>
                      <a:pPr marL="0" lvl="0" indent="0" algn="l" rtl="0">
                        <a:lnSpc>
                          <a:spcPct val="115000"/>
                        </a:lnSpc>
                        <a:spcBef>
                          <a:spcPts val="0"/>
                        </a:spcBef>
                        <a:spcAft>
                          <a:spcPts val="0"/>
                        </a:spcAft>
                        <a:buNone/>
                      </a:pPr>
                      <a:r>
                        <a:rPr lang="en-GB"/>
                        <a:t>Senegal</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18</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3"/>
                  </a:ext>
                </a:extLst>
              </a:tr>
              <a:tr h="190500">
                <a:tc>
                  <a:txBody>
                    <a:bodyPr/>
                    <a:lstStyle/>
                    <a:p>
                      <a:pPr marL="0" lvl="0" indent="0" algn="l" rtl="0">
                        <a:lnSpc>
                          <a:spcPct val="115000"/>
                        </a:lnSpc>
                        <a:spcBef>
                          <a:spcPts val="0"/>
                        </a:spcBef>
                        <a:spcAft>
                          <a:spcPts val="0"/>
                        </a:spcAft>
                        <a:buNone/>
                      </a:pPr>
                      <a:r>
                        <a:rPr lang="en-GB"/>
                        <a:t>Burkina Faso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17</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4"/>
                  </a:ext>
                </a:extLst>
              </a:tr>
              <a:tr h="190500">
                <a:tc>
                  <a:txBody>
                    <a:bodyPr/>
                    <a:lstStyle/>
                    <a:p>
                      <a:pPr marL="0" lvl="0" indent="0" algn="l" rtl="0">
                        <a:lnSpc>
                          <a:spcPct val="115000"/>
                        </a:lnSpc>
                        <a:spcBef>
                          <a:spcPts val="0"/>
                        </a:spcBef>
                        <a:spcAft>
                          <a:spcPts val="0"/>
                        </a:spcAft>
                        <a:buNone/>
                      </a:pPr>
                      <a:r>
                        <a:rPr lang="en-GB"/>
                        <a:t>Sierra Leone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15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5"/>
                  </a:ext>
                </a:extLst>
              </a:tr>
              <a:tr h="190500">
                <a:tc>
                  <a:txBody>
                    <a:bodyPr/>
                    <a:lstStyle/>
                    <a:p>
                      <a:pPr marL="0" lvl="0" indent="0" algn="l" rtl="0">
                        <a:lnSpc>
                          <a:spcPct val="115000"/>
                        </a:lnSpc>
                        <a:spcBef>
                          <a:spcPts val="0"/>
                        </a:spcBef>
                        <a:spcAft>
                          <a:spcPts val="0"/>
                        </a:spcAft>
                        <a:buNone/>
                      </a:pPr>
                      <a:r>
                        <a:rPr lang="en-GB"/>
                        <a:t>Togo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12</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6"/>
                  </a:ext>
                </a:extLst>
              </a:tr>
              <a:tr h="190500">
                <a:tc>
                  <a:txBody>
                    <a:bodyPr/>
                    <a:lstStyle/>
                    <a:p>
                      <a:pPr marL="0" lvl="0" indent="0" algn="l" rtl="0">
                        <a:lnSpc>
                          <a:spcPct val="115000"/>
                        </a:lnSpc>
                        <a:spcBef>
                          <a:spcPts val="0"/>
                        </a:spcBef>
                        <a:spcAft>
                          <a:spcPts val="0"/>
                        </a:spcAft>
                        <a:buNone/>
                      </a:pPr>
                      <a:r>
                        <a:rPr lang="en-GB"/>
                        <a:t>Niger</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8</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7"/>
                  </a:ext>
                </a:extLst>
              </a:tr>
              <a:tr h="190500">
                <a:tc>
                  <a:txBody>
                    <a:bodyPr/>
                    <a:lstStyle/>
                    <a:p>
                      <a:pPr marL="0" lvl="0" indent="0" algn="l" rtl="0">
                        <a:lnSpc>
                          <a:spcPct val="115000"/>
                        </a:lnSpc>
                        <a:spcBef>
                          <a:spcPts val="0"/>
                        </a:spcBef>
                        <a:spcAft>
                          <a:spcPts val="0"/>
                        </a:spcAft>
                        <a:buNone/>
                      </a:pPr>
                      <a:r>
                        <a:rPr lang="en-GB"/>
                        <a:t>Liberia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7</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b="1"/>
                        <a:t>1st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8"/>
                  </a:ext>
                </a:extLst>
              </a:tr>
              <a:tr h="190500">
                <a:tc>
                  <a:txBody>
                    <a:bodyPr/>
                    <a:lstStyle/>
                    <a:p>
                      <a:pPr marL="0" lvl="0" indent="0" algn="l" rtl="0">
                        <a:lnSpc>
                          <a:spcPct val="115000"/>
                        </a:lnSpc>
                        <a:spcBef>
                          <a:spcPts val="0"/>
                        </a:spcBef>
                        <a:spcAft>
                          <a:spcPts val="0"/>
                        </a:spcAft>
                        <a:buNone/>
                      </a:pPr>
                      <a:r>
                        <a:rPr lang="en-GB"/>
                        <a:t>Benin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4</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a:t>2nd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9"/>
                  </a:ext>
                </a:extLst>
              </a:tr>
              <a:tr h="190500">
                <a:tc>
                  <a:txBody>
                    <a:bodyPr/>
                    <a:lstStyle/>
                    <a:p>
                      <a:pPr marL="0" lvl="0" indent="0" algn="l" rtl="0">
                        <a:lnSpc>
                          <a:spcPct val="115000"/>
                        </a:lnSpc>
                        <a:spcBef>
                          <a:spcPts val="0"/>
                        </a:spcBef>
                        <a:spcAft>
                          <a:spcPts val="0"/>
                        </a:spcAft>
                        <a:buNone/>
                      </a:pPr>
                      <a:r>
                        <a:rPr lang="en-GB"/>
                        <a:t>Gabon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4</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b="1"/>
                        <a:t>3rd generation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20"/>
                  </a:ext>
                </a:extLst>
              </a:tr>
            </a:tbl>
          </a:graphicData>
        </a:graphic>
      </p:graphicFrame>
      <p:sp>
        <p:nvSpPr>
          <p:cNvPr id="451" name="Google Shape;451;g36582182f26_1_227"/>
          <p:cNvSpPr txBox="1"/>
          <p:nvPr/>
        </p:nvSpPr>
        <p:spPr>
          <a:xfrm>
            <a:off x="6444150" y="1246725"/>
            <a:ext cx="5310000" cy="5448300"/>
          </a:xfrm>
          <a:prstGeom prst="rect">
            <a:avLst/>
          </a:prstGeom>
          <a:noFill/>
          <a:ln>
            <a:noFill/>
          </a:ln>
        </p:spPr>
        <p:txBody>
          <a:bodyPr spcFirstLastPara="1" wrap="square" lIns="91425" tIns="91425" rIns="91425" bIns="91425" anchor="t" anchorCtr="0">
            <a:noAutofit/>
          </a:bodyPr>
          <a:lstStyle/>
          <a:p>
            <a:pPr marL="400050" marR="0" lvl="0" indent="-342900" algn="just" rtl="0">
              <a:lnSpc>
                <a:spcPct val="150000"/>
              </a:lnSpc>
              <a:spcBef>
                <a:spcPts val="1200"/>
              </a:spcBef>
              <a:spcAft>
                <a:spcPts val="0"/>
              </a:spcAft>
              <a:buClr>
                <a:srgbClr val="E60000"/>
              </a:buClr>
              <a:buSzPts val="1800"/>
              <a:buFont typeface="Noto Sans Symbols"/>
              <a:buChar char="▪"/>
            </a:pPr>
            <a:r>
              <a:rPr lang="en-GB" sz="1800">
                <a:solidFill>
                  <a:schemeClr val="dk1"/>
                </a:solidFill>
              </a:rPr>
              <a:t>A longer operational history does not necessarily correlate with a more advanced generation model. </a:t>
            </a:r>
            <a:endParaRPr sz="1800">
              <a:solidFill>
                <a:schemeClr val="dk1"/>
              </a:solidFill>
            </a:endParaRPr>
          </a:p>
          <a:p>
            <a:pPr marL="400050" marR="0" lvl="0" indent="-342900" algn="just" rtl="0">
              <a:lnSpc>
                <a:spcPct val="150000"/>
              </a:lnSpc>
              <a:spcBef>
                <a:spcPts val="1200"/>
              </a:spcBef>
              <a:spcAft>
                <a:spcPts val="0"/>
              </a:spcAft>
              <a:buClr>
                <a:srgbClr val="E60000"/>
              </a:buClr>
              <a:buSzPts val="1800"/>
              <a:buFont typeface="Noto Sans Symbols"/>
              <a:buChar char="▪"/>
            </a:pPr>
            <a:r>
              <a:rPr lang="en-GB" sz="1800">
                <a:solidFill>
                  <a:schemeClr val="dk1"/>
                </a:solidFill>
              </a:rPr>
              <a:t>For example, while the oldest funds are mature second-generation funds, the third-generation category includes countries with both new and long-standing funds, such as </a:t>
            </a:r>
            <a:r>
              <a:rPr lang="en-GB" sz="1800" b="1">
                <a:solidFill>
                  <a:schemeClr val="dk1"/>
                </a:solidFill>
              </a:rPr>
              <a:t>Gabon (4 years)</a:t>
            </a:r>
            <a:r>
              <a:rPr lang="en-GB" sz="1800">
                <a:solidFill>
                  <a:schemeClr val="dk1"/>
                </a:solidFill>
              </a:rPr>
              <a:t> and </a:t>
            </a:r>
            <a:r>
              <a:rPr lang="en-GB" sz="1800" b="1">
                <a:solidFill>
                  <a:schemeClr val="dk1"/>
                </a:solidFill>
              </a:rPr>
              <a:t>Kenya (26 years)</a:t>
            </a:r>
            <a:r>
              <a:rPr lang="en-GB" sz="1800">
                <a:solidFill>
                  <a:schemeClr val="dk1"/>
                </a:solidFill>
              </a:rPr>
              <a:t>. </a:t>
            </a:r>
            <a:endParaRPr sz="1800">
              <a:solidFill>
                <a:schemeClr val="dk1"/>
              </a:solidFill>
            </a:endParaRPr>
          </a:p>
          <a:p>
            <a:pPr marL="400050" marR="0" lvl="0" indent="-342900" algn="just" rtl="0">
              <a:lnSpc>
                <a:spcPct val="150000"/>
              </a:lnSpc>
              <a:spcBef>
                <a:spcPts val="1200"/>
              </a:spcBef>
              <a:spcAft>
                <a:spcPts val="0"/>
              </a:spcAft>
              <a:buClr>
                <a:srgbClr val="E60000"/>
              </a:buClr>
              <a:buSzPts val="1800"/>
              <a:buFont typeface="Noto Sans Symbols"/>
              <a:buChar char="▪"/>
            </a:pPr>
            <a:r>
              <a:rPr lang="en-GB" sz="1800">
                <a:solidFill>
                  <a:schemeClr val="dk1"/>
                </a:solidFill>
              </a:rPr>
              <a:t>This suggests that the transition to a higher-generation model is driven less by institutional age and more by a proactive commitment to sector reform.</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graphicFrame>
        <p:nvGraphicFramePr>
          <p:cNvPr id="457" name="Google Shape;457;g36582182f26_1_352"/>
          <p:cNvGraphicFramePr/>
          <p:nvPr/>
        </p:nvGraphicFramePr>
        <p:xfrm>
          <a:off x="152400" y="1282300"/>
          <a:ext cx="3000000" cy="3000000"/>
        </p:xfrm>
        <a:graphic>
          <a:graphicData uri="http://schemas.openxmlformats.org/drawingml/2006/table">
            <a:tbl>
              <a:tblPr>
                <a:noFill/>
                <a:tableStyleId>{78D2BA57-521E-4D2C-BBA6-3BB788A7C9F9}</a:tableStyleId>
              </a:tblPr>
              <a:tblGrid>
                <a:gridCol w="1048575">
                  <a:extLst>
                    <a:ext uri="{9D8B030D-6E8A-4147-A177-3AD203B41FA5}">
                      <a16:colId xmlns:a16="http://schemas.microsoft.com/office/drawing/2014/main" val="20000"/>
                    </a:ext>
                  </a:extLst>
                </a:gridCol>
                <a:gridCol w="1420925">
                  <a:extLst>
                    <a:ext uri="{9D8B030D-6E8A-4147-A177-3AD203B41FA5}">
                      <a16:colId xmlns:a16="http://schemas.microsoft.com/office/drawing/2014/main" val="20001"/>
                    </a:ext>
                  </a:extLst>
                </a:gridCol>
                <a:gridCol w="1528725">
                  <a:extLst>
                    <a:ext uri="{9D8B030D-6E8A-4147-A177-3AD203B41FA5}">
                      <a16:colId xmlns:a16="http://schemas.microsoft.com/office/drawing/2014/main" val="20002"/>
                    </a:ext>
                  </a:extLst>
                </a:gridCol>
                <a:gridCol w="578175">
                  <a:extLst>
                    <a:ext uri="{9D8B030D-6E8A-4147-A177-3AD203B41FA5}">
                      <a16:colId xmlns:a16="http://schemas.microsoft.com/office/drawing/2014/main" val="20003"/>
                    </a:ext>
                  </a:extLst>
                </a:gridCol>
                <a:gridCol w="1048575">
                  <a:extLst>
                    <a:ext uri="{9D8B030D-6E8A-4147-A177-3AD203B41FA5}">
                      <a16:colId xmlns:a16="http://schemas.microsoft.com/office/drawing/2014/main" val="20004"/>
                    </a:ext>
                  </a:extLst>
                </a:gridCol>
                <a:gridCol w="852575">
                  <a:extLst>
                    <a:ext uri="{9D8B030D-6E8A-4147-A177-3AD203B41FA5}">
                      <a16:colId xmlns:a16="http://schemas.microsoft.com/office/drawing/2014/main" val="20005"/>
                    </a:ext>
                  </a:extLst>
                </a:gridCol>
              </a:tblGrid>
              <a:tr h="673050">
                <a:tc>
                  <a:txBody>
                    <a:bodyPr/>
                    <a:lstStyle/>
                    <a:p>
                      <a:pPr marL="0" lvl="0" indent="0" algn="l" rtl="0">
                        <a:lnSpc>
                          <a:spcPct val="115000"/>
                        </a:lnSpc>
                        <a:spcBef>
                          <a:spcPts val="0"/>
                        </a:spcBef>
                        <a:spcAft>
                          <a:spcPts val="0"/>
                        </a:spcAft>
                        <a:buNone/>
                      </a:pPr>
                      <a:r>
                        <a:rPr lang="en-GB" sz="1200" b="1"/>
                        <a:t>Country </a:t>
                      </a:r>
                      <a:endParaRPr sz="12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b="1">
                          <a:solidFill>
                            <a:srgbClr val="FFFFFF"/>
                          </a:solidFill>
                        </a:rPr>
                        <a:t>Total road network length (km)</a:t>
                      </a:r>
                      <a:endParaRPr sz="1200"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200" b="1">
                          <a:solidFill>
                            <a:srgbClr val="FFFFFF"/>
                          </a:solidFill>
                        </a:rPr>
                        <a:t>Paved network length (km)</a:t>
                      </a:r>
                      <a:endParaRPr sz="1200"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200" b="1">
                          <a:solidFill>
                            <a:srgbClr val="FFFFFF"/>
                          </a:solidFill>
                        </a:rPr>
                        <a:t>% of total</a:t>
                      </a:r>
                      <a:endParaRPr sz="1200"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200" b="1">
                          <a:solidFill>
                            <a:srgbClr val="FFFFFF"/>
                          </a:solidFill>
                        </a:rPr>
                        <a:t>Unpaved network length (km)</a:t>
                      </a:r>
                      <a:endParaRPr sz="1200"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200" b="1">
                          <a:solidFill>
                            <a:srgbClr val="FFFFFF"/>
                          </a:solidFill>
                        </a:rPr>
                        <a:t>% of total</a:t>
                      </a:r>
                      <a:endParaRPr sz="1200"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224350">
                <a:tc>
                  <a:txBody>
                    <a:bodyPr/>
                    <a:lstStyle/>
                    <a:p>
                      <a:pPr marL="0" lvl="0" indent="0" algn="l" rtl="0">
                        <a:lnSpc>
                          <a:spcPct val="115000"/>
                        </a:lnSpc>
                        <a:spcBef>
                          <a:spcPts val="0"/>
                        </a:spcBef>
                        <a:spcAft>
                          <a:spcPts val="0"/>
                        </a:spcAft>
                        <a:buNone/>
                      </a:pPr>
                      <a:r>
                        <a:rPr lang="en-GB" sz="1200"/>
                        <a:t>Kenya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239,122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25,411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10.627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213,711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89.373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1"/>
                  </a:ext>
                </a:extLst>
              </a:tr>
              <a:tr h="224350">
                <a:tc>
                  <a:txBody>
                    <a:bodyPr/>
                    <a:lstStyle/>
                    <a:p>
                      <a:pPr marL="0" lvl="0" indent="0" algn="l" rtl="0">
                        <a:lnSpc>
                          <a:spcPct val="115000"/>
                        </a:lnSpc>
                        <a:spcBef>
                          <a:spcPts val="0"/>
                        </a:spcBef>
                        <a:spcAft>
                          <a:spcPts val="0"/>
                        </a:spcAft>
                        <a:buNone/>
                      </a:pPr>
                      <a:r>
                        <a:rPr lang="en-GB" sz="1200"/>
                        <a:t>Tanzania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188,000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15,000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7.979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133,000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70.745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2"/>
                  </a:ext>
                </a:extLst>
              </a:tr>
              <a:tr h="224350">
                <a:tc>
                  <a:txBody>
                    <a:bodyPr/>
                    <a:lstStyle/>
                    <a:p>
                      <a:pPr marL="0" lvl="0" indent="0" algn="l" rtl="0">
                        <a:lnSpc>
                          <a:spcPct val="115000"/>
                        </a:lnSpc>
                        <a:spcBef>
                          <a:spcPts val="0"/>
                        </a:spcBef>
                        <a:spcAft>
                          <a:spcPts val="0"/>
                        </a:spcAft>
                        <a:buNone/>
                      </a:pPr>
                      <a:r>
                        <a:rPr lang="en-GB" sz="1200"/>
                        <a:t>Cameroon</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121,800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10,000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8.210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111,800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91.790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3"/>
                  </a:ext>
                </a:extLst>
              </a:tr>
              <a:tr h="224350">
                <a:tc>
                  <a:txBody>
                    <a:bodyPr/>
                    <a:lstStyle/>
                    <a:p>
                      <a:pPr marL="0" lvl="0" indent="0" algn="l" rtl="0">
                        <a:lnSpc>
                          <a:spcPct val="115000"/>
                        </a:lnSpc>
                        <a:spcBef>
                          <a:spcPts val="0"/>
                        </a:spcBef>
                        <a:spcAft>
                          <a:spcPts val="0"/>
                        </a:spcAft>
                        <a:buNone/>
                      </a:pPr>
                      <a:r>
                        <a:rPr lang="en-GB" sz="1200"/>
                        <a:t>Zimbabwe</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90,000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18,000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72,000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80.0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4"/>
                  </a:ext>
                </a:extLst>
              </a:tr>
              <a:tr h="224350">
                <a:tc>
                  <a:txBody>
                    <a:bodyPr/>
                    <a:lstStyle/>
                    <a:p>
                      <a:pPr marL="0" lvl="0" indent="0" algn="l" rtl="0">
                        <a:lnSpc>
                          <a:spcPct val="115000"/>
                        </a:lnSpc>
                        <a:spcBef>
                          <a:spcPts val="0"/>
                        </a:spcBef>
                        <a:spcAft>
                          <a:spcPts val="0"/>
                        </a:spcAft>
                        <a:buNone/>
                      </a:pPr>
                      <a:r>
                        <a:rPr lang="en-GB" sz="1200"/>
                        <a:t>Mali</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89,024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6,511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7.3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82,513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92.7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5"/>
                  </a:ext>
                </a:extLst>
              </a:tr>
              <a:tr h="224350">
                <a:tc>
                  <a:txBody>
                    <a:bodyPr/>
                    <a:lstStyle/>
                    <a:p>
                      <a:pPr marL="0" lvl="0" indent="0" algn="l" rtl="0">
                        <a:lnSpc>
                          <a:spcPct val="115000"/>
                        </a:lnSpc>
                        <a:spcBef>
                          <a:spcPts val="0"/>
                        </a:spcBef>
                        <a:spcAft>
                          <a:spcPts val="0"/>
                        </a:spcAft>
                        <a:buNone/>
                      </a:pPr>
                      <a:r>
                        <a:rPr lang="en-GB" sz="1200"/>
                        <a:t>Guinea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43,500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6,600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15.2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36,900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84.8</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6"/>
                  </a:ext>
                </a:extLst>
              </a:tr>
              <a:tr h="224350">
                <a:tc>
                  <a:txBody>
                    <a:bodyPr/>
                    <a:lstStyle/>
                    <a:p>
                      <a:pPr marL="0" lvl="0" indent="0" algn="l" rtl="0">
                        <a:lnSpc>
                          <a:spcPct val="115000"/>
                        </a:lnSpc>
                        <a:spcBef>
                          <a:spcPts val="0"/>
                        </a:spcBef>
                        <a:spcAft>
                          <a:spcPts val="0"/>
                        </a:spcAft>
                        <a:buNone/>
                      </a:pPr>
                      <a:r>
                        <a:rPr lang="en-GB" sz="1200"/>
                        <a:t>Zambia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40,454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26,121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64.6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20,827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51.5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7"/>
                  </a:ext>
                </a:extLst>
              </a:tr>
              <a:tr h="224350">
                <a:tc>
                  <a:txBody>
                    <a:bodyPr/>
                    <a:lstStyle/>
                    <a:p>
                      <a:pPr marL="0" lvl="0" indent="0" algn="l" rtl="0">
                        <a:lnSpc>
                          <a:spcPct val="115000"/>
                        </a:lnSpc>
                        <a:spcBef>
                          <a:spcPts val="0"/>
                        </a:spcBef>
                        <a:spcAft>
                          <a:spcPts val="0"/>
                        </a:spcAft>
                        <a:buNone/>
                      </a:pPr>
                      <a:r>
                        <a:rPr lang="en-GB" sz="1200"/>
                        <a:t>Mozambique</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30,000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8,500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28.3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21,500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71.7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8"/>
                  </a:ext>
                </a:extLst>
              </a:tr>
              <a:tr h="224350">
                <a:tc>
                  <a:txBody>
                    <a:bodyPr/>
                    <a:lstStyle/>
                    <a:p>
                      <a:pPr marL="0" lvl="0" indent="0" algn="l" rtl="0">
                        <a:lnSpc>
                          <a:spcPct val="115000"/>
                        </a:lnSpc>
                        <a:spcBef>
                          <a:spcPts val="0"/>
                        </a:spcBef>
                        <a:spcAft>
                          <a:spcPts val="0"/>
                        </a:spcAft>
                        <a:buNone/>
                      </a:pPr>
                      <a:r>
                        <a:rPr lang="en-GB" sz="1200"/>
                        <a:t>Malawi</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24,929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4,798</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19.2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20,131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80.8</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9"/>
                  </a:ext>
                </a:extLst>
              </a:tr>
              <a:tr h="224350">
                <a:tc>
                  <a:txBody>
                    <a:bodyPr/>
                    <a:lstStyle/>
                    <a:p>
                      <a:pPr marL="0" lvl="0" indent="0" algn="l" rtl="0">
                        <a:lnSpc>
                          <a:spcPct val="115000"/>
                        </a:lnSpc>
                        <a:spcBef>
                          <a:spcPts val="0"/>
                        </a:spcBef>
                        <a:spcAft>
                          <a:spcPts val="0"/>
                        </a:spcAft>
                        <a:buNone/>
                      </a:pPr>
                      <a:r>
                        <a:rPr lang="en-GB" sz="1200"/>
                        <a:t>Niger</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22,795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5,808</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25.5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16,987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74.5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0"/>
                  </a:ext>
                </a:extLst>
              </a:tr>
              <a:tr h="224350">
                <a:tc>
                  <a:txBody>
                    <a:bodyPr/>
                    <a:lstStyle/>
                    <a:p>
                      <a:pPr marL="0" lvl="0" indent="0" algn="l" rtl="0">
                        <a:lnSpc>
                          <a:spcPct val="115000"/>
                        </a:lnSpc>
                        <a:spcBef>
                          <a:spcPts val="0"/>
                        </a:spcBef>
                        <a:spcAft>
                          <a:spcPts val="0"/>
                        </a:spcAft>
                        <a:buNone/>
                      </a:pPr>
                      <a:r>
                        <a:rPr lang="en-GB" sz="1200"/>
                        <a:t>Senegal</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16,481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6,569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39.9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9,912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60.1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1"/>
                  </a:ext>
                </a:extLst>
              </a:tr>
              <a:tr h="224350">
                <a:tc>
                  <a:txBody>
                    <a:bodyPr/>
                    <a:lstStyle/>
                    <a:p>
                      <a:pPr marL="0" lvl="0" indent="0" algn="l" rtl="0">
                        <a:lnSpc>
                          <a:spcPct val="115000"/>
                        </a:lnSpc>
                        <a:spcBef>
                          <a:spcPts val="0"/>
                        </a:spcBef>
                        <a:spcAft>
                          <a:spcPts val="0"/>
                        </a:spcAft>
                        <a:buNone/>
                      </a:pPr>
                      <a:r>
                        <a:rPr lang="en-GB" sz="1200"/>
                        <a:t>Burkina Faso</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15,272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4,076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26.7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11,196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73.3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2"/>
                  </a:ext>
                </a:extLst>
              </a:tr>
              <a:tr h="224350">
                <a:tc>
                  <a:txBody>
                    <a:bodyPr/>
                    <a:lstStyle/>
                    <a:p>
                      <a:pPr marL="0" lvl="0" indent="0" algn="l" rtl="0">
                        <a:lnSpc>
                          <a:spcPct val="115000"/>
                        </a:lnSpc>
                        <a:spcBef>
                          <a:spcPts val="0"/>
                        </a:spcBef>
                        <a:spcAft>
                          <a:spcPts val="0"/>
                        </a:spcAft>
                        <a:buNone/>
                      </a:pPr>
                      <a:r>
                        <a:rPr lang="en-GB" sz="1200"/>
                        <a:t>Togo</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15,000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2,510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16.7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12,490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83.3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3"/>
                  </a:ext>
                </a:extLst>
              </a:tr>
              <a:tr h="224350">
                <a:tc>
                  <a:txBody>
                    <a:bodyPr/>
                    <a:lstStyle/>
                    <a:p>
                      <a:pPr marL="0" lvl="0" indent="0" algn="l" rtl="0">
                        <a:lnSpc>
                          <a:spcPct val="115000"/>
                        </a:lnSpc>
                        <a:spcBef>
                          <a:spcPts val="0"/>
                        </a:spcBef>
                        <a:spcAft>
                          <a:spcPts val="0"/>
                        </a:spcAft>
                        <a:buNone/>
                      </a:pPr>
                      <a:r>
                        <a:rPr lang="en-GB" sz="1200"/>
                        <a:t>Sierra Leone</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11,300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3,544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31.4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7,756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68.6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4"/>
                  </a:ext>
                </a:extLst>
              </a:tr>
              <a:tr h="224350">
                <a:tc>
                  <a:txBody>
                    <a:bodyPr/>
                    <a:lstStyle/>
                    <a:p>
                      <a:pPr marL="0" lvl="0" indent="0" algn="l" rtl="0">
                        <a:lnSpc>
                          <a:spcPct val="115000"/>
                        </a:lnSpc>
                        <a:spcBef>
                          <a:spcPts val="0"/>
                        </a:spcBef>
                        <a:spcAft>
                          <a:spcPts val="0"/>
                        </a:spcAft>
                        <a:buNone/>
                      </a:pPr>
                      <a:r>
                        <a:rPr lang="en-GB" sz="1200"/>
                        <a:t>Liberia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10,600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657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6.2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9,943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93.8</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5"/>
                  </a:ext>
                </a:extLst>
              </a:tr>
              <a:tr h="224350">
                <a:tc>
                  <a:txBody>
                    <a:bodyPr/>
                    <a:lstStyle/>
                    <a:p>
                      <a:pPr marL="0" lvl="0" indent="0" algn="l" rtl="0">
                        <a:lnSpc>
                          <a:spcPct val="115000"/>
                        </a:lnSpc>
                        <a:spcBef>
                          <a:spcPts val="0"/>
                        </a:spcBef>
                        <a:spcAft>
                          <a:spcPts val="0"/>
                        </a:spcAft>
                        <a:buNone/>
                      </a:pPr>
                      <a:r>
                        <a:rPr lang="en-GB" sz="1200"/>
                        <a:t>Gabon</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10,344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2,039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19.7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8,133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78.6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6"/>
                  </a:ext>
                </a:extLst>
              </a:tr>
              <a:tr h="224350">
                <a:tc>
                  <a:txBody>
                    <a:bodyPr/>
                    <a:lstStyle/>
                    <a:p>
                      <a:pPr marL="0" lvl="0" indent="0" algn="l" rtl="0">
                        <a:lnSpc>
                          <a:spcPct val="115000"/>
                        </a:lnSpc>
                        <a:spcBef>
                          <a:spcPts val="0"/>
                        </a:spcBef>
                        <a:spcAft>
                          <a:spcPts val="0"/>
                        </a:spcAft>
                        <a:buNone/>
                      </a:pPr>
                      <a:r>
                        <a:rPr lang="en-GB" sz="1200"/>
                        <a:t>Rwanda</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6,889</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2,066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30.0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4,823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70.0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7"/>
                  </a:ext>
                </a:extLst>
              </a:tr>
              <a:tr h="224350">
                <a:tc>
                  <a:txBody>
                    <a:bodyPr/>
                    <a:lstStyle/>
                    <a:p>
                      <a:pPr marL="0" lvl="0" indent="0" algn="l" rtl="0">
                        <a:lnSpc>
                          <a:spcPct val="115000"/>
                        </a:lnSpc>
                        <a:spcBef>
                          <a:spcPts val="0"/>
                        </a:spcBef>
                        <a:spcAft>
                          <a:spcPts val="0"/>
                        </a:spcAft>
                        <a:buNone/>
                      </a:pPr>
                      <a:r>
                        <a:rPr lang="en-GB" sz="1200"/>
                        <a:t>Lesotho</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6,792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1,877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27.6</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4,974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73.2</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8"/>
                  </a:ext>
                </a:extLst>
              </a:tr>
              <a:tr h="224350">
                <a:tc>
                  <a:txBody>
                    <a:bodyPr/>
                    <a:lstStyle/>
                    <a:p>
                      <a:pPr marL="0" lvl="0" indent="0" algn="l" rtl="0">
                        <a:lnSpc>
                          <a:spcPct val="115000"/>
                        </a:lnSpc>
                        <a:spcBef>
                          <a:spcPts val="0"/>
                        </a:spcBef>
                        <a:spcAft>
                          <a:spcPts val="0"/>
                        </a:spcAft>
                        <a:buNone/>
                      </a:pPr>
                      <a:r>
                        <a:rPr lang="en-GB" sz="1200"/>
                        <a:t>Chad</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6,204</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2,300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37.1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2,300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200"/>
                        <a:t>37.1</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9"/>
                  </a:ext>
                </a:extLst>
              </a:tr>
              <a:tr h="224350">
                <a:tc>
                  <a:txBody>
                    <a:bodyPr/>
                    <a:lstStyle/>
                    <a:p>
                      <a:pPr marL="0" lvl="0" indent="0" algn="l" rtl="0">
                        <a:lnSpc>
                          <a:spcPct val="115000"/>
                        </a:lnSpc>
                        <a:spcBef>
                          <a:spcPts val="0"/>
                        </a:spcBef>
                        <a:spcAft>
                          <a:spcPts val="0"/>
                        </a:spcAft>
                        <a:buNone/>
                      </a:pPr>
                      <a:r>
                        <a:rPr lang="en-GB" sz="1200"/>
                        <a:t>Benin</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200"/>
                        <a:t>5,945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3,965</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66.7</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1,980</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tc>
                  <a:txBody>
                    <a:bodyPr/>
                    <a:lstStyle/>
                    <a:p>
                      <a:pPr marL="0" lvl="0" indent="0" algn="ctr" rtl="0">
                        <a:lnSpc>
                          <a:spcPct val="115000"/>
                        </a:lnSpc>
                        <a:spcBef>
                          <a:spcPts val="0"/>
                        </a:spcBef>
                        <a:spcAft>
                          <a:spcPts val="0"/>
                        </a:spcAft>
                        <a:buNone/>
                      </a:pPr>
                      <a:r>
                        <a:rPr lang="en-GB" sz="1200"/>
                        <a:t>33.3</a:t>
                      </a:r>
                      <a:endParaRPr sz="12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20"/>
                  </a:ext>
                </a:extLst>
              </a:tr>
            </a:tbl>
          </a:graphicData>
        </a:graphic>
      </p:graphicFrame>
      <p:sp>
        <p:nvSpPr>
          <p:cNvPr id="458" name="Google Shape;458;g36582182f26_1_352"/>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000"/>
              </a:spcBef>
              <a:spcAft>
                <a:spcPts val="0"/>
              </a:spcAft>
              <a:buNone/>
            </a:pPr>
            <a:r>
              <a:rPr lang="en-GB" sz="2000" b="1">
                <a:solidFill>
                  <a:srgbClr val="E2081E"/>
                </a:solidFill>
              </a:rPr>
              <a:t>Analysis Of Classified Trunk Road Networks</a:t>
            </a:r>
            <a:r>
              <a:rPr lang="en-GB" sz="2000">
                <a:solidFill>
                  <a:srgbClr val="E2081E"/>
                </a:solidFill>
              </a:rPr>
              <a:t> </a:t>
            </a:r>
            <a:endParaRPr sz="2000" b="1">
              <a:solidFill>
                <a:srgbClr val="E2081E"/>
              </a:solidFill>
            </a:endParaRPr>
          </a:p>
          <a:p>
            <a:pPr marL="0" lvl="0" indent="0" algn="l" rtl="0">
              <a:lnSpc>
                <a:spcPct val="150000"/>
              </a:lnSpc>
              <a:spcBef>
                <a:spcPts val="1200"/>
              </a:spcBef>
              <a:spcAft>
                <a:spcPts val="0"/>
              </a:spcAft>
              <a:buNone/>
            </a:pPr>
            <a:endParaRPr sz="2000" b="1">
              <a:solidFill>
                <a:srgbClr val="E2081E"/>
              </a:solidFill>
            </a:endParaRPr>
          </a:p>
        </p:txBody>
      </p:sp>
      <p:sp>
        <p:nvSpPr>
          <p:cNvPr id="459" name="Google Shape;459;g36582182f26_1_352"/>
          <p:cNvSpPr txBox="1"/>
          <p:nvPr/>
        </p:nvSpPr>
        <p:spPr>
          <a:xfrm>
            <a:off x="6784725" y="1432500"/>
            <a:ext cx="4891800" cy="5253000"/>
          </a:xfrm>
          <a:prstGeom prst="rect">
            <a:avLst/>
          </a:prstGeom>
          <a:noFill/>
          <a:ln>
            <a:noFill/>
          </a:ln>
        </p:spPr>
        <p:txBody>
          <a:bodyPr spcFirstLastPara="1" wrap="square" lIns="91425" tIns="91425" rIns="91425" bIns="91425" anchor="t" anchorCtr="0">
            <a:noAutofit/>
          </a:bodyPr>
          <a:lstStyle/>
          <a:p>
            <a:pPr marL="400050" marR="0" lvl="0" indent="-330200" algn="just" rtl="0">
              <a:lnSpc>
                <a:spcPct val="150000"/>
              </a:lnSpc>
              <a:spcBef>
                <a:spcPts val="1200"/>
              </a:spcBef>
              <a:spcAft>
                <a:spcPts val="0"/>
              </a:spcAft>
              <a:buClr>
                <a:srgbClr val="E60000"/>
              </a:buClr>
              <a:buSzPts val="1600"/>
              <a:buFont typeface="Noto Sans Symbols"/>
              <a:buChar char="▪"/>
            </a:pPr>
            <a:r>
              <a:rPr lang="en-GB" sz="1600">
                <a:solidFill>
                  <a:schemeClr val="dk1"/>
                </a:solidFill>
              </a:rPr>
              <a:t>Overwhelming predominance of unpaved roads across most of the surveyed countries. With </a:t>
            </a:r>
            <a:r>
              <a:rPr lang="en-GB" sz="1600" b="1">
                <a:solidFill>
                  <a:schemeClr val="dk1"/>
                </a:solidFill>
              </a:rPr>
              <a:t>unpaved networks constituting 70%</a:t>
            </a:r>
            <a:r>
              <a:rPr lang="en-GB" sz="1600">
                <a:solidFill>
                  <a:schemeClr val="dk1"/>
                </a:solidFill>
              </a:rPr>
              <a:t> or more of the total road length in countries like </a:t>
            </a:r>
            <a:r>
              <a:rPr lang="en-GB" sz="1600" b="1">
                <a:solidFill>
                  <a:schemeClr val="dk1"/>
                </a:solidFill>
              </a:rPr>
              <a:t>Kenya, Cameroon, Guinea, Mali, Liberia.</a:t>
            </a:r>
            <a:endParaRPr sz="1600" b="1">
              <a:solidFill>
                <a:schemeClr val="dk1"/>
              </a:solidFill>
            </a:endParaRPr>
          </a:p>
          <a:p>
            <a:pPr marL="400050" marR="0" lvl="0" indent="-330200" algn="just" rtl="0">
              <a:lnSpc>
                <a:spcPct val="150000"/>
              </a:lnSpc>
              <a:spcBef>
                <a:spcPts val="1200"/>
              </a:spcBef>
              <a:spcAft>
                <a:spcPts val="0"/>
              </a:spcAft>
              <a:buClr>
                <a:srgbClr val="E60000"/>
              </a:buClr>
              <a:buSzPts val="1600"/>
              <a:buFont typeface="Noto Sans Symbols"/>
              <a:buChar char="▪"/>
            </a:pPr>
            <a:r>
              <a:rPr lang="en-GB" sz="1600">
                <a:solidFill>
                  <a:schemeClr val="dk1"/>
                </a:solidFill>
              </a:rPr>
              <a:t>Maintenance strategies must be tailored to address the high vulnerability of these networks to weather events and climate-related risks. </a:t>
            </a:r>
            <a:endParaRPr sz="1600">
              <a:solidFill>
                <a:schemeClr val="dk1"/>
              </a:solidFill>
            </a:endParaRPr>
          </a:p>
          <a:p>
            <a:pPr marL="400050" marR="0" lvl="0" indent="-330200" algn="just" rtl="0">
              <a:lnSpc>
                <a:spcPct val="150000"/>
              </a:lnSpc>
              <a:spcBef>
                <a:spcPts val="1200"/>
              </a:spcBef>
              <a:spcAft>
                <a:spcPts val="0"/>
              </a:spcAft>
              <a:buClr>
                <a:srgbClr val="E60000"/>
              </a:buClr>
              <a:buSzPts val="1600"/>
              <a:buFont typeface="Noto Sans Symbols"/>
              <a:buChar char="▪"/>
            </a:pPr>
            <a:r>
              <a:rPr lang="en-GB" sz="1600">
                <a:solidFill>
                  <a:schemeClr val="dk1"/>
                </a:solidFill>
              </a:rPr>
              <a:t>The current funding gaps are likely exacerbated by the high maintenance demands of these unpaved networks, which require different and often more frequent interventions than their paved counterparts.</a:t>
            </a:r>
            <a:endParaRPr sz="16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g36582182f26_1_234"/>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1900" b="1">
                <a:solidFill>
                  <a:srgbClr val="E2081E"/>
                </a:solidFill>
                <a:uFill>
                  <a:noFill/>
                </a:uFill>
                <a:hlinkClick r:id="rId3">
                  <a:extLst>
                    <a:ext uri="{A12FA001-AC4F-418D-AE19-62706E023703}">
                      <ahyp:hlinkClr xmlns:ahyp="http://schemas.microsoft.com/office/drawing/2018/hyperlinkcolor" val="tx"/>
                    </a:ext>
                  </a:extLst>
                </a:hlinkClick>
              </a:rPr>
              <a:t>Estimated % of Annual Maintenance Needs Funded</a:t>
            </a:r>
            <a:endParaRPr sz="2100" b="1">
              <a:solidFill>
                <a:srgbClr val="E2081E"/>
              </a:solidFill>
            </a:endParaRPr>
          </a:p>
        </p:txBody>
      </p:sp>
      <p:graphicFrame>
        <p:nvGraphicFramePr>
          <p:cNvPr id="466" name="Google Shape;466;g36582182f26_1_234"/>
          <p:cNvGraphicFramePr/>
          <p:nvPr/>
        </p:nvGraphicFramePr>
        <p:xfrm>
          <a:off x="431050" y="1281000"/>
          <a:ext cx="3000000" cy="3000000"/>
        </p:xfrm>
        <a:graphic>
          <a:graphicData uri="http://schemas.openxmlformats.org/drawingml/2006/table">
            <a:tbl>
              <a:tblPr>
                <a:noFill/>
                <a:tableStyleId>{78D2BA57-521E-4D2C-BBA6-3BB788A7C9F9}</a:tableStyleId>
              </a:tblPr>
              <a:tblGrid>
                <a:gridCol w="1637200">
                  <a:extLst>
                    <a:ext uri="{9D8B030D-6E8A-4147-A177-3AD203B41FA5}">
                      <a16:colId xmlns:a16="http://schemas.microsoft.com/office/drawing/2014/main" val="20000"/>
                    </a:ext>
                  </a:extLst>
                </a:gridCol>
                <a:gridCol w="4477850">
                  <a:extLst>
                    <a:ext uri="{9D8B030D-6E8A-4147-A177-3AD203B41FA5}">
                      <a16:colId xmlns:a16="http://schemas.microsoft.com/office/drawing/2014/main" val="20001"/>
                    </a:ext>
                  </a:extLst>
                </a:gridCol>
              </a:tblGrid>
              <a:tr h="323850">
                <a:tc>
                  <a:txBody>
                    <a:bodyPr/>
                    <a:lstStyle/>
                    <a:p>
                      <a:pPr marL="0" lvl="0" indent="0" algn="l" rtl="0">
                        <a:lnSpc>
                          <a:spcPct val="115000"/>
                        </a:lnSpc>
                        <a:spcBef>
                          <a:spcPts val="0"/>
                        </a:spcBef>
                        <a:spcAft>
                          <a:spcPts val="0"/>
                        </a:spcAft>
                        <a:buNone/>
                      </a:pPr>
                      <a:r>
                        <a:rPr lang="en-GB" b="1"/>
                        <a:t>Country </a:t>
                      </a:r>
                      <a:endParaRPr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GB" b="1">
                          <a:solidFill>
                            <a:srgbClr val="FFFFFF"/>
                          </a:solidFill>
                        </a:rPr>
                        <a:t>In the last fiscal year, what proportion (%) of total annual maintenance needs were actually funded?</a:t>
                      </a:r>
                      <a:endParaRPr b="1">
                        <a:solidFill>
                          <a:srgbClr val="FFFFFF"/>
                        </a:solidFill>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190500">
                <a:tc>
                  <a:txBody>
                    <a:bodyPr/>
                    <a:lstStyle/>
                    <a:p>
                      <a:pPr marL="0" lvl="0" indent="0" algn="l" rtl="0">
                        <a:lnSpc>
                          <a:spcPct val="115000"/>
                        </a:lnSpc>
                        <a:spcBef>
                          <a:spcPts val="0"/>
                        </a:spcBef>
                        <a:spcAft>
                          <a:spcPts val="0"/>
                        </a:spcAft>
                        <a:buNone/>
                      </a:pPr>
                      <a:r>
                        <a:rPr lang="en-GB"/>
                        <a:t>Rwanda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80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1"/>
                  </a:ext>
                </a:extLst>
              </a:tr>
              <a:tr h="190500">
                <a:tc>
                  <a:txBody>
                    <a:bodyPr/>
                    <a:lstStyle/>
                    <a:p>
                      <a:pPr marL="0" lvl="0" indent="0" algn="l" rtl="0">
                        <a:lnSpc>
                          <a:spcPct val="115000"/>
                        </a:lnSpc>
                        <a:spcBef>
                          <a:spcPts val="0"/>
                        </a:spcBef>
                        <a:spcAft>
                          <a:spcPts val="0"/>
                        </a:spcAft>
                        <a:buNone/>
                      </a:pPr>
                      <a:r>
                        <a:rPr lang="en-GB"/>
                        <a:t>Guinea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66</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GB"/>
                        <a:t>Chad</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66</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3"/>
                  </a:ext>
                </a:extLst>
              </a:tr>
              <a:tr h="190500">
                <a:tc>
                  <a:txBody>
                    <a:bodyPr/>
                    <a:lstStyle/>
                    <a:p>
                      <a:pPr marL="0" lvl="0" indent="0" algn="l" rtl="0">
                        <a:lnSpc>
                          <a:spcPct val="115000"/>
                        </a:lnSpc>
                        <a:spcBef>
                          <a:spcPts val="0"/>
                        </a:spcBef>
                        <a:spcAft>
                          <a:spcPts val="0"/>
                        </a:spcAft>
                        <a:buNone/>
                      </a:pPr>
                      <a:r>
                        <a:rPr lang="en-GB"/>
                        <a:t>Benin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60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4"/>
                  </a:ext>
                </a:extLst>
              </a:tr>
              <a:tr h="190500">
                <a:tc>
                  <a:txBody>
                    <a:bodyPr/>
                    <a:lstStyle/>
                    <a:p>
                      <a:pPr marL="0" lvl="0" indent="0" algn="l" rtl="0">
                        <a:lnSpc>
                          <a:spcPct val="115000"/>
                        </a:lnSpc>
                        <a:spcBef>
                          <a:spcPts val="0"/>
                        </a:spcBef>
                        <a:spcAft>
                          <a:spcPts val="0"/>
                        </a:spcAft>
                        <a:buNone/>
                      </a:pPr>
                      <a:r>
                        <a:rPr lang="en-GB"/>
                        <a:t>Kenya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50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5"/>
                  </a:ext>
                </a:extLst>
              </a:tr>
              <a:tr h="190500">
                <a:tc>
                  <a:txBody>
                    <a:bodyPr/>
                    <a:lstStyle/>
                    <a:p>
                      <a:pPr marL="0" lvl="0" indent="0" algn="l" rtl="0">
                        <a:lnSpc>
                          <a:spcPct val="115000"/>
                        </a:lnSpc>
                        <a:spcBef>
                          <a:spcPts val="0"/>
                        </a:spcBef>
                        <a:spcAft>
                          <a:spcPts val="0"/>
                        </a:spcAft>
                        <a:buNone/>
                      </a:pPr>
                      <a:r>
                        <a:rPr lang="en-GB"/>
                        <a:t>Mozambique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45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6"/>
                  </a:ext>
                </a:extLst>
              </a:tr>
              <a:tr h="190500">
                <a:tc>
                  <a:txBody>
                    <a:bodyPr/>
                    <a:lstStyle/>
                    <a:p>
                      <a:pPr marL="0" lvl="0" indent="0" algn="l" rtl="0">
                        <a:lnSpc>
                          <a:spcPct val="115000"/>
                        </a:lnSpc>
                        <a:spcBef>
                          <a:spcPts val="0"/>
                        </a:spcBef>
                        <a:spcAft>
                          <a:spcPts val="0"/>
                        </a:spcAft>
                        <a:buNone/>
                      </a:pPr>
                      <a:r>
                        <a:rPr lang="en-GB"/>
                        <a:t>Tanzania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45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7"/>
                  </a:ext>
                </a:extLst>
              </a:tr>
              <a:tr h="190500">
                <a:tc>
                  <a:txBody>
                    <a:bodyPr/>
                    <a:lstStyle/>
                    <a:p>
                      <a:pPr marL="0" lvl="0" indent="0" algn="l" rtl="0">
                        <a:lnSpc>
                          <a:spcPct val="115000"/>
                        </a:lnSpc>
                        <a:spcBef>
                          <a:spcPts val="0"/>
                        </a:spcBef>
                        <a:spcAft>
                          <a:spcPts val="0"/>
                        </a:spcAft>
                        <a:buNone/>
                      </a:pPr>
                      <a:r>
                        <a:rPr lang="en-GB"/>
                        <a:t>Gabon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42</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08"/>
                  </a:ext>
                </a:extLst>
              </a:tr>
              <a:tr h="190500">
                <a:tc>
                  <a:txBody>
                    <a:bodyPr/>
                    <a:lstStyle/>
                    <a:p>
                      <a:pPr marL="0" lvl="0" indent="0" algn="l" rtl="0">
                        <a:lnSpc>
                          <a:spcPct val="115000"/>
                        </a:lnSpc>
                        <a:spcBef>
                          <a:spcPts val="0"/>
                        </a:spcBef>
                        <a:spcAft>
                          <a:spcPts val="0"/>
                        </a:spcAft>
                        <a:buNone/>
                      </a:pPr>
                      <a:r>
                        <a:rPr lang="en-GB"/>
                        <a:t>Senegal</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41</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9"/>
                  </a:ext>
                </a:extLst>
              </a:tr>
              <a:tr h="190500">
                <a:tc>
                  <a:txBody>
                    <a:bodyPr/>
                    <a:lstStyle/>
                    <a:p>
                      <a:pPr marL="0" lvl="0" indent="0" algn="l" rtl="0">
                        <a:lnSpc>
                          <a:spcPct val="115000"/>
                        </a:lnSpc>
                        <a:spcBef>
                          <a:spcPts val="0"/>
                        </a:spcBef>
                        <a:spcAft>
                          <a:spcPts val="0"/>
                        </a:spcAft>
                        <a:buNone/>
                      </a:pPr>
                      <a:r>
                        <a:rPr lang="en-GB"/>
                        <a:t>Togo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40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0"/>
                  </a:ext>
                </a:extLst>
              </a:tr>
              <a:tr h="190500">
                <a:tc>
                  <a:txBody>
                    <a:bodyPr/>
                    <a:lstStyle/>
                    <a:p>
                      <a:pPr marL="0" lvl="0" indent="0" algn="l" rtl="0">
                        <a:lnSpc>
                          <a:spcPct val="115000"/>
                        </a:lnSpc>
                        <a:spcBef>
                          <a:spcPts val="0"/>
                        </a:spcBef>
                        <a:spcAft>
                          <a:spcPts val="0"/>
                        </a:spcAft>
                        <a:buNone/>
                      </a:pPr>
                      <a:r>
                        <a:rPr lang="en-GB"/>
                        <a:t>Lesotho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30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1"/>
                  </a:ext>
                </a:extLst>
              </a:tr>
              <a:tr h="190500">
                <a:tc>
                  <a:txBody>
                    <a:bodyPr/>
                    <a:lstStyle/>
                    <a:p>
                      <a:pPr marL="0" lvl="0" indent="0" algn="l" rtl="0">
                        <a:lnSpc>
                          <a:spcPct val="115000"/>
                        </a:lnSpc>
                        <a:spcBef>
                          <a:spcPts val="0"/>
                        </a:spcBef>
                        <a:spcAft>
                          <a:spcPts val="0"/>
                        </a:spcAft>
                        <a:buNone/>
                      </a:pPr>
                      <a:r>
                        <a:rPr lang="en-GB"/>
                        <a:t>Zimbabwe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30</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2"/>
                  </a:ext>
                </a:extLst>
              </a:tr>
              <a:tr h="190500">
                <a:tc>
                  <a:txBody>
                    <a:bodyPr/>
                    <a:lstStyle/>
                    <a:p>
                      <a:pPr marL="0" lvl="0" indent="0" algn="l" rtl="0">
                        <a:lnSpc>
                          <a:spcPct val="115000"/>
                        </a:lnSpc>
                        <a:spcBef>
                          <a:spcPts val="0"/>
                        </a:spcBef>
                        <a:spcAft>
                          <a:spcPts val="0"/>
                        </a:spcAft>
                        <a:buNone/>
                      </a:pPr>
                      <a:r>
                        <a:rPr lang="en-GB"/>
                        <a:t>Burkina Faso</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25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3"/>
                  </a:ext>
                </a:extLst>
              </a:tr>
              <a:tr h="190500">
                <a:tc>
                  <a:txBody>
                    <a:bodyPr/>
                    <a:lstStyle/>
                    <a:p>
                      <a:pPr marL="0" lvl="0" indent="0" algn="l" rtl="0">
                        <a:lnSpc>
                          <a:spcPct val="115000"/>
                        </a:lnSpc>
                        <a:spcBef>
                          <a:spcPts val="0"/>
                        </a:spcBef>
                        <a:spcAft>
                          <a:spcPts val="0"/>
                        </a:spcAft>
                        <a:buNone/>
                      </a:pPr>
                      <a:r>
                        <a:rPr lang="en-GB"/>
                        <a:t>Sierra Leone</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16.56</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4"/>
                  </a:ext>
                </a:extLst>
              </a:tr>
              <a:tr h="190500">
                <a:tc>
                  <a:txBody>
                    <a:bodyPr/>
                    <a:lstStyle/>
                    <a:p>
                      <a:pPr marL="0" lvl="0" indent="0" algn="l" rtl="0">
                        <a:lnSpc>
                          <a:spcPct val="115000"/>
                        </a:lnSpc>
                        <a:spcBef>
                          <a:spcPts val="0"/>
                        </a:spcBef>
                        <a:spcAft>
                          <a:spcPts val="0"/>
                        </a:spcAft>
                        <a:buNone/>
                      </a:pPr>
                      <a:r>
                        <a:rPr lang="en-GB"/>
                        <a:t>Mali</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16</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5"/>
                  </a:ext>
                </a:extLst>
              </a:tr>
              <a:tr h="190500">
                <a:tc>
                  <a:txBody>
                    <a:bodyPr/>
                    <a:lstStyle/>
                    <a:p>
                      <a:pPr marL="0" lvl="0" indent="0" algn="l" rtl="0">
                        <a:lnSpc>
                          <a:spcPct val="115000"/>
                        </a:lnSpc>
                        <a:spcBef>
                          <a:spcPts val="0"/>
                        </a:spcBef>
                        <a:spcAft>
                          <a:spcPts val="0"/>
                        </a:spcAft>
                        <a:buNone/>
                      </a:pPr>
                      <a:r>
                        <a:rPr lang="en-GB"/>
                        <a:t>Liberia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13</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6"/>
                  </a:ext>
                </a:extLst>
              </a:tr>
              <a:tr h="190500">
                <a:tc>
                  <a:txBody>
                    <a:bodyPr/>
                    <a:lstStyle/>
                    <a:p>
                      <a:pPr marL="0" lvl="0" indent="0" algn="l" rtl="0">
                        <a:lnSpc>
                          <a:spcPct val="115000"/>
                        </a:lnSpc>
                        <a:spcBef>
                          <a:spcPts val="0"/>
                        </a:spcBef>
                        <a:spcAft>
                          <a:spcPts val="0"/>
                        </a:spcAft>
                        <a:buNone/>
                      </a:pPr>
                      <a:r>
                        <a:rPr lang="en-GB"/>
                        <a:t>Cameroon</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8</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7"/>
                  </a:ext>
                </a:extLst>
              </a:tr>
              <a:tr h="190500">
                <a:tc>
                  <a:txBody>
                    <a:bodyPr/>
                    <a:lstStyle/>
                    <a:p>
                      <a:pPr marL="0" lvl="0" indent="0" algn="l" rtl="0">
                        <a:lnSpc>
                          <a:spcPct val="115000"/>
                        </a:lnSpc>
                        <a:spcBef>
                          <a:spcPts val="0"/>
                        </a:spcBef>
                        <a:spcAft>
                          <a:spcPts val="0"/>
                        </a:spcAft>
                        <a:buNone/>
                      </a:pPr>
                      <a:r>
                        <a:rPr lang="en-GB"/>
                        <a:t>Malawi</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a:t>5</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18"/>
                  </a:ext>
                </a:extLst>
              </a:tr>
              <a:tr h="190500">
                <a:tc>
                  <a:txBody>
                    <a:bodyPr/>
                    <a:lstStyle/>
                    <a:p>
                      <a:pPr marL="0" lvl="0" indent="0" algn="l" rtl="0">
                        <a:lnSpc>
                          <a:spcPct val="115000"/>
                        </a:lnSpc>
                        <a:spcBef>
                          <a:spcPts val="0"/>
                        </a:spcBef>
                        <a:spcAft>
                          <a:spcPts val="0"/>
                        </a:spcAft>
                        <a:buNone/>
                      </a:pPr>
                      <a:r>
                        <a:rPr lang="en-GB"/>
                        <a:t>Niger</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N/A</a:t>
                      </a:r>
                      <a:endParaRPr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19"/>
                  </a:ext>
                </a:extLst>
              </a:tr>
              <a:tr h="190500">
                <a:tc>
                  <a:txBody>
                    <a:bodyPr/>
                    <a:lstStyle/>
                    <a:p>
                      <a:pPr marL="0" lvl="0" indent="0" algn="l" rtl="0">
                        <a:lnSpc>
                          <a:spcPct val="115000"/>
                        </a:lnSpc>
                        <a:spcBef>
                          <a:spcPts val="0"/>
                        </a:spcBef>
                        <a:spcAft>
                          <a:spcPts val="0"/>
                        </a:spcAft>
                        <a:buNone/>
                      </a:pPr>
                      <a:r>
                        <a:rPr lang="en-GB"/>
                        <a:t>Zambia</a:t>
                      </a:r>
                      <a:endParaRPr/>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b="1"/>
                        <a:t>N/A</a:t>
                      </a:r>
                      <a:endParaRPr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BDD6EE"/>
                    </a:solidFill>
                  </a:tcPr>
                </a:tc>
                <a:extLst>
                  <a:ext uri="{0D108BD9-81ED-4DB2-BD59-A6C34878D82A}">
                    <a16:rowId xmlns:a16="http://schemas.microsoft.com/office/drawing/2014/main" val="10020"/>
                  </a:ext>
                </a:extLst>
              </a:tr>
            </a:tbl>
          </a:graphicData>
        </a:graphic>
      </p:graphicFrame>
      <p:sp>
        <p:nvSpPr>
          <p:cNvPr id="467" name="Google Shape;467;g36582182f26_1_234"/>
          <p:cNvSpPr txBox="1"/>
          <p:nvPr/>
        </p:nvSpPr>
        <p:spPr>
          <a:xfrm>
            <a:off x="6893075" y="1281000"/>
            <a:ext cx="4953900" cy="5577000"/>
          </a:xfrm>
          <a:prstGeom prst="rect">
            <a:avLst/>
          </a:prstGeom>
          <a:noFill/>
          <a:ln>
            <a:noFill/>
          </a:ln>
        </p:spPr>
        <p:txBody>
          <a:bodyPr spcFirstLastPara="1" wrap="square" lIns="91425" tIns="91425" rIns="91425" bIns="91425" anchor="t" anchorCtr="0">
            <a:noAutofit/>
          </a:bodyPr>
          <a:lstStyle/>
          <a:p>
            <a:pPr marL="400050" marR="0" lvl="0" indent="-323850" algn="just" rtl="0">
              <a:lnSpc>
                <a:spcPct val="150000"/>
              </a:lnSpc>
              <a:spcBef>
                <a:spcPts val="2000"/>
              </a:spcBef>
              <a:spcAft>
                <a:spcPts val="0"/>
              </a:spcAft>
              <a:buClr>
                <a:srgbClr val="E60000"/>
              </a:buClr>
              <a:buSzPts val="1500"/>
              <a:buFont typeface="Noto Sans Symbols"/>
              <a:buChar char="▪"/>
            </a:pPr>
            <a:r>
              <a:rPr lang="en-GB" sz="1500">
                <a:solidFill>
                  <a:schemeClr val="dk1"/>
                </a:solidFill>
              </a:rPr>
              <a:t>On average, only </a:t>
            </a:r>
            <a:r>
              <a:rPr lang="en-GB" sz="1500" b="1">
                <a:solidFill>
                  <a:schemeClr val="dk1"/>
                </a:solidFill>
              </a:rPr>
              <a:t>37.7%</a:t>
            </a:r>
            <a:r>
              <a:rPr lang="en-GB" sz="1500">
                <a:solidFill>
                  <a:schemeClr val="dk1"/>
                </a:solidFill>
              </a:rPr>
              <a:t> of the total annual maintenance needs were funded in the last fiscal year.</a:t>
            </a:r>
            <a:endParaRPr sz="1500">
              <a:solidFill>
                <a:schemeClr val="dk1"/>
              </a:solidFill>
            </a:endParaRPr>
          </a:p>
          <a:p>
            <a:pPr marL="400050" marR="0" lvl="0" indent="-323850" algn="just" rtl="0">
              <a:lnSpc>
                <a:spcPct val="150000"/>
              </a:lnSpc>
              <a:spcBef>
                <a:spcPts val="2000"/>
              </a:spcBef>
              <a:spcAft>
                <a:spcPts val="0"/>
              </a:spcAft>
              <a:buClr>
                <a:srgbClr val="E60000"/>
              </a:buClr>
              <a:buSzPts val="1500"/>
              <a:buFont typeface="Noto Sans Symbols"/>
              <a:buChar char="▪"/>
            </a:pPr>
            <a:r>
              <a:rPr lang="en-GB" sz="1500">
                <a:solidFill>
                  <a:schemeClr val="dk1"/>
                </a:solidFill>
              </a:rPr>
              <a:t>Countries with the highest funding proportions are </a:t>
            </a:r>
            <a:r>
              <a:rPr lang="en-GB" sz="1500" b="1">
                <a:solidFill>
                  <a:schemeClr val="dk1"/>
                </a:solidFill>
              </a:rPr>
              <a:t>Rwanda (80%)</a:t>
            </a:r>
            <a:r>
              <a:rPr lang="en-GB" sz="1500">
                <a:solidFill>
                  <a:schemeClr val="dk1"/>
                </a:solidFill>
              </a:rPr>
              <a:t>, </a:t>
            </a:r>
            <a:r>
              <a:rPr lang="en-GB" sz="1500" b="1">
                <a:solidFill>
                  <a:schemeClr val="dk1"/>
                </a:solidFill>
              </a:rPr>
              <a:t>Guinea (66%)</a:t>
            </a:r>
            <a:r>
              <a:rPr lang="en-GB" sz="1500">
                <a:solidFill>
                  <a:schemeClr val="dk1"/>
                </a:solidFill>
              </a:rPr>
              <a:t>, and </a:t>
            </a:r>
            <a:r>
              <a:rPr lang="en-GB" sz="1500" b="1">
                <a:solidFill>
                  <a:schemeClr val="dk1"/>
                </a:solidFill>
              </a:rPr>
              <a:t>Chad (66%)</a:t>
            </a:r>
            <a:r>
              <a:rPr lang="en-GB" sz="1500">
                <a:solidFill>
                  <a:schemeClr val="dk1"/>
                </a:solidFill>
              </a:rPr>
              <a:t>.</a:t>
            </a:r>
            <a:endParaRPr sz="1500">
              <a:solidFill>
                <a:schemeClr val="dk1"/>
              </a:solidFill>
            </a:endParaRPr>
          </a:p>
          <a:p>
            <a:pPr marL="400050" marR="0" lvl="0" indent="-323850" algn="just" rtl="0">
              <a:lnSpc>
                <a:spcPct val="150000"/>
              </a:lnSpc>
              <a:spcBef>
                <a:spcPts val="2000"/>
              </a:spcBef>
              <a:spcAft>
                <a:spcPts val="0"/>
              </a:spcAft>
              <a:buClr>
                <a:srgbClr val="E60000"/>
              </a:buClr>
              <a:buSzPts val="1500"/>
              <a:buFont typeface="Noto Sans Symbols"/>
              <a:buChar char="▪"/>
            </a:pPr>
            <a:r>
              <a:rPr lang="en-GB" sz="1500">
                <a:solidFill>
                  <a:schemeClr val="dk1"/>
                </a:solidFill>
              </a:rPr>
              <a:t>Countries with the lowest funding proportions are </a:t>
            </a:r>
            <a:r>
              <a:rPr lang="en-GB" sz="1500" b="1">
                <a:solidFill>
                  <a:schemeClr val="dk1"/>
                </a:solidFill>
              </a:rPr>
              <a:t>Malawi (5%)</a:t>
            </a:r>
            <a:r>
              <a:rPr lang="en-GB" sz="1500">
                <a:solidFill>
                  <a:schemeClr val="dk1"/>
                </a:solidFill>
              </a:rPr>
              <a:t> and </a:t>
            </a:r>
            <a:r>
              <a:rPr lang="en-GB" sz="1500" b="1">
                <a:solidFill>
                  <a:schemeClr val="dk1"/>
                </a:solidFill>
              </a:rPr>
              <a:t>Cameroon (8%)</a:t>
            </a:r>
            <a:r>
              <a:rPr lang="en-GB" sz="1500">
                <a:solidFill>
                  <a:schemeClr val="dk1"/>
                </a:solidFill>
              </a:rPr>
              <a:t>.</a:t>
            </a:r>
            <a:endParaRPr sz="1500">
              <a:solidFill>
                <a:schemeClr val="dk1"/>
              </a:solidFill>
            </a:endParaRPr>
          </a:p>
          <a:p>
            <a:pPr marL="400050" marR="0" lvl="0" indent="-323850" algn="just" rtl="0">
              <a:lnSpc>
                <a:spcPct val="150000"/>
              </a:lnSpc>
              <a:spcBef>
                <a:spcPts val="2000"/>
              </a:spcBef>
              <a:spcAft>
                <a:spcPts val="0"/>
              </a:spcAft>
              <a:buClr>
                <a:srgbClr val="E60000"/>
              </a:buClr>
              <a:buSzPts val="1500"/>
              <a:buFont typeface="Noto Sans Symbols"/>
              <a:buChar char="▪"/>
            </a:pPr>
            <a:r>
              <a:rPr lang="en-GB" sz="1500">
                <a:solidFill>
                  <a:schemeClr val="dk1"/>
                </a:solidFill>
              </a:rPr>
              <a:t>For over a year Malawi’s Road Fund Administration has not been receiving fuel levy (which is about</a:t>
            </a:r>
            <a:r>
              <a:rPr lang="en-GB" sz="1500" b="1">
                <a:solidFill>
                  <a:schemeClr val="dk1"/>
                </a:solidFill>
              </a:rPr>
              <a:t> 85% </a:t>
            </a:r>
            <a:r>
              <a:rPr lang="en-GB" sz="1500">
                <a:solidFill>
                  <a:schemeClr val="dk1"/>
                </a:solidFill>
              </a:rPr>
              <a:t>of the Roads Fund revenues)</a:t>
            </a:r>
            <a:endParaRPr sz="1500">
              <a:solidFill>
                <a:schemeClr val="dk1"/>
              </a:solidFill>
            </a:endParaRPr>
          </a:p>
          <a:p>
            <a:pPr marL="400050" marR="0" lvl="0" indent="-323850" algn="just" rtl="0">
              <a:lnSpc>
                <a:spcPct val="150000"/>
              </a:lnSpc>
              <a:spcBef>
                <a:spcPts val="2000"/>
              </a:spcBef>
              <a:spcAft>
                <a:spcPts val="0"/>
              </a:spcAft>
              <a:buClr>
                <a:srgbClr val="E60000"/>
              </a:buClr>
              <a:buSzPts val="1500"/>
              <a:buFont typeface="Noto Sans Symbols"/>
              <a:buChar char="▪"/>
            </a:pPr>
            <a:r>
              <a:rPr lang="en-GB" sz="1500">
                <a:solidFill>
                  <a:schemeClr val="dk1"/>
                </a:solidFill>
              </a:rPr>
              <a:t>Mozambique’s fuel taxes have not been updated since</a:t>
            </a:r>
            <a:r>
              <a:rPr lang="en-GB" sz="1500" b="1">
                <a:solidFill>
                  <a:schemeClr val="dk1"/>
                </a:solidFill>
              </a:rPr>
              <a:t> 2009</a:t>
            </a:r>
            <a:r>
              <a:rPr lang="en-GB" sz="1500">
                <a:solidFill>
                  <a:schemeClr val="dk1"/>
                </a:solidFill>
              </a:rPr>
              <a:t>, causing them to lose their purchasing power over time.</a:t>
            </a:r>
            <a:endParaRPr sz="15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g36582182f26_1_241"/>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2000" b="1">
                <a:solidFill>
                  <a:srgbClr val="E2081E"/>
                </a:solidFill>
                <a:uFill>
                  <a:noFill/>
                </a:uFill>
                <a:hlinkClick r:id="rId3">
                  <a:extLst>
                    <a:ext uri="{A12FA001-AC4F-418D-AE19-62706E023703}">
                      <ahyp:hlinkClr xmlns:ahyp="http://schemas.microsoft.com/office/drawing/2018/hyperlinkcolor" val="tx"/>
                    </a:ext>
                  </a:extLst>
                </a:hlinkClick>
              </a:rPr>
              <a:t>Operations Road Asset Management System (RAMS)</a:t>
            </a:r>
            <a:endParaRPr sz="2300" b="1">
              <a:solidFill>
                <a:srgbClr val="E2081E"/>
              </a:solidFill>
            </a:endParaRPr>
          </a:p>
        </p:txBody>
      </p:sp>
      <p:pic>
        <p:nvPicPr>
          <p:cNvPr id="474" name="Google Shape;474;g36582182f26_1_241" title="Chart"/>
          <p:cNvPicPr preferRelativeResize="0"/>
          <p:nvPr/>
        </p:nvPicPr>
        <p:blipFill rotWithShape="1">
          <a:blip r:embed="rId4" cstate="screen">
            <a:alphaModFix/>
            <a:extLst>
              <a:ext uri="{28A0092B-C50C-407E-A947-70E740481C1C}">
                <a14:useLocalDpi xmlns:a14="http://schemas.microsoft.com/office/drawing/2010/main"/>
              </a:ext>
            </a:extLst>
          </a:blip>
          <a:srcRect l="21847" r="23231"/>
          <a:stretch/>
        </p:blipFill>
        <p:spPr>
          <a:xfrm>
            <a:off x="384625" y="1014500"/>
            <a:ext cx="4935980" cy="5544525"/>
          </a:xfrm>
          <a:prstGeom prst="rect">
            <a:avLst/>
          </a:prstGeom>
          <a:noFill/>
          <a:ln>
            <a:noFill/>
          </a:ln>
        </p:spPr>
      </p:pic>
      <p:sp>
        <p:nvSpPr>
          <p:cNvPr id="475" name="Google Shape;475;g36582182f26_1_241"/>
          <p:cNvSpPr txBox="1"/>
          <p:nvPr/>
        </p:nvSpPr>
        <p:spPr>
          <a:xfrm>
            <a:off x="5809450" y="1720063"/>
            <a:ext cx="6130500" cy="4133400"/>
          </a:xfrm>
          <a:prstGeom prst="rect">
            <a:avLst/>
          </a:prstGeom>
          <a:noFill/>
          <a:ln>
            <a:noFill/>
          </a:ln>
        </p:spPr>
        <p:txBody>
          <a:bodyPr spcFirstLastPara="1" wrap="square" lIns="91425" tIns="91425" rIns="91425" bIns="91425" anchor="t" anchorCtr="0">
            <a:noAutofit/>
          </a:bodyPr>
          <a:lstStyle/>
          <a:p>
            <a:pPr marL="400050" marR="0" lvl="0" indent="-342900" algn="just" rtl="0">
              <a:lnSpc>
                <a:spcPct val="150000"/>
              </a:lnSpc>
              <a:spcBef>
                <a:spcPts val="2000"/>
              </a:spcBef>
              <a:spcAft>
                <a:spcPts val="0"/>
              </a:spcAft>
              <a:buClr>
                <a:srgbClr val="E60000"/>
              </a:buClr>
              <a:buSzPts val="1800"/>
              <a:buFont typeface="Noto Sans Symbols"/>
              <a:buChar char="▪"/>
            </a:pPr>
            <a:r>
              <a:rPr lang="en-GB" sz="1800">
                <a:solidFill>
                  <a:schemeClr val="dk1"/>
                </a:solidFill>
              </a:rPr>
              <a:t>A significant majority of the respondent countries are operating without a Road Asset Management System (RAMS). </a:t>
            </a:r>
            <a:endParaRPr sz="1800">
              <a:solidFill>
                <a:schemeClr val="dk1"/>
              </a:solidFill>
            </a:endParaRPr>
          </a:p>
          <a:p>
            <a:pPr marL="400050" marR="0" lvl="0" indent="-342900" algn="just" rtl="0">
              <a:lnSpc>
                <a:spcPct val="150000"/>
              </a:lnSpc>
              <a:spcBef>
                <a:spcPts val="2000"/>
              </a:spcBef>
              <a:spcAft>
                <a:spcPts val="0"/>
              </a:spcAft>
              <a:buClr>
                <a:srgbClr val="E60000"/>
              </a:buClr>
              <a:buSzPts val="1800"/>
              <a:buFont typeface="Noto Sans Symbols"/>
              <a:buChar char="▪"/>
            </a:pPr>
            <a:r>
              <a:rPr lang="en-GB" sz="1800">
                <a:solidFill>
                  <a:schemeClr val="dk1"/>
                </a:solidFill>
              </a:rPr>
              <a:t>Only </a:t>
            </a:r>
            <a:r>
              <a:rPr lang="en-GB" sz="1800" b="1">
                <a:solidFill>
                  <a:schemeClr val="dk1"/>
                </a:solidFill>
              </a:rPr>
              <a:t>6 (30%)</a:t>
            </a:r>
            <a:r>
              <a:rPr lang="en-GB" sz="1800">
                <a:solidFill>
                  <a:schemeClr val="dk1"/>
                </a:solidFill>
              </a:rPr>
              <a:t> of the 20 surveyed countries have an operational RAMS, while </a:t>
            </a:r>
            <a:r>
              <a:rPr lang="en-GB" sz="1800" b="1">
                <a:solidFill>
                  <a:schemeClr val="dk1"/>
                </a:solidFill>
              </a:rPr>
              <a:t>14 (70%) do not</a:t>
            </a:r>
            <a:r>
              <a:rPr lang="en-GB" sz="1800">
                <a:solidFill>
                  <a:schemeClr val="dk1"/>
                </a:solidFill>
              </a:rPr>
              <a:t>. </a:t>
            </a:r>
            <a:endParaRPr sz="1800">
              <a:solidFill>
                <a:schemeClr val="dk1"/>
              </a:solidFill>
            </a:endParaRPr>
          </a:p>
          <a:p>
            <a:pPr marL="400050" marR="0" lvl="0" indent="-342900" algn="just" rtl="0">
              <a:lnSpc>
                <a:spcPct val="150000"/>
              </a:lnSpc>
              <a:spcBef>
                <a:spcPts val="2000"/>
              </a:spcBef>
              <a:spcAft>
                <a:spcPts val="0"/>
              </a:spcAft>
              <a:buClr>
                <a:srgbClr val="E60000"/>
              </a:buClr>
              <a:buSzPts val="1800"/>
              <a:buFont typeface="Noto Sans Symbols"/>
              <a:buChar char="▪"/>
            </a:pPr>
            <a:r>
              <a:rPr lang="en-GB" sz="1800">
                <a:solidFill>
                  <a:schemeClr val="dk1"/>
                </a:solidFill>
              </a:rPr>
              <a:t>This highlights a critical gap in digital readiness and a significant barrier to data-driven decision-making for road funds management.</a:t>
            </a:r>
            <a:endParaRPr sz="35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36582182f26_1_248"/>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1800" b="1">
                <a:solidFill>
                  <a:srgbClr val="E2081E"/>
                </a:solidFill>
              </a:rPr>
              <a:t>R</a:t>
            </a:r>
            <a:r>
              <a:rPr lang="en-GB" sz="1800" b="1">
                <a:solidFill>
                  <a:srgbClr val="E2081E"/>
                </a:solidFill>
                <a:uFill>
                  <a:noFill/>
                </a:uFill>
                <a:hlinkClick r:id="rId3">
                  <a:extLst>
                    <a:ext uri="{A12FA001-AC4F-418D-AE19-62706E023703}">
                      <ahyp:hlinkClr xmlns:ahyp="http://schemas.microsoft.com/office/drawing/2018/hyperlinkcolor" val="tx"/>
                    </a:ext>
                  </a:extLst>
                </a:hlinkClick>
              </a:rPr>
              <a:t>oad Fund Generation Vs Road Asset Management System</a:t>
            </a:r>
            <a:endParaRPr sz="1800" b="1">
              <a:solidFill>
                <a:srgbClr val="E2081E"/>
              </a:solidFill>
            </a:endParaRPr>
          </a:p>
          <a:p>
            <a:pPr marL="0" lvl="0" indent="0" algn="l" rtl="0">
              <a:lnSpc>
                <a:spcPct val="150000"/>
              </a:lnSpc>
              <a:spcBef>
                <a:spcPts val="1200"/>
              </a:spcBef>
              <a:spcAft>
                <a:spcPts val="0"/>
              </a:spcAft>
              <a:buNone/>
            </a:pPr>
            <a:endParaRPr sz="2000" b="1">
              <a:solidFill>
                <a:srgbClr val="E2081E"/>
              </a:solidFill>
            </a:endParaRPr>
          </a:p>
        </p:txBody>
      </p:sp>
      <p:graphicFrame>
        <p:nvGraphicFramePr>
          <p:cNvPr id="482" name="Google Shape;482;g36582182f26_1_248"/>
          <p:cNvGraphicFramePr/>
          <p:nvPr/>
        </p:nvGraphicFramePr>
        <p:xfrm>
          <a:off x="313750" y="1251800"/>
          <a:ext cx="3000000" cy="3000000"/>
        </p:xfrm>
        <a:graphic>
          <a:graphicData uri="http://schemas.openxmlformats.org/drawingml/2006/table">
            <a:tbl>
              <a:tblPr>
                <a:noFill/>
                <a:tableStyleId>{C87F4BAB-E031-4B13-A655-99A20CF12724}</a:tableStyleId>
              </a:tblPr>
              <a:tblGrid>
                <a:gridCol w="2423200">
                  <a:extLst>
                    <a:ext uri="{9D8B030D-6E8A-4147-A177-3AD203B41FA5}">
                      <a16:colId xmlns:a16="http://schemas.microsoft.com/office/drawing/2014/main" val="20000"/>
                    </a:ext>
                  </a:extLst>
                </a:gridCol>
                <a:gridCol w="749650">
                  <a:extLst>
                    <a:ext uri="{9D8B030D-6E8A-4147-A177-3AD203B41FA5}">
                      <a16:colId xmlns:a16="http://schemas.microsoft.com/office/drawing/2014/main" val="20001"/>
                    </a:ext>
                  </a:extLst>
                </a:gridCol>
                <a:gridCol w="778425">
                  <a:extLst>
                    <a:ext uri="{9D8B030D-6E8A-4147-A177-3AD203B41FA5}">
                      <a16:colId xmlns:a16="http://schemas.microsoft.com/office/drawing/2014/main" val="20002"/>
                    </a:ext>
                  </a:extLst>
                </a:gridCol>
                <a:gridCol w="1830975">
                  <a:extLst>
                    <a:ext uri="{9D8B030D-6E8A-4147-A177-3AD203B41FA5}">
                      <a16:colId xmlns:a16="http://schemas.microsoft.com/office/drawing/2014/main" val="20003"/>
                    </a:ext>
                  </a:extLst>
                </a:gridCol>
              </a:tblGrid>
              <a:tr h="1785125">
                <a:tc rowSpan="2">
                  <a:txBody>
                    <a:bodyPr/>
                    <a:lstStyle/>
                    <a:p>
                      <a:pPr marL="0" lvl="0" indent="0" algn="ctr" rtl="0">
                        <a:lnSpc>
                          <a:spcPct val="115000"/>
                        </a:lnSpc>
                        <a:spcBef>
                          <a:spcPts val="0"/>
                        </a:spcBef>
                        <a:spcAft>
                          <a:spcPts val="0"/>
                        </a:spcAft>
                        <a:buNone/>
                      </a:pPr>
                      <a:r>
                        <a:rPr lang="en-GB" sz="1800" b="1" i="1"/>
                        <a:t>Which Generation is your Road Fund</a:t>
                      </a:r>
                      <a:endParaRPr sz="1800"/>
                    </a:p>
                  </a:txBody>
                  <a:tcPr marL="25400" marR="25400" marT="0" marB="0" anchor="ctr">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gridSpan="3">
                  <a:txBody>
                    <a:bodyPr/>
                    <a:lstStyle/>
                    <a:p>
                      <a:pPr marL="0" lvl="0" indent="0" algn="ctr" rtl="0">
                        <a:lnSpc>
                          <a:spcPct val="115000"/>
                        </a:lnSpc>
                        <a:spcBef>
                          <a:spcPts val="0"/>
                        </a:spcBef>
                        <a:spcAft>
                          <a:spcPts val="0"/>
                        </a:spcAft>
                        <a:buNone/>
                      </a:pPr>
                      <a:r>
                        <a:rPr lang="en-GB" sz="1800" b="1" i="1"/>
                        <a:t>Does your Organisation have a Road Asset Management System (RAMS) in operation?</a:t>
                      </a:r>
                      <a:endParaRPr sz="1800" b="1" i="1"/>
                    </a:p>
                  </a:txBody>
                  <a:tcPr marL="0" marR="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29450">
                <a:tc vMerge="1">
                  <a:txBody>
                    <a:bodyPr/>
                    <a:lstStyle/>
                    <a:p>
                      <a:endParaRPr lang="en-US"/>
                    </a:p>
                  </a:txBody>
                  <a:tcPr/>
                </a:tc>
                <a:tc>
                  <a:txBody>
                    <a:bodyPr/>
                    <a:lstStyle/>
                    <a:p>
                      <a:pPr marL="0" lvl="0" indent="0" algn="ctr" rtl="0">
                        <a:lnSpc>
                          <a:spcPct val="115000"/>
                        </a:lnSpc>
                        <a:spcBef>
                          <a:spcPts val="0"/>
                        </a:spcBef>
                        <a:spcAft>
                          <a:spcPts val="0"/>
                        </a:spcAft>
                        <a:buNone/>
                      </a:pPr>
                      <a:r>
                        <a:rPr lang="en-GB" sz="1800" b="1">
                          <a:solidFill>
                            <a:srgbClr val="FFFFFF"/>
                          </a:solidFill>
                        </a:rPr>
                        <a:t>Yes</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800" b="1">
                          <a:solidFill>
                            <a:srgbClr val="FFFFFF"/>
                          </a:solidFill>
                        </a:rPr>
                        <a:t>No</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tc>
                  <a:txBody>
                    <a:bodyPr/>
                    <a:lstStyle/>
                    <a:p>
                      <a:pPr marL="0" lvl="0" indent="0" algn="ctr" rtl="0">
                        <a:lnSpc>
                          <a:spcPct val="115000"/>
                        </a:lnSpc>
                        <a:spcBef>
                          <a:spcPts val="0"/>
                        </a:spcBef>
                        <a:spcAft>
                          <a:spcPts val="0"/>
                        </a:spcAft>
                        <a:buNone/>
                      </a:pPr>
                      <a:r>
                        <a:rPr lang="en-GB" sz="1800" b="1">
                          <a:solidFill>
                            <a:srgbClr val="FFFFFF"/>
                          </a:solidFill>
                        </a:rPr>
                        <a:t>Grand Total</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156082"/>
                    </a:solidFill>
                  </a:tcPr>
                </a:tc>
                <a:extLst>
                  <a:ext uri="{0D108BD9-81ED-4DB2-BD59-A6C34878D82A}">
                    <a16:rowId xmlns:a16="http://schemas.microsoft.com/office/drawing/2014/main" val="10001"/>
                  </a:ext>
                </a:extLst>
              </a:tr>
              <a:tr h="667175">
                <a:tc>
                  <a:txBody>
                    <a:bodyPr/>
                    <a:lstStyle/>
                    <a:p>
                      <a:pPr marL="0" lvl="0" indent="0" algn="l" rtl="0">
                        <a:lnSpc>
                          <a:spcPct val="115000"/>
                        </a:lnSpc>
                        <a:spcBef>
                          <a:spcPts val="0"/>
                        </a:spcBef>
                        <a:spcAft>
                          <a:spcPts val="0"/>
                        </a:spcAft>
                        <a:buNone/>
                      </a:pPr>
                      <a:r>
                        <a:rPr lang="en-GB" sz="1800"/>
                        <a:t>1st generation</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l" rtl="0">
                        <a:lnSpc>
                          <a:spcPct val="115000"/>
                        </a:lnSpc>
                        <a:spcBef>
                          <a:spcPts val="0"/>
                        </a:spcBef>
                        <a:spcAft>
                          <a:spcPts val="0"/>
                        </a:spcAft>
                        <a:buNone/>
                      </a:pP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a:t>1</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b="1"/>
                        <a:t>1</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67175">
                <a:tc>
                  <a:txBody>
                    <a:bodyPr/>
                    <a:lstStyle/>
                    <a:p>
                      <a:pPr marL="0" lvl="0" indent="0" algn="l" rtl="0">
                        <a:lnSpc>
                          <a:spcPct val="115000"/>
                        </a:lnSpc>
                        <a:spcBef>
                          <a:spcPts val="0"/>
                        </a:spcBef>
                        <a:spcAft>
                          <a:spcPts val="0"/>
                        </a:spcAft>
                        <a:buNone/>
                      </a:pPr>
                      <a:r>
                        <a:rPr lang="en-GB" sz="1800"/>
                        <a:t>2nd generation</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800"/>
                        <a:t>6</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a:t>10</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b="1"/>
                        <a:t>16</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67175">
                <a:tc>
                  <a:txBody>
                    <a:bodyPr/>
                    <a:lstStyle/>
                    <a:p>
                      <a:pPr marL="0" lvl="0" indent="0" algn="l" rtl="0">
                        <a:lnSpc>
                          <a:spcPct val="115000"/>
                        </a:lnSpc>
                        <a:spcBef>
                          <a:spcPts val="0"/>
                        </a:spcBef>
                        <a:spcAft>
                          <a:spcPts val="0"/>
                        </a:spcAft>
                        <a:buNone/>
                      </a:pPr>
                      <a:r>
                        <a:rPr lang="en-GB" sz="1800"/>
                        <a:t>3rd generation</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l" rtl="0">
                        <a:lnSpc>
                          <a:spcPct val="115000"/>
                        </a:lnSpc>
                        <a:spcBef>
                          <a:spcPts val="0"/>
                        </a:spcBef>
                        <a:spcAft>
                          <a:spcPts val="0"/>
                        </a:spcAft>
                        <a:buNone/>
                      </a:pP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a:t>3</a:t>
                      </a:r>
                      <a:endParaRPr sz="1800"/>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GB" sz="1800" b="1"/>
                        <a:t>3</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67175">
                <a:tc>
                  <a:txBody>
                    <a:bodyPr/>
                    <a:lstStyle/>
                    <a:p>
                      <a:pPr marL="0" lvl="0" indent="0" algn="l" rtl="0">
                        <a:lnSpc>
                          <a:spcPct val="115000"/>
                        </a:lnSpc>
                        <a:spcBef>
                          <a:spcPts val="0"/>
                        </a:spcBef>
                        <a:spcAft>
                          <a:spcPts val="0"/>
                        </a:spcAft>
                        <a:buNone/>
                      </a:pPr>
                      <a:r>
                        <a:rPr lang="en-GB" sz="1800" b="1"/>
                        <a:t>Grand Total</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800" b="1"/>
                        <a:t>6</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800" b="1"/>
                        <a:t>14</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tc>
                  <a:txBody>
                    <a:bodyPr/>
                    <a:lstStyle/>
                    <a:p>
                      <a:pPr marL="0" lvl="0" indent="0" algn="ctr" rtl="0">
                        <a:lnSpc>
                          <a:spcPct val="115000"/>
                        </a:lnSpc>
                        <a:spcBef>
                          <a:spcPts val="0"/>
                        </a:spcBef>
                        <a:spcAft>
                          <a:spcPts val="0"/>
                        </a:spcAft>
                        <a:buNone/>
                      </a:pPr>
                      <a:r>
                        <a:rPr lang="en-GB" sz="1800" b="1"/>
                        <a:t>20</a:t>
                      </a:r>
                      <a:endParaRPr sz="1800" b="1"/>
                    </a:p>
                  </a:txBody>
                  <a:tcPr marL="25400" marR="25400" marT="0" marB="0" anchor="b">
                    <a:lnL w="9525" cap="flat" cmpd="sng">
                      <a:solidFill>
                        <a:srgbClr val="45B0E1"/>
                      </a:solidFill>
                      <a:prstDash val="solid"/>
                      <a:round/>
                      <a:headEnd type="none" w="sm" len="sm"/>
                      <a:tailEnd type="none" w="sm" len="sm"/>
                    </a:lnL>
                    <a:lnR w="9525" cap="flat" cmpd="sng">
                      <a:solidFill>
                        <a:srgbClr val="45B0E1"/>
                      </a:solidFill>
                      <a:prstDash val="solid"/>
                      <a:round/>
                      <a:headEnd type="none" w="sm" len="sm"/>
                      <a:tailEnd type="none" w="sm" len="sm"/>
                    </a:lnR>
                    <a:lnT w="9525" cap="flat" cmpd="sng">
                      <a:solidFill>
                        <a:srgbClr val="45B0E1"/>
                      </a:solidFill>
                      <a:prstDash val="solid"/>
                      <a:round/>
                      <a:headEnd type="none" w="sm" len="sm"/>
                      <a:tailEnd type="none" w="sm" len="sm"/>
                    </a:lnT>
                    <a:lnB w="9525" cap="flat" cmpd="sng">
                      <a:solidFill>
                        <a:srgbClr val="45B0E1"/>
                      </a:solidFill>
                      <a:prstDash val="solid"/>
                      <a:round/>
                      <a:headEnd type="none" w="sm" len="sm"/>
                      <a:tailEnd type="none" w="sm" len="sm"/>
                    </a:lnB>
                    <a:solidFill>
                      <a:srgbClr val="DEEAF6"/>
                    </a:solidFill>
                  </a:tcPr>
                </a:tc>
                <a:extLst>
                  <a:ext uri="{0D108BD9-81ED-4DB2-BD59-A6C34878D82A}">
                    <a16:rowId xmlns:a16="http://schemas.microsoft.com/office/drawing/2014/main" val="10005"/>
                  </a:ext>
                </a:extLst>
              </a:tr>
            </a:tbl>
          </a:graphicData>
        </a:graphic>
      </p:graphicFrame>
      <p:sp>
        <p:nvSpPr>
          <p:cNvPr id="483" name="Google Shape;483;g36582182f26_1_248"/>
          <p:cNvSpPr txBox="1"/>
          <p:nvPr/>
        </p:nvSpPr>
        <p:spPr>
          <a:xfrm>
            <a:off x="6342025" y="1313725"/>
            <a:ext cx="5659800" cy="3786000"/>
          </a:xfrm>
          <a:prstGeom prst="rect">
            <a:avLst/>
          </a:prstGeom>
          <a:noFill/>
          <a:ln>
            <a:noFill/>
          </a:ln>
        </p:spPr>
        <p:txBody>
          <a:bodyPr spcFirstLastPara="1" wrap="square" lIns="91425" tIns="91425" rIns="91425" bIns="91425" anchor="t" anchorCtr="0">
            <a:noAutofit/>
          </a:bodyPr>
          <a:lstStyle/>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1st-Generation Road Funds:</a:t>
            </a:r>
            <a:r>
              <a:rPr lang="en-GB" sz="1800">
                <a:solidFill>
                  <a:schemeClr val="dk1"/>
                </a:solidFill>
              </a:rPr>
              <a:t> One country with a first-generation road fund does not have a RAMS.</a:t>
            </a:r>
            <a:endParaRPr sz="1800">
              <a:solidFill>
                <a:schemeClr val="dk1"/>
              </a:solidFill>
            </a:endParaRPr>
          </a:p>
          <a:p>
            <a:pPr marL="457200" marR="0" lvl="0" indent="0" algn="just" rtl="0">
              <a:lnSpc>
                <a:spcPct val="115000"/>
              </a:lnSpc>
              <a:spcBef>
                <a:spcPts val="2000"/>
              </a:spcBef>
              <a:spcAft>
                <a:spcPts val="0"/>
              </a:spcAft>
              <a:buNone/>
            </a:pPr>
            <a:r>
              <a:rPr lang="en-GB" sz="1800">
                <a:solidFill>
                  <a:schemeClr val="dk1"/>
                </a:solidFill>
              </a:rPr>
              <a:t> </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2nd-Generation Road Funds:</a:t>
            </a:r>
            <a:r>
              <a:rPr lang="en-GB" sz="1800">
                <a:solidFill>
                  <a:schemeClr val="dk1"/>
                </a:solidFill>
              </a:rPr>
              <a:t> Out of the 16 countries with a second-generation road fund, </a:t>
            </a:r>
            <a:r>
              <a:rPr lang="en-GB" sz="1800" b="1">
                <a:solidFill>
                  <a:schemeClr val="dk1"/>
                </a:solidFill>
              </a:rPr>
              <a:t>6 have a RAMS</a:t>
            </a:r>
            <a:r>
              <a:rPr lang="en-GB" sz="1800">
                <a:solidFill>
                  <a:schemeClr val="dk1"/>
                </a:solidFill>
              </a:rPr>
              <a:t>, while the majority, </a:t>
            </a:r>
            <a:r>
              <a:rPr lang="en-GB" sz="1800" b="1">
                <a:solidFill>
                  <a:schemeClr val="dk1"/>
                </a:solidFill>
              </a:rPr>
              <a:t>10, do not</a:t>
            </a:r>
            <a:r>
              <a:rPr lang="en-GB" sz="1800">
                <a:solidFill>
                  <a:schemeClr val="dk1"/>
                </a:solidFill>
              </a:rPr>
              <a:t>.</a:t>
            </a:r>
            <a:endParaRPr sz="1800">
              <a:solidFill>
                <a:schemeClr val="dk1"/>
              </a:solidFill>
            </a:endParaRPr>
          </a:p>
          <a:p>
            <a:pPr marL="0" marR="0" lvl="0" indent="0" algn="just" rtl="0">
              <a:lnSpc>
                <a:spcPct val="115000"/>
              </a:lnSpc>
              <a:spcBef>
                <a:spcPts val="2000"/>
              </a:spcBef>
              <a:spcAft>
                <a:spcPts val="0"/>
              </a:spcAft>
              <a:buNone/>
            </a:pP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3rd-Generation Road Funds:</a:t>
            </a:r>
            <a:r>
              <a:rPr lang="en-GB" sz="1800">
                <a:solidFill>
                  <a:schemeClr val="dk1"/>
                </a:solidFill>
              </a:rPr>
              <a:t> Despite being the most advanced generation, </a:t>
            </a:r>
            <a:r>
              <a:rPr lang="en-GB" sz="1800" b="1">
                <a:solidFill>
                  <a:schemeClr val="dk1"/>
                </a:solidFill>
              </a:rPr>
              <a:t>all 3 countries</a:t>
            </a:r>
            <a:r>
              <a:rPr lang="en-GB" sz="1800">
                <a:solidFill>
                  <a:schemeClr val="dk1"/>
                </a:solidFill>
              </a:rPr>
              <a:t> with a third-generation road fund do not have a RAMS. </a:t>
            </a:r>
            <a:endParaRPr sz="18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36582182f26_1_255"/>
          <p:cNvSpPr txBox="1"/>
          <p:nvPr/>
        </p:nvSpPr>
        <p:spPr>
          <a:xfrm>
            <a:off x="313750" y="317900"/>
            <a:ext cx="10341300" cy="6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GB" sz="2000" b="1">
                <a:solidFill>
                  <a:srgbClr val="E2081E"/>
                </a:solidFill>
                <a:uFill>
                  <a:noFill/>
                </a:uFill>
                <a:hlinkClick r:id="rId3">
                  <a:extLst>
                    <a:ext uri="{A12FA001-AC4F-418D-AE19-62706E023703}">
                      <ahyp:hlinkClr xmlns:ahyp="http://schemas.microsoft.com/office/drawing/2018/hyperlinkcolor" val="tx"/>
                    </a:ext>
                  </a:extLst>
                </a:hlinkClick>
              </a:rPr>
              <a:t>Dedicated Climate-Resilience Line in Annual Budget</a:t>
            </a:r>
            <a:endParaRPr sz="2200" b="1">
              <a:solidFill>
                <a:srgbClr val="E2081E"/>
              </a:solidFill>
            </a:endParaRPr>
          </a:p>
        </p:txBody>
      </p:sp>
      <p:pic>
        <p:nvPicPr>
          <p:cNvPr id="490" name="Google Shape;490;g36582182f26_1_255" title="Char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13750" y="1267025"/>
            <a:ext cx="5232500" cy="5162025"/>
          </a:xfrm>
          <a:prstGeom prst="rect">
            <a:avLst/>
          </a:prstGeom>
          <a:noFill/>
          <a:ln>
            <a:noFill/>
          </a:ln>
        </p:spPr>
      </p:pic>
      <p:sp>
        <p:nvSpPr>
          <p:cNvPr id="491" name="Google Shape;491;g36582182f26_1_255"/>
          <p:cNvSpPr txBox="1"/>
          <p:nvPr/>
        </p:nvSpPr>
        <p:spPr>
          <a:xfrm>
            <a:off x="6026175" y="1375400"/>
            <a:ext cx="6006600" cy="5054700"/>
          </a:xfrm>
          <a:prstGeom prst="rect">
            <a:avLst/>
          </a:prstGeom>
          <a:noFill/>
          <a:ln>
            <a:noFill/>
          </a:ln>
        </p:spPr>
        <p:txBody>
          <a:bodyPr spcFirstLastPara="1" wrap="square" lIns="91425" tIns="91425" rIns="91425" bIns="91425" anchor="t" anchorCtr="0">
            <a:spAutoFit/>
          </a:bodyPr>
          <a:lstStyle/>
          <a:p>
            <a:pPr marL="400050" marR="0" lvl="0" indent="-342900" algn="just" rtl="0">
              <a:lnSpc>
                <a:spcPct val="115000"/>
              </a:lnSpc>
              <a:spcBef>
                <a:spcPts val="2000"/>
              </a:spcBef>
              <a:spcAft>
                <a:spcPts val="0"/>
              </a:spcAft>
              <a:buClr>
                <a:srgbClr val="E60000"/>
              </a:buClr>
              <a:buSzPts val="1800"/>
              <a:buFont typeface="Noto Sans Symbols"/>
              <a:buChar char="▪"/>
            </a:pPr>
            <a:r>
              <a:rPr lang="en-GB" sz="1800">
                <a:solidFill>
                  <a:schemeClr val="dk1"/>
                </a:solidFill>
              </a:rPr>
              <a:t>Only 6 countries namely; </a:t>
            </a:r>
            <a:r>
              <a:rPr lang="en-GB" sz="1800" b="1">
                <a:solidFill>
                  <a:schemeClr val="dk1"/>
                </a:solidFill>
              </a:rPr>
              <a:t>Rwanda, Togo, Sierra Leone, Malawi, Mozambique and Tanzania,</a:t>
            </a:r>
            <a:r>
              <a:rPr lang="en-GB" sz="1800">
                <a:solidFill>
                  <a:schemeClr val="dk1"/>
                </a:solidFill>
              </a:rPr>
              <a:t> reported having a dedicated budget line for climate resilience in their policies or budgets.</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a:solidFill>
                  <a:schemeClr val="dk1"/>
                </a:solidFill>
              </a:rPr>
              <a:t>Rwanda has a climate resilience budget line in the road maintenance budget and performance-based road contracts (OPRCs) and it is mandatory demonstrating a strong, institutional commitment.</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a:solidFill>
                  <a:schemeClr val="dk1"/>
                </a:solidFill>
              </a:rPr>
              <a:t>Malawi and Benin have specific policies on climate resilience in road maintenance.</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a:solidFill>
                  <a:schemeClr val="dk1"/>
                </a:solidFill>
              </a:rPr>
              <a:t>In Mozambique, although there is a budget line, the amount that can be allocated corresponds to only 5% of needs.</a:t>
            </a:r>
            <a:endParaRPr sz="18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36582182f26_1_262"/>
          <p:cNvSpPr txBox="1"/>
          <p:nvPr/>
        </p:nvSpPr>
        <p:spPr>
          <a:xfrm>
            <a:off x="329225" y="294150"/>
            <a:ext cx="7047900" cy="492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None/>
            </a:pPr>
            <a:r>
              <a:rPr lang="en-GB" sz="2000" b="1">
                <a:solidFill>
                  <a:srgbClr val="E2081E"/>
                </a:solidFill>
              </a:rPr>
              <a:t>Key Conclusions</a:t>
            </a:r>
            <a:endParaRPr sz="1500">
              <a:solidFill>
                <a:srgbClr val="E2081E"/>
              </a:solidFill>
            </a:endParaRPr>
          </a:p>
        </p:txBody>
      </p:sp>
      <p:sp>
        <p:nvSpPr>
          <p:cNvPr id="498" name="Google Shape;498;g36582182f26_1_262"/>
          <p:cNvSpPr txBox="1"/>
          <p:nvPr/>
        </p:nvSpPr>
        <p:spPr>
          <a:xfrm>
            <a:off x="329225" y="1238400"/>
            <a:ext cx="10991400" cy="4381200"/>
          </a:xfrm>
          <a:prstGeom prst="rect">
            <a:avLst/>
          </a:prstGeom>
          <a:noFill/>
          <a:ln>
            <a:noFill/>
          </a:ln>
        </p:spPr>
        <p:txBody>
          <a:bodyPr spcFirstLastPara="1" wrap="square" lIns="91425" tIns="91425" rIns="91425" bIns="91425" anchor="t" anchorCtr="0">
            <a:noAutofit/>
          </a:bodyPr>
          <a:lstStyle/>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Significant Funding Gap:</a:t>
            </a:r>
            <a:r>
              <a:rPr lang="en-GB" sz="1800">
                <a:solidFill>
                  <a:schemeClr val="dk1"/>
                </a:solidFill>
              </a:rPr>
              <a:t> The report's most significant finding is the widespread funding gap for road maintenance. On average, only 37.7% of annual maintenance needs are funded. This has serious implications for network sustainability and contributes to a growing maintenance backlog. The funding shortfall is worsened by the predominance of unpaved road networks, which are highly vulnerable to weather events and require more frequent maintenance.</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Gap in Digital Readiness:</a:t>
            </a:r>
            <a:r>
              <a:rPr lang="en-GB" sz="1800">
                <a:solidFill>
                  <a:schemeClr val="dk1"/>
                </a:solidFill>
              </a:rPr>
              <a:t> A critical observation is the low rate of Road Asset Management System (RAMS) implementation. Only 6 out of 20 countries (30%) have an operational RAMS. This highlights a major barrier to data-driven decision-making and efficient resource allocation.</a:t>
            </a:r>
            <a:endParaRPr sz="1800">
              <a:solidFill>
                <a:schemeClr val="dk1"/>
              </a:solidFill>
            </a:endParaRPr>
          </a:p>
          <a:p>
            <a:pPr marL="400050" marR="0" lvl="0" indent="-342900" algn="just" rtl="0">
              <a:lnSpc>
                <a:spcPct val="115000"/>
              </a:lnSpc>
              <a:spcBef>
                <a:spcPts val="2000"/>
              </a:spcBef>
              <a:spcAft>
                <a:spcPts val="0"/>
              </a:spcAft>
              <a:buClr>
                <a:srgbClr val="E60000"/>
              </a:buClr>
              <a:buSzPts val="1800"/>
              <a:buFont typeface="Noto Sans Symbols"/>
              <a:buChar char="▪"/>
            </a:pPr>
            <a:r>
              <a:rPr lang="en-GB" sz="1800" b="1">
                <a:solidFill>
                  <a:schemeClr val="dk1"/>
                </a:solidFill>
              </a:rPr>
              <a:t>Institutional Evolution vs. Innovation:</a:t>
            </a:r>
            <a:r>
              <a:rPr lang="en-GB" sz="1800">
                <a:solidFill>
                  <a:schemeClr val="dk1"/>
                </a:solidFill>
              </a:rPr>
              <a:t> The analysis shows that while most road funds are institutionally mature, their age does not directly correlate with the adoption of advanced models. For example, the report notes that the transition to a higher-generation road fund model is driven by a proactive commitment to sector reform, not simply institutional longevity.</a:t>
            </a:r>
            <a:endParaRPr sz="1800">
              <a:solidFill>
                <a:schemeClr val="dk1"/>
              </a:solidFill>
            </a:endParaRPr>
          </a:p>
          <a:p>
            <a:pPr marL="400050" marR="0" lvl="0" indent="-342900" algn="just" rtl="0">
              <a:lnSpc>
                <a:spcPct val="115000"/>
              </a:lnSpc>
              <a:spcBef>
                <a:spcPts val="2000"/>
              </a:spcBef>
              <a:spcAft>
                <a:spcPts val="1000"/>
              </a:spcAft>
              <a:buClr>
                <a:srgbClr val="E60000"/>
              </a:buClr>
              <a:buSzPts val="1800"/>
              <a:buFont typeface="Noto Sans Symbols"/>
              <a:buChar char="▪"/>
            </a:pPr>
            <a:r>
              <a:rPr lang="en-GB" sz="1800" b="1">
                <a:solidFill>
                  <a:schemeClr val="dk1"/>
                </a:solidFill>
              </a:rPr>
              <a:t>Limited Climate Resilience Focus:</a:t>
            </a:r>
            <a:r>
              <a:rPr lang="en-GB" sz="1800">
                <a:solidFill>
                  <a:schemeClr val="dk1"/>
                </a:solidFill>
              </a:rPr>
              <a:t> Only a small number of countries have a dedicated budget line or policy for climate resilience, indicating that a robust approach to this critical issue is not yet a widespread practice.</a:t>
            </a:r>
            <a:endParaRPr sz="25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pic>
        <p:nvPicPr>
          <p:cNvPr id="503" name="Google Shape;503;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0399059" cy="1019175"/>
          </a:xfrm>
          <a:prstGeom prst="rect">
            <a:avLst/>
          </a:prstGeom>
          <a:noFill/>
          <a:ln>
            <a:noFill/>
          </a:ln>
        </p:spPr>
      </p:pic>
      <p:sp>
        <p:nvSpPr>
          <p:cNvPr id="504" name="Google Shape;504;p15"/>
          <p:cNvSpPr/>
          <p:nvPr/>
        </p:nvSpPr>
        <p:spPr>
          <a:xfrm>
            <a:off x="1509300" y="1445800"/>
            <a:ext cx="9173400" cy="827100"/>
          </a:xfrm>
          <a:prstGeom prst="round2DiagRect">
            <a:avLst>
              <a:gd name="adj1" fmla="val 16667"/>
              <a:gd name="adj2" fmla="val 0"/>
            </a:avLst>
          </a:prstGeom>
          <a:solidFill>
            <a:srgbClr val="FFFFFF">
              <a:alpha val="69411"/>
            </a:srgbClr>
          </a:solidFill>
          <a:ln>
            <a:noFill/>
          </a:ln>
        </p:spPr>
        <p:txBody>
          <a:bodyPr spcFirstLastPara="1" wrap="square" lIns="180000" tIns="108000" rIns="108000" bIns="1080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GB" sz="2000" b="1" i="0" u="none" strike="noStrike" cap="none">
                <a:solidFill>
                  <a:srgbClr val="262626"/>
                </a:solidFill>
                <a:latin typeface="Arial"/>
                <a:ea typeface="Arial"/>
                <a:cs typeface="Arial"/>
                <a:sym typeface="Arial"/>
              </a:rPr>
              <a:t>Technical Assistance to Support the Africa Transport Policy Program (SSATP) Fourth Development Plan (DP4) Implementation</a:t>
            </a:r>
            <a:endParaRPr sz="20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300"/>
              <a:buFont typeface="Arial"/>
              <a:buNone/>
            </a:pPr>
            <a:endParaRPr sz="2000" b="0" i="0" u="none" strike="noStrike" cap="none">
              <a:solidFill>
                <a:srgbClr val="262626"/>
              </a:solidFill>
              <a:latin typeface="Arial"/>
              <a:ea typeface="Arial"/>
              <a:cs typeface="Arial"/>
              <a:sym typeface="Arial"/>
            </a:endParaRPr>
          </a:p>
        </p:txBody>
      </p:sp>
      <p:sp>
        <p:nvSpPr>
          <p:cNvPr id="505" name="Google Shape;505;p15"/>
          <p:cNvSpPr txBox="1"/>
          <p:nvPr/>
        </p:nvSpPr>
        <p:spPr>
          <a:xfrm>
            <a:off x="146088" y="6433601"/>
            <a:ext cx="61293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chemeClr val="dk1"/>
                </a:solidFill>
                <a:latin typeface="Arial"/>
                <a:ea typeface="Arial"/>
                <a:cs typeface="Arial"/>
                <a:sym typeface="Arial"/>
              </a:rPr>
              <a:t>EC-INTPA/2024/EARP/0021</a:t>
            </a:r>
            <a:endParaRPr sz="1400" b="0" i="0" u="none" strike="noStrike" cap="none">
              <a:solidFill>
                <a:schemeClr val="dk1"/>
              </a:solidFill>
              <a:latin typeface="Arial"/>
              <a:ea typeface="Arial"/>
              <a:cs typeface="Arial"/>
              <a:sym typeface="Arial"/>
            </a:endParaRPr>
          </a:p>
        </p:txBody>
      </p:sp>
      <p:pic>
        <p:nvPicPr>
          <p:cNvPr id="506" name="Google Shape;506;p15"/>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0730863" y="283908"/>
            <a:ext cx="919670" cy="546716"/>
          </a:xfrm>
          <a:prstGeom prst="rect">
            <a:avLst/>
          </a:prstGeom>
          <a:noFill/>
          <a:ln>
            <a:noFill/>
          </a:ln>
        </p:spPr>
      </p:pic>
      <p:pic>
        <p:nvPicPr>
          <p:cNvPr id="507" name="Google Shape;507;p15" descr="Home | SSATP"/>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9006589" y="283908"/>
            <a:ext cx="1562044" cy="546716"/>
          </a:xfrm>
          <a:prstGeom prst="rect">
            <a:avLst/>
          </a:prstGeom>
          <a:noFill/>
          <a:ln>
            <a:noFill/>
          </a:ln>
        </p:spPr>
      </p:pic>
      <p:pic>
        <p:nvPicPr>
          <p:cNvPr id="508" name="Google Shape;508;p15" descr="European Union Logo, symbol, meaning, history, PNG, bran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7253882" y="338983"/>
            <a:ext cx="1562045" cy="467082"/>
          </a:xfrm>
          <a:prstGeom prst="rect">
            <a:avLst/>
          </a:prstGeom>
          <a:noFill/>
          <a:ln>
            <a:noFill/>
          </a:ln>
        </p:spPr>
      </p:pic>
      <p:sp>
        <p:nvSpPr>
          <p:cNvPr id="509" name="Google Shape;509;p15"/>
          <p:cNvSpPr/>
          <p:nvPr/>
        </p:nvSpPr>
        <p:spPr>
          <a:xfrm>
            <a:off x="4774950" y="3155700"/>
            <a:ext cx="2642100" cy="546600"/>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3000" b="1">
                <a:solidFill>
                  <a:srgbClr val="E2081E"/>
                </a:solidFill>
              </a:rPr>
              <a:t>THANK YOU</a:t>
            </a:r>
            <a:endParaRPr sz="2400" b="0" i="0" u="none" strike="noStrike" cap="none">
              <a:solidFill>
                <a:schemeClr val="dk1"/>
              </a:solidFill>
              <a:latin typeface="Arial"/>
              <a:ea typeface="Arial"/>
              <a:cs typeface="Arial"/>
              <a:sym typeface="Arial"/>
            </a:endParaRPr>
          </a:p>
        </p:txBody>
      </p:sp>
      <p:sp>
        <p:nvSpPr>
          <p:cNvPr id="510" name="Google Shape;510;p15"/>
          <p:cNvSpPr/>
          <p:nvPr/>
        </p:nvSpPr>
        <p:spPr>
          <a:xfrm>
            <a:off x="8483400" y="2699525"/>
            <a:ext cx="3708600" cy="3495300"/>
          </a:xfrm>
          <a:prstGeom prst="round2DiagRect">
            <a:avLst>
              <a:gd name="adj1" fmla="val 16667"/>
              <a:gd name="adj2" fmla="val 0"/>
            </a:avLst>
          </a:prstGeom>
          <a:solidFill>
            <a:srgbClr val="FFFFFF">
              <a:alpha val="69411"/>
            </a:srgbClr>
          </a:solidFill>
          <a:ln>
            <a:noFill/>
          </a:ln>
        </p:spPr>
        <p:txBody>
          <a:bodyPr spcFirstLastPara="1" wrap="square" lIns="180000" tIns="108000" rIns="108000" bIns="108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200" b="1" i="0" u="none" strike="noStrike" cap="none">
                <a:solidFill>
                  <a:schemeClr val="dk1"/>
                </a:solidFill>
              </a:rPr>
              <a:t>José Cordovilla</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none" strike="noStrike" cap="none">
                <a:solidFill>
                  <a:schemeClr val="dk1"/>
                </a:solidFill>
              </a:rPr>
              <a:t>Team Leader</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sng" strike="noStrike" cap="none">
                <a:solidFill>
                  <a:schemeClr val="dk1"/>
                </a:solidFill>
                <a:hlinkClick r:id="rId7">
                  <a:extLst>
                    <a:ext uri="{A12FA001-AC4F-418D-AE19-62706E023703}">
                      <ahyp:hlinkClr xmlns:ahyp="http://schemas.microsoft.com/office/drawing/2018/hyperlinkcolor" val="tx"/>
                    </a:ext>
                  </a:extLst>
                </a:hlinkClick>
              </a:rPr>
              <a:t>jcordovilla@typsa.es</a:t>
            </a: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en-GB" sz="1200" b="1" i="0" u="none" strike="noStrike" cap="none">
                <a:solidFill>
                  <a:schemeClr val="dk1"/>
                </a:solidFill>
              </a:rPr>
              <a:t>Enrique José Piñero Piolestan </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none" strike="noStrike" cap="none">
                <a:solidFill>
                  <a:schemeClr val="dk1"/>
                </a:solidFill>
              </a:rPr>
              <a:t>Climate Resilience Expert</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sng" strike="noStrike" cap="none">
                <a:solidFill>
                  <a:schemeClr val="dk1"/>
                </a:solidFill>
                <a:hlinkClick r:id="rId8">
                  <a:extLst>
                    <a:ext uri="{A12FA001-AC4F-418D-AE19-62706E023703}">
                      <ahyp:hlinkClr xmlns:ahyp="http://schemas.microsoft.com/office/drawing/2018/hyperlinkcolor" val="tx"/>
                    </a:ext>
                  </a:extLst>
                </a:hlinkClick>
              </a:rPr>
              <a:t>epinero@typsa.es</a:t>
            </a: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en-GB" sz="1200" b="1">
                <a:solidFill>
                  <a:schemeClr val="dk1"/>
                </a:solidFill>
              </a:rPr>
              <a:t>Dr. </a:t>
            </a:r>
            <a:r>
              <a:rPr lang="en-GB" sz="1200" b="1" i="0" u="none" strike="noStrike" cap="none">
                <a:solidFill>
                  <a:schemeClr val="dk1"/>
                </a:solidFill>
              </a:rPr>
              <a:t>Sid Boubekeur</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none" strike="noStrike" cap="none">
                <a:solidFill>
                  <a:schemeClr val="dk1"/>
                </a:solidFill>
              </a:rPr>
              <a:t>Coordinator, Public Financing Expert</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sng" strike="noStrike" cap="none">
                <a:solidFill>
                  <a:schemeClr val="dk1"/>
                </a:solidFill>
                <a:hlinkClick r:id="rId9">
                  <a:extLst>
                    <a:ext uri="{A12FA001-AC4F-418D-AE19-62706E023703}">
                      <ahyp:hlinkClr xmlns:ahyp="http://schemas.microsoft.com/office/drawing/2018/hyperlinkcolor" val="tx"/>
                    </a:ext>
                  </a:extLst>
                </a:hlinkClick>
              </a:rPr>
              <a:t>Sid.boubekeur3@gmail.com</a:t>
            </a: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en-GB" sz="1200" b="1" i="0" u="none" strike="noStrike" cap="none">
                <a:solidFill>
                  <a:schemeClr val="dk1"/>
                </a:solidFill>
              </a:rPr>
              <a:t>Maurice Niaty-Mouamba</a:t>
            </a:r>
            <a:endParaRPr sz="1200" b="1"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en-GB" sz="1200" i="0" u="none" strike="noStrike" cap="none">
                <a:solidFill>
                  <a:schemeClr val="dk1"/>
                </a:solidFill>
              </a:rPr>
              <a:t>Governance Expert</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sng" strike="noStrike" cap="none">
                <a:solidFill>
                  <a:schemeClr val="dk1"/>
                </a:solidFill>
                <a:hlinkClick r:id="rId10">
                  <a:extLst>
                    <a:ext uri="{A12FA001-AC4F-418D-AE19-62706E023703}">
                      <ahyp:hlinkClr xmlns:ahyp="http://schemas.microsoft.com/office/drawing/2018/hyperlinkcolor" val="tx"/>
                    </a:ext>
                  </a:extLst>
                </a:hlinkClick>
              </a:rPr>
              <a:t>mniatymouamba@gmail.com</a:t>
            </a: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en-GB" sz="1200" b="1" i="0" u="none" strike="noStrike" cap="none">
                <a:solidFill>
                  <a:schemeClr val="dk1"/>
                </a:solidFill>
              </a:rPr>
              <a:t>Annstellah Wanjiru Maina</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none" strike="noStrike" cap="none">
                <a:solidFill>
                  <a:schemeClr val="dk1"/>
                </a:solidFill>
              </a:rPr>
              <a:t>Data Analyst Expert</a:t>
            </a:r>
            <a:endParaRPr sz="1200" i="0" u="none" strike="noStrike" cap="none">
              <a:solidFill>
                <a:srgbClr val="000000"/>
              </a:solidFill>
            </a:endParaRPr>
          </a:p>
          <a:p>
            <a:pPr marL="0" marR="0" lvl="0" indent="0" algn="l" rtl="0">
              <a:lnSpc>
                <a:spcPct val="100000"/>
              </a:lnSpc>
              <a:spcBef>
                <a:spcPts val="0"/>
              </a:spcBef>
              <a:spcAft>
                <a:spcPts val="0"/>
              </a:spcAft>
              <a:buClr>
                <a:srgbClr val="000000"/>
              </a:buClr>
              <a:buSzPts val="1400"/>
              <a:buFont typeface="Arial"/>
              <a:buNone/>
            </a:pPr>
            <a:r>
              <a:rPr lang="en-GB" sz="1200" i="0" u="sng" strike="noStrike" cap="none">
                <a:solidFill>
                  <a:schemeClr val="dk1"/>
                </a:solidFill>
                <a:hlinkClick r:id="rId11">
                  <a:extLst>
                    <a:ext uri="{A12FA001-AC4F-418D-AE19-62706E023703}">
                      <ahyp:hlinkClr xmlns:ahyp="http://schemas.microsoft.com/office/drawing/2018/hyperlinkcolor" val="tx"/>
                    </a:ext>
                  </a:extLst>
                </a:hlinkClick>
              </a:rPr>
              <a:t>annstellahwanjiru@gmail.com</a:t>
            </a:r>
            <a:endParaRPr sz="12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000" b="0" i="0" u="none" strike="noStrike" cap="none">
              <a:solidFill>
                <a:schemeClr val="dk1"/>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300"/>
              <a:buFont typeface="Arial"/>
              <a:buNone/>
            </a:pPr>
            <a:endParaRPr sz="1000" b="0" i="0" u="none" strike="noStrike" cap="none">
              <a:solidFill>
                <a:srgbClr val="26262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f4c7fb-5be7-48ae-9ddb-a5c46a443b58">
      <Terms xmlns="http://schemas.microsoft.com/office/infopath/2007/PartnerControls"/>
    </lcf76f155ced4ddcb4097134ff3c332f>
    <_Flow_SignoffStatus xmlns="80f4c7fb-5be7-48ae-9ddb-a5c46a443b58" xsi:nil="true"/>
    <TaxCatchAll xmlns="b39bf1ee-6b4f-479f-9ce9-7241d6522d55" xsi:nil="true"/>
    <_dlc_ExpireDateSaved xmlns="http://schemas.microsoft.com/sharepoint/v3" xsi:nil="true"/>
    <_dlc_ExpireDate xmlns="http://schemas.microsoft.com/sharepoint/v3">2025-10-06T08:23:06+00:00</_dlc_ExpireDat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4AE84F999B26149BAD494A5506E81F3" ma:contentTypeVersion="25" ma:contentTypeDescription="Create a new document." ma:contentTypeScope="" ma:versionID="cd295e73000c6148a28815fbef325cf0">
  <xsd:schema xmlns:xsd="http://www.w3.org/2001/XMLSchema" xmlns:xs="http://www.w3.org/2001/XMLSchema" xmlns:p="http://schemas.microsoft.com/office/2006/metadata/properties" xmlns:ns1="http://schemas.microsoft.com/sharepoint/v3" xmlns:ns2="80f4c7fb-5be7-48ae-9ddb-a5c46a443b58" xmlns:ns3="b39bf1ee-6b4f-479f-9ce9-7241d6522d55" targetNamespace="http://schemas.microsoft.com/office/2006/metadata/properties" ma:root="true" ma:fieldsID="443c52d966bc38211c74f43f1a24c477" ns1:_="" ns2:_="" ns3:_="">
    <xsd:import namespace="http://schemas.microsoft.com/sharepoint/v3"/>
    <xsd:import namespace="80f4c7fb-5be7-48ae-9ddb-a5c46a443b58"/>
    <xsd:import namespace="b39bf1ee-6b4f-479f-9ce9-7241d6522d55"/>
    <xsd:element name="properties">
      <xsd:complexType>
        <xsd:sequence>
          <xsd:element name="documentManagement">
            <xsd:complexType>
              <xsd:all>
                <xsd:element ref="ns2:MediaServiceMetadata" minOccurs="0"/>
                <xsd:element ref="ns2:MediaServiceFastMetadata" minOccurs="0"/>
                <xsd:element ref="ns1:_dlc_ExpireDateSaved" minOccurs="0"/>
                <xsd:element ref="ns1:_dlc_ExpireDate" minOccurs="0"/>
                <xsd:element ref="ns1:_dlc_Exempt"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_Flow_SignoffStatus" minOccurs="0"/>
                <xsd:element ref="ns2:MediaServiceLocation"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pireDateSaved" ma:index="10" nillable="true" ma:displayName="Original Expiration Date" ma:hidden="true" ma:internalName="_dlc_ExpireDateSaved" ma:readOnly="true">
      <xsd:simpleType>
        <xsd:restriction base="dms:DateTime"/>
      </xsd:simpleType>
    </xsd:element>
    <xsd:element name="_dlc_ExpireDate" ma:index="11" nillable="true" ma:displayName="Expiration Date" ma:description="" ma:hidden="true" ma:indexed="true" ma:internalName="_dlc_ExpireDate" ma:readOnly="true">
      <xsd:simpleType>
        <xsd:restriction base="dms:DateTime"/>
      </xsd:simpleType>
    </xsd:element>
    <xsd:element name="_dlc_Exempt" ma:index="12"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0f4c7fb-5be7-48ae-9ddb-a5c46a443b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556e139c-3976-4f37-8cfc-4ca6bb14bc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9bf1ee-6b4f-479f-9ce9-7241d6522d5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521ea0d-b711-45dc-8afd-6539f8507523}" ma:internalName="TaxCatchAll" ma:showField="CatchAllData" ma:web="b39bf1ee-6b4f-479f-9ce9-7241d6522d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AB0ABD-5AA8-45A3-91CE-A2680EB4CB68}">
  <ds:schemaRefs>
    <ds:schemaRef ds:uri="http://schemas.openxmlformats.org/package/2006/metadata/core-properties"/>
    <ds:schemaRef ds:uri="http://purl.org/dc/terms/"/>
    <ds:schemaRef ds:uri="http://purl.org/dc/elements/1.1/"/>
    <ds:schemaRef ds:uri="http://www.w3.org/XML/1998/namespace"/>
    <ds:schemaRef ds:uri="http://schemas.microsoft.com/office/infopath/2007/PartnerControls"/>
    <ds:schemaRef ds:uri="http://schemas.microsoft.com/office/2006/metadata/properties"/>
    <ds:schemaRef ds:uri="052835cd-1b05-4d87-be05-3fadb68b6607"/>
    <ds:schemaRef ds:uri="http://schemas.microsoft.com/office/2006/documentManagement/types"/>
    <ds:schemaRef ds:uri="http://purl.org/dc/dcmitype/"/>
  </ds:schemaRefs>
</ds:datastoreItem>
</file>

<file path=customXml/itemProps2.xml><?xml version="1.0" encoding="utf-8"?>
<ds:datastoreItem xmlns:ds="http://schemas.openxmlformats.org/officeDocument/2006/customXml" ds:itemID="{BEFFD8DB-95AF-42D7-808D-36F780C18259}"/>
</file>

<file path=customXml/itemProps3.xml><?xml version="1.0" encoding="utf-8"?>
<ds:datastoreItem xmlns:ds="http://schemas.openxmlformats.org/officeDocument/2006/customXml" ds:itemID="{76611B25-8A9A-4ECD-AAB9-FFE707E549E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3594</Words>
  <Application>Microsoft Macintosh PowerPoint</Application>
  <PresentationFormat>Widescreen</PresentationFormat>
  <Paragraphs>694</Paragraphs>
  <Slides>35</Slides>
  <Notes>35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35</vt:i4>
      </vt:variant>
    </vt:vector>
  </HeadingPairs>
  <TitlesOfParts>
    <vt:vector size="42" baseType="lpstr">
      <vt:lpstr>Arial</vt:lpstr>
      <vt:lpstr>Noto Sans Symbols</vt:lpstr>
      <vt:lpstr>Play</vt:lpstr>
      <vt:lpstr>Calibri</vt:lpstr>
      <vt:lpstr>Verdana</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Critical Questions for Road Fund Stakeholders and Managers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Sid Boubekeur</dc:creator>
  <cp:lastModifiedBy>Jose Cordovilla</cp:lastModifiedBy>
  <cp:revision>1</cp:revision>
  <dcterms:created xsi:type="dcterms:W3CDTF">2025-09-10T08:44:17Z</dcterms:created>
  <dcterms:modified xsi:type="dcterms:W3CDTF">2025-09-20T14:21:50Z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0x01010064AE84F999B26149BAD494A5506E81F3</vt:lpwstr>
  </property>
  <property fmtid="{D5CDD505-2E9C-101B-9397-08002B2CF9AE}" pid="3" name="MediaServiceImageTags">
    <vt:lpwstr/>
  </property>
  <property fmtid="{D5CDD505-2E9C-101B-9397-08002B2CF9AE}" pid="4" name="_dlc_policyId">
    <vt:lpwstr>/sites/FileTransfer/AFRICA</vt:lpwstr>
  </property>
  <property fmtid="{D5CDD505-2E9C-101B-9397-08002B2CF9AE}" pid="5" name="ItemRetentionFormula">
    <vt:lpwstr>&lt;formula id="Microsoft.Office.RecordsManagement.PolicyFeatures.Expiration.Formula.BuiltIn"&gt;&lt;number&gt;15&lt;/number&gt;&lt;property&gt;Created&lt;/property&gt;&lt;propertyId&gt;8c06beca-0777-48f7-91c7-6da68bc07b69&lt;/propertyId&gt;&lt;period&gt;days&lt;/period&gt;&lt;/formula&gt;</vt:lpwstr>
  </property>
</Properties>
</file>