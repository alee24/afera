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Play"/>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iQQbq7DZwTWgHuzdIbrk0i7H0W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8" Type="http://schemas.openxmlformats.org/officeDocument/2006/relationships/slide" Target="slides/slide3.xml"/><Relationship Id="rId21" Type="http://customschemas.google.com/relationships/presentationmetadata" Target="metadata"/><Relationship Id="rId3" Type="http://schemas.openxmlformats.org/officeDocument/2006/relationships/slideMaster" Target="slideMasters/slideMaster1.xml"/><Relationship Id="rId12" Type="http://schemas.openxmlformats.org/officeDocument/2006/relationships/slide" Target="slides/slide7.xml"/><Relationship Id="rId17" Type="http://schemas.openxmlformats.org/officeDocument/2006/relationships/slide" Target="slides/slide12.xml"/><Relationship Id="rId7" Type="http://schemas.openxmlformats.org/officeDocument/2006/relationships/slide" Target="slides/slide2.xml"/><Relationship Id="rId20" Type="http://schemas.openxmlformats.org/officeDocument/2006/relationships/font" Target="fonts/Play-bold.fntdata"/><Relationship Id="rId2" Type="http://schemas.openxmlformats.org/officeDocument/2006/relationships/presProps" Target="presProps.xml"/><Relationship Id="rId16" Type="http://schemas.openxmlformats.org/officeDocument/2006/relationships/slide" Target="slides/slide11.xml"/><Relationship Id="rId11" Type="http://schemas.openxmlformats.org/officeDocument/2006/relationships/slide" Target="slides/slide6.xml"/><Relationship Id="rId1" Type="http://schemas.openxmlformats.org/officeDocument/2006/relationships/theme" Target="theme/theme2.xml"/><Relationship Id="rId6" Type="http://schemas.openxmlformats.org/officeDocument/2006/relationships/slide" Target="slides/slide1.xml"/><Relationship Id="rId24" Type="http://schemas.openxmlformats.org/officeDocument/2006/relationships/customXml" Target="../customXml/item3.xml"/><Relationship Id="rId15" Type="http://schemas.openxmlformats.org/officeDocument/2006/relationships/slide" Target="slides/slide10.xml"/><Relationship Id="rId5" Type="http://schemas.openxmlformats.org/officeDocument/2006/relationships/notesMaster" Target="notesMasters/notesMaster1.xml"/><Relationship Id="rId23" Type="http://schemas.openxmlformats.org/officeDocument/2006/relationships/customXml" Target="../customXml/item2.xml"/><Relationship Id="rId10" Type="http://schemas.openxmlformats.org/officeDocument/2006/relationships/slide" Target="slides/slide5.xml"/><Relationship Id="rId19" Type="http://schemas.openxmlformats.org/officeDocument/2006/relationships/font" Target="fonts/Play-regular.fntdata"/><Relationship Id="rId4" Type="http://schemas.openxmlformats.org/officeDocument/2006/relationships/slideMaster" Target="slideMasters/slideMaster2.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6582182f26_1_3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6582182f26_1_3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g36582182f26_1_3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6582182f2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6582182f2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9" name="Google Shape;179;g36582182f2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6582182f26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5" name="Google Shape;185;g36582182f26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6582182f26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0102cde2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380102cde2d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5" name="Google Shape;195;g380102cde2d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80102cde2d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g380102cde2d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80102cde2d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0102cde2d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80102cde2d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380102cde2d_0_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80102cde2d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80102cde2d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g380102cde2d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80102cde2d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g380102cde2d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g380102cde2d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0102cde2d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g380102cde2d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380102cde2d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80102cde2d_0_4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80102cde2d_0_4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g380102cde2d_0_4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80102cde2d_0_4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g380102cde2d_0_4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g380102cde2d_0_4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0102cde2d_0_4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g380102cde2d_0_4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7" name="Google Shape;257;g380102cde2d_0_4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Imagen 1">
  <p:cSld name="Texto e Imagen 1">
    <p:spTree>
      <p:nvGrpSpPr>
        <p:cNvPr id="21" name="Shape 21"/>
        <p:cNvGrpSpPr/>
        <p:nvPr/>
      </p:nvGrpSpPr>
      <p:grpSpPr>
        <a:xfrm>
          <a:off x="0" y="0"/>
          <a:ext cx="0" cy="0"/>
          <a:chOff x="0" y="0"/>
          <a:chExt cx="0" cy="0"/>
        </a:xfrm>
      </p:grpSpPr>
      <p:sp>
        <p:nvSpPr>
          <p:cNvPr id="22" name="Google Shape;22;p19"/>
          <p:cNvSpPr/>
          <p:nvPr/>
        </p:nvSpPr>
        <p:spPr>
          <a:xfrm>
            <a:off x="2" y="3"/>
            <a:ext cx="194471" cy="1028733"/>
          </a:xfrm>
          <a:prstGeom prst="rect">
            <a:avLst/>
          </a:prstGeom>
          <a:solidFill>
            <a:srgbClr val="E2081E"/>
          </a:solidFill>
          <a:ln>
            <a:noFill/>
          </a:ln>
        </p:spPr>
        <p:txBody>
          <a:bodyPr anchorCtr="0" anchor="ctr" bIns="53625" lIns="107250" spcFirstLastPara="1" rIns="107250" wrap="square" tIns="536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Arial"/>
              <a:ea typeface="Arial"/>
              <a:cs typeface="Arial"/>
              <a:sym typeface="Arial"/>
            </a:endParaRPr>
          </a:p>
        </p:txBody>
      </p:sp>
      <p:cxnSp>
        <p:nvCxnSpPr>
          <p:cNvPr id="23" name="Google Shape;23;p19"/>
          <p:cNvCxnSpPr/>
          <p:nvPr/>
        </p:nvCxnSpPr>
        <p:spPr>
          <a:xfrm>
            <a:off x="378184" y="1013409"/>
            <a:ext cx="11109067" cy="0"/>
          </a:xfrm>
          <a:prstGeom prst="straightConnector1">
            <a:avLst/>
          </a:prstGeom>
          <a:noFill/>
          <a:ln cap="flat" cmpd="sng" w="19050">
            <a:solidFill>
              <a:srgbClr val="D8D8D8"/>
            </a:solidFill>
            <a:prstDash val="dot"/>
            <a:miter lim="800000"/>
            <a:headEnd len="sm" w="sm" type="none"/>
            <a:tailEnd len="sm" w="sm" type="none"/>
          </a:ln>
        </p:spPr>
      </p:cxnSp>
      <p:pic>
        <p:nvPicPr>
          <p:cNvPr descr="Home | SSATP" id="24" name="Google Shape;24;p19"/>
          <p:cNvPicPr preferRelativeResize="0"/>
          <p:nvPr/>
        </p:nvPicPr>
        <p:blipFill rotWithShape="1">
          <a:blip r:embed="rId2">
            <a:alphaModFix/>
          </a:blip>
          <a:srcRect b="0" l="0" r="0" t="0"/>
          <a:stretch/>
        </p:blipFill>
        <p:spPr>
          <a:xfrm>
            <a:off x="9006589" y="283908"/>
            <a:ext cx="1562044" cy="546716"/>
          </a:xfrm>
          <a:prstGeom prst="rect">
            <a:avLst/>
          </a:prstGeom>
          <a:noFill/>
          <a:ln>
            <a:noFill/>
          </a:ln>
        </p:spPr>
      </p:pic>
      <p:pic>
        <p:nvPicPr>
          <p:cNvPr descr="European Union Logo, symbol, meaning, history, PNG, brand" id="25" name="Google Shape;25;p19"/>
          <p:cNvPicPr preferRelativeResize="0"/>
          <p:nvPr/>
        </p:nvPicPr>
        <p:blipFill rotWithShape="1">
          <a:blip r:embed="rId3">
            <a:alphaModFix/>
          </a:blip>
          <a:srcRect b="23486" l="0" r="0" t="23355"/>
          <a:stretch/>
        </p:blipFill>
        <p:spPr>
          <a:xfrm>
            <a:off x="7253882" y="338983"/>
            <a:ext cx="1562045" cy="467082"/>
          </a:xfrm>
          <a:prstGeom prst="rect">
            <a:avLst/>
          </a:prstGeom>
          <a:noFill/>
          <a:ln>
            <a:noFill/>
          </a:ln>
        </p:spPr>
      </p:pic>
      <p:pic>
        <p:nvPicPr>
          <p:cNvPr descr="TYPSA, Técnica y Proyectos S.A. - Asociación Española del Hidrógeno" id="26" name="Google Shape;26;p19"/>
          <p:cNvPicPr preferRelativeResize="0"/>
          <p:nvPr/>
        </p:nvPicPr>
        <p:blipFill rotWithShape="1">
          <a:blip r:embed="rId4">
            <a:alphaModFix/>
          </a:blip>
          <a:srcRect b="0" l="0" r="0" t="0"/>
          <a:stretch/>
        </p:blipFill>
        <p:spPr>
          <a:xfrm>
            <a:off x="10568633" y="239881"/>
            <a:ext cx="1188011" cy="66528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 name="Shape 27"/>
        <p:cNvGrpSpPr/>
        <p:nvPr/>
      </p:nvGrpSpPr>
      <p:grpSpPr>
        <a:xfrm>
          <a:off x="0" y="0"/>
          <a:ext cx="0" cy="0"/>
          <a:chOff x="0" y="0"/>
          <a:chExt cx="0" cy="0"/>
        </a:xfrm>
      </p:grpSpPr>
      <p:sp>
        <p:nvSpPr>
          <p:cNvPr id="28" name="Google Shape;28;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0" name="Google Shape;3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p:nvPr>
            <p:ph idx="2" type="pic"/>
          </p:nvPr>
        </p:nvSpPr>
        <p:spPr>
          <a:xfrm>
            <a:off x="5183188" y="987425"/>
            <a:ext cx="6172200" cy="4873625"/>
          </a:xfrm>
          <a:prstGeom prst="rect">
            <a:avLst/>
          </a:prstGeom>
          <a:noFill/>
          <a:ln>
            <a:noFill/>
          </a:ln>
        </p:spPr>
      </p:sp>
      <p:sp>
        <p:nvSpPr>
          <p:cNvPr id="70" name="Google Shape;70;p2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2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Imagen 1">
  <p:cSld name="Texto e Imagen 1">
    <p:spTree>
      <p:nvGrpSpPr>
        <p:cNvPr id="92" name="Shape 92"/>
        <p:cNvGrpSpPr/>
        <p:nvPr/>
      </p:nvGrpSpPr>
      <p:grpSpPr>
        <a:xfrm>
          <a:off x="0" y="0"/>
          <a:ext cx="0" cy="0"/>
          <a:chOff x="0" y="0"/>
          <a:chExt cx="0" cy="0"/>
        </a:xfrm>
      </p:grpSpPr>
      <p:sp>
        <p:nvSpPr>
          <p:cNvPr id="93" name="Google Shape;93;g380102cde2d_0_500"/>
          <p:cNvSpPr/>
          <p:nvPr/>
        </p:nvSpPr>
        <p:spPr>
          <a:xfrm>
            <a:off x="2" y="3"/>
            <a:ext cx="194400" cy="1028700"/>
          </a:xfrm>
          <a:prstGeom prst="rect">
            <a:avLst/>
          </a:prstGeom>
          <a:solidFill>
            <a:srgbClr val="E2081E"/>
          </a:solidFill>
          <a:ln>
            <a:noFill/>
          </a:ln>
        </p:spPr>
        <p:txBody>
          <a:bodyPr anchorCtr="0" anchor="ctr" bIns="53625" lIns="107275" spcFirstLastPara="1" rIns="107275" wrap="square" tIns="536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Arial"/>
              <a:ea typeface="Arial"/>
              <a:cs typeface="Arial"/>
              <a:sym typeface="Arial"/>
            </a:endParaRPr>
          </a:p>
        </p:txBody>
      </p:sp>
      <p:cxnSp>
        <p:nvCxnSpPr>
          <p:cNvPr id="94" name="Google Shape;94;g380102cde2d_0_500"/>
          <p:cNvCxnSpPr/>
          <p:nvPr/>
        </p:nvCxnSpPr>
        <p:spPr>
          <a:xfrm>
            <a:off x="378184" y="1013409"/>
            <a:ext cx="11109300" cy="0"/>
          </a:xfrm>
          <a:prstGeom prst="straightConnector1">
            <a:avLst/>
          </a:prstGeom>
          <a:noFill/>
          <a:ln cap="flat" cmpd="sng" w="19075">
            <a:solidFill>
              <a:srgbClr val="D8D8D8"/>
            </a:solidFill>
            <a:prstDash val="dot"/>
            <a:miter lim="800000"/>
            <a:headEnd len="sm" w="sm" type="none"/>
            <a:tailEnd len="sm" w="sm" type="none"/>
          </a:ln>
        </p:spPr>
      </p:cxnSp>
      <p:pic>
        <p:nvPicPr>
          <p:cNvPr descr="Home | SSATP" id="95" name="Google Shape;95;g380102cde2d_0_500"/>
          <p:cNvPicPr preferRelativeResize="0"/>
          <p:nvPr/>
        </p:nvPicPr>
        <p:blipFill rotWithShape="1">
          <a:blip r:embed="rId2">
            <a:alphaModFix/>
          </a:blip>
          <a:srcRect b="0" l="0" r="0" t="0"/>
          <a:stretch/>
        </p:blipFill>
        <p:spPr>
          <a:xfrm>
            <a:off x="9006589" y="283908"/>
            <a:ext cx="1562044" cy="546716"/>
          </a:xfrm>
          <a:prstGeom prst="rect">
            <a:avLst/>
          </a:prstGeom>
          <a:noFill/>
          <a:ln>
            <a:noFill/>
          </a:ln>
        </p:spPr>
      </p:pic>
      <p:pic>
        <p:nvPicPr>
          <p:cNvPr descr="European Union Logo, symbol, meaning, history, PNG, brand" id="96" name="Google Shape;96;g380102cde2d_0_500"/>
          <p:cNvPicPr preferRelativeResize="0"/>
          <p:nvPr/>
        </p:nvPicPr>
        <p:blipFill rotWithShape="1">
          <a:blip r:embed="rId3">
            <a:alphaModFix/>
          </a:blip>
          <a:srcRect b="23486" l="0" r="0" t="23353"/>
          <a:stretch/>
        </p:blipFill>
        <p:spPr>
          <a:xfrm>
            <a:off x="7253882" y="338983"/>
            <a:ext cx="1562046" cy="467082"/>
          </a:xfrm>
          <a:prstGeom prst="rect">
            <a:avLst/>
          </a:prstGeom>
          <a:noFill/>
          <a:ln>
            <a:noFill/>
          </a:ln>
        </p:spPr>
      </p:pic>
      <p:pic>
        <p:nvPicPr>
          <p:cNvPr descr="TYPSA, Técnica y Proyectos S.A. - Asociación Española del Hidrógeno" id="97" name="Google Shape;97;g380102cde2d_0_500"/>
          <p:cNvPicPr preferRelativeResize="0"/>
          <p:nvPr/>
        </p:nvPicPr>
        <p:blipFill rotWithShape="1">
          <a:blip r:embed="rId4">
            <a:alphaModFix/>
          </a:blip>
          <a:srcRect b="0" l="0" r="0" t="0"/>
          <a:stretch/>
        </p:blipFill>
        <p:spPr>
          <a:xfrm>
            <a:off x="10568633" y="239881"/>
            <a:ext cx="1188011" cy="665286"/>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8" name="Shape 98"/>
        <p:cNvGrpSpPr/>
        <p:nvPr/>
      </p:nvGrpSpPr>
      <p:grpSpPr>
        <a:xfrm>
          <a:off x="0" y="0"/>
          <a:ext cx="0" cy="0"/>
          <a:chOff x="0" y="0"/>
          <a:chExt cx="0" cy="0"/>
        </a:xfrm>
      </p:grpSpPr>
      <p:sp>
        <p:nvSpPr>
          <p:cNvPr id="99" name="Google Shape;99;g380102cde2d_0_50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0" name="Google Shape;100;g380102cde2d_0_50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01" name="Google Shape;101;g380102cde2d_0_506"/>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2" name="Google Shape;102;g380102cde2d_0_506"/>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3" name="Google Shape;103;g380102cde2d_0_50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 name="Shape 104"/>
        <p:cNvGrpSpPr/>
        <p:nvPr/>
      </p:nvGrpSpPr>
      <p:grpSpPr>
        <a:xfrm>
          <a:off x="0" y="0"/>
          <a:ext cx="0" cy="0"/>
          <a:chOff x="0" y="0"/>
          <a:chExt cx="0" cy="0"/>
        </a:xfrm>
      </p:grpSpPr>
      <p:sp>
        <p:nvSpPr>
          <p:cNvPr id="105" name="Google Shape;105;g380102cde2d_0_512"/>
          <p:cNvSpPr txBox="1"/>
          <p:nvPr>
            <p:ph type="ctrTitle"/>
          </p:nvPr>
        </p:nvSpPr>
        <p:spPr>
          <a:xfrm>
            <a:off x="1524000" y="1122363"/>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6" name="Google Shape;106;g380102cde2d_0_512"/>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1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07" name="Google Shape;107;g380102cde2d_0_51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8" name="Google Shape;108;g380102cde2d_0_51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09" name="Google Shape;109;g380102cde2d_0_51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0" name="Shape 110"/>
        <p:cNvGrpSpPr/>
        <p:nvPr/>
      </p:nvGrpSpPr>
      <p:grpSpPr>
        <a:xfrm>
          <a:off x="0" y="0"/>
          <a:ext cx="0" cy="0"/>
          <a:chOff x="0" y="0"/>
          <a:chExt cx="0" cy="0"/>
        </a:xfrm>
      </p:grpSpPr>
      <p:sp>
        <p:nvSpPr>
          <p:cNvPr id="111" name="Google Shape;111;g380102cde2d_0_518"/>
          <p:cNvSpPr txBox="1"/>
          <p:nvPr>
            <p:ph type="title"/>
          </p:nvPr>
        </p:nvSpPr>
        <p:spPr>
          <a:xfrm>
            <a:off x="831850" y="1709738"/>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2" name="Google Shape;112;g380102cde2d_0_518"/>
          <p:cNvSpPr txBox="1"/>
          <p:nvPr>
            <p:ph idx="1" type="body"/>
          </p:nvPr>
        </p:nvSpPr>
        <p:spPr>
          <a:xfrm>
            <a:off x="831850" y="4589463"/>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1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900"/>
              <a:buNone/>
              <a:defRPr sz="19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113" name="Google Shape;113;g380102cde2d_0_518"/>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4" name="Google Shape;114;g380102cde2d_0_518"/>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5" name="Google Shape;115;g380102cde2d_0_5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6" name="Shape 116"/>
        <p:cNvGrpSpPr/>
        <p:nvPr/>
      </p:nvGrpSpPr>
      <p:grpSpPr>
        <a:xfrm>
          <a:off x="0" y="0"/>
          <a:ext cx="0" cy="0"/>
          <a:chOff x="0" y="0"/>
          <a:chExt cx="0" cy="0"/>
        </a:xfrm>
      </p:grpSpPr>
      <p:sp>
        <p:nvSpPr>
          <p:cNvPr id="117" name="Google Shape;117;g380102cde2d_0_5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18" name="Google Shape;118;g380102cde2d_0_524"/>
          <p:cNvSpPr txBox="1"/>
          <p:nvPr>
            <p:ph idx="1" type="body"/>
          </p:nvPr>
        </p:nvSpPr>
        <p:spPr>
          <a:xfrm>
            <a:off x="838200" y="1825625"/>
            <a:ext cx="51816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19" name="Google Shape;119;g380102cde2d_0_524"/>
          <p:cNvSpPr txBox="1"/>
          <p:nvPr>
            <p:ph idx="2" type="body"/>
          </p:nvPr>
        </p:nvSpPr>
        <p:spPr>
          <a:xfrm>
            <a:off x="6172200" y="1825625"/>
            <a:ext cx="5181600" cy="43512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0" name="Google Shape;120;g380102cde2d_0_52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1" name="Google Shape;121;g380102cde2d_0_52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2" name="Google Shape;122;g380102cde2d_0_52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3" name="Shape 123"/>
        <p:cNvGrpSpPr/>
        <p:nvPr/>
      </p:nvGrpSpPr>
      <p:grpSpPr>
        <a:xfrm>
          <a:off x="0" y="0"/>
          <a:ext cx="0" cy="0"/>
          <a:chOff x="0" y="0"/>
          <a:chExt cx="0" cy="0"/>
        </a:xfrm>
      </p:grpSpPr>
      <p:sp>
        <p:nvSpPr>
          <p:cNvPr id="124" name="Google Shape;124;g380102cde2d_0_531"/>
          <p:cNvSpPr txBox="1"/>
          <p:nvPr>
            <p:ph type="title"/>
          </p:nvPr>
        </p:nvSpPr>
        <p:spPr>
          <a:xfrm>
            <a:off x="839788"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25" name="Google Shape;125;g380102cde2d_0_531"/>
          <p:cNvSpPr txBox="1"/>
          <p:nvPr>
            <p:ph idx="1" type="body"/>
          </p:nvPr>
        </p:nvSpPr>
        <p:spPr>
          <a:xfrm>
            <a:off x="839788" y="1681163"/>
            <a:ext cx="5157900" cy="8241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6" name="Google Shape;126;g380102cde2d_0_531"/>
          <p:cNvSpPr txBox="1"/>
          <p:nvPr>
            <p:ph idx="2" type="body"/>
          </p:nvPr>
        </p:nvSpPr>
        <p:spPr>
          <a:xfrm>
            <a:off x="839788" y="2505075"/>
            <a:ext cx="5157900" cy="36849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7" name="Google Shape;127;g380102cde2d_0_531"/>
          <p:cNvSpPr txBox="1"/>
          <p:nvPr>
            <p:ph idx="3" type="body"/>
          </p:nvPr>
        </p:nvSpPr>
        <p:spPr>
          <a:xfrm>
            <a:off x="6172200" y="1681163"/>
            <a:ext cx="5183100" cy="8241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1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900"/>
              <a:buNone/>
              <a:defRPr b="1" sz="19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8" name="Google Shape;128;g380102cde2d_0_531"/>
          <p:cNvSpPr txBox="1"/>
          <p:nvPr>
            <p:ph idx="4" type="body"/>
          </p:nvPr>
        </p:nvSpPr>
        <p:spPr>
          <a:xfrm>
            <a:off x="6172200" y="2505075"/>
            <a:ext cx="5183100" cy="36849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29" name="Google Shape;129;g380102cde2d_0_53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0" name="Google Shape;130;g380102cde2d_0_53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1" name="Google Shape;131;g380102cde2d_0_53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2" name="Shape 132"/>
        <p:cNvGrpSpPr/>
        <p:nvPr/>
      </p:nvGrpSpPr>
      <p:grpSpPr>
        <a:xfrm>
          <a:off x="0" y="0"/>
          <a:ext cx="0" cy="0"/>
          <a:chOff x="0" y="0"/>
          <a:chExt cx="0" cy="0"/>
        </a:xfrm>
      </p:grpSpPr>
      <p:sp>
        <p:nvSpPr>
          <p:cNvPr id="133" name="Google Shape;133;g380102cde2d_0_54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4" name="Google Shape;134;g380102cde2d_0_540"/>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5" name="Google Shape;135;g380102cde2d_0_540"/>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6" name="Google Shape;136;g380102cde2d_0_54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7" name="Shape 137"/>
        <p:cNvGrpSpPr/>
        <p:nvPr/>
      </p:nvGrpSpPr>
      <p:grpSpPr>
        <a:xfrm>
          <a:off x="0" y="0"/>
          <a:ext cx="0" cy="0"/>
          <a:chOff x="0" y="0"/>
          <a:chExt cx="0" cy="0"/>
        </a:xfrm>
      </p:grpSpPr>
      <p:sp>
        <p:nvSpPr>
          <p:cNvPr id="138" name="Google Shape;138;g380102cde2d_0_545"/>
          <p:cNvSpPr txBox="1"/>
          <p:nvPr>
            <p:ph type="title"/>
          </p:nvPr>
        </p:nvSpPr>
        <p:spPr>
          <a:xfrm>
            <a:off x="839788" y="457200"/>
            <a:ext cx="3932100" cy="1600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39" name="Google Shape;139;g380102cde2d_0_545"/>
          <p:cNvSpPr txBox="1"/>
          <p:nvPr>
            <p:ph idx="1" type="body"/>
          </p:nvPr>
        </p:nvSpPr>
        <p:spPr>
          <a:xfrm>
            <a:off x="5183188" y="987425"/>
            <a:ext cx="6172500" cy="487350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1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0" name="Google Shape;140;g380102cde2d_0_545"/>
          <p:cNvSpPr txBox="1"/>
          <p:nvPr>
            <p:ph idx="2"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141" name="Google Shape;141;g380102cde2d_0_54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2" name="Google Shape;142;g380102cde2d_0_54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3" name="Google Shape;143;g380102cde2d_0_54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4" name="Shape 144"/>
        <p:cNvGrpSpPr/>
        <p:nvPr/>
      </p:nvGrpSpPr>
      <p:grpSpPr>
        <a:xfrm>
          <a:off x="0" y="0"/>
          <a:ext cx="0" cy="0"/>
          <a:chOff x="0" y="0"/>
          <a:chExt cx="0" cy="0"/>
        </a:xfrm>
      </p:grpSpPr>
      <p:sp>
        <p:nvSpPr>
          <p:cNvPr id="145" name="Google Shape;145;g380102cde2d_0_552"/>
          <p:cNvSpPr txBox="1"/>
          <p:nvPr>
            <p:ph type="title"/>
          </p:nvPr>
        </p:nvSpPr>
        <p:spPr>
          <a:xfrm>
            <a:off x="839788" y="457200"/>
            <a:ext cx="3932100" cy="1600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6" name="Google Shape;146;g380102cde2d_0_552"/>
          <p:cNvSpPr/>
          <p:nvPr>
            <p:ph idx="2" type="pic"/>
          </p:nvPr>
        </p:nvSpPr>
        <p:spPr>
          <a:xfrm>
            <a:off x="5183188" y="987425"/>
            <a:ext cx="6172500" cy="4873500"/>
          </a:xfrm>
          <a:prstGeom prst="rect">
            <a:avLst/>
          </a:prstGeom>
          <a:noFill/>
          <a:ln>
            <a:noFill/>
          </a:ln>
        </p:spPr>
      </p:sp>
      <p:sp>
        <p:nvSpPr>
          <p:cNvPr id="147" name="Google Shape;147;g380102cde2d_0_552"/>
          <p:cNvSpPr txBox="1"/>
          <p:nvPr>
            <p:ph idx="1" type="body"/>
          </p:nvPr>
        </p:nvSpPr>
        <p:spPr>
          <a:xfrm>
            <a:off x="839788"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1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500"/>
              <a:buNone/>
              <a:defRPr sz="15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100"/>
              <a:buNone/>
              <a:defRPr sz="1100"/>
            </a:lvl4pPr>
            <a:lvl5pPr indent="-228600" lvl="4" marL="2286000" algn="l">
              <a:lnSpc>
                <a:spcPct val="90000"/>
              </a:lnSpc>
              <a:spcBef>
                <a:spcPts val="500"/>
              </a:spcBef>
              <a:spcAft>
                <a:spcPts val="0"/>
              </a:spcAft>
              <a:buClr>
                <a:schemeClr val="dk1"/>
              </a:buClr>
              <a:buSzPts val="1100"/>
              <a:buNone/>
              <a:defRPr sz="1100"/>
            </a:lvl5pPr>
            <a:lvl6pPr indent="-228600" lvl="5" marL="2743200" algn="l">
              <a:lnSpc>
                <a:spcPct val="90000"/>
              </a:lnSpc>
              <a:spcBef>
                <a:spcPts val="500"/>
              </a:spcBef>
              <a:spcAft>
                <a:spcPts val="0"/>
              </a:spcAft>
              <a:buClr>
                <a:schemeClr val="dk1"/>
              </a:buClr>
              <a:buSzPts val="1100"/>
              <a:buNone/>
              <a:defRPr sz="1100"/>
            </a:lvl6pPr>
            <a:lvl7pPr indent="-228600" lvl="6" marL="3200400" algn="l">
              <a:lnSpc>
                <a:spcPct val="90000"/>
              </a:lnSpc>
              <a:spcBef>
                <a:spcPts val="500"/>
              </a:spcBef>
              <a:spcAft>
                <a:spcPts val="0"/>
              </a:spcAft>
              <a:buClr>
                <a:schemeClr val="dk1"/>
              </a:buClr>
              <a:buSzPts val="1100"/>
              <a:buNone/>
              <a:defRPr sz="1100"/>
            </a:lvl7pPr>
            <a:lvl8pPr indent="-228600" lvl="7" marL="3657600" algn="l">
              <a:lnSpc>
                <a:spcPct val="90000"/>
              </a:lnSpc>
              <a:spcBef>
                <a:spcPts val="500"/>
              </a:spcBef>
              <a:spcAft>
                <a:spcPts val="0"/>
              </a:spcAft>
              <a:buClr>
                <a:schemeClr val="dk1"/>
              </a:buClr>
              <a:buSzPts val="1100"/>
              <a:buNone/>
              <a:defRPr sz="1100"/>
            </a:lvl8pPr>
            <a:lvl9pPr indent="-228600" lvl="8" marL="4114800" algn="l">
              <a:lnSpc>
                <a:spcPct val="90000"/>
              </a:lnSpc>
              <a:spcBef>
                <a:spcPts val="500"/>
              </a:spcBef>
              <a:spcAft>
                <a:spcPts val="0"/>
              </a:spcAft>
              <a:buClr>
                <a:schemeClr val="dk1"/>
              </a:buClr>
              <a:buSzPts val="1100"/>
              <a:buNone/>
              <a:defRPr sz="1100"/>
            </a:lvl9pPr>
          </a:lstStyle>
          <a:p/>
        </p:txBody>
      </p:sp>
      <p:sp>
        <p:nvSpPr>
          <p:cNvPr id="148" name="Google Shape;148;g380102cde2d_0_552"/>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49" name="Google Shape;149;g380102cde2d_0_552"/>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0" name="Google Shape;150;g380102cde2d_0_55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1" name="Shape 151"/>
        <p:cNvGrpSpPr/>
        <p:nvPr/>
      </p:nvGrpSpPr>
      <p:grpSpPr>
        <a:xfrm>
          <a:off x="0" y="0"/>
          <a:ext cx="0" cy="0"/>
          <a:chOff x="0" y="0"/>
          <a:chExt cx="0" cy="0"/>
        </a:xfrm>
      </p:grpSpPr>
      <p:sp>
        <p:nvSpPr>
          <p:cNvPr id="152" name="Google Shape;152;g380102cde2d_0_55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3" name="Google Shape;153;g380102cde2d_0_559"/>
          <p:cNvSpPr txBox="1"/>
          <p:nvPr>
            <p:ph idx="1" type="body"/>
          </p:nvPr>
        </p:nvSpPr>
        <p:spPr>
          <a:xfrm rot="5400000">
            <a:off x="3920400" y="-1256575"/>
            <a:ext cx="4351200" cy="105156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54" name="Google Shape;154;g380102cde2d_0_559"/>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5" name="Google Shape;155;g380102cde2d_0_559"/>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6" name="Google Shape;156;g380102cde2d_0_559"/>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7" name="Shape 157"/>
        <p:cNvGrpSpPr/>
        <p:nvPr/>
      </p:nvGrpSpPr>
      <p:grpSpPr>
        <a:xfrm>
          <a:off x="0" y="0"/>
          <a:ext cx="0" cy="0"/>
          <a:chOff x="0" y="0"/>
          <a:chExt cx="0" cy="0"/>
        </a:xfrm>
      </p:grpSpPr>
      <p:sp>
        <p:nvSpPr>
          <p:cNvPr id="158" name="Google Shape;158;g380102cde2d_0_565"/>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9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59" name="Google Shape;159;g380102cde2d_0_565"/>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9250" lvl="0" marL="457200" algn="l">
              <a:lnSpc>
                <a:spcPct val="90000"/>
              </a:lnSpc>
              <a:spcBef>
                <a:spcPts val="1100"/>
              </a:spcBef>
              <a:spcAft>
                <a:spcPts val="0"/>
              </a:spcAft>
              <a:buClr>
                <a:schemeClr val="dk1"/>
              </a:buClr>
              <a:buSzPts val="1900"/>
              <a:buChar char="•"/>
              <a:defRPr/>
            </a:lvl1pPr>
            <a:lvl2pPr indent="-349250" lvl="1" marL="914400" algn="l">
              <a:lnSpc>
                <a:spcPct val="90000"/>
              </a:lnSpc>
              <a:spcBef>
                <a:spcPts val="500"/>
              </a:spcBef>
              <a:spcAft>
                <a:spcPts val="0"/>
              </a:spcAft>
              <a:buClr>
                <a:schemeClr val="dk1"/>
              </a:buClr>
              <a:buSzPts val="1900"/>
              <a:buChar char="•"/>
              <a:defRPr/>
            </a:lvl2pPr>
            <a:lvl3pPr indent="-349250" lvl="2" marL="1371600" algn="l">
              <a:lnSpc>
                <a:spcPct val="90000"/>
              </a:lnSpc>
              <a:spcBef>
                <a:spcPts val="500"/>
              </a:spcBef>
              <a:spcAft>
                <a:spcPts val="0"/>
              </a:spcAft>
              <a:buClr>
                <a:schemeClr val="dk1"/>
              </a:buClr>
              <a:buSzPts val="1900"/>
              <a:buChar char="•"/>
              <a:defRPr/>
            </a:lvl3pPr>
            <a:lvl4pPr indent="-349250" lvl="3" marL="1828800" algn="l">
              <a:lnSpc>
                <a:spcPct val="90000"/>
              </a:lnSpc>
              <a:spcBef>
                <a:spcPts val="500"/>
              </a:spcBef>
              <a:spcAft>
                <a:spcPts val="0"/>
              </a:spcAft>
              <a:buClr>
                <a:schemeClr val="dk1"/>
              </a:buClr>
              <a:buSzPts val="1900"/>
              <a:buChar char="•"/>
              <a:defRPr/>
            </a:lvl4pPr>
            <a:lvl5pPr indent="-349250" lvl="4" marL="2286000" algn="l">
              <a:lnSpc>
                <a:spcPct val="90000"/>
              </a:lnSpc>
              <a:spcBef>
                <a:spcPts val="500"/>
              </a:spcBef>
              <a:spcAft>
                <a:spcPts val="0"/>
              </a:spcAft>
              <a:buClr>
                <a:schemeClr val="dk1"/>
              </a:buClr>
              <a:buSzPts val="1900"/>
              <a:buChar char="•"/>
              <a:defRPr/>
            </a:lvl5pPr>
            <a:lvl6pPr indent="-349250" lvl="5" marL="2743200" algn="l">
              <a:lnSpc>
                <a:spcPct val="90000"/>
              </a:lnSpc>
              <a:spcBef>
                <a:spcPts val="500"/>
              </a:spcBef>
              <a:spcAft>
                <a:spcPts val="0"/>
              </a:spcAft>
              <a:buClr>
                <a:schemeClr val="dk1"/>
              </a:buClr>
              <a:buSzPts val="1900"/>
              <a:buChar char="•"/>
              <a:defRPr/>
            </a:lvl6pPr>
            <a:lvl7pPr indent="-349250" lvl="6" marL="3200400" algn="l">
              <a:lnSpc>
                <a:spcPct val="90000"/>
              </a:lnSpc>
              <a:spcBef>
                <a:spcPts val="500"/>
              </a:spcBef>
              <a:spcAft>
                <a:spcPts val="0"/>
              </a:spcAft>
              <a:buClr>
                <a:schemeClr val="dk1"/>
              </a:buClr>
              <a:buSzPts val="1900"/>
              <a:buChar char="•"/>
              <a:defRPr/>
            </a:lvl7pPr>
            <a:lvl8pPr indent="-349250" lvl="7" marL="3657600" algn="l">
              <a:lnSpc>
                <a:spcPct val="90000"/>
              </a:lnSpc>
              <a:spcBef>
                <a:spcPts val="500"/>
              </a:spcBef>
              <a:spcAft>
                <a:spcPts val="0"/>
              </a:spcAft>
              <a:buClr>
                <a:schemeClr val="dk1"/>
              </a:buClr>
              <a:buSzPts val="1900"/>
              <a:buChar char="•"/>
              <a:defRPr/>
            </a:lvl8pPr>
            <a:lvl9pPr indent="-349250" lvl="8" marL="4114800" algn="l">
              <a:lnSpc>
                <a:spcPct val="90000"/>
              </a:lnSpc>
              <a:spcBef>
                <a:spcPts val="500"/>
              </a:spcBef>
              <a:spcAft>
                <a:spcPts val="0"/>
              </a:spcAft>
              <a:buClr>
                <a:schemeClr val="dk1"/>
              </a:buClr>
              <a:buSzPts val="1900"/>
              <a:buChar char="•"/>
              <a:defRPr/>
            </a:lvl9pPr>
          </a:lstStyle>
          <a:p/>
        </p:txBody>
      </p:sp>
      <p:sp>
        <p:nvSpPr>
          <p:cNvPr id="160" name="Google Shape;160;g380102cde2d_0_565"/>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61" name="Google Shape;161;g380102cde2d_0_565"/>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500"/>
              <a:buNone/>
              <a:defRPr/>
            </a:lvl1pPr>
            <a:lvl2pPr lvl="1" algn="l">
              <a:lnSpc>
                <a:spcPct val="100000"/>
              </a:lnSpc>
              <a:spcBef>
                <a:spcPts val="0"/>
              </a:spcBef>
              <a:spcAft>
                <a:spcPts val="0"/>
              </a:spcAft>
              <a:buSzPts val="1500"/>
              <a:buNone/>
              <a:defRPr/>
            </a:lvl2pPr>
            <a:lvl3pPr lvl="2" algn="l">
              <a:lnSpc>
                <a:spcPct val="100000"/>
              </a:lnSpc>
              <a:spcBef>
                <a:spcPts val="0"/>
              </a:spcBef>
              <a:spcAft>
                <a:spcPts val="0"/>
              </a:spcAft>
              <a:buSzPts val="1500"/>
              <a:buNone/>
              <a:defRPr/>
            </a:lvl3pPr>
            <a:lvl4pPr lvl="3" algn="l">
              <a:lnSpc>
                <a:spcPct val="100000"/>
              </a:lnSpc>
              <a:spcBef>
                <a:spcPts val="0"/>
              </a:spcBef>
              <a:spcAft>
                <a:spcPts val="0"/>
              </a:spcAft>
              <a:buSzPts val="1500"/>
              <a:buNone/>
              <a:defRPr/>
            </a:lvl4pPr>
            <a:lvl5pPr lvl="4" algn="l">
              <a:lnSpc>
                <a:spcPct val="100000"/>
              </a:lnSpc>
              <a:spcBef>
                <a:spcPts val="0"/>
              </a:spcBef>
              <a:spcAft>
                <a:spcPts val="0"/>
              </a:spcAft>
              <a:buSzPts val="1500"/>
              <a:buNone/>
              <a:defRPr/>
            </a:lvl5pPr>
            <a:lvl6pPr lvl="5" algn="l">
              <a:lnSpc>
                <a:spcPct val="100000"/>
              </a:lnSpc>
              <a:spcBef>
                <a:spcPts val="0"/>
              </a:spcBef>
              <a:spcAft>
                <a:spcPts val="0"/>
              </a:spcAft>
              <a:buSzPts val="1500"/>
              <a:buNone/>
              <a:defRPr/>
            </a:lvl6pPr>
            <a:lvl7pPr lvl="6" algn="l">
              <a:lnSpc>
                <a:spcPct val="100000"/>
              </a:lnSpc>
              <a:spcBef>
                <a:spcPts val="0"/>
              </a:spcBef>
              <a:spcAft>
                <a:spcPts val="0"/>
              </a:spcAft>
              <a:buSzPts val="1500"/>
              <a:buNone/>
              <a:defRPr/>
            </a:lvl7pPr>
            <a:lvl8pPr lvl="7" algn="l">
              <a:lnSpc>
                <a:spcPct val="100000"/>
              </a:lnSpc>
              <a:spcBef>
                <a:spcPts val="0"/>
              </a:spcBef>
              <a:spcAft>
                <a:spcPts val="0"/>
              </a:spcAft>
              <a:buSzPts val="1500"/>
              <a:buNone/>
              <a:defRPr/>
            </a:lvl8pPr>
            <a:lvl9pPr lvl="8" algn="l">
              <a:lnSpc>
                <a:spcPct val="100000"/>
              </a:lnSpc>
              <a:spcBef>
                <a:spcPts val="0"/>
              </a:spcBef>
              <a:spcAft>
                <a:spcPts val="0"/>
              </a:spcAft>
              <a:buSzPts val="1500"/>
              <a:buNone/>
              <a:defRPr/>
            </a:lvl9pPr>
          </a:lstStyle>
          <a:p/>
        </p:txBody>
      </p:sp>
      <p:sp>
        <p:nvSpPr>
          <p:cNvPr id="162" name="Google Shape;162;g380102cde2d_0_56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g380102cde2d_0_49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88" name="Google Shape;88;g380102cde2d_0_49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1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9250" lvl="3" marL="1828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4pPr>
            <a:lvl5pPr indent="-349250" lvl="4" marL="22860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5pPr>
            <a:lvl6pPr indent="-349250" lvl="5" marL="27432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6pPr>
            <a:lvl7pPr indent="-349250" lvl="6" marL="32004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7pPr>
            <a:lvl8pPr indent="-349250" lvl="7" marL="36576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8pPr>
            <a:lvl9pPr indent="-349250" lvl="8" marL="4114800" marR="0" rtl="0" algn="l">
              <a:lnSpc>
                <a:spcPct val="90000"/>
              </a:lnSpc>
              <a:spcBef>
                <a:spcPts val="500"/>
              </a:spcBef>
              <a:spcAft>
                <a:spcPts val="0"/>
              </a:spcAft>
              <a:buClr>
                <a:schemeClr val="dk1"/>
              </a:buClr>
              <a:buSzPts val="1900"/>
              <a:buFont typeface="Arial"/>
              <a:buChar char="•"/>
              <a:defRPr b="0" i="0" sz="1900" u="none" cap="none" strike="noStrike">
                <a:solidFill>
                  <a:schemeClr val="dk1"/>
                </a:solidFill>
                <a:latin typeface="Arial"/>
                <a:ea typeface="Arial"/>
                <a:cs typeface="Arial"/>
                <a:sym typeface="Arial"/>
              </a:defRPr>
            </a:lvl9pPr>
          </a:lstStyle>
          <a:p/>
        </p:txBody>
      </p:sp>
      <p:sp>
        <p:nvSpPr>
          <p:cNvPr id="89" name="Google Shape;89;g380102cde2d_0_494"/>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90" name="Google Shape;90;g380102cde2d_0_494"/>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
        <p:nvSpPr>
          <p:cNvPr id="91" name="Google Shape;91;g380102cde2d_0_49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
          <p:cNvSpPr txBox="1"/>
          <p:nvPr>
            <p:ph idx="1" type="body"/>
          </p:nvPr>
        </p:nvSpPr>
        <p:spPr>
          <a:xfrm>
            <a:off x="838200" y="1601885"/>
            <a:ext cx="10515600" cy="2753100"/>
          </a:xfrm>
          <a:prstGeom prst="rect">
            <a:avLst/>
          </a:prstGeom>
          <a:noFill/>
          <a:ln>
            <a:noFill/>
          </a:ln>
        </p:spPr>
        <p:txBody>
          <a:bodyPr anchorCtr="0" anchor="t" bIns="45700" lIns="91425" spcFirstLastPara="1" rIns="91425" wrap="square" tIns="45700">
            <a:normAutofit fontScale="25000" lnSpcReduction="20000"/>
          </a:bodyPr>
          <a:lstStyle/>
          <a:p>
            <a:pPr indent="0" lvl="0" marL="114300" rtl="0" algn="ctr">
              <a:lnSpc>
                <a:spcPct val="200000"/>
              </a:lnSpc>
              <a:spcBef>
                <a:spcPts val="1000"/>
              </a:spcBef>
              <a:spcAft>
                <a:spcPts val="0"/>
              </a:spcAft>
              <a:buSzPts val="486"/>
              <a:buNone/>
            </a:pPr>
            <a:r>
              <a:rPr b="1" lang="en-GB" sz="10073"/>
              <a:t>Technical Assistance to Support the Africa Transport Policy Program</a:t>
            </a:r>
            <a:r>
              <a:rPr lang="en-GB" sz="10073"/>
              <a:t> </a:t>
            </a:r>
            <a:r>
              <a:rPr b="1" lang="en-GB" sz="10073"/>
              <a:t>(SSATP) Fourth Development Plan (DP4) Implementation</a:t>
            </a:r>
            <a:endParaRPr b="1" sz="8330">
              <a:solidFill>
                <a:srgbClr val="E2081E"/>
              </a:solidFill>
            </a:endParaRPr>
          </a:p>
          <a:p>
            <a:pPr indent="0" lvl="0" marL="114300" rtl="0" algn="ctr">
              <a:lnSpc>
                <a:spcPct val="200000"/>
              </a:lnSpc>
              <a:spcBef>
                <a:spcPts val="1000"/>
              </a:spcBef>
              <a:spcAft>
                <a:spcPts val="0"/>
              </a:spcAft>
              <a:buSzPts val="486"/>
              <a:buNone/>
            </a:pPr>
            <a:r>
              <a:t/>
            </a:r>
            <a:endParaRPr b="1" sz="8330">
              <a:solidFill>
                <a:srgbClr val="E2081E"/>
              </a:solidFill>
            </a:endParaRPr>
          </a:p>
          <a:p>
            <a:pPr indent="0" lvl="0" marL="114300" rtl="0" algn="ctr">
              <a:lnSpc>
                <a:spcPct val="90000"/>
              </a:lnSpc>
              <a:spcBef>
                <a:spcPts val="1000"/>
              </a:spcBef>
              <a:spcAft>
                <a:spcPts val="0"/>
              </a:spcAft>
              <a:buSzPts val="486"/>
              <a:buNone/>
            </a:pPr>
            <a:r>
              <a:rPr b="1" lang="en-GB" sz="8330">
                <a:solidFill>
                  <a:srgbClr val="E2081E"/>
                </a:solidFill>
              </a:rPr>
              <a:t>WORKING SESSIONS</a:t>
            </a:r>
            <a:endParaRPr b="1" sz="8330">
              <a:solidFill>
                <a:srgbClr val="E2081E"/>
              </a:solidFill>
            </a:endParaRPr>
          </a:p>
          <a:p>
            <a:pPr indent="0" lvl="0" marL="0" rtl="0" algn="l">
              <a:lnSpc>
                <a:spcPct val="90000"/>
              </a:lnSpc>
              <a:spcBef>
                <a:spcPts val="1000"/>
              </a:spcBef>
              <a:spcAft>
                <a:spcPts val="0"/>
              </a:spcAft>
              <a:buSzPts val="486"/>
              <a:buNone/>
            </a:pPr>
            <a:r>
              <a:t/>
            </a:r>
            <a:endParaRPr b="1" sz="8330">
              <a:solidFill>
                <a:srgbClr val="E2081E"/>
              </a:solidFill>
            </a:endParaRPr>
          </a:p>
          <a:p>
            <a:pPr indent="0" lvl="0" marL="457200" rtl="0" algn="ctr">
              <a:lnSpc>
                <a:spcPct val="100000"/>
              </a:lnSpc>
              <a:spcBef>
                <a:spcPts val="0"/>
              </a:spcBef>
              <a:spcAft>
                <a:spcPts val="0"/>
              </a:spcAft>
              <a:buNone/>
            </a:pPr>
            <a:r>
              <a:rPr i="1" lang="en-GB" sz="6800"/>
              <a:t>17 September 2025</a:t>
            </a:r>
            <a:endParaRPr i="1" sz="6800"/>
          </a:p>
          <a:p>
            <a:pPr indent="0" lvl="0" marL="114300" rtl="0" algn="ctr">
              <a:lnSpc>
                <a:spcPct val="90000"/>
              </a:lnSpc>
              <a:spcBef>
                <a:spcPts val="1000"/>
              </a:spcBef>
              <a:spcAft>
                <a:spcPts val="0"/>
              </a:spcAft>
              <a:buSzPts val="486"/>
              <a:buNone/>
            </a:pPr>
            <a:r>
              <a:t/>
            </a:r>
            <a:endParaRPr b="1" sz="8330">
              <a:solidFill>
                <a:srgbClr val="E2081E"/>
              </a:solidFill>
            </a:endParaRPr>
          </a:p>
        </p:txBody>
      </p:sp>
      <p:pic>
        <p:nvPicPr>
          <p:cNvPr id="168" name="Google Shape;168;p1"/>
          <p:cNvPicPr preferRelativeResize="0"/>
          <p:nvPr/>
        </p:nvPicPr>
        <p:blipFill rotWithShape="1">
          <a:blip r:embed="rId3">
            <a:alphaModFix/>
          </a:blip>
          <a:srcRect b="0" l="0" r="0" t="0"/>
          <a:stretch/>
        </p:blipFill>
        <p:spPr>
          <a:xfrm>
            <a:off x="838200" y="203200"/>
            <a:ext cx="10515600" cy="1132114"/>
          </a:xfrm>
          <a:prstGeom prst="rect">
            <a:avLst/>
          </a:prstGeom>
          <a:noFill/>
          <a:ln>
            <a:noFill/>
          </a:ln>
        </p:spPr>
      </p:pic>
      <p:sp>
        <p:nvSpPr>
          <p:cNvPr id="169" name="Google Shape;169;p1"/>
          <p:cNvSpPr txBox="1"/>
          <p:nvPr/>
        </p:nvSpPr>
        <p:spPr>
          <a:xfrm>
            <a:off x="838200" y="4621525"/>
            <a:ext cx="5698800" cy="215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chemeClr val="dk1"/>
                </a:solidFill>
              </a:rPr>
              <a:t>Focus topics: </a:t>
            </a:r>
            <a:endParaRPr sz="2000">
              <a:solidFill>
                <a:schemeClr val="dk1"/>
              </a:solidFill>
            </a:endParaRPr>
          </a:p>
          <a:p>
            <a:pPr indent="-355600" lvl="0" marL="457200" rtl="0" algn="l">
              <a:lnSpc>
                <a:spcPct val="115000"/>
              </a:lnSpc>
              <a:spcBef>
                <a:spcPts val="1000"/>
              </a:spcBef>
              <a:spcAft>
                <a:spcPts val="0"/>
              </a:spcAft>
              <a:buClr>
                <a:schemeClr val="dk1"/>
              </a:buClr>
              <a:buSzPts val="2000"/>
              <a:buAutoNum type="arabicPeriod"/>
            </a:pPr>
            <a:r>
              <a:rPr b="1" lang="en-GB" sz="2000">
                <a:solidFill>
                  <a:schemeClr val="dk1"/>
                </a:solidFill>
              </a:rPr>
              <a:t>Governance</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GB" sz="2000">
                <a:solidFill>
                  <a:schemeClr val="dk1"/>
                </a:solidFill>
              </a:rPr>
              <a:t>Finance</a:t>
            </a:r>
            <a:r>
              <a:rPr lang="en-GB" sz="2000">
                <a:solidFill>
                  <a:schemeClr val="dk1"/>
                </a:solidFill>
              </a:rPr>
              <a:t> </a:t>
            </a:r>
            <a:endParaRPr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GB" sz="2000">
                <a:solidFill>
                  <a:schemeClr val="dk1"/>
                </a:solidFill>
              </a:rPr>
              <a:t>Operations, Resilience and Equity</a:t>
            </a:r>
            <a:endParaRPr b="1" sz="2000">
              <a:solidFill>
                <a:schemeClr val="dk1"/>
              </a:solidFill>
            </a:endParaRPr>
          </a:p>
          <a:p>
            <a:pPr indent="-355600" lvl="0" marL="457200" rtl="0" algn="l">
              <a:lnSpc>
                <a:spcPct val="115000"/>
              </a:lnSpc>
              <a:spcBef>
                <a:spcPts val="0"/>
              </a:spcBef>
              <a:spcAft>
                <a:spcPts val="0"/>
              </a:spcAft>
              <a:buClr>
                <a:schemeClr val="dk1"/>
              </a:buClr>
              <a:buSzPts val="2000"/>
              <a:buAutoNum type="arabicPeriod"/>
            </a:pPr>
            <a:r>
              <a:rPr b="1" lang="en-GB" sz="2000">
                <a:solidFill>
                  <a:schemeClr val="dk1"/>
                </a:solidFill>
              </a:rPr>
              <a:t>Transport corridors</a:t>
            </a:r>
            <a:endParaRPr sz="2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6582182f26_1_360"/>
          <p:cNvSpPr txBox="1"/>
          <p:nvPr/>
        </p:nvSpPr>
        <p:spPr>
          <a:xfrm>
            <a:off x="731700" y="2392050"/>
            <a:ext cx="10527000" cy="3468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GB" sz="2800" u="none" cap="none" strike="noStrike">
                <a:solidFill>
                  <a:srgbClr val="E2081E"/>
                </a:solidFill>
                <a:latin typeface="Arial"/>
                <a:ea typeface="Arial"/>
                <a:cs typeface="Arial"/>
                <a:sym typeface="Arial"/>
              </a:rPr>
              <a:t>1: GOVERNANCE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rgbClr val="000000"/>
                </a:solidFill>
                <a:highlight>
                  <a:schemeClr val="lt1"/>
                </a:highlight>
                <a:latin typeface="Arial"/>
                <a:ea typeface="Arial"/>
                <a:cs typeface="Arial"/>
                <a:sym typeface="Arial"/>
              </a:rPr>
              <a:t>STRENGTHENING INSTITUTIONAL GOVERNANCE: CURRENT SITUATION AND DISCUSSION</a:t>
            </a:r>
            <a:endParaRPr b="1" i="0" sz="2400" u="none" cap="none" strike="noStrike">
              <a:solidFill>
                <a:srgbClr val="000000"/>
              </a:solidFill>
              <a:highlight>
                <a:schemeClr val="lt1"/>
              </a:highlight>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highlight>
                <a:srgbClr val="FFFF00"/>
              </a:highlight>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400"/>
              <a:buFont typeface="Arial"/>
              <a:buNone/>
            </a:pPr>
            <a:r>
              <a:rPr b="0" i="1" lang="en-GB" sz="2000" u="none" cap="none" strike="noStrike">
                <a:solidFill>
                  <a:schemeClr val="dk1"/>
                </a:solidFill>
                <a:latin typeface="Arial"/>
                <a:ea typeface="Arial"/>
                <a:cs typeface="Arial"/>
                <a:sym typeface="Arial"/>
              </a:rPr>
              <a:t>Moderated by: Dr. Sid Boubekeur </a:t>
            </a:r>
            <a:endParaRPr b="0" i="1"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t/>
            </a:r>
            <a:endParaRPr b="1" i="0" sz="2400" u="sng"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E2081E"/>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6582182f26_0_0"/>
          <p:cNvSpPr txBox="1"/>
          <p:nvPr/>
        </p:nvSpPr>
        <p:spPr>
          <a:xfrm>
            <a:off x="795284" y="1279959"/>
            <a:ext cx="10266600" cy="539850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1800"/>
              <a:buFont typeface="Arial"/>
              <a:buNone/>
            </a:pPr>
            <a:r>
              <a:rPr b="1" i="0" lang="en-GB" sz="1800" u="none" cap="none" strike="noStrike">
                <a:solidFill>
                  <a:schemeClr val="dk1"/>
                </a:solidFill>
                <a:highlight>
                  <a:schemeClr val="lt1"/>
                </a:highlight>
                <a:latin typeface="Arial"/>
                <a:ea typeface="Arial"/>
                <a:cs typeface="Arial"/>
                <a:sym typeface="Arial"/>
              </a:rPr>
              <a:t>STRENGTHENING INSTITUTIONAL GOVERNANCE: </a:t>
            </a:r>
            <a:r>
              <a:rPr b="1" i="0" lang="en-GB" sz="1800" u="none" cap="none" strike="noStrike">
                <a:solidFill>
                  <a:srgbClr val="262626"/>
                </a:solidFill>
                <a:highlight>
                  <a:schemeClr val="lt1"/>
                </a:highlight>
                <a:latin typeface="Arial"/>
                <a:ea typeface="Arial"/>
                <a:cs typeface="Arial"/>
                <a:sym typeface="Arial"/>
              </a:rPr>
              <a:t>CURRENT SITUATION AND DISCUSSION</a:t>
            </a:r>
            <a:endParaRPr b="0" i="0" sz="1400" u="none" cap="none" strike="noStrike">
              <a:solidFill>
                <a:srgbClr val="000000"/>
              </a:solidFill>
              <a:highlight>
                <a:schemeClr val="lt1"/>
              </a:highlight>
              <a:latin typeface="Arial"/>
              <a:ea typeface="Arial"/>
              <a:cs typeface="Arial"/>
              <a:sym typeface="Arial"/>
            </a:endParaRPr>
          </a:p>
          <a:p>
            <a:pPr indent="0" lvl="0" marL="0" marR="0" rtl="0" algn="l">
              <a:lnSpc>
                <a:spcPct val="110000"/>
              </a:lnSpc>
              <a:spcBef>
                <a:spcPts val="1000"/>
              </a:spcBef>
              <a:spcAft>
                <a:spcPts val="0"/>
              </a:spcAft>
              <a:buClr>
                <a:srgbClr val="000000"/>
              </a:buClr>
              <a:buSzPts val="1800"/>
              <a:buFont typeface="Arial"/>
              <a:buNone/>
            </a:pPr>
            <a:r>
              <a:rPr b="1" i="0" lang="en-GB" sz="1800" u="none" cap="none" strike="noStrike">
                <a:solidFill>
                  <a:srgbClr val="262626"/>
                </a:solidFill>
                <a:latin typeface="Arial"/>
                <a:ea typeface="Arial"/>
                <a:cs typeface="Arial"/>
                <a:sym typeface="Arial"/>
              </a:rPr>
              <a:t>Why:</a:t>
            </a:r>
            <a:endParaRPr b="0" i="0" sz="1400" u="none" cap="none" strike="noStrike">
              <a:solidFill>
                <a:srgbClr val="000000"/>
              </a:solidFill>
              <a:latin typeface="Arial"/>
              <a:ea typeface="Arial"/>
              <a:cs typeface="Arial"/>
              <a:sym typeface="Arial"/>
            </a:endParaRPr>
          </a:p>
          <a:p>
            <a:pPr indent="0" lvl="0" marL="0" marR="0" rtl="0" algn="just">
              <a:lnSpc>
                <a:spcPct val="110000"/>
              </a:lnSpc>
              <a:spcBef>
                <a:spcPts val="1000"/>
              </a:spcBef>
              <a:spcAft>
                <a:spcPts val="0"/>
              </a:spcAft>
              <a:buClr>
                <a:srgbClr val="000000"/>
              </a:buClr>
              <a:buSzPts val="1800"/>
              <a:buFont typeface="Arial"/>
              <a:buNone/>
            </a:pPr>
            <a:r>
              <a:rPr b="0" i="0" lang="en-GB" sz="1800" u="none" cap="none" strike="noStrike">
                <a:solidFill>
                  <a:srgbClr val="262626"/>
                </a:solidFill>
                <a:highlight>
                  <a:schemeClr val="lt1"/>
                </a:highlight>
                <a:latin typeface="Arial"/>
                <a:ea typeface="Arial"/>
                <a:cs typeface="Arial"/>
                <a:sym typeface="Arial"/>
              </a:rPr>
              <a:t>Effective governance is the foundation of a resilient and credible Road Fund. It ensures that funds are managed transparently, decisions are made autonomously, and the organization is aligned with its legal mandate. Without a strong governance framework, Road Funds are vulnerable to political interference, inefficiency, and corruption, which ultimately undermines their ability to deliver on their core mission of road maintenance</a:t>
            </a:r>
            <a:endParaRPr b="0" i="0" sz="1400" u="none" cap="none" strike="noStrike">
              <a:solidFill>
                <a:srgbClr val="000000"/>
              </a:solidFill>
              <a:highlight>
                <a:schemeClr val="lt1"/>
              </a:highlight>
              <a:latin typeface="Arial"/>
              <a:ea typeface="Arial"/>
              <a:cs typeface="Arial"/>
              <a:sym typeface="Arial"/>
            </a:endParaRPr>
          </a:p>
          <a:p>
            <a:pPr indent="0" lvl="0" marL="0" marR="0" rtl="0" algn="l">
              <a:lnSpc>
                <a:spcPct val="110000"/>
              </a:lnSpc>
              <a:spcBef>
                <a:spcPts val="1000"/>
              </a:spcBef>
              <a:spcAft>
                <a:spcPts val="0"/>
              </a:spcAft>
              <a:buClr>
                <a:srgbClr val="000000"/>
              </a:buClr>
              <a:buSzPts val="1800"/>
              <a:buFont typeface="Arial"/>
              <a:buNone/>
            </a:pPr>
            <a:r>
              <a:rPr b="1" i="0" lang="en-GB" sz="1800" u="none" cap="none" strike="noStrike">
                <a:solidFill>
                  <a:srgbClr val="262626"/>
                </a:solidFill>
                <a:highlight>
                  <a:schemeClr val="lt1"/>
                </a:highlight>
                <a:latin typeface="Arial"/>
                <a:ea typeface="Arial"/>
                <a:cs typeface="Arial"/>
                <a:sym typeface="Arial"/>
              </a:rPr>
              <a:t>Objectives:</a:t>
            </a:r>
            <a:endParaRPr b="0" i="0" sz="1400" u="none" cap="none" strike="noStrike">
              <a:solidFill>
                <a:srgbClr val="000000"/>
              </a:solidFill>
              <a:highlight>
                <a:schemeClr val="lt1"/>
              </a:highlight>
              <a:latin typeface="Arial"/>
              <a:ea typeface="Arial"/>
              <a:cs typeface="Arial"/>
              <a:sym typeface="Arial"/>
            </a:endParaRPr>
          </a:p>
          <a:p>
            <a:pPr indent="-342900" lvl="0" marL="457200" marR="0" rtl="0" algn="l">
              <a:lnSpc>
                <a:spcPct val="150000"/>
              </a:lnSpc>
              <a:spcBef>
                <a:spcPts val="1000"/>
              </a:spcBef>
              <a:spcAft>
                <a:spcPts val="0"/>
              </a:spcAft>
              <a:buClr>
                <a:schemeClr val="dk1"/>
              </a:buClr>
              <a:buSzPts val="1800"/>
              <a:buFont typeface="Arial"/>
              <a:buAutoNum type="arabicPeriod"/>
            </a:pPr>
            <a:r>
              <a:rPr b="0" i="0" lang="en-GB" sz="1800" u="none" cap="none" strike="noStrike">
                <a:solidFill>
                  <a:schemeClr val="dk1"/>
                </a:solidFill>
                <a:highlight>
                  <a:schemeClr val="lt1"/>
                </a:highlight>
                <a:latin typeface="Arial"/>
                <a:ea typeface="Arial"/>
                <a:cs typeface="Arial"/>
                <a:sym typeface="Arial"/>
              </a:rPr>
              <a:t>To ensure the legal and institutional framework supports the autonomy and accountability of the Road Fund.</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0" i="0" lang="en-GB" sz="1800" u="none" cap="none" strike="noStrike">
                <a:solidFill>
                  <a:schemeClr val="dk1"/>
                </a:solidFill>
                <a:highlight>
                  <a:schemeClr val="lt1"/>
                </a:highlight>
                <a:latin typeface="Arial"/>
                <a:ea typeface="Arial"/>
                <a:cs typeface="Arial"/>
                <a:sym typeface="Arial"/>
              </a:rPr>
              <a:t>To assess the level of transparency and stakeholder representation within the governance structure.</a:t>
            </a:r>
            <a:endParaRPr b="0" i="0" sz="1800" u="none" cap="none" strike="noStrike">
              <a:solidFill>
                <a:schemeClr val="dk1"/>
              </a:solidFill>
              <a:highlight>
                <a:schemeClr val="lt1"/>
              </a:highlight>
              <a:latin typeface="Arial"/>
              <a:ea typeface="Arial"/>
              <a:cs typeface="Arial"/>
              <a:sym typeface="Arial"/>
            </a:endParaRPr>
          </a:p>
          <a:p>
            <a:pPr indent="-342900" lvl="0" marL="457200" marR="0" rtl="0" algn="l">
              <a:lnSpc>
                <a:spcPct val="150000"/>
              </a:lnSpc>
              <a:spcBef>
                <a:spcPts val="0"/>
              </a:spcBef>
              <a:spcAft>
                <a:spcPts val="0"/>
              </a:spcAft>
              <a:buClr>
                <a:schemeClr val="dk1"/>
              </a:buClr>
              <a:buSzPts val="1800"/>
              <a:buFont typeface="Arial"/>
              <a:buAutoNum type="arabicPeriod"/>
            </a:pPr>
            <a:r>
              <a:rPr b="0" i="0" lang="en-GB" sz="1800" u="none" cap="none" strike="noStrike">
                <a:solidFill>
                  <a:schemeClr val="dk1"/>
                </a:solidFill>
                <a:highlight>
                  <a:schemeClr val="lt1"/>
                </a:highlight>
                <a:latin typeface="Arial"/>
                <a:ea typeface="Arial"/>
                <a:cs typeface="Arial"/>
                <a:sym typeface="Arial"/>
              </a:rPr>
              <a:t>To identify and address major bottlenecks that impede effective decision-making and policy implementation.</a:t>
            </a:r>
            <a:endParaRPr b="0" i="0" sz="1800" u="none" cap="none" strike="noStrike">
              <a:solidFill>
                <a:schemeClr val="dk1"/>
              </a:solidFill>
              <a:highlight>
                <a:schemeClr val="lt1"/>
              </a:highlight>
              <a:latin typeface="Arial"/>
              <a:ea typeface="Arial"/>
              <a:cs typeface="Arial"/>
              <a:sym typeface="Arial"/>
            </a:endParaRPr>
          </a:p>
        </p:txBody>
      </p:sp>
      <p:sp>
        <p:nvSpPr>
          <p:cNvPr id="182" name="Google Shape;182;g36582182f26_0_0"/>
          <p:cNvSpPr txBox="1"/>
          <p:nvPr/>
        </p:nvSpPr>
        <p:spPr>
          <a:xfrm>
            <a:off x="392847" y="446241"/>
            <a:ext cx="7654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E2081E"/>
                </a:solidFill>
                <a:latin typeface="Arial"/>
                <a:ea typeface="Arial"/>
                <a:cs typeface="Arial"/>
                <a:sym typeface="Arial"/>
              </a:rPr>
              <a:t>Rationale for the Working Group</a:t>
            </a:r>
            <a:endParaRPr b="1" i="0" sz="2000" u="none" cap="none" strike="noStrike">
              <a:solidFill>
                <a:srgbClr val="E2081E"/>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6582182f26_1_2"/>
          <p:cNvSpPr txBox="1"/>
          <p:nvPr/>
        </p:nvSpPr>
        <p:spPr>
          <a:xfrm>
            <a:off x="276469" y="158554"/>
            <a:ext cx="6855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E2081E"/>
                </a:solidFill>
                <a:highlight>
                  <a:schemeClr val="lt1"/>
                </a:highlight>
                <a:latin typeface="Arial"/>
                <a:ea typeface="Arial"/>
                <a:cs typeface="Arial"/>
                <a:sym typeface="Arial"/>
              </a:rPr>
              <a:t>Institutional Governance – T</a:t>
            </a:r>
            <a:r>
              <a:rPr b="1" i="0" lang="en-GB" sz="2000" u="none" cap="none" strike="noStrike">
                <a:solidFill>
                  <a:srgbClr val="E2081E"/>
                </a:solidFill>
                <a:latin typeface="Arial"/>
                <a:ea typeface="Arial"/>
                <a:cs typeface="Arial"/>
                <a:sym typeface="Arial"/>
              </a:rPr>
              <a:t>opics for Discussion</a:t>
            </a:r>
            <a:endParaRPr b="0" i="0" sz="1400" u="none" cap="none" strike="noStrike">
              <a:solidFill>
                <a:srgbClr val="000000"/>
              </a:solidFill>
              <a:latin typeface="Arial"/>
              <a:ea typeface="Arial"/>
              <a:cs typeface="Arial"/>
              <a:sym typeface="Arial"/>
            </a:endParaRPr>
          </a:p>
        </p:txBody>
      </p:sp>
      <p:sp>
        <p:nvSpPr>
          <p:cNvPr id="189" name="Google Shape;189;g36582182f26_1_2"/>
          <p:cNvSpPr txBox="1"/>
          <p:nvPr/>
        </p:nvSpPr>
        <p:spPr>
          <a:xfrm>
            <a:off x="8387275" y="1551175"/>
            <a:ext cx="3243000" cy="49731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Decision-Making and Policy Implementation</a:t>
            </a:r>
            <a:endParaRPr b="0" i="0" sz="1300" u="none" cap="none" strike="noStrike">
              <a:solidFill>
                <a:srgbClr val="000000"/>
              </a:solidFill>
              <a:latin typeface="Arial"/>
              <a:ea typeface="Arial"/>
              <a:cs typeface="Arial"/>
              <a:sym typeface="Arial"/>
            </a:endParaRPr>
          </a:p>
          <a:p>
            <a:pPr indent="-342900" lvl="0" marL="457200" marR="0" rtl="0" algn="l">
              <a:lnSpc>
                <a:spcPct val="115000"/>
              </a:lnSpc>
              <a:spcBef>
                <a:spcPts val="1200"/>
              </a:spcBef>
              <a:spcAft>
                <a:spcPts val="0"/>
              </a:spcAft>
              <a:buClr>
                <a:schemeClr val="dk1"/>
              </a:buClr>
              <a:buSzPts val="1800"/>
              <a:buFont typeface="Verdana"/>
              <a:buChar char="●"/>
            </a:pPr>
            <a:r>
              <a:rPr b="0" i="0" lang="en-GB" sz="1800" u="none" cap="none" strike="noStrike">
                <a:solidFill>
                  <a:schemeClr val="dk1"/>
                </a:solidFill>
                <a:latin typeface="Arial"/>
                <a:ea typeface="Arial"/>
                <a:cs typeface="Arial"/>
                <a:sym typeface="Arial"/>
              </a:rPr>
              <a:t>Major bottlenecks affecting the Board's decision-making process</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1000"/>
              </a:spcBef>
              <a:spcAft>
                <a:spcPts val="0"/>
              </a:spcAft>
              <a:buClr>
                <a:schemeClr val="dk1"/>
              </a:buClr>
              <a:buSzPts val="1800"/>
              <a:buFont typeface="Verdana"/>
              <a:buChar char="●"/>
            </a:pPr>
            <a:r>
              <a:rPr b="0" i="0" lang="en-GB" sz="1800" u="none" cap="none" strike="noStrike">
                <a:solidFill>
                  <a:schemeClr val="dk1"/>
                </a:solidFill>
                <a:latin typeface="Arial"/>
                <a:ea typeface="Arial"/>
                <a:cs typeface="Arial"/>
                <a:sym typeface="Arial"/>
              </a:rPr>
              <a:t>Process for adopting and implementing new policies</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1000"/>
              </a:spcBef>
              <a:spcAft>
                <a:spcPts val="0"/>
              </a:spcAft>
              <a:buClr>
                <a:schemeClr val="dk1"/>
              </a:buClr>
              <a:buSzPts val="1800"/>
              <a:buFont typeface="Verdana"/>
              <a:buChar char="●"/>
            </a:pPr>
            <a:r>
              <a:rPr b="0" i="0" lang="en-GB" sz="1800" u="none" cap="none" strike="noStrike">
                <a:solidFill>
                  <a:schemeClr val="dk1"/>
                </a:solidFill>
                <a:latin typeface="Arial"/>
                <a:ea typeface="Arial"/>
                <a:cs typeface="Arial"/>
                <a:sym typeface="Arial"/>
              </a:rPr>
              <a:t>Case studies on successful governance reforms, best practices and their impact.</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190" name="Google Shape;190;g36582182f26_1_2"/>
          <p:cNvSpPr txBox="1"/>
          <p:nvPr/>
        </p:nvSpPr>
        <p:spPr>
          <a:xfrm>
            <a:off x="469370" y="1538279"/>
            <a:ext cx="3063900" cy="5071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800"/>
              <a:buFont typeface="Arial"/>
              <a:buNone/>
            </a:pPr>
            <a:r>
              <a:rPr b="1" i="0" lang="en-GB" sz="1800" u="none" cap="none" strike="noStrike">
                <a:solidFill>
                  <a:schemeClr val="dk1"/>
                </a:solidFill>
                <a:latin typeface="Arial"/>
                <a:ea typeface="Arial"/>
                <a:cs typeface="Arial"/>
                <a:sym typeface="Arial"/>
              </a:rPr>
              <a:t>Legal and Institutional Framework</a:t>
            </a:r>
            <a:endParaRPr b="1" i="0" sz="1800" u="none" cap="none" strike="noStrike">
              <a:solidFill>
                <a:schemeClr val="dk1"/>
              </a:solidFill>
              <a:latin typeface="Arial"/>
              <a:ea typeface="Arial"/>
              <a:cs typeface="Arial"/>
              <a:sym typeface="Arial"/>
            </a:endParaRPr>
          </a:p>
          <a:p>
            <a:pPr indent="-342900" lvl="0" marL="457200" marR="0" rtl="0" algn="l">
              <a:lnSpc>
                <a:spcPct val="115000"/>
              </a:lnSpc>
              <a:spcBef>
                <a:spcPts val="1200"/>
              </a:spcBef>
              <a:spcAft>
                <a:spcPts val="0"/>
              </a:spcAft>
              <a:buClr>
                <a:schemeClr val="dk1"/>
              </a:buClr>
              <a:buSzPts val="1800"/>
              <a:buFont typeface="Verdana"/>
              <a:buChar char="●"/>
            </a:pPr>
            <a:r>
              <a:rPr b="0" i="0" lang="en-GB" sz="1800" u="none" cap="none" strike="noStrike">
                <a:solidFill>
                  <a:schemeClr val="dk1"/>
                </a:solidFill>
                <a:latin typeface="Arial"/>
                <a:ea typeface="Arial"/>
                <a:cs typeface="Arial"/>
                <a:sym typeface="Arial"/>
              </a:rPr>
              <a:t>Specific legislation focusing on financing road maintenance</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1000"/>
              </a:spcBef>
              <a:spcAft>
                <a:spcPts val="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Level of Board decision-making autonomy</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1000"/>
              </a:spcBef>
              <a:spcAft>
                <a:spcPts val="1200"/>
              </a:spcAft>
              <a:buClr>
                <a:schemeClr val="dk1"/>
              </a:buClr>
              <a:buSzPts val="1800"/>
              <a:buFont typeface="Arial"/>
              <a:buChar char="●"/>
            </a:pPr>
            <a:r>
              <a:rPr b="0" i="0" lang="en-GB" sz="1800" u="none" cap="none" strike="noStrike">
                <a:solidFill>
                  <a:schemeClr val="dk1"/>
                </a:solidFill>
                <a:latin typeface="Arial"/>
                <a:ea typeface="Arial"/>
                <a:cs typeface="Arial"/>
                <a:sym typeface="Arial"/>
              </a:rPr>
              <a:t>Existing mechanisms to ensure transparency and accountability</a:t>
            </a:r>
            <a:endParaRPr b="0" i="0" sz="1800" u="none" cap="none" strike="noStrike">
              <a:solidFill>
                <a:schemeClr val="dk1"/>
              </a:solidFill>
              <a:latin typeface="Arial"/>
              <a:ea typeface="Arial"/>
              <a:cs typeface="Arial"/>
              <a:sym typeface="Arial"/>
            </a:endParaRPr>
          </a:p>
        </p:txBody>
      </p:sp>
      <p:sp>
        <p:nvSpPr>
          <p:cNvPr id="191" name="Google Shape;191;g36582182f26_1_2"/>
          <p:cNvSpPr txBox="1"/>
          <p:nvPr/>
        </p:nvSpPr>
        <p:spPr>
          <a:xfrm>
            <a:off x="4319950" y="1538275"/>
            <a:ext cx="3424500" cy="5071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300"/>
              <a:buFont typeface="Arial"/>
              <a:buNone/>
            </a:pPr>
            <a:r>
              <a:rPr b="1" i="0" lang="en-GB" sz="1800" u="none" cap="none" strike="noStrike">
                <a:solidFill>
                  <a:schemeClr val="dk1"/>
                </a:solidFill>
                <a:latin typeface="Arial"/>
                <a:ea typeface="Arial"/>
                <a:cs typeface="Arial"/>
                <a:sym typeface="Arial"/>
              </a:rPr>
              <a:t>Board Composition and Representation</a:t>
            </a:r>
            <a:endParaRPr b="1" i="0" sz="1800" u="none" cap="none" strike="noStrike">
              <a:solidFill>
                <a:schemeClr val="dk1"/>
              </a:solidFill>
              <a:latin typeface="Arial"/>
              <a:ea typeface="Arial"/>
              <a:cs typeface="Arial"/>
              <a:sym typeface="Arial"/>
            </a:endParaRPr>
          </a:p>
          <a:p>
            <a:pPr indent="-342900" lvl="0" marL="457200" marR="0" rtl="0" algn="l">
              <a:lnSpc>
                <a:spcPct val="115000"/>
              </a:lnSpc>
              <a:spcBef>
                <a:spcPts val="1000"/>
              </a:spcBef>
              <a:spcAft>
                <a:spcPts val="0"/>
              </a:spcAft>
              <a:buClr>
                <a:schemeClr val="dk1"/>
              </a:buClr>
              <a:buSzPts val="1800"/>
              <a:buFont typeface="Verdana"/>
              <a:buChar char="●"/>
            </a:pPr>
            <a:r>
              <a:rPr b="0" i="0" lang="en-GB" sz="1800" u="none" cap="none" strike="noStrike">
                <a:solidFill>
                  <a:schemeClr val="dk1"/>
                </a:solidFill>
                <a:latin typeface="Arial"/>
                <a:ea typeface="Arial"/>
                <a:cs typeface="Arial"/>
                <a:sym typeface="Arial"/>
              </a:rPr>
              <a:t>Board Appointment Procedures</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1000"/>
              </a:spcBef>
              <a:spcAft>
                <a:spcPts val="0"/>
              </a:spcAft>
              <a:buClr>
                <a:schemeClr val="dk1"/>
              </a:buClr>
              <a:buSzPts val="1800"/>
              <a:buFont typeface="Verdana"/>
              <a:buChar char="●"/>
            </a:pPr>
            <a:r>
              <a:rPr b="0" i="0" lang="en-GB" sz="1800" u="none" cap="none" strike="noStrike">
                <a:solidFill>
                  <a:schemeClr val="dk1"/>
                </a:solidFill>
                <a:latin typeface="Arial"/>
                <a:ea typeface="Arial"/>
                <a:cs typeface="Arial"/>
                <a:sym typeface="Arial"/>
              </a:rPr>
              <a:t>Balance between public and private sector representation.</a:t>
            </a:r>
            <a:endParaRPr b="0" i="0" sz="1800" u="none" cap="none" strike="noStrike">
              <a:solidFill>
                <a:schemeClr val="dk1"/>
              </a:solidFill>
              <a:latin typeface="Arial"/>
              <a:ea typeface="Arial"/>
              <a:cs typeface="Arial"/>
              <a:sym typeface="Arial"/>
            </a:endParaRPr>
          </a:p>
          <a:p>
            <a:pPr indent="-342900" lvl="0" marL="457200" marR="0" rtl="0" algn="l">
              <a:lnSpc>
                <a:spcPct val="115000"/>
              </a:lnSpc>
              <a:spcBef>
                <a:spcPts val="1000"/>
              </a:spcBef>
              <a:spcAft>
                <a:spcPts val="0"/>
              </a:spcAft>
              <a:buClr>
                <a:schemeClr val="dk1"/>
              </a:buClr>
              <a:buSzPts val="1800"/>
              <a:buFont typeface="Verdana"/>
              <a:buChar char="●"/>
            </a:pPr>
            <a:r>
              <a:rPr b="0" i="0" lang="en-GB" sz="1800" u="none" cap="none" strike="noStrike">
                <a:solidFill>
                  <a:schemeClr val="dk1"/>
                </a:solidFill>
                <a:latin typeface="Arial"/>
                <a:ea typeface="Arial"/>
                <a:cs typeface="Arial"/>
                <a:sym typeface="Arial"/>
              </a:rPr>
              <a:t>Inclusion of women and other underrepresented groups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380102cde2d_0_0"/>
          <p:cNvSpPr txBox="1"/>
          <p:nvPr/>
        </p:nvSpPr>
        <p:spPr>
          <a:xfrm>
            <a:off x="731700" y="2392050"/>
            <a:ext cx="10527000" cy="3468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GB" sz="2800" u="none" cap="none" strike="noStrike">
                <a:solidFill>
                  <a:srgbClr val="E2081E"/>
                </a:solidFill>
                <a:latin typeface="Arial"/>
                <a:ea typeface="Arial"/>
                <a:cs typeface="Arial"/>
                <a:sym typeface="Arial"/>
              </a:rPr>
              <a:t>2: FINANCIAL MANAGEMENT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rgbClr val="000000"/>
                </a:solidFill>
                <a:highlight>
                  <a:schemeClr val="lt1"/>
                </a:highlight>
                <a:latin typeface="Arial"/>
                <a:ea typeface="Arial"/>
                <a:cs typeface="Arial"/>
                <a:sym typeface="Arial"/>
              </a:rPr>
              <a:t>ADDRESSING THE FINANCIAL SUSTAINABILITY OF ROAD FUNDS: CURRENT SITUATION AND DISCUSSION</a:t>
            </a:r>
            <a:endParaRPr b="1" i="0" sz="2400" u="none" cap="none" strike="noStrike">
              <a:solidFill>
                <a:srgbClr val="000000"/>
              </a:solidFill>
              <a:highlight>
                <a:schemeClr val="lt1"/>
              </a:highlight>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highlight>
                <a:srgbClr val="FFFF00"/>
              </a:highlight>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highlight>
                <a:srgbClr val="FFFF00"/>
              </a:highlight>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0" i="1" lang="en-GB" sz="2000" u="none" cap="none" strike="noStrike">
                <a:solidFill>
                  <a:schemeClr val="dk1"/>
                </a:solidFill>
                <a:latin typeface="Arial"/>
                <a:ea typeface="Arial"/>
                <a:cs typeface="Arial"/>
                <a:sym typeface="Arial"/>
              </a:rPr>
              <a:t>Moderated by: Annstellah Wanjiru Maina</a:t>
            </a:r>
            <a:endParaRPr b="1" i="0" sz="2400" u="sng" cap="none" strike="noStrike">
              <a:solidFill>
                <a:srgbClr val="000000"/>
              </a:solidFill>
              <a:highlight>
                <a:srgbClr val="FFFF00"/>
              </a:highlight>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E2081E"/>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80102cde2d_0_30"/>
          <p:cNvSpPr txBox="1"/>
          <p:nvPr/>
        </p:nvSpPr>
        <p:spPr>
          <a:xfrm>
            <a:off x="841734" y="1341884"/>
            <a:ext cx="10266600" cy="4783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GB" sz="1800" u="none" cap="none" strike="noStrike">
                <a:solidFill>
                  <a:schemeClr val="dk1"/>
                </a:solidFill>
                <a:highlight>
                  <a:schemeClr val="lt1"/>
                </a:highlight>
                <a:latin typeface="Arial"/>
                <a:ea typeface="Arial"/>
                <a:cs typeface="Arial"/>
                <a:sym typeface="Arial"/>
              </a:rPr>
              <a:t>ADDRESSING THE FINANCIAL SUSTAINABILITY OF ROAD FUNDS: CURRENT SITUATION AND DISCUSSION</a:t>
            </a:r>
            <a:endParaRPr b="1" i="0" sz="1800" u="none" cap="none" strike="noStrike">
              <a:solidFill>
                <a:srgbClr val="000000"/>
              </a:solidFill>
              <a:highlight>
                <a:schemeClr val="lt1"/>
              </a:highlight>
              <a:latin typeface="Arial"/>
              <a:ea typeface="Arial"/>
              <a:cs typeface="Arial"/>
              <a:sym typeface="Arial"/>
            </a:endParaRPr>
          </a:p>
          <a:p>
            <a:pPr indent="0" lvl="0" marL="0" marR="0" rtl="0" algn="l">
              <a:lnSpc>
                <a:spcPct val="110000"/>
              </a:lnSpc>
              <a:spcBef>
                <a:spcPts val="1000"/>
              </a:spcBef>
              <a:spcAft>
                <a:spcPts val="0"/>
              </a:spcAft>
              <a:buClr>
                <a:srgbClr val="000000"/>
              </a:buClr>
              <a:buSzPts val="1800"/>
              <a:buFont typeface="Arial"/>
              <a:buNone/>
            </a:pPr>
            <a:r>
              <a:rPr b="1" i="0" lang="en-GB" sz="1800" u="none" cap="none" strike="noStrike">
                <a:solidFill>
                  <a:srgbClr val="262626"/>
                </a:solidFill>
                <a:latin typeface="Arial"/>
                <a:ea typeface="Arial"/>
                <a:cs typeface="Arial"/>
                <a:sym typeface="Arial"/>
              </a:rPr>
              <a:t>Why:</a:t>
            </a:r>
            <a:endParaRPr b="0" i="0" sz="1400" u="none" cap="none" strike="noStrike">
              <a:solidFill>
                <a:srgbClr val="000000"/>
              </a:solidFill>
              <a:latin typeface="Arial"/>
              <a:ea typeface="Arial"/>
              <a:cs typeface="Arial"/>
              <a:sym typeface="Arial"/>
            </a:endParaRPr>
          </a:p>
          <a:p>
            <a:pPr indent="0" lvl="0" marL="0" marR="0" rtl="0" algn="just">
              <a:lnSpc>
                <a:spcPct val="115000"/>
              </a:lnSpc>
              <a:spcBef>
                <a:spcPts val="1000"/>
              </a:spcBef>
              <a:spcAft>
                <a:spcPts val="0"/>
              </a:spcAft>
              <a:buClr>
                <a:srgbClr val="000000"/>
              </a:buClr>
              <a:buSzPts val="1800"/>
              <a:buFont typeface="Arial"/>
              <a:buNone/>
            </a:pPr>
            <a:r>
              <a:rPr b="0" i="0" lang="en-GB" sz="1800" u="none" cap="none" strike="noStrike">
                <a:solidFill>
                  <a:schemeClr val="dk1"/>
                </a:solidFill>
                <a:latin typeface="Arial"/>
                <a:ea typeface="Arial"/>
                <a:cs typeface="Arial"/>
                <a:sym typeface="Arial"/>
              </a:rPr>
              <a:t>Financial stability is the lifeblood of any Road Fund. Sound financial management ensures that revenue streams are predictable, funds are collected efficiently, and expenditures are aligned with maintenance needs. By addressing funding gaps and exploring diversified revenue sources, Road Funds can reduce their reliance on traditional, and often volatile, sources like the fuel levy, making them more resilient and capable of fully funding their maintenance programs.</a:t>
            </a:r>
            <a:endParaRPr b="0" i="0" sz="1800" u="none" cap="none" strike="noStrike">
              <a:solidFill>
                <a:srgbClr val="262626"/>
              </a:solidFill>
              <a:highlight>
                <a:srgbClr val="FFFF00"/>
              </a:highlight>
              <a:latin typeface="Arial"/>
              <a:ea typeface="Arial"/>
              <a:cs typeface="Arial"/>
              <a:sym typeface="Arial"/>
            </a:endParaRPr>
          </a:p>
          <a:p>
            <a:pPr indent="0" lvl="0" marL="0" marR="0" rtl="0" algn="l">
              <a:lnSpc>
                <a:spcPct val="110000"/>
              </a:lnSpc>
              <a:spcBef>
                <a:spcPts val="1200"/>
              </a:spcBef>
              <a:spcAft>
                <a:spcPts val="0"/>
              </a:spcAft>
              <a:buClr>
                <a:srgbClr val="000000"/>
              </a:buClr>
              <a:buSzPts val="1800"/>
              <a:buFont typeface="Arial"/>
              <a:buNone/>
            </a:pPr>
            <a:r>
              <a:rPr b="1" i="0" lang="en-GB" sz="1800" u="none" cap="none" strike="noStrike">
                <a:solidFill>
                  <a:srgbClr val="262626"/>
                </a:solidFill>
                <a:latin typeface="Arial"/>
                <a:ea typeface="Arial"/>
                <a:cs typeface="Arial"/>
                <a:sym typeface="Arial"/>
              </a:rPr>
              <a:t>Objectives:</a:t>
            </a:r>
            <a:endParaRPr b="0" i="0" sz="1400" u="none" cap="none" strike="noStrike">
              <a:solidFill>
                <a:srgbClr val="000000"/>
              </a:solidFill>
              <a:latin typeface="Arial"/>
              <a:ea typeface="Arial"/>
              <a:cs typeface="Arial"/>
              <a:sym typeface="Arial"/>
            </a:endParaRPr>
          </a:p>
          <a:p>
            <a:pPr indent="-342900" lvl="1" marL="914400" marR="0" rtl="0" algn="l">
              <a:lnSpc>
                <a:spcPct val="150000"/>
              </a:lnSpc>
              <a:spcBef>
                <a:spcPts val="0"/>
              </a:spcBef>
              <a:spcAft>
                <a:spcPts val="0"/>
              </a:spcAft>
              <a:buClr>
                <a:schemeClr val="dk1"/>
              </a:buClr>
              <a:buSzPts val="1800"/>
              <a:buFont typeface="Arial"/>
              <a:buAutoNum type="arabicPeriod"/>
            </a:pPr>
            <a:r>
              <a:rPr b="0" i="0" lang="en-GB" sz="1800" u="none" cap="none" strike="noStrike">
                <a:solidFill>
                  <a:schemeClr val="dk1"/>
                </a:solidFill>
                <a:latin typeface="Arial"/>
                <a:ea typeface="Arial"/>
                <a:cs typeface="Arial"/>
                <a:sym typeface="Arial"/>
              </a:rPr>
              <a:t>To evaluate the financial health and management systems of the Road Fund.</a:t>
            </a:r>
            <a:endParaRPr b="0" i="0" sz="1800" u="none" cap="none" strike="noStrike">
              <a:solidFill>
                <a:schemeClr val="dk1"/>
              </a:solidFill>
              <a:latin typeface="Arial"/>
              <a:ea typeface="Arial"/>
              <a:cs typeface="Arial"/>
              <a:sym typeface="Arial"/>
            </a:endParaRPr>
          </a:p>
          <a:p>
            <a:pPr indent="-342900" lvl="1" marL="914400" marR="0" rtl="0" algn="l">
              <a:lnSpc>
                <a:spcPct val="150000"/>
              </a:lnSpc>
              <a:spcBef>
                <a:spcPts val="0"/>
              </a:spcBef>
              <a:spcAft>
                <a:spcPts val="0"/>
              </a:spcAft>
              <a:buClr>
                <a:schemeClr val="dk1"/>
              </a:buClr>
              <a:buSzPts val="1800"/>
              <a:buFont typeface="Arial"/>
              <a:buAutoNum type="arabicPeriod"/>
            </a:pPr>
            <a:r>
              <a:rPr b="0" i="0" lang="en-GB" sz="1800" u="none" cap="none" strike="noStrike">
                <a:solidFill>
                  <a:schemeClr val="dk1"/>
                </a:solidFill>
                <a:latin typeface="Arial"/>
                <a:ea typeface="Arial"/>
                <a:cs typeface="Arial"/>
                <a:sym typeface="Arial"/>
              </a:rPr>
              <a:t>To identify significant funding gaps and potential for diversifying revenue.</a:t>
            </a:r>
            <a:endParaRPr b="0" i="0" sz="1800" u="none" cap="none" strike="noStrike">
              <a:solidFill>
                <a:schemeClr val="dk1"/>
              </a:solidFill>
              <a:latin typeface="Arial"/>
              <a:ea typeface="Arial"/>
              <a:cs typeface="Arial"/>
              <a:sym typeface="Arial"/>
            </a:endParaRPr>
          </a:p>
          <a:p>
            <a:pPr indent="-342900" lvl="1" marL="914400" marR="0" rtl="0" algn="l">
              <a:lnSpc>
                <a:spcPct val="150000"/>
              </a:lnSpc>
              <a:spcBef>
                <a:spcPts val="0"/>
              </a:spcBef>
              <a:spcAft>
                <a:spcPts val="0"/>
              </a:spcAft>
              <a:buClr>
                <a:schemeClr val="dk1"/>
              </a:buClr>
              <a:buSzPts val="1800"/>
              <a:buFont typeface="Arial"/>
              <a:buAutoNum type="arabicPeriod"/>
            </a:pPr>
            <a:r>
              <a:rPr b="0" i="0" lang="en-GB" sz="1800" u="none" cap="none" strike="noStrike">
                <a:solidFill>
                  <a:schemeClr val="dk1"/>
                </a:solidFill>
                <a:latin typeface="Arial"/>
                <a:ea typeface="Arial"/>
                <a:cs typeface="Arial"/>
                <a:sym typeface="Arial"/>
              </a:rPr>
              <a:t>To explore measures that can strengthen revenue collection and management for greater efficiency.</a:t>
            </a:r>
            <a:endParaRPr b="0" i="0" sz="1800" u="none" cap="none" strike="noStrike">
              <a:solidFill>
                <a:schemeClr val="dk1"/>
              </a:solidFill>
              <a:highlight>
                <a:srgbClr val="FFFF00"/>
              </a:highlight>
              <a:latin typeface="Arial"/>
              <a:ea typeface="Arial"/>
              <a:cs typeface="Arial"/>
              <a:sym typeface="Arial"/>
            </a:endParaRPr>
          </a:p>
        </p:txBody>
      </p:sp>
      <p:sp>
        <p:nvSpPr>
          <p:cNvPr id="204" name="Google Shape;204;g380102cde2d_0_30"/>
          <p:cNvSpPr txBox="1"/>
          <p:nvPr/>
        </p:nvSpPr>
        <p:spPr>
          <a:xfrm>
            <a:off x="392847" y="446241"/>
            <a:ext cx="7654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E2081E"/>
                </a:solidFill>
                <a:latin typeface="Arial"/>
                <a:ea typeface="Arial"/>
                <a:cs typeface="Arial"/>
                <a:sym typeface="Arial"/>
              </a:rPr>
              <a:t>Rationale for the Working Group</a:t>
            </a:r>
            <a:endParaRPr b="1" i="0" sz="2000" u="none" cap="none" strike="noStrike">
              <a:solidFill>
                <a:srgbClr val="E2081E"/>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80102cde2d_0_36"/>
          <p:cNvSpPr txBox="1"/>
          <p:nvPr/>
        </p:nvSpPr>
        <p:spPr>
          <a:xfrm>
            <a:off x="276469" y="158554"/>
            <a:ext cx="6855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E2081E"/>
                </a:solidFill>
                <a:latin typeface="Arial"/>
                <a:ea typeface="Arial"/>
                <a:cs typeface="Arial"/>
                <a:sym typeface="Arial"/>
              </a:rPr>
              <a:t>Financial Management – Topics for Discussion</a:t>
            </a:r>
            <a:endParaRPr b="0" i="0" sz="1400" u="none" cap="none" strike="noStrike">
              <a:solidFill>
                <a:srgbClr val="000000"/>
              </a:solidFill>
              <a:latin typeface="Arial"/>
              <a:ea typeface="Arial"/>
              <a:cs typeface="Arial"/>
              <a:sym typeface="Arial"/>
            </a:endParaRPr>
          </a:p>
        </p:txBody>
      </p:sp>
      <p:sp>
        <p:nvSpPr>
          <p:cNvPr id="211" name="Google Shape;211;g380102cde2d_0_36"/>
          <p:cNvSpPr txBox="1"/>
          <p:nvPr/>
        </p:nvSpPr>
        <p:spPr>
          <a:xfrm>
            <a:off x="276475" y="4764975"/>
            <a:ext cx="3243000" cy="12366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chemeClr val="dk1"/>
                </a:solidFill>
                <a:latin typeface="Arial"/>
                <a:ea typeface="Arial"/>
                <a:cs typeface="Arial"/>
                <a:sym typeface="Arial"/>
              </a:rPr>
              <a:t>Maintenance Costs</a:t>
            </a:r>
            <a:endParaRPr b="0" i="0" sz="1400" u="none" cap="none" strike="noStrike">
              <a:solidFill>
                <a:srgbClr val="000000"/>
              </a:solidFill>
              <a:latin typeface="Arial"/>
              <a:ea typeface="Arial"/>
              <a:cs typeface="Arial"/>
              <a:sym typeface="Arial"/>
            </a:endParaRPr>
          </a:p>
          <a:p>
            <a:pPr indent="-317500" lvl="0" marL="457200" marR="0" rtl="0" algn="l">
              <a:lnSpc>
                <a:spcPct val="150000"/>
              </a:lnSpc>
              <a:spcBef>
                <a:spcPts val="1200"/>
              </a:spcBef>
              <a:spcAft>
                <a:spcPts val="0"/>
              </a:spcAft>
              <a:buClr>
                <a:schemeClr val="dk1"/>
              </a:buClr>
              <a:buSzPts val="1400"/>
              <a:buFont typeface="Verdana"/>
              <a:buChar char="●"/>
            </a:pPr>
            <a:r>
              <a:rPr b="0" i="0" lang="en-GB" sz="1400" u="none" cap="none" strike="noStrike">
                <a:solidFill>
                  <a:schemeClr val="dk1"/>
                </a:solidFill>
                <a:latin typeface="Arial"/>
                <a:ea typeface="Arial"/>
                <a:cs typeface="Arial"/>
                <a:sym typeface="Arial"/>
              </a:rPr>
              <a:t>Period Maintenance Costs</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1000"/>
              </a:spcBef>
              <a:spcAft>
                <a:spcPts val="0"/>
              </a:spcAft>
              <a:buClr>
                <a:schemeClr val="dk1"/>
              </a:buClr>
              <a:buSzPts val="1400"/>
              <a:buFont typeface="Noto Sans Symbols"/>
              <a:buChar char="●"/>
            </a:pPr>
            <a:r>
              <a:rPr b="0" i="0" lang="en-GB" sz="1400" u="none" cap="none" strike="noStrike">
                <a:solidFill>
                  <a:schemeClr val="dk1"/>
                </a:solidFill>
                <a:latin typeface="Arial"/>
                <a:ea typeface="Arial"/>
                <a:cs typeface="Arial"/>
                <a:sym typeface="Arial"/>
              </a:rPr>
              <a:t>Routine Maintenance Costs</a:t>
            </a:r>
            <a:endParaRPr b="0" i="0" sz="1400" u="none" cap="none" strike="noStrike">
              <a:solidFill>
                <a:srgbClr val="000000"/>
              </a:solidFill>
              <a:latin typeface="Arial"/>
              <a:ea typeface="Arial"/>
              <a:cs typeface="Arial"/>
              <a:sym typeface="Arial"/>
            </a:endParaRPr>
          </a:p>
        </p:txBody>
      </p:sp>
      <p:sp>
        <p:nvSpPr>
          <p:cNvPr id="212" name="Google Shape;212;g380102cde2d_0_36"/>
          <p:cNvSpPr txBox="1"/>
          <p:nvPr/>
        </p:nvSpPr>
        <p:spPr>
          <a:xfrm>
            <a:off x="4153000" y="1631150"/>
            <a:ext cx="3243000" cy="24516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400"/>
              <a:buFont typeface="Arial"/>
              <a:buNone/>
            </a:pPr>
            <a:r>
              <a:rPr b="1" i="0" lang="en-GB" sz="1400" u="none" cap="none" strike="noStrike">
                <a:solidFill>
                  <a:schemeClr val="dk1"/>
                </a:solidFill>
                <a:latin typeface="Arial"/>
                <a:ea typeface="Arial"/>
                <a:cs typeface="Arial"/>
                <a:sym typeface="Arial"/>
              </a:rPr>
              <a:t>Revenue Sources and Adequacy</a:t>
            </a:r>
            <a:endParaRPr b="1" i="0" sz="1400" u="none" cap="none" strike="noStrike">
              <a:solidFill>
                <a:schemeClr val="dk1"/>
              </a:solidFill>
              <a:latin typeface="Arial"/>
              <a:ea typeface="Arial"/>
              <a:cs typeface="Arial"/>
              <a:sym typeface="Arial"/>
            </a:endParaRPr>
          </a:p>
          <a:p>
            <a:pPr indent="-317500" lvl="0" marL="457200" marR="0" rtl="0" algn="l">
              <a:lnSpc>
                <a:spcPct val="150000"/>
              </a:lnSpc>
              <a:spcBef>
                <a:spcPts val="1200"/>
              </a:spcBef>
              <a:spcAft>
                <a:spcPts val="0"/>
              </a:spcAft>
              <a:buClr>
                <a:schemeClr val="dk1"/>
              </a:buClr>
              <a:buSzPts val="1400"/>
              <a:buFont typeface="Verdana"/>
              <a:buChar char="●"/>
            </a:pPr>
            <a:r>
              <a:rPr b="0" i="0" lang="en-GB" sz="1400" u="none" cap="none" strike="noStrike">
                <a:solidFill>
                  <a:schemeClr val="dk1"/>
                </a:solidFill>
                <a:latin typeface="Arial"/>
                <a:ea typeface="Arial"/>
                <a:cs typeface="Arial"/>
                <a:sym typeface="Arial"/>
              </a:rPr>
              <a:t>Main sources of revenue and their respective shares</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Gap between actual revenue and the total annual maintenance needs</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Noto Sans Symbols"/>
              <a:buChar char="●"/>
            </a:pPr>
            <a:r>
              <a:rPr b="0" i="0" lang="en-GB" sz="1400" u="none" cap="none" strike="noStrike">
                <a:solidFill>
                  <a:schemeClr val="dk1"/>
                </a:solidFill>
                <a:latin typeface="Arial"/>
                <a:ea typeface="Arial"/>
                <a:cs typeface="Arial"/>
                <a:sym typeface="Arial"/>
              </a:rPr>
              <a:t>Revenue diversification</a:t>
            </a:r>
            <a:endParaRPr b="0" i="0" sz="1400" u="none" cap="none" strike="noStrike">
              <a:solidFill>
                <a:schemeClr val="dk1"/>
              </a:solidFill>
              <a:latin typeface="Arial"/>
              <a:ea typeface="Arial"/>
              <a:cs typeface="Arial"/>
              <a:sym typeface="Arial"/>
            </a:endParaRPr>
          </a:p>
        </p:txBody>
      </p:sp>
      <p:sp>
        <p:nvSpPr>
          <p:cNvPr id="213" name="Google Shape;213;g380102cde2d_0_36"/>
          <p:cNvSpPr txBox="1"/>
          <p:nvPr/>
        </p:nvSpPr>
        <p:spPr>
          <a:xfrm>
            <a:off x="276475" y="1631150"/>
            <a:ext cx="3424500" cy="27459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300"/>
              <a:buFont typeface="Arial"/>
              <a:buNone/>
            </a:pPr>
            <a:r>
              <a:rPr b="1" i="0" lang="en-GB" sz="1400" u="none" cap="none" strike="noStrike">
                <a:solidFill>
                  <a:schemeClr val="dk1"/>
                </a:solidFill>
                <a:latin typeface="Arial"/>
                <a:ea typeface="Arial"/>
                <a:cs typeface="Arial"/>
                <a:sym typeface="Arial"/>
              </a:rPr>
              <a:t>Management Systems &amp; Supporting Tools</a:t>
            </a:r>
            <a:endParaRPr b="1"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Integrated Finance Management System,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Electronic collection and payment</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Electronic procurement system</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Auditing and compliance, </a:t>
            </a:r>
            <a:endParaRPr b="0" i="0" sz="1400" u="none" cap="none" strike="noStrike">
              <a:solidFill>
                <a:schemeClr val="dk1"/>
              </a:solidFill>
              <a:latin typeface="Arial"/>
              <a:ea typeface="Arial"/>
              <a:cs typeface="Arial"/>
              <a:sym typeface="Arial"/>
            </a:endParaRPr>
          </a:p>
          <a:p>
            <a:pPr indent="-317500" lvl="0" marL="457200" marR="0" rtl="0" algn="l">
              <a:lnSpc>
                <a:spcPct val="150000"/>
              </a:lnSpc>
              <a:spcBef>
                <a:spcPts val="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Data analysis cloud documents management</a:t>
            </a:r>
            <a:endParaRPr b="0" i="0" sz="1400" u="none" cap="none" strike="noStrike">
              <a:solidFill>
                <a:schemeClr val="dk1"/>
              </a:solidFill>
              <a:latin typeface="Arial"/>
              <a:ea typeface="Arial"/>
              <a:cs typeface="Arial"/>
              <a:sym typeface="Arial"/>
            </a:endParaRPr>
          </a:p>
        </p:txBody>
      </p:sp>
      <p:sp>
        <p:nvSpPr>
          <p:cNvPr id="214" name="Google Shape;214;g380102cde2d_0_36"/>
          <p:cNvSpPr txBox="1"/>
          <p:nvPr/>
        </p:nvSpPr>
        <p:spPr>
          <a:xfrm>
            <a:off x="7848025" y="1553750"/>
            <a:ext cx="3243000" cy="20856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400"/>
              <a:buFont typeface="Arial"/>
              <a:buNone/>
            </a:pPr>
            <a:r>
              <a:rPr b="1" i="0" lang="en-GB" sz="1400" u="none" cap="none" strike="noStrike">
                <a:solidFill>
                  <a:schemeClr val="dk1"/>
                </a:solidFill>
                <a:latin typeface="Arial"/>
                <a:ea typeface="Arial"/>
                <a:cs typeface="Arial"/>
                <a:sym typeface="Arial"/>
              </a:rPr>
              <a:t>Revenue Collection Procedures</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Verdana"/>
              <a:buChar char="●"/>
            </a:pPr>
            <a:r>
              <a:rPr b="0" i="0" lang="en-GB" sz="1400" u="none" cap="none" strike="noStrike">
                <a:solidFill>
                  <a:schemeClr val="dk1"/>
                </a:solidFill>
                <a:latin typeface="Arial"/>
                <a:ea typeface="Arial"/>
                <a:cs typeface="Arial"/>
                <a:sym typeface="Arial"/>
              </a:rPr>
              <a:t>Autonomy of Account Management</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1000"/>
              </a:spcBef>
              <a:spcAft>
                <a:spcPts val="0"/>
              </a:spcAft>
              <a:buClr>
                <a:schemeClr val="dk1"/>
              </a:buClr>
              <a:buSzPts val="1400"/>
              <a:buFont typeface="Noto Sans Symbols"/>
              <a:buChar char="●"/>
            </a:pPr>
            <a:r>
              <a:rPr b="0" i="0" lang="en-GB" sz="1400" u="none" cap="none" strike="noStrike">
                <a:solidFill>
                  <a:schemeClr val="dk1"/>
                </a:solidFill>
                <a:latin typeface="Arial"/>
                <a:ea typeface="Arial"/>
                <a:cs typeface="Arial"/>
                <a:sym typeface="Arial"/>
              </a:rPr>
              <a:t>Amount of revenues collected</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1000"/>
              </a:spcBef>
              <a:spcAft>
                <a:spcPts val="0"/>
              </a:spcAft>
              <a:buClr>
                <a:schemeClr val="dk1"/>
              </a:buClr>
              <a:buSzPts val="1400"/>
              <a:buFont typeface="Noto Sans Symbols"/>
              <a:buChar char="●"/>
            </a:pPr>
            <a:r>
              <a:rPr b="0" i="0" lang="en-GB" sz="1400" u="none" cap="none" strike="noStrike">
                <a:solidFill>
                  <a:schemeClr val="dk1"/>
                </a:solidFill>
                <a:latin typeface="Arial"/>
                <a:ea typeface="Arial"/>
                <a:cs typeface="Arial"/>
                <a:sym typeface="Arial"/>
              </a:rPr>
              <a:t>Amount of revenues released</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1000"/>
              </a:spcBef>
              <a:spcAft>
                <a:spcPts val="0"/>
              </a:spcAft>
              <a:buClr>
                <a:schemeClr val="dk1"/>
              </a:buClr>
              <a:buSzPts val="1400"/>
              <a:buFont typeface="Noto Sans Symbols"/>
              <a:buChar char="●"/>
            </a:pPr>
            <a:r>
              <a:rPr b="0" i="0" lang="en-GB" sz="1400" u="none" cap="none" strike="noStrike">
                <a:solidFill>
                  <a:schemeClr val="dk1"/>
                </a:solidFill>
                <a:latin typeface="Arial"/>
                <a:ea typeface="Arial"/>
                <a:cs typeface="Arial"/>
                <a:sym typeface="Arial"/>
              </a:rPr>
              <a:t>Management of revenue surplus</a:t>
            </a:r>
            <a:endParaRPr b="0" i="0" sz="1400" u="none" cap="none" strike="noStrike">
              <a:solidFill>
                <a:srgbClr val="000000"/>
              </a:solidFill>
              <a:latin typeface="Arial"/>
              <a:ea typeface="Arial"/>
              <a:cs typeface="Arial"/>
              <a:sym typeface="Arial"/>
            </a:endParaRPr>
          </a:p>
        </p:txBody>
      </p:sp>
      <p:sp>
        <p:nvSpPr>
          <p:cNvPr id="215" name="Google Shape;215;g380102cde2d_0_36"/>
          <p:cNvSpPr txBox="1"/>
          <p:nvPr/>
        </p:nvSpPr>
        <p:spPr>
          <a:xfrm>
            <a:off x="7909950" y="5451475"/>
            <a:ext cx="3243000" cy="12159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chemeClr val="dk1"/>
                </a:solidFill>
                <a:latin typeface="Arial"/>
                <a:ea typeface="Arial"/>
                <a:cs typeface="Arial"/>
                <a:sym typeface="Arial"/>
              </a:rPr>
              <a:t>Climate Resilient Allocations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Proactive climate adaptation versus reactive emergency repairs</a:t>
            </a:r>
            <a:endParaRPr b="0" i="0" sz="1400" u="none" cap="none" strike="noStrike">
              <a:solidFill>
                <a:schemeClr val="dk1"/>
              </a:solidFill>
              <a:latin typeface="Arial"/>
              <a:ea typeface="Arial"/>
              <a:cs typeface="Arial"/>
              <a:sym typeface="Arial"/>
            </a:endParaRPr>
          </a:p>
        </p:txBody>
      </p:sp>
      <p:sp>
        <p:nvSpPr>
          <p:cNvPr id="216" name="Google Shape;216;g380102cde2d_0_36"/>
          <p:cNvSpPr txBox="1"/>
          <p:nvPr/>
        </p:nvSpPr>
        <p:spPr>
          <a:xfrm>
            <a:off x="7848025" y="4045163"/>
            <a:ext cx="3243000" cy="1000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chemeClr val="dk1"/>
                </a:solidFill>
                <a:latin typeface="Arial"/>
                <a:ea typeface="Arial"/>
                <a:cs typeface="Arial"/>
                <a:sym typeface="Arial"/>
              </a:rPr>
              <a:t>Financial Risk Management</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Inflation</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Noto Sans Symbols"/>
              <a:buChar char="●"/>
            </a:pPr>
            <a:r>
              <a:rPr b="0" i="0" lang="en-GB" sz="1400" u="none" cap="none" strike="noStrike">
                <a:solidFill>
                  <a:schemeClr val="dk1"/>
                </a:solidFill>
                <a:latin typeface="Arial"/>
                <a:ea typeface="Arial"/>
                <a:cs typeface="Arial"/>
                <a:sym typeface="Arial"/>
              </a:rPr>
              <a:t>Fuel price fluctuations</a:t>
            </a:r>
            <a:endParaRPr b="0" i="0" sz="1400" u="none" cap="none" strike="noStrike">
              <a:solidFill>
                <a:schemeClr val="dk1"/>
              </a:solidFill>
              <a:latin typeface="Arial"/>
              <a:ea typeface="Arial"/>
              <a:cs typeface="Arial"/>
              <a:sym typeface="Arial"/>
            </a:endParaRPr>
          </a:p>
        </p:txBody>
      </p:sp>
      <p:sp>
        <p:nvSpPr>
          <p:cNvPr id="217" name="Google Shape;217;g380102cde2d_0_36"/>
          <p:cNvSpPr txBox="1"/>
          <p:nvPr/>
        </p:nvSpPr>
        <p:spPr>
          <a:xfrm>
            <a:off x="3912163" y="4775325"/>
            <a:ext cx="3243000" cy="12159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1" i="0" lang="en-GB" sz="1400" u="none" cap="none" strike="noStrike">
                <a:solidFill>
                  <a:schemeClr val="dk1"/>
                </a:solidFill>
                <a:latin typeface="Arial"/>
                <a:ea typeface="Arial"/>
                <a:cs typeface="Arial"/>
                <a:sym typeface="Arial"/>
              </a:rPr>
              <a:t>Maintenance Funding Mechanisms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Char char="●"/>
            </a:pPr>
            <a:r>
              <a:rPr b="0" i="0" lang="en-GB" sz="1400" u="none" cap="none" strike="noStrike">
                <a:solidFill>
                  <a:schemeClr val="dk1"/>
                </a:solidFill>
                <a:latin typeface="Arial"/>
                <a:ea typeface="Arial"/>
                <a:cs typeface="Arial"/>
                <a:sym typeface="Arial"/>
              </a:rPr>
              <a:t>Resilience-based insurance models or disaster risk financing instruments </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80102cde2d_0_5"/>
          <p:cNvSpPr txBox="1"/>
          <p:nvPr/>
        </p:nvSpPr>
        <p:spPr>
          <a:xfrm>
            <a:off x="731700" y="2392050"/>
            <a:ext cx="10527000" cy="3468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GB" sz="2800" u="none" cap="none" strike="noStrike">
                <a:solidFill>
                  <a:srgbClr val="E2081E"/>
                </a:solidFill>
                <a:latin typeface="Arial"/>
                <a:ea typeface="Arial"/>
                <a:cs typeface="Arial"/>
                <a:sym typeface="Arial"/>
              </a:rPr>
              <a:t>3: OPERATIONS, RESILIENCE AND EQUITY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rgbClr val="000000"/>
                </a:solidFill>
                <a:latin typeface="Arial"/>
                <a:ea typeface="Arial"/>
                <a:cs typeface="Arial"/>
                <a:sym typeface="Arial"/>
              </a:rPr>
              <a:t>MAINSTREAMING CLIMATE RESILIENCE AND EQUITY IN ROAD FUNDS OPERATIONS: CURRENT SITUATION AND DISCUSSION</a:t>
            </a:r>
            <a:endParaRPr b="1" i="0" sz="2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rPr b="0" i="1" lang="en-GB" sz="2000" u="none" cap="none" strike="noStrike">
                <a:solidFill>
                  <a:srgbClr val="000000"/>
                </a:solidFill>
                <a:latin typeface="Arial"/>
                <a:ea typeface="Arial"/>
                <a:cs typeface="Arial"/>
                <a:sym typeface="Arial"/>
              </a:rPr>
              <a:t>Moderated by: </a:t>
            </a:r>
            <a:r>
              <a:rPr b="0" i="1" lang="en-GB" sz="2000" u="none" cap="none" strike="noStrike">
                <a:solidFill>
                  <a:schemeClr val="dk1"/>
                </a:solidFill>
                <a:latin typeface="Arial"/>
                <a:ea typeface="Arial"/>
                <a:cs typeface="Arial"/>
                <a:sym typeface="Arial"/>
              </a:rPr>
              <a:t>Enrique José Piñero Piolestan (Climate Resilience Expert)</a:t>
            </a:r>
            <a:endParaRPr b="0" i="1" sz="20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E2081E"/>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80102cde2d_0_15"/>
          <p:cNvSpPr txBox="1"/>
          <p:nvPr/>
        </p:nvSpPr>
        <p:spPr>
          <a:xfrm>
            <a:off x="841734" y="1341884"/>
            <a:ext cx="10266600" cy="479610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1800"/>
              <a:buFont typeface="Arial"/>
              <a:buNone/>
            </a:pPr>
            <a:r>
              <a:rPr b="1" i="0" lang="en-GB" sz="1800" u="none" cap="none" strike="noStrike">
                <a:solidFill>
                  <a:srgbClr val="262626"/>
                </a:solidFill>
                <a:latin typeface="Arial"/>
                <a:ea typeface="Arial"/>
                <a:cs typeface="Arial"/>
                <a:sym typeface="Arial"/>
              </a:rPr>
              <a:t>MAINSTREAMING CLIMATE RESILIENCE AND EQUITY IN ROAD FUNDS OPERATIONS: CURRENT SITUATION AND DISCUSSION</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800"/>
              <a:buFont typeface="Arial"/>
              <a:buNone/>
            </a:pPr>
            <a:r>
              <a:rPr b="1" i="0" lang="en-GB" sz="1800" u="none" cap="none" strike="noStrike">
                <a:solidFill>
                  <a:srgbClr val="262626"/>
                </a:solidFill>
                <a:latin typeface="Arial"/>
                <a:ea typeface="Arial"/>
                <a:cs typeface="Arial"/>
                <a:sym typeface="Arial"/>
              </a:rPr>
              <a:t>Why:</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800"/>
              <a:buFont typeface="Arial"/>
              <a:buNone/>
            </a:pPr>
            <a:r>
              <a:rPr b="0" i="0" lang="en-GB" sz="1800" u="none" cap="none" strike="noStrike">
                <a:solidFill>
                  <a:srgbClr val="262626"/>
                </a:solidFill>
                <a:latin typeface="Arial"/>
                <a:ea typeface="Arial"/>
                <a:cs typeface="Arial"/>
                <a:sym typeface="Arial"/>
              </a:rPr>
              <a:t>Road Funds can mainstream resilience and equity into the sector through the way they plan programmes, set allocation rules, attach conditions to disbursements, and track results—without taking over the execution role of road agencies.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800"/>
              <a:buFont typeface="Arial"/>
              <a:buNone/>
            </a:pPr>
            <a:r>
              <a:rPr b="1" i="0" lang="en-GB" sz="1800" u="none" cap="none" strike="noStrike">
                <a:solidFill>
                  <a:srgbClr val="262626"/>
                </a:solidFill>
                <a:latin typeface="Arial"/>
                <a:ea typeface="Arial"/>
                <a:cs typeface="Arial"/>
                <a:sym typeface="Arial"/>
              </a:rPr>
              <a:t>Objectives: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800"/>
              <a:buFont typeface="Arial"/>
              <a:buNone/>
            </a:pPr>
            <a:r>
              <a:rPr b="0" i="0" lang="en-GB" sz="1800" u="none" cap="none" strike="noStrike">
                <a:solidFill>
                  <a:srgbClr val="262626"/>
                </a:solidFill>
                <a:latin typeface="Arial"/>
                <a:ea typeface="Arial"/>
                <a:cs typeface="Arial"/>
                <a:sym typeface="Arial"/>
              </a:rPr>
              <a:t>1. Identify practical, low-regret actions that Road Funds can adopt to make networks more climate-resilient and serviceable for all users.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800"/>
              <a:buFont typeface="Arial"/>
              <a:buNone/>
            </a:pPr>
            <a:r>
              <a:rPr b="0" i="0" lang="en-GB" sz="1800" u="none" cap="none" strike="noStrike">
                <a:solidFill>
                  <a:srgbClr val="262626"/>
                </a:solidFill>
                <a:latin typeface="Arial"/>
                <a:ea typeface="Arial"/>
                <a:cs typeface="Arial"/>
                <a:sym typeface="Arial"/>
              </a:rPr>
              <a:t>2. Discuss budget and disbursement rules that mainstream resilience (standards, emergency budgets) and equity (transparent criteria, inclusion requirements).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1000"/>
              </a:spcBef>
              <a:spcAft>
                <a:spcPts val="0"/>
              </a:spcAft>
              <a:buClr>
                <a:srgbClr val="000000"/>
              </a:buClr>
              <a:buSzPts val="1800"/>
              <a:buFont typeface="Arial"/>
              <a:buNone/>
            </a:pPr>
            <a:r>
              <a:rPr b="0" i="0" lang="en-GB" sz="1800" u="none" cap="none" strike="noStrike">
                <a:solidFill>
                  <a:srgbClr val="262626"/>
                </a:solidFill>
                <a:latin typeface="Arial"/>
                <a:ea typeface="Arial"/>
                <a:cs typeface="Arial"/>
                <a:sym typeface="Arial"/>
              </a:rPr>
              <a:t>3. Share good practices and capacity needs (data, tools, contract modalities) that can be replicated across AFERA members.</a:t>
            </a:r>
            <a:endParaRPr b="0" i="0" sz="1400" u="none" cap="none" strike="noStrike">
              <a:solidFill>
                <a:srgbClr val="000000"/>
              </a:solidFill>
              <a:latin typeface="Arial"/>
              <a:ea typeface="Arial"/>
              <a:cs typeface="Arial"/>
              <a:sym typeface="Arial"/>
            </a:endParaRPr>
          </a:p>
        </p:txBody>
      </p:sp>
      <p:sp>
        <p:nvSpPr>
          <p:cNvPr id="230" name="Google Shape;230;g380102cde2d_0_15"/>
          <p:cNvSpPr txBox="1"/>
          <p:nvPr/>
        </p:nvSpPr>
        <p:spPr>
          <a:xfrm>
            <a:off x="392847" y="446241"/>
            <a:ext cx="7654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E2081E"/>
                </a:solidFill>
                <a:latin typeface="Arial"/>
                <a:ea typeface="Arial"/>
                <a:cs typeface="Arial"/>
                <a:sym typeface="Arial"/>
              </a:rPr>
              <a:t>Rationale for the Working Group</a:t>
            </a:r>
            <a:endParaRPr b="1" i="0" sz="2000" u="none" cap="none" strike="noStrike">
              <a:solidFill>
                <a:srgbClr val="E2081E"/>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380102cde2d_0_21"/>
          <p:cNvSpPr txBox="1"/>
          <p:nvPr/>
        </p:nvSpPr>
        <p:spPr>
          <a:xfrm>
            <a:off x="276469" y="158554"/>
            <a:ext cx="6855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E2081E"/>
                </a:solidFill>
                <a:latin typeface="Arial"/>
                <a:ea typeface="Arial"/>
                <a:cs typeface="Arial"/>
                <a:sym typeface="Arial"/>
              </a:rPr>
              <a:t>Climate Resilience and Equity in Road Funds Operations – Topics for Discussion</a:t>
            </a:r>
            <a:endParaRPr b="0" i="0" sz="1400" u="none" cap="none" strike="noStrike">
              <a:solidFill>
                <a:srgbClr val="000000"/>
              </a:solidFill>
              <a:latin typeface="Arial"/>
              <a:ea typeface="Arial"/>
              <a:cs typeface="Arial"/>
              <a:sym typeface="Arial"/>
            </a:endParaRPr>
          </a:p>
        </p:txBody>
      </p:sp>
      <p:sp>
        <p:nvSpPr>
          <p:cNvPr id="237" name="Google Shape;237;g380102cde2d_0_21"/>
          <p:cNvSpPr txBox="1"/>
          <p:nvPr/>
        </p:nvSpPr>
        <p:spPr>
          <a:xfrm>
            <a:off x="686089" y="3190188"/>
            <a:ext cx="5825400" cy="2626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1300"/>
              <a:buFont typeface="Arial"/>
              <a:buNone/>
            </a:pPr>
            <a:r>
              <a:rPr b="1" i="0" lang="en-GB" sz="1300" u="none" cap="none" strike="noStrike">
                <a:solidFill>
                  <a:srgbClr val="000000"/>
                </a:solidFill>
                <a:latin typeface="Arial"/>
                <a:ea typeface="Arial"/>
                <a:cs typeface="Arial"/>
                <a:sym typeface="Arial"/>
              </a:rPr>
              <a:t>Disbursement conditions and delivery models</a:t>
            </a:r>
            <a:endParaRPr b="0" i="0" sz="1300" u="none" cap="none" strike="noStrike">
              <a:solidFill>
                <a:srgbClr val="000000"/>
              </a:solidFill>
              <a:latin typeface="Arial"/>
              <a:ea typeface="Arial"/>
              <a:cs typeface="Arial"/>
              <a:sym typeface="Arial"/>
            </a:endParaRPr>
          </a:p>
          <a:p>
            <a:pPr indent="-342900" lvl="0" marL="342900" marR="0" rtl="0" algn="l">
              <a:lnSpc>
                <a:spcPct val="100000"/>
              </a:lnSpc>
              <a:spcBef>
                <a:spcPts val="10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Eligibility for funding contingent on climate-resilient designs/standards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Favour delivery through performance-based contracts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Pre-approve streamlined emergency procedures (triggers, thresholds, procurement and payment fast-tracks);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Participation incentives for local SMEs, women/youth-led firms + practical support (pre-financing/training).</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Make RAMS-based maintenance plans and standardized datasets a funding condition</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Use RAMS indicators in PBC performance clauses</a:t>
            </a:r>
            <a:endParaRPr b="0" i="0" sz="1400" u="none" cap="none" strike="noStrike">
              <a:solidFill>
                <a:srgbClr val="000000"/>
              </a:solidFill>
              <a:latin typeface="Arial"/>
              <a:ea typeface="Arial"/>
              <a:cs typeface="Arial"/>
              <a:sym typeface="Arial"/>
            </a:endParaRPr>
          </a:p>
        </p:txBody>
      </p:sp>
      <p:sp>
        <p:nvSpPr>
          <p:cNvPr id="238" name="Google Shape;238;g380102cde2d_0_21"/>
          <p:cNvSpPr txBox="1"/>
          <p:nvPr/>
        </p:nvSpPr>
        <p:spPr>
          <a:xfrm>
            <a:off x="686090" y="1254498"/>
            <a:ext cx="5825400" cy="1705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300"/>
              <a:buFont typeface="Arial"/>
              <a:buNone/>
            </a:pPr>
            <a:r>
              <a:rPr b="1" i="0" lang="en-GB" sz="1300" u="none" cap="none" strike="noStrike">
                <a:solidFill>
                  <a:srgbClr val="000000"/>
                </a:solidFill>
                <a:latin typeface="Arial"/>
                <a:ea typeface="Arial"/>
                <a:cs typeface="Arial"/>
                <a:sym typeface="Arial"/>
              </a:rPr>
              <a:t>Planning &amp; Budgeting</a:t>
            </a:r>
            <a:endParaRPr b="0" i="0" sz="1300" u="none" cap="none" strike="noStrike">
              <a:solidFill>
                <a:srgbClr val="000000"/>
              </a:solidFill>
              <a:latin typeface="Arial"/>
              <a:ea typeface="Arial"/>
              <a:cs typeface="Arial"/>
              <a:sym typeface="Arial"/>
            </a:endParaRPr>
          </a:p>
          <a:p>
            <a:pPr indent="-342900" lvl="0" marL="342900" marR="0" rtl="0" algn="l">
              <a:lnSpc>
                <a:spcPct val="100000"/>
              </a:lnSpc>
              <a:spcBef>
                <a:spcPts val="10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Use climate-risk to prioritise maintenance using RAMS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Apply life-cycle costing using RAMS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Allocate a share of the maintenance budget for resilience measures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Establish contingency reserves for extreme events.</a:t>
            </a:r>
            <a:endParaRPr b="0" i="0" sz="1300" u="none" cap="none" strike="noStrike">
              <a:solidFill>
                <a:srgbClr val="000000"/>
              </a:solidFill>
              <a:latin typeface="Arial"/>
              <a:ea typeface="Arial"/>
              <a:cs typeface="Arial"/>
              <a:sym typeface="Arial"/>
            </a:endParaRPr>
          </a:p>
        </p:txBody>
      </p:sp>
      <p:sp>
        <p:nvSpPr>
          <p:cNvPr id="239" name="Google Shape;239;g380102cde2d_0_21"/>
          <p:cNvSpPr txBox="1"/>
          <p:nvPr/>
        </p:nvSpPr>
        <p:spPr>
          <a:xfrm>
            <a:off x="6885709" y="1254498"/>
            <a:ext cx="4620300" cy="1705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0000"/>
              </a:lnSpc>
              <a:spcBef>
                <a:spcPts val="0"/>
              </a:spcBef>
              <a:spcAft>
                <a:spcPts val="0"/>
              </a:spcAft>
              <a:buClr>
                <a:srgbClr val="000000"/>
              </a:buClr>
              <a:buSzPts val="1300"/>
              <a:buFont typeface="Arial"/>
              <a:buNone/>
            </a:pPr>
            <a:r>
              <a:rPr b="1" i="0" lang="en-GB" sz="1300" u="none" cap="none" strike="noStrike">
                <a:solidFill>
                  <a:srgbClr val="000000"/>
                </a:solidFill>
                <a:latin typeface="Arial"/>
                <a:ea typeface="Arial"/>
                <a:cs typeface="Arial"/>
                <a:sym typeface="Arial"/>
              </a:rPr>
              <a:t>Funds allocation rules</a:t>
            </a:r>
            <a:endParaRPr b="0" i="0" sz="1300" u="none" cap="none" strike="noStrike">
              <a:solidFill>
                <a:srgbClr val="000000"/>
              </a:solidFill>
              <a:latin typeface="Arial"/>
              <a:ea typeface="Arial"/>
              <a:cs typeface="Arial"/>
              <a:sym typeface="Arial"/>
            </a:endParaRPr>
          </a:p>
          <a:p>
            <a:pPr indent="-342900" lvl="0" marL="342900" marR="0" rtl="0" algn="l">
              <a:lnSpc>
                <a:spcPct val="100000"/>
              </a:lnSpc>
              <a:spcBef>
                <a:spcPts val="10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Define transparent criteria that weight vulnerable regions/users and critical access (schools, clinics..)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Balance rural/urban needs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Ensure fairness of user-charge benefits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Require social safeguards for financed works.</a:t>
            </a:r>
            <a:endParaRPr b="0" i="0" sz="1400" u="none" cap="none" strike="noStrike">
              <a:solidFill>
                <a:srgbClr val="000000"/>
              </a:solidFill>
              <a:latin typeface="Arial"/>
              <a:ea typeface="Arial"/>
              <a:cs typeface="Arial"/>
              <a:sym typeface="Arial"/>
            </a:endParaRPr>
          </a:p>
        </p:txBody>
      </p:sp>
      <p:sp>
        <p:nvSpPr>
          <p:cNvPr id="240" name="Google Shape;240;g380102cde2d_0_21"/>
          <p:cNvSpPr txBox="1"/>
          <p:nvPr/>
        </p:nvSpPr>
        <p:spPr>
          <a:xfrm>
            <a:off x="6885707" y="3190188"/>
            <a:ext cx="4620300" cy="21492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1300"/>
              <a:buFont typeface="Arial"/>
              <a:buNone/>
            </a:pPr>
            <a:r>
              <a:rPr b="1" i="0" lang="en-GB" sz="1300" u="none" cap="none" strike="noStrike">
                <a:solidFill>
                  <a:srgbClr val="000000"/>
                </a:solidFill>
                <a:latin typeface="Arial"/>
                <a:ea typeface="Arial"/>
                <a:cs typeface="Arial"/>
                <a:sym typeface="Arial"/>
              </a:rPr>
              <a:t>Monitoring &amp; Accountability</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10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 of delivery achieved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Time to restore traffic after events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 network maintained to resilient standards, accident and disruption trends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Share of contracts to priority groups/regions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600"/>
              </a:spcBef>
              <a:spcAft>
                <a:spcPts val="0"/>
              </a:spcAft>
              <a:buClr>
                <a:srgbClr val="000000"/>
              </a:buClr>
              <a:buSzPts val="1000"/>
              <a:buFont typeface="Noto Sans Symbols"/>
              <a:buChar char="∙"/>
            </a:pPr>
            <a:r>
              <a:rPr b="0" i="0" lang="en-GB" sz="1300" u="none" cap="none" strike="noStrike">
                <a:solidFill>
                  <a:srgbClr val="000000"/>
                </a:solidFill>
                <a:latin typeface="Arial"/>
                <a:ea typeface="Arial"/>
                <a:cs typeface="Arial"/>
                <a:sym typeface="Arial"/>
              </a:rPr>
              <a:t>Simple dashboards; strong audits and grievance channels.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380102cde2d_0_475"/>
          <p:cNvSpPr txBox="1"/>
          <p:nvPr/>
        </p:nvSpPr>
        <p:spPr>
          <a:xfrm>
            <a:off x="731700" y="2392050"/>
            <a:ext cx="10526700" cy="3468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GB" sz="2800" u="none" cap="none" strike="noStrike">
                <a:solidFill>
                  <a:srgbClr val="E2081E"/>
                </a:solidFill>
                <a:latin typeface="Arial"/>
                <a:ea typeface="Arial"/>
                <a:cs typeface="Arial"/>
                <a:sym typeface="Arial"/>
              </a:rPr>
              <a:t>4: TRANSPORT CORRIDORS</a:t>
            </a:r>
            <a:endParaRPr b="0" i="0" sz="15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rPr b="1" i="0" lang="en-GB" sz="2400" u="none" cap="none" strike="noStrike">
                <a:solidFill>
                  <a:schemeClr val="dk1"/>
                </a:solidFill>
                <a:highlight>
                  <a:schemeClr val="lt1"/>
                </a:highlight>
                <a:latin typeface="Arial"/>
                <a:ea typeface="Arial"/>
                <a:cs typeface="Arial"/>
                <a:sym typeface="Arial"/>
              </a:rPr>
              <a:t>HARMONIZING STANDARDS FOR CROSS-BORDER TRANSPORT CORRIDORS</a:t>
            </a:r>
            <a:r>
              <a:rPr b="1" i="0" lang="en-GB" sz="2400" u="none" cap="none" strike="noStrike">
                <a:solidFill>
                  <a:srgbClr val="262626"/>
                </a:solidFill>
                <a:highlight>
                  <a:schemeClr val="lt1"/>
                </a:highlight>
                <a:latin typeface="Arial"/>
                <a:ea typeface="Arial"/>
                <a:cs typeface="Arial"/>
                <a:sym typeface="Arial"/>
              </a:rPr>
              <a:t>: </a:t>
            </a:r>
            <a:r>
              <a:rPr b="1" i="0" lang="en-GB" sz="2400" u="none" cap="none" strike="noStrike">
                <a:solidFill>
                  <a:srgbClr val="000000"/>
                </a:solidFill>
                <a:highlight>
                  <a:schemeClr val="lt1"/>
                </a:highlight>
                <a:latin typeface="Arial"/>
                <a:ea typeface="Arial"/>
                <a:cs typeface="Arial"/>
                <a:sym typeface="Arial"/>
              </a:rPr>
              <a:t>CURRENT SITUATION AND DISCUSSION</a:t>
            </a:r>
            <a:endParaRPr b="1" i="0" sz="2400" u="none" cap="none" strike="noStrike">
              <a:solidFill>
                <a:srgbClr val="000000"/>
              </a:solidFill>
              <a:highlight>
                <a:schemeClr val="lt1"/>
              </a:highlight>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highlight>
                <a:srgbClr val="FFFF00"/>
              </a:highlight>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1" i="0" sz="2400" u="sng" cap="none" strike="noStrike">
              <a:solidFill>
                <a:srgbClr val="000000"/>
              </a:solidFill>
              <a:highlight>
                <a:srgbClr val="FFFF00"/>
              </a:highlight>
              <a:latin typeface="Arial"/>
              <a:ea typeface="Arial"/>
              <a:cs typeface="Arial"/>
              <a:sym typeface="Arial"/>
            </a:endParaRPr>
          </a:p>
          <a:p>
            <a:pPr indent="0" lvl="0" marL="0" marR="0" rtl="0" algn="ctr">
              <a:lnSpc>
                <a:spcPct val="100000"/>
              </a:lnSpc>
              <a:spcBef>
                <a:spcPts val="0"/>
              </a:spcBef>
              <a:spcAft>
                <a:spcPts val="0"/>
              </a:spcAft>
              <a:buClr>
                <a:schemeClr val="dk1"/>
              </a:buClr>
              <a:buSzPts val="2400"/>
              <a:buFont typeface="Arial"/>
              <a:buNone/>
            </a:pPr>
            <a:r>
              <a:rPr b="0" i="1" lang="en-GB" sz="2000" u="none" cap="none" strike="noStrike">
                <a:solidFill>
                  <a:schemeClr val="dk1"/>
                </a:solidFill>
                <a:latin typeface="Arial"/>
                <a:ea typeface="Arial"/>
                <a:cs typeface="Arial"/>
                <a:sym typeface="Arial"/>
              </a:rPr>
              <a:t>Moderated by: Maurice Niaty-Mouamba</a:t>
            </a:r>
            <a:endParaRPr b="1" i="0" sz="2400" u="sng" cap="none" strike="noStrike">
              <a:solidFill>
                <a:srgbClr val="000000"/>
              </a:solidFill>
              <a:highlight>
                <a:srgbClr val="FFFF00"/>
              </a:highlight>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E2081E"/>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80102cde2d_0_480"/>
          <p:cNvSpPr txBox="1"/>
          <p:nvPr/>
        </p:nvSpPr>
        <p:spPr>
          <a:xfrm>
            <a:off x="841734" y="1341884"/>
            <a:ext cx="10266900" cy="5324700"/>
          </a:xfrm>
          <a:prstGeom prst="rect">
            <a:avLst/>
          </a:prstGeom>
          <a:noFill/>
          <a:ln>
            <a:noFill/>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1900"/>
              <a:buFont typeface="Arial"/>
              <a:buNone/>
            </a:pPr>
            <a:r>
              <a:rPr b="1" i="0" lang="en-GB" sz="1900" u="none" cap="none" strike="noStrike">
                <a:solidFill>
                  <a:schemeClr val="dk1"/>
                </a:solidFill>
                <a:highlight>
                  <a:schemeClr val="lt1"/>
                </a:highlight>
                <a:latin typeface="Arial"/>
                <a:ea typeface="Arial"/>
                <a:cs typeface="Arial"/>
                <a:sym typeface="Arial"/>
              </a:rPr>
              <a:t>HARMONIZING STANDARDS FOR CROSS-BORDER CORRIDORS</a:t>
            </a:r>
            <a:r>
              <a:rPr b="1" i="0" lang="en-GB" sz="1900" u="none" cap="none" strike="noStrike">
                <a:solidFill>
                  <a:srgbClr val="262626"/>
                </a:solidFill>
                <a:highlight>
                  <a:schemeClr val="lt1"/>
                </a:highlight>
                <a:latin typeface="Arial"/>
                <a:ea typeface="Arial"/>
                <a:cs typeface="Arial"/>
                <a:sym typeface="Arial"/>
              </a:rPr>
              <a:t>: </a:t>
            </a:r>
            <a:r>
              <a:rPr b="1" i="0" lang="en-GB" sz="1900" u="none" cap="none" strike="noStrike">
                <a:solidFill>
                  <a:srgbClr val="262626"/>
                </a:solidFill>
                <a:latin typeface="Arial"/>
                <a:ea typeface="Arial"/>
                <a:cs typeface="Arial"/>
                <a:sym typeface="Arial"/>
              </a:rPr>
              <a:t>CURRENT SITUATION AND DISCUSSION</a:t>
            </a:r>
            <a:endParaRPr b="0" i="0" sz="1900" u="none" cap="none" strike="noStrike">
              <a:solidFill>
                <a:srgbClr val="000000"/>
              </a:solidFill>
              <a:latin typeface="Arial"/>
              <a:ea typeface="Arial"/>
              <a:cs typeface="Arial"/>
              <a:sym typeface="Arial"/>
            </a:endParaRPr>
          </a:p>
          <a:p>
            <a:pPr indent="0" lvl="0" marL="0" marR="0" rtl="0" algn="l">
              <a:lnSpc>
                <a:spcPct val="110000"/>
              </a:lnSpc>
              <a:spcBef>
                <a:spcPts val="1100"/>
              </a:spcBef>
              <a:spcAft>
                <a:spcPts val="0"/>
              </a:spcAft>
              <a:buClr>
                <a:srgbClr val="000000"/>
              </a:buClr>
              <a:buSzPts val="1900"/>
              <a:buFont typeface="Arial"/>
              <a:buNone/>
            </a:pPr>
            <a:r>
              <a:rPr b="1" i="0" lang="en-GB" sz="1900" u="none" cap="none" strike="noStrike">
                <a:solidFill>
                  <a:srgbClr val="262626"/>
                </a:solidFill>
                <a:latin typeface="Arial"/>
                <a:ea typeface="Arial"/>
                <a:cs typeface="Arial"/>
                <a:sym typeface="Arial"/>
              </a:rPr>
              <a:t>Why:</a:t>
            </a:r>
            <a:endParaRPr b="0" i="0" sz="1500" u="none" cap="none" strike="noStrike">
              <a:solidFill>
                <a:srgbClr val="000000"/>
              </a:solidFill>
              <a:latin typeface="Arial"/>
              <a:ea typeface="Arial"/>
              <a:cs typeface="Arial"/>
              <a:sym typeface="Arial"/>
            </a:endParaRPr>
          </a:p>
          <a:p>
            <a:pPr indent="0" lvl="0" marL="0" marR="0" rtl="0" algn="just">
              <a:lnSpc>
                <a:spcPct val="100000"/>
              </a:lnSpc>
              <a:spcBef>
                <a:spcPts val="1100"/>
              </a:spcBef>
              <a:spcAft>
                <a:spcPts val="0"/>
              </a:spcAft>
              <a:buClr>
                <a:srgbClr val="000000"/>
              </a:buClr>
              <a:buSzPts val="1900"/>
              <a:buFont typeface="Arial"/>
              <a:buNone/>
            </a:pPr>
            <a:r>
              <a:rPr b="0" i="0" lang="en-GB" sz="1900" u="none" cap="none" strike="noStrike">
                <a:solidFill>
                  <a:schemeClr val="dk1"/>
                </a:solidFill>
                <a:latin typeface="Arial"/>
                <a:ea typeface="Arial"/>
                <a:cs typeface="Arial"/>
                <a:sym typeface="Arial"/>
              </a:rPr>
              <a:t>Regional transport corridors are the arteries of economic growth and trade in Africa. The maintenance of these corridors requires seamless coordination and harmonization of policies among neighboring countries. By fostering regional integration, Road Funds can strengthen cross-border trade, reduce transit times, and create a more efficient and resilient transport network that benefits the entire continent.</a:t>
            </a:r>
            <a:endParaRPr b="0" i="0" sz="1900" u="none" cap="none" strike="noStrike">
              <a:solidFill>
                <a:srgbClr val="000000"/>
              </a:solidFill>
              <a:latin typeface="Arial"/>
              <a:ea typeface="Arial"/>
              <a:cs typeface="Arial"/>
              <a:sym typeface="Arial"/>
            </a:endParaRPr>
          </a:p>
          <a:p>
            <a:pPr indent="0" lvl="0" marL="0" marR="0" rtl="0" algn="l">
              <a:lnSpc>
                <a:spcPct val="110000"/>
              </a:lnSpc>
              <a:spcBef>
                <a:spcPts val="1200"/>
              </a:spcBef>
              <a:spcAft>
                <a:spcPts val="0"/>
              </a:spcAft>
              <a:buClr>
                <a:srgbClr val="000000"/>
              </a:buClr>
              <a:buSzPts val="1900"/>
              <a:buFont typeface="Arial"/>
              <a:buNone/>
            </a:pPr>
            <a:r>
              <a:rPr b="1" i="0" lang="en-GB" sz="1900" u="none" cap="none" strike="noStrike">
                <a:solidFill>
                  <a:srgbClr val="262626"/>
                </a:solidFill>
                <a:latin typeface="Arial"/>
                <a:ea typeface="Arial"/>
                <a:cs typeface="Arial"/>
                <a:sym typeface="Arial"/>
              </a:rPr>
              <a:t>Objectives:</a:t>
            </a:r>
            <a:endParaRPr b="0" i="0" sz="1500" u="none" cap="none" strike="noStrike">
              <a:solidFill>
                <a:srgbClr val="000000"/>
              </a:solidFill>
              <a:latin typeface="Arial"/>
              <a:ea typeface="Arial"/>
              <a:cs typeface="Arial"/>
              <a:sym typeface="Arial"/>
            </a:endParaRPr>
          </a:p>
          <a:p>
            <a:pPr indent="-336550" lvl="1" marL="914400" marR="0" rtl="0" algn="l">
              <a:lnSpc>
                <a:spcPct val="150000"/>
              </a:lnSpc>
              <a:spcBef>
                <a:spcPts val="0"/>
              </a:spcBef>
              <a:spcAft>
                <a:spcPts val="0"/>
              </a:spcAft>
              <a:buClr>
                <a:schemeClr val="dk1"/>
              </a:buClr>
              <a:buSzPts val="1900"/>
              <a:buFont typeface="Arial"/>
              <a:buAutoNum type="arabicPeriod"/>
            </a:pPr>
            <a:r>
              <a:rPr b="0" i="0" lang="en-GB" sz="1900" u="none" cap="none" strike="noStrike">
                <a:solidFill>
                  <a:schemeClr val="dk1"/>
                </a:solidFill>
                <a:latin typeface="Arial"/>
                <a:ea typeface="Arial"/>
                <a:cs typeface="Arial"/>
                <a:sym typeface="Arial"/>
              </a:rPr>
              <a:t>To assess the level of coordination with Road Funds of neighboring countries.</a:t>
            </a:r>
            <a:endParaRPr b="0" i="0" sz="1900" u="none" cap="none" strike="noStrike">
              <a:solidFill>
                <a:schemeClr val="dk1"/>
              </a:solidFill>
              <a:latin typeface="Arial"/>
              <a:ea typeface="Arial"/>
              <a:cs typeface="Arial"/>
              <a:sym typeface="Arial"/>
            </a:endParaRPr>
          </a:p>
          <a:p>
            <a:pPr indent="-336550" lvl="1" marL="914400" marR="0" rtl="0" algn="l">
              <a:lnSpc>
                <a:spcPct val="150000"/>
              </a:lnSpc>
              <a:spcBef>
                <a:spcPts val="0"/>
              </a:spcBef>
              <a:spcAft>
                <a:spcPts val="0"/>
              </a:spcAft>
              <a:buClr>
                <a:schemeClr val="dk1"/>
              </a:buClr>
              <a:buSzPts val="1900"/>
              <a:buFont typeface="Arial"/>
              <a:buAutoNum type="arabicPeriod"/>
            </a:pPr>
            <a:r>
              <a:rPr b="0" i="0" lang="en-GB" sz="1900" u="none" cap="none" strike="noStrike">
                <a:solidFill>
                  <a:schemeClr val="dk1"/>
                </a:solidFill>
                <a:latin typeface="Arial"/>
                <a:ea typeface="Arial"/>
                <a:cs typeface="Arial"/>
                <a:sym typeface="Arial"/>
              </a:rPr>
              <a:t>To identify challenges and opportunities in aligning operations with regional integration objectives.</a:t>
            </a:r>
            <a:endParaRPr b="0" i="0" sz="1900" u="none" cap="none" strike="noStrike">
              <a:solidFill>
                <a:schemeClr val="dk1"/>
              </a:solidFill>
              <a:latin typeface="Arial"/>
              <a:ea typeface="Arial"/>
              <a:cs typeface="Arial"/>
              <a:sym typeface="Arial"/>
            </a:endParaRPr>
          </a:p>
          <a:p>
            <a:pPr indent="-336550" lvl="1" marL="914400" marR="0" rtl="0" algn="l">
              <a:lnSpc>
                <a:spcPct val="150000"/>
              </a:lnSpc>
              <a:spcBef>
                <a:spcPts val="0"/>
              </a:spcBef>
              <a:spcAft>
                <a:spcPts val="0"/>
              </a:spcAft>
              <a:buClr>
                <a:schemeClr val="dk1"/>
              </a:buClr>
              <a:buSzPts val="1900"/>
              <a:buFont typeface="Arial"/>
              <a:buAutoNum type="arabicPeriod"/>
            </a:pPr>
            <a:r>
              <a:rPr b="0" i="0" lang="en-GB" sz="1900" u="none" cap="none" strike="noStrike">
                <a:solidFill>
                  <a:schemeClr val="dk1"/>
                </a:solidFill>
                <a:latin typeface="Arial"/>
                <a:ea typeface="Arial"/>
                <a:cs typeface="Arial"/>
                <a:sym typeface="Arial"/>
              </a:rPr>
              <a:t>To explore mechanisms for harmonizing financing, standards, and systems to support cross-border corridors.</a:t>
            </a:r>
            <a:endParaRPr b="0" i="0" sz="2300" u="none" cap="none" strike="noStrike">
              <a:solidFill>
                <a:srgbClr val="262626"/>
              </a:solidFill>
              <a:latin typeface="Arial"/>
              <a:ea typeface="Arial"/>
              <a:cs typeface="Arial"/>
              <a:sym typeface="Arial"/>
            </a:endParaRPr>
          </a:p>
        </p:txBody>
      </p:sp>
      <p:sp>
        <p:nvSpPr>
          <p:cNvPr id="253" name="Google Shape;253;g380102cde2d_0_480"/>
          <p:cNvSpPr txBox="1"/>
          <p:nvPr/>
        </p:nvSpPr>
        <p:spPr>
          <a:xfrm>
            <a:off x="392847" y="446241"/>
            <a:ext cx="76545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E2081E"/>
                </a:solidFill>
                <a:latin typeface="Arial"/>
                <a:ea typeface="Arial"/>
                <a:cs typeface="Arial"/>
                <a:sym typeface="Arial"/>
              </a:rPr>
              <a:t>Rationale for the Working Group</a:t>
            </a:r>
            <a:endParaRPr b="1" i="0" sz="2000" u="none" cap="none" strike="noStrike">
              <a:solidFill>
                <a:srgbClr val="E2081E"/>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80102cde2d_0_486"/>
          <p:cNvSpPr txBox="1"/>
          <p:nvPr/>
        </p:nvSpPr>
        <p:spPr>
          <a:xfrm>
            <a:off x="276469" y="251429"/>
            <a:ext cx="6855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E2081E"/>
                </a:solidFill>
                <a:latin typeface="Arial"/>
                <a:ea typeface="Arial"/>
                <a:cs typeface="Arial"/>
                <a:sym typeface="Arial"/>
              </a:rPr>
              <a:t>Transport Corridors – Topics for Discussion</a:t>
            </a:r>
            <a:endParaRPr b="0" i="0" sz="1500" u="none" cap="none" strike="noStrike">
              <a:solidFill>
                <a:srgbClr val="000000"/>
              </a:solidFill>
              <a:latin typeface="Arial"/>
              <a:ea typeface="Arial"/>
              <a:cs typeface="Arial"/>
              <a:sym typeface="Arial"/>
            </a:endParaRPr>
          </a:p>
        </p:txBody>
      </p:sp>
      <p:sp>
        <p:nvSpPr>
          <p:cNvPr id="260" name="Google Shape;260;g380102cde2d_0_486"/>
          <p:cNvSpPr txBox="1"/>
          <p:nvPr/>
        </p:nvSpPr>
        <p:spPr>
          <a:xfrm>
            <a:off x="360175" y="1538275"/>
            <a:ext cx="3173700" cy="5071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900"/>
              <a:buFont typeface="Arial"/>
              <a:buNone/>
            </a:pPr>
            <a:r>
              <a:rPr b="1" i="0" lang="en-GB" sz="1900" u="none" cap="none" strike="noStrike">
                <a:solidFill>
                  <a:schemeClr val="dk1"/>
                </a:solidFill>
                <a:latin typeface="Arial"/>
                <a:ea typeface="Arial"/>
                <a:cs typeface="Arial"/>
                <a:sym typeface="Arial"/>
              </a:rPr>
              <a:t>Harmonization of Policies and Systems</a:t>
            </a:r>
            <a:endParaRPr b="1" i="0" sz="2300" u="none" cap="none" strike="noStrike">
              <a:solidFill>
                <a:schemeClr val="dk1"/>
              </a:solidFill>
              <a:latin typeface="Arial"/>
              <a:ea typeface="Arial"/>
              <a:cs typeface="Arial"/>
              <a:sym typeface="Arial"/>
            </a:endParaRPr>
          </a:p>
          <a:p>
            <a:pPr indent="-336550" lvl="0" marL="457200" marR="0" rtl="0" algn="l">
              <a:lnSpc>
                <a:spcPct val="150000"/>
              </a:lnSpc>
              <a:spcBef>
                <a:spcPts val="1200"/>
              </a:spcBef>
              <a:spcAft>
                <a:spcPts val="0"/>
              </a:spcAft>
              <a:buClr>
                <a:schemeClr val="dk1"/>
              </a:buClr>
              <a:buSzPts val="1900"/>
              <a:buFont typeface="Verdana"/>
              <a:buChar char="●"/>
            </a:pPr>
            <a:r>
              <a:rPr b="0" i="0" lang="en-GB" sz="1900" u="none" cap="none" strike="noStrike">
                <a:solidFill>
                  <a:schemeClr val="dk1"/>
                </a:solidFill>
                <a:latin typeface="Arial"/>
                <a:ea typeface="Arial"/>
                <a:cs typeface="Arial"/>
                <a:sym typeface="Arial"/>
              </a:rPr>
              <a:t>Coordination on financing mechanisms, tolling policies and axle-load control systems</a:t>
            </a:r>
            <a:endParaRPr b="0" i="0" sz="1900" u="none" cap="none" strike="noStrike">
              <a:solidFill>
                <a:schemeClr val="dk1"/>
              </a:solidFill>
              <a:latin typeface="Arial"/>
              <a:ea typeface="Arial"/>
              <a:cs typeface="Arial"/>
              <a:sym typeface="Arial"/>
            </a:endParaRPr>
          </a:p>
        </p:txBody>
      </p:sp>
      <p:sp>
        <p:nvSpPr>
          <p:cNvPr id="261" name="Google Shape;261;g380102cde2d_0_486"/>
          <p:cNvSpPr txBox="1"/>
          <p:nvPr/>
        </p:nvSpPr>
        <p:spPr>
          <a:xfrm>
            <a:off x="8096600" y="1538275"/>
            <a:ext cx="3765900" cy="5071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900"/>
              <a:buFont typeface="Arial"/>
              <a:buNone/>
            </a:pPr>
            <a:r>
              <a:rPr b="1" i="0" lang="en-GB" sz="1900" u="none" cap="none" strike="noStrike">
                <a:solidFill>
                  <a:schemeClr val="dk1"/>
                </a:solidFill>
                <a:latin typeface="Arial"/>
                <a:ea typeface="Arial"/>
                <a:cs typeface="Arial"/>
                <a:sym typeface="Arial"/>
              </a:rPr>
              <a:t>Maintenance Strategies</a:t>
            </a:r>
            <a:endParaRPr b="1" i="0" sz="1900" u="none" cap="none" strike="noStrike">
              <a:solidFill>
                <a:schemeClr val="dk1"/>
              </a:solidFill>
              <a:latin typeface="Arial"/>
              <a:ea typeface="Arial"/>
              <a:cs typeface="Arial"/>
              <a:sym typeface="Arial"/>
            </a:endParaRPr>
          </a:p>
          <a:p>
            <a:pPr indent="-336550" lvl="0" marL="457200" marR="0" rtl="0" algn="l">
              <a:lnSpc>
                <a:spcPct val="150000"/>
              </a:lnSpc>
              <a:spcBef>
                <a:spcPts val="1200"/>
              </a:spcBef>
              <a:spcAft>
                <a:spcPts val="0"/>
              </a:spcAft>
              <a:buClr>
                <a:schemeClr val="dk1"/>
              </a:buClr>
              <a:buSzPts val="1900"/>
              <a:buFont typeface="Verdana"/>
              <a:buChar char="●"/>
            </a:pPr>
            <a:r>
              <a:rPr b="0" i="0" lang="en-GB" sz="1900" u="none" cap="none" strike="noStrike">
                <a:solidFill>
                  <a:schemeClr val="dk1"/>
                </a:solidFill>
                <a:latin typeface="Arial"/>
                <a:ea typeface="Arial"/>
                <a:cs typeface="Arial"/>
                <a:sym typeface="Arial"/>
              </a:rPr>
              <a:t>Measures implemented in development and maintenance of cross-border transport corridors</a:t>
            </a:r>
            <a:endParaRPr b="0" i="0" sz="19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900"/>
              <a:buFont typeface="Verdana"/>
              <a:buChar char="●"/>
            </a:pPr>
            <a:r>
              <a:rPr b="0" i="0" lang="en-GB" sz="1900" u="none" cap="none" strike="noStrike">
                <a:solidFill>
                  <a:schemeClr val="dk1"/>
                </a:solidFill>
                <a:latin typeface="Arial"/>
                <a:ea typeface="Arial"/>
                <a:cs typeface="Arial"/>
                <a:sym typeface="Arial"/>
              </a:rPr>
              <a:t>Challenges and opportunities in aligning Road Fund operations with regional integration objectives</a:t>
            </a:r>
            <a:endParaRPr b="0" i="0" sz="1900" u="none" cap="none" strike="noStrike">
              <a:solidFill>
                <a:schemeClr val="dk1"/>
              </a:solidFill>
              <a:latin typeface="Arial"/>
              <a:ea typeface="Arial"/>
              <a:cs typeface="Arial"/>
              <a:sym typeface="Arial"/>
            </a:endParaRPr>
          </a:p>
        </p:txBody>
      </p:sp>
      <p:sp>
        <p:nvSpPr>
          <p:cNvPr id="262" name="Google Shape;262;g380102cde2d_0_486"/>
          <p:cNvSpPr txBox="1"/>
          <p:nvPr/>
        </p:nvSpPr>
        <p:spPr>
          <a:xfrm>
            <a:off x="4088200" y="1538275"/>
            <a:ext cx="3453900" cy="5071500"/>
          </a:xfrm>
          <a:prstGeom prst="rect">
            <a:avLst/>
          </a:prstGeom>
          <a:noFill/>
          <a:ln cap="flat" cmpd="sng" w="9525">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900"/>
              <a:buFont typeface="Arial"/>
              <a:buNone/>
            </a:pPr>
            <a:r>
              <a:rPr b="1" i="0" lang="en-GB" sz="1900" u="none" cap="none" strike="noStrike">
                <a:solidFill>
                  <a:schemeClr val="dk1"/>
                </a:solidFill>
                <a:latin typeface="Arial"/>
                <a:ea typeface="Arial"/>
                <a:cs typeface="Arial"/>
                <a:sym typeface="Arial"/>
              </a:rPr>
              <a:t>Support Mechanisms for Transport Corridors:</a:t>
            </a:r>
            <a:endParaRPr b="1" i="0" sz="2300" u="none" cap="none" strike="noStrike">
              <a:solidFill>
                <a:schemeClr val="dk1"/>
              </a:solidFill>
              <a:latin typeface="Arial"/>
              <a:ea typeface="Arial"/>
              <a:cs typeface="Arial"/>
              <a:sym typeface="Arial"/>
            </a:endParaRPr>
          </a:p>
          <a:p>
            <a:pPr indent="-336550" lvl="0" marL="457200" marR="0" rtl="0" algn="l">
              <a:lnSpc>
                <a:spcPct val="150000"/>
              </a:lnSpc>
              <a:spcBef>
                <a:spcPts val="1200"/>
              </a:spcBef>
              <a:spcAft>
                <a:spcPts val="0"/>
              </a:spcAft>
              <a:buClr>
                <a:schemeClr val="dk1"/>
              </a:buClr>
              <a:buSzPts val="1900"/>
              <a:buFont typeface="Arial"/>
              <a:buChar char="●"/>
            </a:pPr>
            <a:r>
              <a:rPr b="0" i="0" lang="en-GB" sz="1900" u="none" cap="none" strike="noStrike">
                <a:solidFill>
                  <a:schemeClr val="dk1"/>
                </a:solidFill>
                <a:latin typeface="Arial"/>
                <a:ea typeface="Arial"/>
                <a:cs typeface="Arial"/>
                <a:sym typeface="Arial"/>
              </a:rPr>
              <a:t>Bilateral agreements</a:t>
            </a:r>
            <a:endParaRPr b="0" i="0" sz="19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900"/>
              <a:buFont typeface="Arial"/>
              <a:buChar char="●"/>
            </a:pPr>
            <a:r>
              <a:rPr b="0" i="0" lang="en-GB" sz="1900" u="none" cap="none" strike="noStrike">
                <a:solidFill>
                  <a:schemeClr val="dk1"/>
                </a:solidFill>
                <a:latin typeface="Arial"/>
                <a:ea typeface="Arial"/>
                <a:cs typeface="Arial"/>
                <a:sym typeface="Arial"/>
              </a:rPr>
              <a:t>Regional economic communities</a:t>
            </a:r>
            <a:endParaRPr b="0" i="0" sz="19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900"/>
              <a:buFont typeface="Arial"/>
              <a:buChar char="●"/>
            </a:pPr>
            <a:r>
              <a:rPr b="0" i="0" lang="en-GB" sz="1900" u="none" cap="none" strike="noStrike">
                <a:solidFill>
                  <a:schemeClr val="dk1"/>
                </a:solidFill>
                <a:latin typeface="Arial"/>
                <a:ea typeface="Arial"/>
                <a:cs typeface="Arial"/>
                <a:sym typeface="Arial"/>
              </a:rPr>
              <a:t>ARMFA platforms</a:t>
            </a:r>
            <a:endParaRPr b="0" i="0" sz="1900" u="none" cap="none" strike="noStrike">
              <a:solidFill>
                <a:schemeClr val="dk1"/>
              </a:solidFill>
              <a:latin typeface="Arial"/>
              <a:ea typeface="Arial"/>
              <a:cs typeface="Arial"/>
              <a:sym typeface="Arial"/>
            </a:endParaRPr>
          </a:p>
          <a:p>
            <a:pPr indent="-336550" lvl="0" marL="457200" marR="0" rtl="0" algn="l">
              <a:lnSpc>
                <a:spcPct val="150000"/>
              </a:lnSpc>
              <a:spcBef>
                <a:spcPts val="0"/>
              </a:spcBef>
              <a:spcAft>
                <a:spcPts val="0"/>
              </a:spcAft>
              <a:buClr>
                <a:schemeClr val="dk1"/>
              </a:buClr>
              <a:buSzPts val="1900"/>
              <a:buFont typeface="Arial"/>
              <a:buChar char="●"/>
            </a:pPr>
            <a:r>
              <a:rPr b="0" i="0" lang="en-GB" sz="1900" u="none" cap="none" strike="noStrike">
                <a:solidFill>
                  <a:schemeClr val="dk1"/>
                </a:solidFill>
                <a:latin typeface="Arial"/>
                <a:ea typeface="Arial"/>
                <a:cs typeface="Arial"/>
                <a:sym typeface="Arial"/>
              </a:rPr>
              <a:t>Joint technical committees</a:t>
            </a:r>
            <a:endParaRPr b="0" i="0" sz="19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4AE84F999B26149BAD494A5506E81F3" ma:contentTypeVersion="25" ma:contentTypeDescription="Create a new document." ma:contentTypeScope="" ma:versionID="cd295e73000c6148a28815fbef325cf0">
  <xsd:schema xmlns:xsd="http://www.w3.org/2001/XMLSchema" xmlns:xs="http://www.w3.org/2001/XMLSchema" xmlns:p="http://schemas.microsoft.com/office/2006/metadata/properties" xmlns:ns1="http://schemas.microsoft.com/sharepoint/v3" xmlns:ns2="80f4c7fb-5be7-48ae-9ddb-a5c46a443b58" xmlns:ns3="b39bf1ee-6b4f-479f-9ce9-7241d6522d55" targetNamespace="http://schemas.microsoft.com/office/2006/metadata/properties" ma:root="true" ma:fieldsID="443c52d966bc38211c74f43f1a24c477" ns1:_="" ns2:_="" ns3:_="">
    <xsd:import namespace="http://schemas.microsoft.com/sharepoint/v3"/>
    <xsd:import namespace="80f4c7fb-5be7-48ae-9ddb-a5c46a443b58"/>
    <xsd:import namespace="b39bf1ee-6b4f-479f-9ce9-7241d6522d55"/>
    <xsd:element name="properties">
      <xsd:complexType>
        <xsd:sequence>
          <xsd:element name="documentManagement">
            <xsd:complexType>
              <xsd:all>
                <xsd:element ref="ns2:MediaServiceMetadata" minOccurs="0"/>
                <xsd:element ref="ns2:MediaServiceFastMetadata" minOccurs="0"/>
                <xsd:element ref="ns1:_dlc_ExpireDateSaved" minOccurs="0"/>
                <xsd:element ref="ns1:_dlc_ExpireDate" minOccurs="0"/>
                <xsd:element ref="ns1:_dlc_Exempt"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_Flow_SignoffStatus" minOccurs="0"/>
                <xsd:element ref="ns2:MediaServiceLocation" minOccurs="0"/>
                <xsd:element ref="ns2:MediaServiceAutoKeyPoints" minOccurs="0"/>
                <xsd:element ref="ns2:MediaServiceKeyPoints"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pireDateSaved" ma:index="10" nillable="true" ma:displayName="Original Expiration Date" ma:hidden="true" ma:internalName="_dlc_ExpireDateSaved" ma:readOnly="true">
      <xsd:simpleType>
        <xsd:restriction base="dms:DateTime"/>
      </xsd:simpleType>
    </xsd:element>
    <xsd:element name="_dlc_ExpireDate" ma:index="11" nillable="true" ma:displayName="Expiration Date" ma:description="" ma:hidden="true" ma:indexed="true" ma:internalName="_dlc_ExpireDate" ma:readOnly="true">
      <xsd:simpleType>
        <xsd:restriction base="dms:DateTime"/>
      </xsd:simpleType>
    </xsd:element>
    <xsd:element name="_dlc_Exempt" ma:index="12" nillable="true" ma:displayName="Exempt from Policy"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0f4c7fb-5be7-48ae-9ddb-a5c46a443b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5" nillable="true" ma:displayName="MediaServiceAutoTags" ma:internalName="MediaServiceAutoTags" ma:readOnly="true">
      <xsd:simpleType>
        <xsd:restriction base="dms:Text"/>
      </xsd:simpleType>
    </xsd:element>
    <xsd:element name="MediaServiceOCR" ma:index="16" nillable="true" ma:displayName="MediaServiceOCR"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_Flow_SignoffStatus" ma:index="20" nillable="true" ma:displayName="Sign-off status" ma:internalName="Sign_x002d_off_x0020_status">
      <xsd:simpleType>
        <xsd:restriction base="dms:Text"/>
      </xsd:simpleType>
    </xsd:element>
    <xsd:element name="MediaServiceLocation" ma:index="21" nillable="true" ma:displayName="Location" ma:internalName="MediaServiceLocation" ma:readOnly="true">
      <xsd:simpleType>
        <xsd:restriction base="dms:Text"/>
      </xsd:simpleType>
    </xsd:element>
    <xsd:element name="MediaServiceAutoKeyPoints" ma:index="22" nillable="true" ma:displayName="MediaServiceAutoKeyPoints" ma:hidden="true" ma:internalName="MediaServiceAutoKeyPoints" ma:readOnly="true">
      <xsd:simpleType>
        <xsd:restriction base="dms:Note"/>
      </xsd:simpleType>
    </xsd:element>
    <xsd:element name="MediaServiceKeyPoints" ma:index="23" nillable="true" ma:displayName="KeyPoints" ma:internalName="MediaServiceKeyPoints" ma:readOnly="true">
      <xsd:simpleType>
        <xsd:restriction base="dms:Note">
          <xsd:maxLength value="255"/>
        </xsd:restriction>
      </xsd:simpleType>
    </xsd:element>
    <xsd:element name="MediaLengthInSeconds" ma:index="24" nillable="true" ma:displayName="Length (seconds)" ma:internalName="MediaLengthInSeconds" ma:readOnly="true">
      <xsd:simpleType>
        <xsd:restriction base="dms:Unknown"/>
      </xsd:simpleType>
    </xsd:element>
    <xsd:element name="lcf76f155ced4ddcb4097134ff3c332f" ma:index="27" nillable="true" ma:taxonomy="true" ma:internalName="lcf76f155ced4ddcb4097134ff3c332f" ma:taxonomyFieldName="MediaServiceImageTags" ma:displayName="Image Tags" ma:readOnly="false" ma:fieldId="{5cf76f15-5ced-4ddc-b409-7134ff3c332f}" ma:taxonomyMulti="true" ma:sspId="556e139c-3976-4f37-8cfc-4ca6bb14bca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8" nillable="true" ma:displayName="MediaServiceObjectDetectorVersions"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39bf1ee-6b4f-479f-9ce9-7241d6522d5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f521ea0d-b711-45dc-8afd-6539f8507523}" ma:internalName="TaxCatchAll" ma:showField="CatchAllData" ma:web="b39bf1ee-6b4f-479f-9ce9-7241d6522d5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0f4c7fb-5be7-48ae-9ddb-a5c46a443b58">
      <Terms xmlns="http://schemas.microsoft.com/office/infopath/2007/PartnerControls"/>
    </lcf76f155ced4ddcb4097134ff3c332f>
    <_Flow_SignoffStatus xmlns="80f4c7fb-5be7-48ae-9ddb-a5c46a443b58" xsi:nil="true"/>
    <TaxCatchAll xmlns="b39bf1ee-6b4f-479f-9ce9-7241d6522d55" xsi:nil="true"/>
    <_dlc_ExpireDateSaved xmlns="http://schemas.microsoft.com/sharepoint/v3" xsi:nil="true"/>
    <_dlc_ExpireDate xmlns="http://schemas.microsoft.com/sharepoint/v3">2025-10-06T08:23:05+00:00</_dlc_ExpireDate>
  </documentManagement>
</p:properties>
</file>

<file path=customXml/itemProps1.xml><?xml version="1.0" encoding="utf-8"?>
<ds:datastoreItem xmlns:ds="http://schemas.openxmlformats.org/officeDocument/2006/customXml" ds:itemID="{3135CA78-7D98-4A92-B4E3-22E9F539C12A}"/>
</file>

<file path=customXml/itemProps2.xml><?xml version="1.0" encoding="utf-8"?>
<ds:datastoreItem xmlns:ds="http://schemas.openxmlformats.org/officeDocument/2006/customXml" ds:itemID="{B087858A-C430-4D66-9635-ECE267553AFB}"/>
</file>

<file path=customXml/itemProps3.xml><?xml version="1.0" encoding="utf-8"?>
<ds:datastoreItem xmlns:ds="http://schemas.openxmlformats.org/officeDocument/2006/customXml" ds:itemID="{230CD510-C942-487C-ADBD-93EB7E8EB70F}"/>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Sid Boubekeur</dc:creator>
  <dcterms:created xsi:type="dcterms:W3CDTF">2025-09-10T08:44:17Z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0x01010064AE84F999B26149BAD494A5506E81F3</vt:lpwstr>
  </property>
  <property fmtid="{D5CDD505-2E9C-101B-9397-08002B2CF9AE}" pid="3" name="MediaServiceImageTags">
    <vt:lpwstr/>
  </property>
  <property fmtid="{D5CDD505-2E9C-101B-9397-08002B2CF9AE}" pid="4" name="_dlc_policyId">
    <vt:lpwstr>/sites/FileTransfer/AFRICA</vt:lpwstr>
  </property>
  <property fmtid="{D5CDD505-2E9C-101B-9397-08002B2CF9AE}" pid="5" name="ItemRetentionFormula">
    <vt:lpwstr>&lt;formula id="Microsoft.Office.RecordsManagement.PolicyFeatures.Expiration.Formula.BuiltIn"&gt;&lt;number&gt;15&lt;/number&gt;&lt;property&gt;Created&lt;/property&gt;&lt;propertyId&gt;8c06beca-0777-48f7-91c7-6da68bc07b69&lt;/propertyId&gt;&lt;period&gt;days&lt;/period&gt;&lt;/formula&gt;</vt:lpwstr>
  </property>
</Properties>
</file>