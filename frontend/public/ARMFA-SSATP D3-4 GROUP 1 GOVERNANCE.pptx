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diagrams/data2.xml" ContentType="application/vnd.openxmlformats-officedocument.drawingml.diagramData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diagrams/data7.xml" ContentType="application/vnd.openxmlformats-officedocument.drawingml.diagramData+xml"/>
  <Override PartName="/ppt/diagrams/data3.xml" ContentType="application/vnd.openxmlformats-officedocument.drawingml.diagramData+xml"/>
  <Override PartName="/ppt/diagrams/data1.xml" ContentType="application/vnd.openxmlformats-officedocument.drawingml.diagramData+xml"/>
  <Override PartName="/ppt/diagrams/data8.xml" ContentType="application/vnd.openxmlformats-officedocument.drawingml.diagramData+xml"/>
  <Override PartName="/ppt/diagrams/data4.xml" ContentType="application/vnd.openxmlformats-officedocument.drawingml.diagramData+xml"/>
  <Override PartName="/ppt/diagrams/data6.xml" ContentType="application/vnd.openxmlformats-officedocument.drawingml.diagramData+xml"/>
  <Override PartName="/ppt/diagrams/data5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quickStyle1.xml" ContentType="application/vnd.openxmlformats-officedocument.drawingml.diagramStyle+xml"/>
  <Override PartName="/ppt/theme/theme1.xml" ContentType="application/vnd.openxmlformats-officedocument.them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layout1.xml" ContentType="application/vnd.openxmlformats-officedocument.drawingml.diagramLayout+xml"/>
  <Override PartName="/ppt/diagrams/colors7.xml" ContentType="application/vnd.openxmlformats-officedocument.drawingml.diagramColors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layout2.xml" ContentType="application/vnd.openxmlformats-officedocument.drawingml.diagramLayout+xml"/>
  <Override PartName="/ppt/diagrams/drawing7.xml" ContentType="application/vnd.ms-office.drawingml.diagramDrawing+xml"/>
  <Override PartName="/ppt/diagrams/drawing3.xml" ContentType="application/vnd.ms-office.drawingml.diagramDrawing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colors4.xml" ContentType="application/vnd.openxmlformats-officedocument.drawingml.diagramColors+xml"/>
  <Override PartName="/ppt/diagrams/colors3.xml" ContentType="application/vnd.openxmlformats-officedocument.drawingml.diagramColors+xml"/>
  <Override PartName="/ppt/diagrams/quickStyle3.xml" ContentType="application/vnd.openxmlformats-officedocument.drawingml.diagramStyle+xml"/>
  <Override PartName="/ppt/diagrams/drawing4.xml" ContentType="application/vnd.ms-office.drawingml.diagramDrawing+xml"/>
  <Override PartName="/ppt/diagrams/layout3.xml" ContentType="application/vnd.openxmlformats-officedocument.drawingml.diagramLayout+xml"/>
  <Override PartName="/ppt/diagrams/drawing2.xml" ContentType="application/vnd.ms-office.drawingml.diagramDrawing+xml"/>
  <Override PartName="/ppt/diagrams/colors2.xml" ContentType="application/vnd.openxmlformats-officedocument.drawingml.diagramColors+xml"/>
  <Override PartName="/ppt/diagrams/quickStyle2.xml" ContentType="application/vnd.openxmlformats-officedocument.drawingml.diagramStyle+xml"/>
  <Override PartName="/ppt/diagrams/quickStyle4.xml" ContentType="application/vnd.openxmlformats-officedocument.drawingml.diagramStyle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layout4.xml" ContentType="application/vnd.openxmlformats-officedocument.drawingml.diagramLayout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ED1D9E-E393-4D05-8124-E4F18533281B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BC2DD95-2871-4448-9DC9-C42124A8F5D9}">
      <dgm:prSet/>
      <dgm:spPr/>
      <dgm:t>
        <a:bodyPr/>
        <a:lstStyle/>
        <a:p>
          <a:r>
            <a:rPr lang="en-US"/>
            <a:t>Objectif : analyser la gouvernance des Fonds Routiers en Afrique (zones AFERA et hors AFERA).</a:t>
          </a:r>
        </a:p>
      </dgm:t>
    </dgm:pt>
    <dgm:pt modelId="{F6896523-3F35-484B-98E3-DF2C5D1D01EA}" type="parTrans" cxnId="{F83FC1C7-C428-484C-8893-E53269680E5B}">
      <dgm:prSet/>
      <dgm:spPr/>
      <dgm:t>
        <a:bodyPr/>
        <a:lstStyle/>
        <a:p>
          <a:endParaRPr lang="en-US"/>
        </a:p>
      </dgm:t>
    </dgm:pt>
    <dgm:pt modelId="{0FD8E378-A178-4BA1-AFC2-69811E63902B}" type="sibTrans" cxnId="{F83FC1C7-C428-484C-8893-E53269680E5B}">
      <dgm:prSet/>
      <dgm:spPr/>
      <dgm:t>
        <a:bodyPr/>
        <a:lstStyle/>
        <a:p>
          <a:endParaRPr lang="en-US"/>
        </a:p>
      </dgm:t>
    </dgm:pt>
    <dgm:pt modelId="{70617467-84F4-4F8A-8A1A-774776C422B4}">
      <dgm:prSet/>
      <dgm:spPr/>
      <dgm:t>
        <a:bodyPr/>
        <a:lstStyle/>
        <a:p>
          <a:r>
            <a:rPr lang="en-US"/>
            <a:t>Méthodologie : enquête comparative sur plusieurs pays (Kenya, Sénégal, Niger, RCA, etc.).</a:t>
          </a:r>
        </a:p>
      </dgm:t>
    </dgm:pt>
    <dgm:pt modelId="{B8759FAB-C0B2-4CD6-AF73-128E61939046}" type="parTrans" cxnId="{07EECC37-2764-48CE-A19E-E10852B8BBCA}">
      <dgm:prSet/>
      <dgm:spPr/>
      <dgm:t>
        <a:bodyPr/>
        <a:lstStyle/>
        <a:p>
          <a:endParaRPr lang="en-US"/>
        </a:p>
      </dgm:t>
    </dgm:pt>
    <dgm:pt modelId="{DFE6B5C7-135B-4359-B75F-22F7FF232309}" type="sibTrans" cxnId="{07EECC37-2764-48CE-A19E-E10852B8BBCA}">
      <dgm:prSet/>
      <dgm:spPr/>
      <dgm:t>
        <a:bodyPr/>
        <a:lstStyle/>
        <a:p>
          <a:endParaRPr lang="en-US"/>
        </a:p>
      </dgm:t>
    </dgm:pt>
    <dgm:pt modelId="{740D70FA-F328-4397-A52B-AF16297B2D95}" type="pres">
      <dgm:prSet presAssocID="{40ED1D9E-E393-4D05-8124-E4F18533281B}" presName="linear" presStyleCnt="0">
        <dgm:presLayoutVars>
          <dgm:animLvl val="lvl"/>
          <dgm:resizeHandles val="exact"/>
        </dgm:presLayoutVars>
      </dgm:prSet>
      <dgm:spPr/>
    </dgm:pt>
    <dgm:pt modelId="{7C51BA59-B360-4ECE-A90D-1A2F10BEC892}" type="pres">
      <dgm:prSet presAssocID="{FBC2DD95-2871-4448-9DC9-C42124A8F5D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0F088A0-780D-4811-9584-EB49A1236B09}" type="pres">
      <dgm:prSet presAssocID="{0FD8E378-A178-4BA1-AFC2-69811E63902B}" presName="spacer" presStyleCnt="0"/>
      <dgm:spPr/>
    </dgm:pt>
    <dgm:pt modelId="{510CDDAA-E5C5-4C2B-8995-70F55187BD75}" type="pres">
      <dgm:prSet presAssocID="{70617467-84F4-4F8A-8A1A-774776C422B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EBAB213-0166-4DB4-8AD3-F4B75CAC6E5A}" type="presOf" srcId="{FBC2DD95-2871-4448-9DC9-C42124A8F5D9}" destId="{7C51BA59-B360-4ECE-A90D-1A2F10BEC892}" srcOrd="0" destOrd="0" presId="urn:microsoft.com/office/officeart/2005/8/layout/vList2"/>
    <dgm:cxn modelId="{3CCF0726-2DED-4594-84E0-272423EC2E2B}" type="presOf" srcId="{70617467-84F4-4F8A-8A1A-774776C422B4}" destId="{510CDDAA-E5C5-4C2B-8995-70F55187BD75}" srcOrd="0" destOrd="0" presId="urn:microsoft.com/office/officeart/2005/8/layout/vList2"/>
    <dgm:cxn modelId="{07EECC37-2764-48CE-A19E-E10852B8BBCA}" srcId="{40ED1D9E-E393-4D05-8124-E4F18533281B}" destId="{70617467-84F4-4F8A-8A1A-774776C422B4}" srcOrd="1" destOrd="0" parTransId="{B8759FAB-C0B2-4CD6-AF73-128E61939046}" sibTransId="{DFE6B5C7-135B-4359-B75F-22F7FF232309}"/>
    <dgm:cxn modelId="{F83FC1C7-C428-484C-8893-E53269680E5B}" srcId="{40ED1D9E-E393-4D05-8124-E4F18533281B}" destId="{FBC2DD95-2871-4448-9DC9-C42124A8F5D9}" srcOrd="0" destOrd="0" parTransId="{F6896523-3F35-484B-98E3-DF2C5D1D01EA}" sibTransId="{0FD8E378-A178-4BA1-AFC2-69811E63902B}"/>
    <dgm:cxn modelId="{ECEFBBF7-9EE5-4665-AABF-D6230E426FCB}" type="presOf" srcId="{40ED1D9E-E393-4D05-8124-E4F18533281B}" destId="{740D70FA-F328-4397-A52B-AF16297B2D95}" srcOrd="0" destOrd="0" presId="urn:microsoft.com/office/officeart/2005/8/layout/vList2"/>
    <dgm:cxn modelId="{4CD87B2D-F9C2-40FA-81F6-209903A84AB7}" type="presParOf" srcId="{740D70FA-F328-4397-A52B-AF16297B2D95}" destId="{7C51BA59-B360-4ECE-A90D-1A2F10BEC892}" srcOrd="0" destOrd="0" presId="urn:microsoft.com/office/officeart/2005/8/layout/vList2"/>
    <dgm:cxn modelId="{DE2BBA2B-5F3D-4E09-A75A-3072C9B02B7D}" type="presParOf" srcId="{740D70FA-F328-4397-A52B-AF16297B2D95}" destId="{00F088A0-780D-4811-9584-EB49A1236B09}" srcOrd="1" destOrd="0" presId="urn:microsoft.com/office/officeart/2005/8/layout/vList2"/>
    <dgm:cxn modelId="{5DAFF169-B198-4C08-AD54-34EB4FD9FC14}" type="presParOf" srcId="{740D70FA-F328-4397-A52B-AF16297B2D95}" destId="{510CDDAA-E5C5-4C2B-8995-70F55187BD7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0C300C-3DCA-4DDB-B998-64B781E3268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25F686C-62B2-4200-BA74-A0142DC9360F}">
      <dgm:prSet/>
      <dgm:spPr/>
      <dgm:t>
        <a:bodyPr/>
        <a:lstStyle/>
        <a:p>
          <a:r>
            <a:rPr lang="en-US"/>
            <a:t>Lois spécifiques encadrant les Fonds Routiers.</a:t>
          </a:r>
        </a:p>
      </dgm:t>
    </dgm:pt>
    <dgm:pt modelId="{8F1B428E-D460-4531-895A-52CA0B557541}" type="parTrans" cxnId="{13275DB8-1835-4108-AEF9-266DC645F207}">
      <dgm:prSet/>
      <dgm:spPr/>
      <dgm:t>
        <a:bodyPr/>
        <a:lstStyle/>
        <a:p>
          <a:endParaRPr lang="en-US"/>
        </a:p>
      </dgm:t>
    </dgm:pt>
    <dgm:pt modelId="{2E1800B1-9507-49E3-A8FB-88300659F044}" type="sibTrans" cxnId="{13275DB8-1835-4108-AEF9-266DC645F207}">
      <dgm:prSet/>
      <dgm:spPr/>
      <dgm:t>
        <a:bodyPr/>
        <a:lstStyle/>
        <a:p>
          <a:endParaRPr lang="en-US"/>
        </a:p>
      </dgm:t>
    </dgm:pt>
    <dgm:pt modelId="{B7AF5A2F-D0D6-4A3D-B964-183A539C587D}">
      <dgm:prSet/>
      <dgm:spPr/>
      <dgm:t>
        <a:bodyPr/>
        <a:lstStyle/>
        <a:p>
          <a:r>
            <a:rPr lang="en-US"/>
            <a:t>Plans stratégiques périodiques et réformes récentes.</a:t>
          </a:r>
        </a:p>
      </dgm:t>
    </dgm:pt>
    <dgm:pt modelId="{179D31EC-F46A-4081-AAE6-98BB358745EC}" type="parTrans" cxnId="{F921120D-0B80-4768-89A6-C692811AB3A9}">
      <dgm:prSet/>
      <dgm:spPr/>
      <dgm:t>
        <a:bodyPr/>
        <a:lstStyle/>
        <a:p>
          <a:endParaRPr lang="en-US"/>
        </a:p>
      </dgm:t>
    </dgm:pt>
    <dgm:pt modelId="{F899D132-BA21-45DC-A1AC-E4CEA16CE131}" type="sibTrans" cxnId="{F921120D-0B80-4768-89A6-C692811AB3A9}">
      <dgm:prSet/>
      <dgm:spPr/>
      <dgm:t>
        <a:bodyPr/>
        <a:lstStyle/>
        <a:p>
          <a:endParaRPr lang="en-US"/>
        </a:p>
      </dgm:t>
    </dgm:pt>
    <dgm:pt modelId="{1FB94931-39B6-4027-882E-97290FA4E6F8}">
      <dgm:prSet/>
      <dgm:spPr/>
      <dgm:t>
        <a:bodyPr/>
        <a:lstStyle/>
        <a:p>
          <a:r>
            <a:rPr lang="en-US"/>
            <a:t>Exemple : Kenya Roads Board restructuré en 2022 avec 9 bureaux régionaux.</a:t>
          </a:r>
        </a:p>
      </dgm:t>
    </dgm:pt>
    <dgm:pt modelId="{43A21A2D-926E-4DC3-8059-9B50A3E26036}" type="parTrans" cxnId="{E161CD04-4803-4320-BC9B-38D16B86DBAE}">
      <dgm:prSet/>
      <dgm:spPr/>
      <dgm:t>
        <a:bodyPr/>
        <a:lstStyle/>
        <a:p>
          <a:endParaRPr lang="en-US"/>
        </a:p>
      </dgm:t>
    </dgm:pt>
    <dgm:pt modelId="{A7AEA3D3-4696-49CE-8AC3-6AA3E08CF2C4}" type="sibTrans" cxnId="{E161CD04-4803-4320-BC9B-38D16B86DBAE}">
      <dgm:prSet/>
      <dgm:spPr/>
      <dgm:t>
        <a:bodyPr/>
        <a:lstStyle/>
        <a:p>
          <a:endParaRPr lang="en-US"/>
        </a:p>
      </dgm:t>
    </dgm:pt>
    <dgm:pt modelId="{251BA4EE-F74C-4025-ACB8-71346E9DFDC1}" type="pres">
      <dgm:prSet presAssocID="{BE0C300C-3DCA-4DDB-B998-64B781E32688}" presName="root" presStyleCnt="0">
        <dgm:presLayoutVars>
          <dgm:dir/>
          <dgm:resizeHandles val="exact"/>
        </dgm:presLayoutVars>
      </dgm:prSet>
      <dgm:spPr/>
    </dgm:pt>
    <dgm:pt modelId="{4C025924-FCBD-4A1F-BE67-868A9C6ECB67}" type="pres">
      <dgm:prSet presAssocID="{825F686C-62B2-4200-BA74-A0142DC9360F}" presName="compNode" presStyleCnt="0"/>
      <dgm:spPr/>
    </dgm:pt>
    <dgm:pt modelId="{FA90AD7D-490C-47F3-BACD-4542307A6971}" type="pres">
      <dgm:prSet presAssocID="{825F686C-62B2-4200-BA74-A0142DC9360F}" presName="bgRect" presStyleLbl="bgShp" presStyleIdx="0" presStyleCnt="3"/>
      <dgm:spPr/>
    </dgm:pt>
    <dgm:pt modelId="{C2A8D55F-1658-49EF-9D6F-BB0FA5258DD5}" type="pres">
      <dgm:prSet presAssocID="{825F686C-62B2-4200-BA74-A0142DC9360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gent"/>
        </a:ext>
      </dgm:extLst>
    </dgm:pt>
    <dgm:pt modelId="{D9A65416-E080-4ED4-8AF4-C74A573A723B}" type="pres">
      <dgm:prSet presAssocID="{825F686C-62B2-4200-BA74-A0142DC9360F}" presName="spaceRect" presStyleCnt="0"/>
      <dgm:spPr/>
    </dgm:pt>
    <dgm:pt modelId="{03D7A00C-B870-41C7-BEDB-5E43E968CE09}" type="pres">
      <dgm:prSet presAssocID="{825F686C-62B2-4200-BA74-A0142DC9360F}" presName="parTx" presStyleLbl="revTx" presStyleIdx="0" presStyleCnt="3">
        <dgm:presLayoutVars>
          <dgm:chMax val="0"/>
          <dgm:chPref val="0"/>
        </dgm:presLayoutVars>
      </dgm:prSet>
      <dgm:spPr/>
    </dgm:pt>
    <dgm:pt modelId="{EDEB7DE7-49F1-4D90-A609-750111F3A207}" type="pres">
      <dgm:prSet presAssocID="{2E1800B1-9507-49E3-A8FB-88300659F044}" presName="sibTrans" presStyleCnt="0"/>
      <dgm:spPr/>
    </dgm:pt>
    <dgm:pt modelId="{EC102F01-1CDB-49AA-80D3-CD1FECAE5FEE}" type="pres">
      <dgm:prSet presAssocID="{B7AF5A2F-D0D6-4A3D-B964-183A539C587D}" presName="compNode" presStyleCnt="0"/>
      <dgm:spPr/>
    </dgm:pt>
    <dgm:pt modelId="{11C44624-14BB-435A-8FAA-7E97516A23FB}" type="pres">
      <dgm:prSet presAssocID="{B7AF5A2F-D0D6-4A3D-B964-183A539C587D}" presName="bgRect" presStyleLbl="bgShp" presStyleIdx="1" presStyleCnt="3"/>
      <dgm:spPr/>
    </dgm:pt>
    <dgm:pt modelId="{6F2939DE-7364-4D08-ABC7-6102E02F6630}" type="pres">
      <dgm:prSet presAssocID="{B7AF5A2F-D0D6-4A3D-B964-183A539C587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ournal"/>
        </a:ext>
      </dgm:extLst>
    </dgm:pt>
    <dgm:pt modelId="{8B6CF3EA-3CD0-4E0D-A531-59D98DA58216}" type="pres">
      <dgm:prSet presAssocID="{B7AF5A2F-D0D6-4A3D-B964-183A539C587D}" presName="spaceRect" presStyleCnt="0"/>
      <dgm:spPr/>
    </dgm:pt>
    <dgm:pt modelId="{90C54758-B11A-4F9F-9F47-C672F67C2419}" type="pres">
      <dgm:prSet presAssocID="{B7AF5A2F-D0D6-4A3D-B964-183A539C587D}" presName="parTx" presStyleLbl="revTx" presStyleIdx="1" presStyleCnt="3">
        <dgm:presLayoutVars>
          <dgm:chMax val="0"/>
          <dgm:chPref val="0"/>
        </dgm:presLayoutVars>
      </dgm:prSet>
      <dgm:spPr/>
    </dgm:pt>
    <dgm:pt modelId="{5E372550-144A-4B0C-9F58-586E2F7F10D3}" type="pres">
      <dgm:prSet presAssocID="{F899D132-BA21-45DC-A1AC-E4CEA16CE131}" presName="sibTrans" presStyleCnt="0"/>
      <dgm:spPr/>
    </dgm:pt>
    <dgm:pt modelId="{6775832A-CCAB-43B2-B006-10F23A378BF2}" type="pres">
      <dgm:prSet presAssocID="{1FB94931-39B6-4027-882E-97290FA4E6F8}" presName="compNode" presStyleCnt="0"/>
      <dgm:spPr/>
    </dgm:pt>
    <dgm:pt modelId="{95229706-82E1-4E1F-B5A7-19D1F504F49B}" type="pres">
      <dgm:prSet presAssocID="{1FB94931-39B6-4027-882E-97290FA4E6F8}" presName="bgRect" presStyleLbl="bgShp" presStyleIdx="2" presStyleCnt="3"/>
      <dgm:spPr/>
    </dgm:pt>
    <dgm:pt modelId="{62F4572C-0421-4600-BE5C-45ABF13492E7}" type="pres">
      <dgm:prSet presAssocID="{1FB94931-39B6-4027-882E-97290FA4E6F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lle"/>
        </a:ext>
      </dgm:extLst>
    </dgm:pt>
    <dgm:pt modelId="{9365B077-4692-41B6-95FA-4E3640945D00}" type="pres">
      <dgm:prSet presAssocID="{1FB94931-39B6-4027-882E-97290FA4E6F8}" presName="spaceRect" presStyleCnt="0"/>
      <dgm:spPr/>
    </dgm:pt>
    <dgm:pt modelId="{85333A31-F039-4266-8098-9DC169FF1F1E}" type="pres">
      <dgm:prSet presAssocID="{1FB94931-39B6-4027-882E-97290FA4E6F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EB7B204-3D88-4571-BE8B-C40D91E949FC}" type="presOf" srcId="{1FB94931-39B6-4027-882E-97290FA4E6F8}" destId="{85333A31-F039-4266-8098-9DC169FF1F1E}" srcOrd="0" destOrd="0" presId="urn:microsoft.com/office/officeart/2018/2/layout/IconVerticalSolidList"/>
    <dgm:cxn modelId="{E161CD04-4803-4320-BC9B-38D16B86DBAE}" srcId="{BE0C300C-3DCA-4DDB-B998-64B781E32688}" destId="{1FB94931-39B6-4027-882E-97290FA4E6F8}" srcOrd="2" destOrd="0" parTransId="{43A21A2D-926E-4DC3-8059-9B50A3E26036}" sibTransId="{A7AEA3D3-4696-49CE-8AC3-6AA3E08CF2C4}"/>
    <dgm:cxn modelId="{F921120D-0B80-4768-89A6-C692811AB3A9}" srcId="{BE0C300C-3DCA-4DDB-B998-64B781E32688}" destId="{B7AF5A2F-D0D6-4A3D-B964-183A539C587D}" srcOrd="1" destOrd="0" parTransId="{179D31EC-F46A-4081-AAE6-98BB358745EC}" sibTransId="{F899D132-BA21-45DC-A1AC-E4CEA16CE131}"/>
    <dgm:cxn modelId="{D55F8A64-7F48-4F17-91B5-2E9A1CF27A0C}" type="presOf" srcId="{BE0C300C-3DCA-4DDB-B998-64B781E32688}" destId="{251BA4EE-F74C-4025-ACB8-71346E9DFDC1}" srcOrd="0" destOrd="0" presId="urn:microsoft.com/office/officeart/2018/2/layout/IconVerticalSolidList"/>
    <dgm:cxn modelId="{87FE7390-C829-4AC8-B58D-B15391FC03D2}" type="presOf" srcId="{B7AF5A2F-D0D6-4A3D-B964-183A539C587D}" destId="{90C54758-B11A-4F9F-9F47-C672F67C2419}" srcOrd="0" destOrd="0" presId="urn:microsoft.com/office/officeart/2018/2/layout/IconVerticalSolidList"/>
    <dgm:cxn modelId="{13275DB8-1835-4108-AEF9-266DC645F207}" srcId="{BE0C300C-3DCA-4DDB-B998-64B781E32688}" destId="{825F686C-62B2-4200-BA74-A0142DC9360F}" srcOrd="0" destOrd="0" parTransId="{8F1B428E-D460-4531-895A-52CA0B557541}" sibTransId="{2E1800B1-9507-49E3-A8FB-88300659F044}"/>
    <dgm:cxn modelId="{A14138D8-D830-4945-91F3-470EDCCF2131}" type="presOf" srcId="{825F686C-62B2-4200-BA74-A0142DC9360F}" destId="{03D7A00C-B870-41C7-BEDB-5E43E968CE09}" srcOrd="0" destOrd="0" presId="urn:microsoft.com/office/officeart/2018/2/layout/IconVerticalSolidList"/>
    <dgm:cxn modelId="{6854C648-30E3-490E-B2CF-DCBCD550FE9F}" type="presParOf" srcId="{251BA4EE-F74C-4025-ACB8-71346E9DFDC1}" destId="{4C025924-FCBD-4A1F-BE67-868A9C6ECB67}" srcOrd="0" destOrd="0" presId="urn:microsoft.com/office/officeart/2018/2/layout/IconVerticalSolidList"/>
    <dgm:cxn modelId="{A358CBC2-E1DA-4A16-94C1-AC67577F0D72}" type="presParOf" srcId="{4C025924-FCBD-4A1F-BE67-868A9C6ECB67}" destId="{FA90AD7D-490C-47F3-BACD-4542307A6971}" srcOrd="0" destOrd="0" presId="urn:microsoft.com/office/officeart/2018/2/layout/IconVerticalSolidList"/>
    <dgm:cxn modelId="{174359C2-4DBC-4C64-8BA5-D824C8EC2802}" type="presParOf" srcId="{4C025924-FCBD-4A1F-BE67-868A9C6ECB67}" destId="{C2A8D55F-1658-49EF-9D6F-BB0FA5258DD5}" srcOrd="1" destOrd="0" presId="urn:microsoft.com/office/officeart/2018/2/layout/IconVerticalSolidList"/>
    <dgm:cxn modelId="{6F7FE713-DC8E-473E-BAEA-12657CC1DC6B}" type="presParOf" srcId="{4C025924-FCBD-4A1F-BE67-868A9C6ECB67}" destId="{D9A65416-E080-4ED4-8AF4-C74A573A723B}" srcOrd="2" destOrd="0" presId="urn:microsoft.com/office/officeart/2018/2/layout/IconVerticalSolidList"/>
    <dgm:cxn modelId="{0254E5FA-520D-4D07-93FF-83AD58D0F52E}" type="presParOf" srcId="{4C025924-FCBD-4A1F-BE67-868A9C6ECB67}" destId="{03D7A00C-B870-41C7-BEDB-5E43E968CE09}" srcOrd="3" destOrd="0" presId="urn:microsoft.com/office/officeart/2018/2/layout/IconVerticalSolidList"/>
    <dgm:cxn modelId="{98DE06F3-EF62-49EF-8247-B0BE2AC29078}" type="presParOf" srcId="{251BA4EE-F74C-4025-ACB8-71346E9DFDC1}" destId="{EDEB7DE7-49F1-4D90-A609-750111F3A207}" srcOrd="1" destOrd="0" presId="urn:microsoft.com/office/officeart/2018/2/layout/IconVerticalSolidList"/>
    <dgm:cxn modelId="{CC4E25FF-CA56-4E79-959C-DD8249A587C8}" type="presParOf" srcId="{251BA4EE-F74C-4025-ACB8-71346E9DFDC1}" destId="{EC102F01-1CDB-49AA-80D3-CD1FECAE5FEE}" srcOrd="2" destOrd="0" presId="urn:microsoft.com/office/officeart/2018/2/layout/IconVerticalSolidList"/>
    <dgm:cxn modelId="{D61B27BF-FD18-4426-92FB-587577FEC03C}" type="presParOf" srcId="{EC102F01-1CDB-49AA-80D3-CD1FECAE5FEE}" destId="{11C44624-14BB-435A-8FAA-7E97516A23FB}" srcOrd="0" destOrd="0" presId="urn:microsoft.com/office/officeart/2018/2/layout/IconVerticalSolidList"/>
    <dgm:cxn modelId="{34717B8C-BE7A-41C3-BC2F-5170DA787E2B}" type="presParOf" srcId="{EC102F01-1CDB-49AA-80D3-CD1FECAE5FEE}" destId="{6F2939DE-7364-4D08-ABC7-6102E02F6630}" srcOrd="1" destOrd="0" presId="urn:microsoft.com/office/officeart/2018/2/layout/IconVerticalSolidList"/>
    <dgm:cxn modelId="{E9F67114-88E2-4B93-8848-BDC3A692F655}" type="presParOf" srcId="{EC102F01-1CDB-49AA-80D3-CD1FECAE5FEE}" destId="{8B6CF3EA-3CD0-4E0D-A531-59D98DA58216}" srcOrd="2" destOrd="0" presId="urn:microsoft.com/office/officeart/2018/2/layout/IconVerticalSolidList"/>
    <dgm:cxn modelId="{00FC3AD8-0BE4-47AA-A086-8C3EAED8BD30}" type="presParOf" srcId="{EC102F01-1CDB-49AA-80D3-CD1FECAE5FEE}" destId="{90C54758-B11A-4F9F-9F47-C672F67C2419}" srcOrd="3" destOrd="0" presId="urn:microsoft.com/office/officeart/2018/2/layout/IconVerticalSolidList"/>
    <dgm:cxn modelId="{DC1D9DAF-ED9E-45C1-A0B5-369D920A7779}" type="presParOf" srcId="{251BA4EE-F74C-4025-ACB8-71346E9DFDC1}" destId="{5E372550-144A-4B0C-9F58-586E2F7F10D3}" srcOrd="3" destOrd="0" presId="urn:microsoft.com/office/officeart/2018/2/layout/IconVerticalSolidList"/>
    <dgm:cxn modelId="{9372695A-9F15-4BB5-8294-A4FDEDEC6FFF}" type="presParOf" srcId="{251BA4EE-F74C-4025-ACB8-71346E9DFDC1}" destId="{6775832A-CCAB-43B2-B006-10F23A378BF2}" srcOrd="4" destOrd="0" presId="urn:microsoft.com/office/officeart/2018/2/layout/IconVerticalSolidList"/>
    <dgm:cxn modelId="{9C49F14F-D0A3-45AF-9ED8-E25C2BD31EFF}" type="presParOf" srcId="{6775832A-CCAB-43B2-B006-10F23A378BF2}" destId="{95229706-82E1-4E1F-B5A7-19D1F504F49B}" srcOrd="0" destOrd="0" presId="urn:microsoft.com/office/officeart/2018/2/layout/IconVerticalSolidList"/>
    <dgm:cxn modelId="{471ADDCA-655B-4675-A383-F8C6E59E48AD}" type="presParOf" srcId="{6775832A-CCAB-43B2-B006-10F23A378BF2}" destId="{62F4572C-0421-4600-BE5C-45ABF13492E7}" srcOrd="1" destOrd="0" presId="urn:microsoft.com/office/officeart/2018/2/layout/IconVerticalSolidList"/>
    <dgm:cxn modelId="{E553A9BA-3BBA-4C08-911C-0B9ACF25B8A7}" type="presParOf" srcId="{6775832A-CCAB-43B2-B006-10F23A378BF2}" destId="{9365B077-4692-41B6-95FA-4E3640945D00}" srcOrd="2" destOrd="0" presId="urn:microsoft.com/office/officeart/2018/2/layout/IconVerticalSolidList"/>
    <dgm:cxn modelId="{72F971A4-F5AB-4BF4-8FC9-53F9E96ADCA9}" type="presParOf" srcId="{6775832A-CCAB-43B2-B006-10F23A378BF2}" destId="{85333A31-F039-4266-8098-9DC169FF1F1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0B5EFA3-48AF-47CA-BC33-32452F21A1C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2D63179-5245-49C3-A021-5D6EBF3EAAA9}">
      <dgm:prSet/>
      <dgm:spPr/>
      <dgm:t>
        <a:bodyPr/>
        <a:lstStyle/>
        <a:p>
          <a:r>
            <a:rPr lang="en-US"/>
            <a:t>Décisions partagées entre Conseil des Fonds et Ministère de tutelle.</a:t>
          </a:r>
        </a:p>
      </dgm:t>
    </dgm:pt>
    <dgm:pt modelId="{1E99C2DF-B7A5-4838-8AEF-ACAF89D6D4ED}" type="parTrans" cxnId="{7EC7B106-4820-4317-BFA7-A123493D5830}">
      <dgm:prSet/>
      <dgm:spPr/>
      <dgm:t>
        <a:bodyPr/>
        <a:lstStyle/>
        <a:p>
          <a:endParaRPr lang="en-US"/>
        </a:p>
      </dgm:t>
    </dgm:pt>
    <dgm:pt modelId="{CD9C657D-34FD-4CCB-A6FC-931D55F5F12C}" type="sibTrans" cxnId="{7EC7B106-4820-4317-BFA7-A123493D5830}">
      <dgm:prSet/>
      <dgm:spPr/>
      <dgm:t>
        <a:bodyPr/>
        <a:lstStyle/>
        <a:p>
          <a:endParaRPr lang="en-US"/>
        </a:p>
      </dgm:t>
    </dgm:pt>
    <dgm:pt modelId="{B9C86494-1967-49AB-BA22-0867BFF14E56}">
      <dgm:prSet/>
      <dgm:spPr/>
      <dgm:t>
        <a:bodyPr/>
        <a:lstStyle/>
        <a:p>
          <a:r>
            <a:rPr lang="en-US"/>
            <a:t>Nomination des membres souvent longue et dépendante de la tutelle.</a:t>
          </a:r>
        </a:p>
      </dgm:t>
    </dgm:pt>
    <dgm:pt modelId="{7D9B843F-28D9-419A-B379-1C3E36F781C1}" type="parTrans" cxnId="{948F8F1A-5DFB-4636-B1B5-44991AFCCE3F}">
      <dgm:prSet/>
      <dgm:spPr/>
      <dgm:t>
        <a:bodyPr/>
        <a:lstStyle/>
        <a:p>
          <a:endParaRPr lang="en-US"/>
        </a:p>
      </dgm:t>
    </dgm:pt>
    <dgm:pt modelId="{4165CDB1-51F3-4CC7-8F37-47B9F27B4464}" type="sibTrans" cxnId="{948F8F1A-5DFB-4636-B1B5-44991AFCCE3F}">
      <dgm:prSet/>
      <dgm:spPr/>
      <dgm:t>
        <a:bodyPr/>
        <a:lstStyle/>
        <a:p>
          <a:endParaRPr lang="en-US"/>
        </a:p>
      </dgm:t>
    </dgm:pt>
    <dgm:pt modelId="{78BE3118-9FBB-4EBA-A5D3-7273D0093395}">
      <dgm:prSet/>
      <dgm:spPr/>
      <dgm:t>
        <a:bodyPr/>
        <a:lstStyle/>
        <a:p>
          <a:r>
            <a:rPr lang="en-US"/>
            <a:t>Risque de déséquilibre entre secteurs public et privé.</a:t>
          </a:r>
        </a:p>
      </dgm:t>
    </dgm:pt>
    <dgm:pt modelId="{286CB6E7-9040-4905-BB89-8B98575258E6}" type="parTrans" cxnId="{21425D0F-1877-4279-B6C2-CA81AB57DEC3}">
      <dgm:prSet/>
      <dgm:spPr/>
      <dgm:t>
        <a:bodyPr/>
        <a:lstStyle/>
        <a:p>
          <a:endParaRPr lang="en-US"/>
        </a:p>
      </dgm:t>
    </dgm:pt>
    <dgm:pt modelId="{68B92DC1-931D-40D9-9D8D-6E3D2E570AA7}" type="sibTrans" cxnId="{21425D0F-1877-4279-B6C2-CA81AB57DEC3}">
      <dgm:prSet/>
      <dgm:spPr/>
      <dgm:t>
        <a:bodyPr/>
        <a:lstStyle/>
        <a:p>
          <a:endParaRPr lang="en-US"/>
        </a:p>
      </dgm:t>
    </dgm:pt>
    <dgm:pt modelId="{D4934B5E-4C74-4855-AC1A-27666BC4AFB1}" type="pres">
      <dgm:prSet presAssocID="{20B5EFA3-48AF-47CA-BC33-32452F21A1C1}" presName="linear" presStyleCnt="0">
        <dgm:presLayoutVars>
          <dgm:animLvl val="lvl"/>
          <dgm:resizeHandles val="exact"/>
        </dgm:presLayoutVars>
      </dgm:prSet>
      <dgm:spPr/>
    </dgm:pt>
    <dgm:pt modelId="{DB5468D0-F4EF-4B37-8350-B75BD8D27785}" type="pres">
      <dgm:prSet presAssocID="{E2D63179-5245-49C3-A021-5D6EBF3EAAA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7BF05F2-BACE-4386-8336-97C38F9FBF7E}" type="pres">
      <dgm:prSet presAssocID="{CD9C657D-34FD-4CCB-A6FC-931D55F5F12C}" presName="spacer" presStyleCnt="0"/>
      <dgm:spPr/>
    </dgm:pt>
    <dgm:pt modelId="{77B6404F-0A2A-4AD9-B9FC-7740BDD811D8}" type="pres">
      <dgm:prSet presAssocID="{B9C86494-1967-49AB-BA22-0867BFF14E5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1740E4A-0F60-44A4-AB84-86673C18EE9A}" type="pres">
      <dgm:prSet presAssocID="{4165CDB1-51F3-4CC7-8F37-47B9F27B4464}" presName="spacer" presStyleCnt="0"/>
      <dgm:spPr/>
    </dgm:pt>
    <dgm:pt modelId="{ECBF62F7-404D-4F70-B361-368B080B2BE7}" type="pres">
      <dgm:prSet presAssocID="{78BE3118-9FBB-4EBA-A5D3-7273D009339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EC7B106-4820-4317-BFA7-A123493D5830}" srcId="{20B5EFA3-48AF-47CA-BC33-32452F21A1C1}" destId="{E2D63179-5245-49C3-A021-5D6EBF3EAAA9}" srcOrd="0" destOrd="0" parTransId="{1E99C2DF-B7A5-4838-8AEF-ACAF89D6D4ED}" sibTransId="{CD9C657D-34FD-4CCB-A6FC-931D55F5F12C}"/>
    <dgm:cxn modelId="{21425D0F-1877-4279-B6C2-CA81AB57DEC3}" srcId="{20B5EFA3-48AF-47CA-BC33-32452F21A1C1}" destId="{78BE3118-9FBB-4EBA-A5D3-7273D0093395}" srcOrd="2" destOrd="0" parTransId="{286CB6E7-9040-4905-BB89-8B98575258E6}" sibTransId="{68B92DC1-931D-40D9-9D8D-6E3D2E570AA7}"/>
    <dgm:cxn modelId="{948F8F1A-5DFB-4636-B1B5-44991AFCCE3F}" srcId="{20B5EFA3-48AF-47CA-BC33-32452F21A1C1}" destId="{B9C86494-1967-49AB-BA22-0867BFF14E56}" srcOrd="1" destOrd="0" parTransId="{7D9B843F-28D9-419A-B379-1C3E36F781C1}" sibTransId="{4165CDB1-51F3-4CC7-8F37-47B9F27B4464}"/>
    <dgm:cxn modelId="{EF846E5A-6BA8-423D-8ACB-70C0630037E7}" type="presOf" srcId="{20B5EFA3-48AF-47CA-BC33-32452F21A1C1}" destId="{D4934B5E-4C74-4855-AC1A-27666BC4AFB1}" srcOrd="0" destOrd="0" presId="urn:microsoft.com/office/officeart/2005/8/layout/vList2"/>
    <dgm:cxn modelId="{513D35E0-BE20-48B4-9695-53771248F3A2}" type="presOf" srcId="{E2D63179-5245-49C3-A021-5D6EBF3EAAA9}" destId="{DB5468D0-F4EF-4B37-8350-B75BD8D27785}" srcOrd="0" destOrd="0" presId="urn:microsoft.com/office/officeart/2005/8/layout/vList2"/>
    <dgm:cxn modelId="{A41F8AF9-D50B-4D48-828C-35ED5B2A7C6C}" type="presOf" srcId="{B9C86494-1967-49AB-BA22-0867BFF14E56}" destId="{77B6404F-0A2A-4AD9-B9FC-7740BDD811D8}" srcOrd="0" destOrd="0" presId="urn:microsoft.com/office/officeart/2005/8/layout/vList2"/>
    <dgm:cxn modelId="{A67B29FC-25E6-4B1A-876C-5417ECEFE56F}" type="presOf" srcId="{78BE3118-9FBB-4EBA-A5D3-7273D0093395}" destId="{ECBF62F7-404D-4F70-B361-368B080B2BE7}" srcOrd="0" destOrd="0" presId="urn:microsoft.com/office/officeart/2005/8/layout/vList2"/>
    <dgm:cxn modelId="{1DC43FBD-8E87-433C-8107-FD68E50FA069}" type="presParOf" srcId="{D4934B5E-4C74-4855-AC1A-27666BC4AFB1}" destId="{DB5468D0-F4EF-4B37-8350-B75BD8D27785}" srcOrd="0" destOrd="0" presId="urn:microsoft.com/office/officeart/2005/8/layout/vList2"/>
    <dgm:cxn modelId="{511F0DAB-7816-4848-9F80-E908DE6E5F81}" type="presParOf" srcId="{D4934B5E-4C74-4855-AC1A-27666BC4AFB1}" destId="{07BF05F2-BACE-4386-8336-97C38F9FBF7E}" srcOrd="1" destOrd="0" presId="urn:microsoft.com/office/officeart/2005/8/layout/vList2"/>
    <dgm:cxn modelId="{EBB9E0EB-D370-457C-93CE-AD035DE14D82}" type="presParOf" srcId="{D4934B5E-4C74-4855-AC1A-27666BC4AFB1}" destId="{77B6404F-0A2A-4AD9-B9FC-7740BDD811D8}" srcOrd="2" destOrd="0" presId="urn:microsoft.com/office/officeart/2005/8/layout/vList2"/>
    <dgm:cxn modelId="{8091B37C-CC99-42CB-9180-E28D90C3EAA6}" type="presParOf" srcId="{D4934B5E-4C74-4855-AC1A-27666BC4AFB1}" destId="{A1740E4A-0F60-44A4-AB84-86673C18EE9A}" srcOrd="3" destOrd="0" presId="urn:microsoft.com/office/officeart/2005/8/layout/vList2"/>
    <dgm:cxn modelId="{DFAF577A-4BAC-477F-8236-3ABFA4ABA619}" type="presParOf" srcId="{D4934B5E-4C74-4855-AC1A-27666BC4AFB1}" destId="{ECBF62F7-404D-4F70-B361-368B080B2BE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0EF1D00-F4F5-48D8-AD81-99A2090D5C97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10AD8A3-E414-4F03-A721-47F4F78B1F0A}">
      <dgm:prSet/>
      <dgm:spPr/>
      <dgm:t>
        <a:bodyPr/>
        <a:lstStyle/>
        <a:p>
          <a:r>
            <a:rPr lang="en-US"/>
            <a:t>Conseils mixtes public/privé (Kenya 5/4, Sénégal 6/6, Niger 6/6, RCA 2/1).</a:t>
          </a:r>
        </a:p>
      </dgm:t>
    </dgm:pt>
    <dgm:pt modelId="{231948E4-195A-4714-86A5-E253774F96A4}" type="parTrans" cxnId="{017CC8FB-C202-4F3C-91C7-1408C5B837AF}">
      <dgm:prSet/>
      <dgm:spPr/>
      <dgm:t>
        <a:bodyPr/>
        <a:lstStyle/>
        <a:p>
          <a:endParaRPr lang="en-US"/>
        </a:p>
      </dgm:t>
    </dgm:pt>
    <dgm:pt modelId="{059E825B-3487-4F9B-A77E-2148C087C63B}" type="sibTrans" cxnId="{017CC8FB-C202-4F3C-91C7-1408C5B837AF}">
      <dgm:prSet/>
      <dgm:spPr/>
      <dgm:t>
        <a:bodyPr/>
        <a:lstStyle/>
        <a:p>
          <a:endParaRPr lang="en-US"/>
        </a:p>
      </dgm:t>
    </dgm:pt>
    <dgm:pt modelId="{C0A9D2A9-957E-4215-8954-2F1D6A435424}">
      <dgm:prSet/>
      <dgm:spPr/>
      <dgm:t>
        <a:bodyPr/>
        <a:lstStyle/>
        <a:p>
          <a:r>
            <a:rPr lang="en-US"/>
            <a:t>Faible respect de la parité hommes-femmes malgré des lois favorables.</a:t>
          </a:r>
        </a:p>
      </dgm:t>
    </dgm:pt>
    <dgm:pt modelId="{4E73346B-BC30-4068-9BB2-FAB77E02A8FD}" type="parTrans" cxnId="{0BD0DE69-ED36-42D2-BB86-3C73F86174EE}">
      <dgm:prSet/>
      <dgm:spPr/>
      <dgm:t>
        <a:bodyPr/>
        <a:lstStyle/>
        <a:p>
          <a:endParaRPr lang="en-US"/>
        </a:p>
      </dgm:t>
    </dgm:pt>
    <dgm:pt modelId="{423876A1-1D20-48EC-857A-087A277210DE}" type="sibTrans" cxnId="{0BD0DE69-ED36-42D2-BB86-3C73F86174EE}">
      <dgm:prSet/>
      <dgm:spPr/>
      <dgm:t>
        <a:bodyPr/>
        <a:lstStyle/>
        <a:p>
          <a:endParaRPr lang="en-US"/>
        </a:p>
      </dgm:t>
    </dgm:pt>
    <dgm:pt modelId="{0DF9DE4E-3F49-4D11-B675-ECA8DC0210FD}">
      <dgm:prSet/>
      <dgm:spPr/>
      <dgm:t>
        <a:bodyPr/>
        <a:lstStyle/>
        <a:p>
          <a:r>
            <a:rPr lang="en-US"/>
            <a:t>Préjugés sociétaux freinant la participation des femmes.</a:t>
          </a:r>
        </a:p>
      </dgm:t>
    </dgm:pt>
    <dgm:pt modelId="{4E44AB86-3DD8-490B-9046-8BD7611434C0}" type="parTrans" cxnId="{BE7EFCE7-AF42-473A-A3FE-461F265C260F}">
      <dgm:prSet/>
      <dgm:spPr/>
      <dgm:t>
        <a:bodyPr/>
        <a:lstStyle/>
        <a:p>
          <a:endParaRPr lang="en-US"/>
        </a:p>
      </dgm:t>
    </dgm:pt>
    <dgm:pt modelId="{483A2BC3-E2C8-4E2E-8538-2F08616631A1}" type="sibTrans" cxnId="{BE7EFCE7-AF42-473A-A3FE-461F265C260F}">
      <dgm:prSet/>
      <dgm:spPr/>
      <dgm:t>
        <a:bodyPr/>
        <a:lstStyle/>
        <a:p>
          <a:endParaRPr lang="en-US"/>
        </a:p>
      </dgm:t>
    </dgm:pt>
    <dgm:pt modelId="{A0EEF5C8-83A8-403B-8218-7E29A66B94A1}" type="pres">
      <dgm:prSet presAssocID="{C0EF1D00-F4F5-48D8-AD81-99A2090D5C97}" presName="linear" presStyleCnt="0">
        <dgm:presLayoutVars>
          <dgm:animLvl val="lvl"/>
          <dgm:resizeHandles val="exact"/>
        </dgm:presLayoutVars>
      </dgm:prSet>
      <dgm:spPr/>
    </dgm:pt>
    <dgm:pt modelId="{115F02DB-AC70-4D63-B4F4-B720BE570609}" type="pres">
      <dgm:prSet presAssocID="{310AD8A3-E414-4F03-A721-47F4F78B1F0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CF3685D-86EC-4141-AAA0-9E479B67FE07}" type="pres">
      <dgm:prSet presAssocID="{059E825B-3487-4F9B-A77E-2148C087C63B}" presName="spacer" presStyleCnt="0"/>
      <dgm:spPr/>
    </dgm:pt>
    <dgm:pt modelId="{355050EE-D899-4622-8C1E-508355DB3FF1}" type="pres">
      <dgm:prSet presAssocID="{C0A9D2A9-957E-4215-8954-2F1D6A43542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A1996D4-6F16-4671-9F0C-D6B1C0E811EC}" type="pres">
      <dgm:prSet presAssocID="{423876A1-1D20-48EC-857A-087A277210DE}" presName="spacer" presStyleCnt="0"/>
      <dgm:spPr/>
    </dgm:pt>
    <dgm:pt modelId="{C7878310-F9FC-464C-A7F2-14AB4730E91F}" type="pres">
      <dgm:prSet presAssocID="{0DF9DE4E-3F49-4D11-B675-ECA8DC0210F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F07E003-DA10-4F7B-B332-4D66B8D96511}" type="presOf" srcId="{0DF9DE4E-3F49-4D11-B675-ECA8DC0210FD}" destId="{C7878310-F9FC-464C-A7F2-14AB4730E91F}" srcOrd="0" destOrd="0" presId="urn:microsoft.com/office/officeart/2005/8/layout/vList2"/>
    <dgm:cxn modelId="{B738103C-BC27-4220-A8BD-4F4FF9547B64}" type="presOf" srcId="{C0EF1D00-F4F5-48D8-AD81-99A2090D5C97}" destId="{A0EEF5C8-83A8-403B-8218-7E29A66B94A1}" srcOrd="0" destOrd="0" presId="urn:microsoft.com/office/officeart/2005/8/layout/vList2"/>
    <dgm:cxn modelId="{6E50CF45-1F6F-478D-B287-823E751E3C94}" type="presOf" srcId="{310AD8A3-E414-4F03-A721-47F4F78B1F0A}" destId="{115F02DB-AC70-4D63-B4F4-B720BE570609}" srcOrd="0" destOrd="0" presId="urn:microsoft.com/office/officeart/2005/8/layout/vList2"/>
    <dgm:cxn modelId="{0BD0DE69-ED36-42D2-BB86-3C73F86174EE}" srcId="{C0EF1D00-F4F5-48D8-AD81-99A2090D5C97}" destId="{C0A9D2A9-957E-4215-8954-2F1D6A435424}" srcOrd="1" destOrd="0" parTransId="{4E73346B-BC30-4068-9BB2-FAB77E02A8FD}" sibTransId="{423876A1-1D20-48EC-857A-087A277210DE}"/>
    <dgm:cxn modelId="{596B65DE-2510-4A7F-8F9C-0D8BE28C50C6}" type="presOf" srcId="{C0A9D2A9-957E-4215-8954-2F1D6A435424}" destId="{355050EE-D899-4622-8C1E-508355DB3FF1}" srcOrd="0" destOrd="0" presId="urn:microsoft.com/office/officeart/2005/8/layout/vList2"/>
    <dgm:cxn modelId="{BE7EFCE7-AF42-473A-A3FE-461F265C260F}" srcId="{C0EF1D00-F4F5-48D8-AD81-99A2090D5C97}" destId="{0DF9DE4E-3F49-4D11-B675-ECA8DC0210FD}" srcOrd="2" destOrd="0" parTransId="{4E44AB86-3DD8-490B-9046-8BD7611434C0}" sibTransId="{483A2BC3-E2C8-4E2E-8538-2F08616631A1}"/>
    <dgm:cxn modelId="{017CC8FB-C202-4F3C-91C7-1408C5B837AF}" srcId="{C0EF1D00-F4F5-48D8-AD81-99A2090D5C97}" destId="{310AD8A3-E414-4F03-A721-47F4F78B1F0A}" srcOrd="0" destOrd="0" parTransId="{231948E4-195A-4714-86A5-E253774F96A4}" sibTransId="{059E825B-3487-4F9B-A77E-2148C087C63B}"/>
    <dgm:cxn modelId="{A350D0EF-1DC4-48AD-AA54-01FDEF559A72}" type="presParOf" srcId="{A0EEF5C8-83A8-403B-8218-7E29A66B94A1}" destId="{115F02DB-AC70-4D63-B4F4-B720BE570609}" srcOrd="0" destOrd="0" presId="urn:microsoft.com/office/officeart/2005/8/layout/vList2"/>
    <dgm:cxn modelId="{113AF6A5-7670-4F98-B7AF-2DB3A0FF97CF}" type="presParOf" srcId="{A0EEF5C8-83A8-403B-8218-7E29A66B94A1}" destId="{2CF3685D-86EC-4141-AAA0-9E479B67FE07}" srcOrd="1" destOrd="0" presId="urn:microsoft.com/office/officeart/2005/8/layout/vList2"/>
    <dgm:cxn modelId="{AA986C35-9AF5-481C-8F39-DEB009446F4D}" type="presParOf" srcId="{A0EEF5C8-83A8-403B-8218-7E29A66B94A1}" destId="{355050EE-D899-4622-8C1E-508355DB3FF1}" srcOrd="2" destOrd="0" presId="urn:microsoft.com/office/officeart/2005/8/layout/vList2"/>
    <dgm:cxn modelId="{21FC7262-66B8-4142-9EAB-8E5DD005A382}" type="presParOf" srcId="{A0EEF5C8-83A8-403B-8218-7E29A66B94A1}" destId="{9A1996D4-6F16-4671-9F0C-D6B1C0E811EC}" srcOrd="3" destOrd="0" presId="urn:microsoft.com/office/officeart/2005/8/layout/vList2"/>
    <dgm:cxn modelId="{380481E0-35B2-4716-9AD3-DBCFB49F533A}" type="presParOf" srcId="{A0EEF5C8-83A8-403B-8218-7E29A66B94A1}" destId="{C7878310-F9FC-464C-A7F2-14AB4730E91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5F2B3A5-824D-4564-AD04-2BC15D4ECC0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3CB6703-2A51-41F6-B2C3-FED0C5713F0B}">
      <dgm:prSet/>
      <dgm:spPr/>
      <dgm:t>
        <a:bodyPr/>
        <a:lstStyle/>
        <a:p>
          <a:r>
            <a:rPr lang="en-US"/>
            <a:t>Rapports annuels et audits indépendants réalisés.</a:t>
          </a:r>
        </a:p>
      </dgm:t>
    </dgm:pt>
    <dgm:pt modelId="{51409E38-A4BC-4752-9198-36198994A0D1}" type="parTrans" cxnId="{FBFDAD2D-6B7A-4EBF-856E-214C981D10A4}">
      <dgm:prSet/>
      <dgm:spPr/>
      <dgm:t>
        <a:bodyPr/>
        <a:lstStyle/>
        <a:p>
          <a:endParaRPr lang="en-US"/>
        </a:p>
      </dgm:t>
    </dgm:pt>
    <dgm:pt modelId="{FEE5786F-2CAB-41D4-A058-FA356ECA3D1D}" type="sibTrans" cxnId="{FBFDAD2D-6B7A-4EBF-856E-214C981D10A4}">
      <dgm:prSet/>
      <dgm:spPr/>
      <dgm:t>
        <a:bodyPr/>
        <a:lstStyle/>
        <a:p>
          <a:endParaRPr lang="en-US"/>
        </a:p>
      </dgm:t>
    </dgm:pt>
    <dgm:pt modelId="{B5C04742-C8C4-457D-80D4-13EB31F152D7}">
      <dgm:prSet/>
      <dgm:spPr/>
      <dgm:t>
        <a:bodyPr/>
        <a:lstStyle/>
        <a:p>
          <a:r>
            <a:rPr lang="en-US"/>
            <a:t>Manque de publication régulière sur les sites web.</a:t>
          </a:r>
        </a:p>
      </dgm:t>
    </dgm:pt>
    <dgm:pt modelId="{4035A9C1-87FE-4E5C-858F-6C3933485E1D}" type="parTrans" cxnId="{41101125-E87D-4064-AD91-FF031A8B61A1}">
      <dgm:prSet/>
      <dgm:spPr/>
      <dgm:t>
        <a:bodyPr/>
        <a:lstStyle/>
        <a:p>
          <a:endParaRPr lang="en-US"/>
        </a:p>
      </dgm:t>
    </dgm:pt>
    <dgm:pt modelId="{07C15759-247F-4141-AD5F-897BFA10F9FD}" type="sibTrans" cxnId="{41101125-E87D-4064-AD91-FF031A8B61A1}">
      <dgm:prSet/>
      <dgm:spPr/>
      <dgm:t>
        <a:bodyPr/>
        <a:lstStyle/>
        <a:p>
          <a:endParaRPr lang="en-US"/>
        </a:p>
      </dgm:t>
    </dgm:pt>
    <dgm:pt modelId="{3A798B33-FC6D-475A-A4C7-E9C7E6376E51}">
      <dgm:prSet/>
      <dgm:spPr/>
      <dgm:t>
        <a:bodyPr/>
        <a:lstStyle/>
        <a:p>
          <a:r>
            <a:rPr lang="en-US"/>
            <a:t>Recettes et dépenses légalement rendues publiques.</a:t>
          </a:r>
        </a:p>
      </dgm:t>
    </dgm:pt>
    <dgm:pt modelId="{A1AD247D-3974-4BF3-A5A7-7151E4AA7E39}" type="parTrans" cxnId="{3CAB6255-8A1B-4E41-856C-77F34F86715D}">
      <dgm:prSet/>
      <dgm:spPr/>
      <dgm:t>
        <a:bodyPr/>
        <a:lstStyle/>
        <a:p>
          <a:endParaRPr lang="en-US"/>
        </a:p>
      </dgm:t>
    </dgm:pt>
    <dgm:pt modelId="{F81D6327-3E37-407D-B0FC-B1963B840B52}" type="sibTrans" cxnId="{3CAB6255-8A1B-4E41-856C-77F34F86715D}">
      <dgm:prSet/>
      <dgm:spPr/>
      <dgm:t>
        <a:bodyPr/>
        <a:lstStyle/>
        <a:p>
          <a:endParaRPr lang="en-US"/>
        </a:p>
      </dgm:t>
    </dgm:pt>
    <dgm:pt modelId="{C88B63E6-8806-485C-8E7A-9F1D359C073B}" type="pres">
      <dgm:prSet presAssocID="{65F2B3A5-824D-4564-AD04-2BC15D4ECC09}" presName="linear" presStyleCnt="0">
        <dgm:presLayoutVars>
          <dgm:animLvl val="lvl"/>
          <dgm:resizeHandles val="exact"/>
        </dgm:presLayoutVars>
      </dgm:prSet>
      <dgm:spPr/>
    </dgm:pt>
    <dgm:pt modelId="{AC631D5E-A16E-49A0-A9DE-A23306668D85}" type="pres">
      <dgm:prSet presAssocID="{53CB6703-2A51-41F6-B2C3-FED0C5713F0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1C2A06D-1092-4E76-A741-0DE0D0FA62D4}" type="pres">
      <dgm:prSet presAssocID="{FEE5786F-2CAB-41D4-A058-FA356ECA3D1D}" presName="spacer" presStyleCnt="0"/>
      <dgm:spPr/>
    </dgm:pt>
    <dgm:pt modelId="{1944CCD9-8612-4100-BCE6-ED98E97DDBCB}" type="pres">
      <dgm:prSet presAssocID="{B5C04742-C8C4-457D-80D4-13EB31F152D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0E23F66-3EB2-4678-A02E-BEFE384603A8}" type="pres">
      <dgm:prSet presAssocID="{07C15759-247F-4141-AD5F-897BFA10F9FD}" presName="spacer" presStyleCnt="0"/>
      <dgm:spPr/>
    </dgm:pt>
    <dgm:pt modelId="{A2BDDD2E-1AC7-4C5B-9D92-BCEF1EA7D670}" type="pres">
      <dgm:prSet presAssocID="{3A798B33-FC6D-475A-A4C7-E9C7E6376E5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1101125-E87D-4064-AD91-FF031A8B61A1}" srcId="{65F2B3A5-824D-4564-AD04-2BC15D4ECC09}" destId="{B5C04742-C8C4-457D-80D4-13EB31F152D7}" srcOrd="1" destOrd="0" parTransId="{4035A9C1-87FE-4E5C-858F-6C3933485E1D}" sibTransId="{07C15759-247F-4141-AD5F-897BFA10F9FD}"/>
    <dgm:cxn modelId="{FBFDAD2D-6B7A-4EBF-856E-214C981D10A4}" srcId="{65F2B3A5-824D-4564-AD04-2BC15D4ECC09}" destId="{53CB6703-2A51-41F6-B2C3-FED0C5713F0B}" srcOrd="0" destOrd="0" parTransId="{51409E38-A4BC-4752-9198-36198994A0D1}" sibTransId="{FEE5786F-2CAB-41D4-A058-FA356ECA3D1D}"/>
    <dgm:cxn modelId="{0CBC1161-5A51-4217-8C21-0EAA12FDB8B5}" type="presOf" srcId="{53CB6703-2A51-41F6-B2C3-FED0C5713F0B}" destId="{AC631D5E-A16E-49A0-A9DE-A23306668D85}" srcOrd="0" destOrd="0" presId="urn:microsoft.com/office/officeart/2005/8/layout/vList2"/>
    <dgm:cxn modelId="{18B3A550-2757-4AF0-831F-9F2FD1EDBFBC}" type="presOf" srcId="{65F2B3A5-824D-4564-AD04-2BC15D4ECC09}" destId="{C88B63E6-8806-485C-8E7A-9F1D359C073B}" srcOrd="0" destOrd="0" presId="urn:microsoft.com/office/officeart/2005/8/layout/vList2"/>
    <dgm:cxn modelId="{3CAB6255-8A1B-4E41-856C-77F34F86715D}" srcId="{65F2B3A5-824D-4564-AD04-2BC15D4ECC09}" destId="{3A798B33-FC6D-475A-A4C7-E9C7E6376E51}" srcOrd="2" destOrd="0" parTransId="{A1AD247D-3974-4BF3-A5A7-7151E4AA7E39}" sibTransId="{F81D6327-3E37-407D-B0FC-B1963B840B52}"/>
    <dgm:cxn modelId="{4A520FE9-CD12-4D2A-9EA1-63408885F53B}" type="presOf" srcId="{3A798B33-FC6D-475A-A4C7-E9C7E6376E51}" destId="{A2BDDD2E-1AC7-4C5B-9D92-BCEF1EA7D670}" srcOrd="0" destOrd="0" presId="urn:microsoft.com/office/officeart/2005/8/layout/vList2"/>
    <dgm:cxn modelId="{8FD356EC-975B-4EA4-9134-0EAD1389EB35}" type="presOf" srcId="{B5C04742-C8C4-457D-80D4-13EB31F152D7}" destId="{1944CCD9-8612-4100-BCE6-ED98E97DDBCB}" srcOrd="0" destOrd="0" presId="urn:microsoft.com/office/officeart/2005/8/layout/vList2"/>
    <dgm:cxn modelId="{F7E3D7E9-5670-462E-8101-35803EC7E0E9}" type="presParOf" srcId="{C88B63E6-8806-485C-8E7A-9F1D359C073B}" destId="{AC631D5E-A16E-49A0-A9DE-A23306668D85}" srcOrd="0" destOrd="0" presId="urn:microsoft.com/office/officeart/2005/8/layout/vList2"/>
    <dgm:cxn modelId="{60456E89-220F-450E-BCBA-9915A9687757}" type="presParOf" srcId="{C88B63E6-8806-485C-8E7A-9F1D359C073B}" destId="{11C2A06D-1092-4E76-A741-0DE0D0FA62D4}" srcOrd="1" destOrd="0" presId="urn:microsoft.com/office/officeart/2005/8/layout/vList2"/>
    <dgm:cxn modelId="{914FABDF-A038-41B6-A03A-577E04F34835}" type="presParOf" srcId="{C88B63E6-8806-485C-8E7A-9F1D359C073B}" destId="{1944CCD9-8612-4100-BCE6-ED98E97DDBCB}" srcOrd="2" destOrd="0" presId="urn:microsoft.com/office/officeart/2005/8/layout/vList2"/>
    <dgm:cxn modelId="{E930642E-E7AF-4667-BA42-55E9B2456CA7}" type="presParOf" srcId="{C88B63E6-8806-485C-8E7A-9F1D359C073B}" destId="{C0E23F66-3EB2-4678-A02E-BEFE384603A8}" srcOrd="3" destOrd="0" presId="urn:microsoft.com/office/officeart/2005/8/layout/vList2"/>
    <dgm:cxn modelId="{04AAAEFE-1DEC-4619-B07F-4869EB4F69BD}" type="presParOf" srcId="{C88B63E6-8806-485C-8E7A-9F1D359C073B}" destId="{A2BDDD2E-1AC7-4C5B-9D92-BCEF1EA7D67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3AE7526-DA9A-4B50-9A94-AE30E195D3DD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DC1EB9F4-DB2E-415D-A354-8D03AF07CCD4}">
      <dgm:prSet/>
      <dgm:spPr/>
      <dgm:t>
        <a:bodyPr/>
        <a:lstStyle/>
        <a:p>
          <a:r>
            <a:rPr lang="en-US"/>
            <a:t>Décalage entre priorités du Conseil et celles du Ministère.</a:t>
          </a:r>
        </a:p>
      </dgm:t>
    </dgm:pt>
    <dgm:pt modelId="{FA00AFC5-7BE1-4CD6-A464-27D6E6670052}" type="parTrans" cxnId="{DC2A8CAA-24E9-4D5B-A52C-2915C2648150}">
      <dgm:prSet/>
      <dgm:spPr/>
      <dgm:t>
        <a:bodyPr/>
        <a:lstStyle/>
        <a:p>
          <a:endParaRPr lang="en-US"/>
        </a:p>
      </dgm:t>
    </dgm:pt>
    <dgm:pt modelId="{465D8F63-0CB2-4F10-92FB-A3327DCABE16}" type="sibTrans" cxnId="{DC2A8CAA-24E9-4D5B-A52C-2915C2648150}">
      <dgm:prSet/>
      <dgm:spPr/>
      <dgm:t>
        <a:bodyPr/>
        <a:lstStyle/>
        <a:p>
          <a:endParaRPr lang="en-US"/>
        </a:p>
      </dgm:t>
    </dgm:pt>
    <dgm:pt modelId="{E36D2454-B2A0-4638-BD8F-DFE4373B5427}">
      <dgm:prSet/>
      <dgm:spPr/>
      <dgm:t>
        <a:bodyPr/>
        <a:lstStyle/>
        <a:p>
          <a:r>
            <a:rPr lang="en-US"/>
            <a:t>Financement insuffisant et dépendance aux taxes sur carburants.</a:t>
          </a:r>
        </a:p>
      </dgm:t>
    </dgm:pt>
    <dgm:pt modelId="{EF840643-6591-43C8-B9F0-64C714B9F4E1}" type="parTrans" cxnId="{E621E06C-C907-4FE2-B9E3-4B78FC8D2075}">
      <dgm:prSet/>
      <dgm:spPr/>
      <dgm:t>
        <a:bodyPr/>
        <a:lstStyle/>
        <a:p>
          <a:endParaRPr lang="en-US"/>
        </a:p>
      </dgm:t>
    </dgm:pt>
    <dgm:pt modelId="{031C3ED1-1757-4421-A9F7-EBD49E83E229}" type="sibTrans" cxnId="{E621E06C-C907-4FE2-B9E3-4B78FC8D2075}">
      <dgm:prSet/>
      <dgm:spPr/>
      <dgm:t>
        <a:bodyPr/>
        <a:lstStyle/>
        <a:p>
          <a:endParaRPr lang="en-US"/>
        </a:p>
      </dgm:t>
    </dgm:pt>
    <dgm:pt modelId="{00BD616D-DD05-4651-906A-5AF243FDC8B4}">
      <dgm:prSet/>
      <dgm:spPr/>
      <dgm:t>
        <a:bodyPr/>
        <a:lstStyle/>
        <a:p>
          <a:r>
            <a:rPr lang="en-US"/>
            <a:t>Conflits institutionnels et déficit de données fiables.</a:t>
          </a:r>
        </a:p>
      </dgm:t>
    </dgm:pt>
    <dgm:pt modelId="{2BE12C2F-BF64-49CA-93C4-431D00A76921}" type="parTrans" cxnId="{70194E50-863E-45D7-B447-BDB0B3E167E1}">
      <dgm:prSet/>
      <dgm:spPr/>
      <dgm:t>
        <a:bodyPr/>
        <a:lstStyle/>
        <a:p>
          <a:endParaRPr lang="en-US"/>
        </a:p>
      </dgm:t>
    </dgm:pt>
    <dgm:pt modelId="{AF615F41-AB40-4E1E-B08A-BD9395E6F5FC}" type="sibTrans" cxnId="{70194E50-863E-45D7-B447-BDB0B3E167E1}">
      <dgm:prSet/>
      <dgm:spPr/>
      <dgm:t>
        <a:bodyPr/>
        <a:lstStyle/>
        <a:p>
          <a:endParaRPr lang="en-US"/>
        </a:p>
      </dgm:t>
    </dgm:pt>
    <dgm:pt modelId="{5B32B530-F724-4D1F-BC78-9B7F382F7E28}">
      <dgm:prSet/>
      <dgm:spPr/>
      <dgm:t>
        <a:bodyPr/>
        <a:lstStyle/>
        <a:p>
          <a:r>
            <a:rPr lang="en-US"/>
            <a:t>Pressions pour financer des projets de développement.</a:t>
          </a:r>
        </a:p>
      </dgm:t>
    </dgm:pt>
    <dgm:pt modelId="{2D5AA205-0B91-4669-A766-7465F47CC09E}" type="parTrans" cxnId="{2E008361-E010-41BF-A58A-EE58E533BAF3}">
      <dgm:prSet/>
      <dgm:spPr/>
      <dgm:t>
        <a:bodyPr/>
        <a:lstStyle/>
        <a:p>
          <a:endParaRPr lang="en-US"/>
        </a:p>
      </dgm:t>
    </dgm:pt>
    <dgm:pt modelId="{E0407EC5-3911-4B96-BABA-2FDA50A5AAD2}" type="sibTrans" cxnId="{2E008361-E010-41BF-A58A-EE58E533BAF3}">
      <dgm:prSet/>
      <dgm:spPr/>
      <dgm:t>
        <a:bodyPr/>
        <a:lstStyle/>
        <a:p>
          <a:endParaRPr lang="en-US"/>
        </a:p>
      </dgm:t>
    </dgm:pt>
    <dgm:pt modelId="{AC7E8695-9812-475C-B72D-1D4EB645E78D}" type="pres">
      <dgm:prSet presAssocID="{D3AE7526-DA9A-4B50-9A94-AE30E195D3DD}" presName="vert0" presStyleCnt="0">
        <dgm:presLayoutVars>
          <dgm:dir/>
          <dgm:animOne val="branch"/>
          <dgm:animLvl val="lvl"/>
        </dgm:presLayoutVars>
      </dgm:prSet>
      <dgm:spPr/>
    </dgm:pt>
    <dgm:pt modelId="{317185C6-89BA-4838-80D7-1FF795BEA8CB}" type="pres">
      <dgm:prSet presAssocID="{DC1EB9F4-DB2E-415D-A354-8D03AF07CCD4}" presName="thickLine" presStyleLbl="alignNode1" presStyleIdx="0" presStyleCnt="4"/>
      <dgm:spPr/>
    </dgm:pt>
    <dgm:pt modelId="{E45BD331-D3D6-4A8E-9D58-CB094C18B05A}" type="pres">
      <dgm:prSet presAssocID="{DC1EB9F4-DB2E-415D-A354-8D03AF07CCD4}" presName="horz1" presStyleCnt="0"/>
      <dgm:spPr/>
    </dgm:pt>
    <dgm:pt modelId="{F75A33A1-B216-43E0-84EE-D0F5B51492C9}" type="pres">
      <dgm:prSet presAssocID="{DC1EB9F4-DB2E-415D-A354-8D03AF07CCD4}" presName="tx1" presStyleLbl="revTx" presStyleIdx="0" presStyleCnt="4"/>
      <dgm:spPr/>
    </dgm:pt>
    <dgm:pt modelId="{78ADF43E-EE46-489B-9178-4FF56A6771CC}" type="pres">
      <dgm:prSet presAssocID="{DC1EB9F4-DB2E-415D-A354-8D03AF07CCD4}" presName="vert1" presStyleCnt="0"/>
      <dgm:spPr/>
    </dgm:pt>
    <dgm:pt modelId="{AA5C15B0-712A-4DE4-BFB3-20DD701AE2B1}" type="pres">
      <dgm:prSet presAssocID="{E36D2454-B2A0-4638-BD8F-DFE4373B5427}" presName="thickLine" presStyleLbl="alignNode1" presStyleIdx="1" presStyleCnt="4"/>
      <dgm:spPr/>
    </dgm:pt>
    <dgm:pt modelId="{07C13439-5742-4D96-8BC4-6F8E2E5A2244}" type="pres">
      <dgm:prSet presAssocID="{E36D2454-B2A0-4638-BD8F-DFE4373B5427}" presName="horz1" presStyleCnt="0"/>
      <dgm:spPr/>
    </dgm:pt>
    <dgm:pt modelId="{D4193F39-ECA1-421A-85AA-5D4CFE5ECE56}" type="pres">
      <dgm:prSet presAssocID="{E36D2454-B2A0-4638-BD8F-DFE4373B5427}" presName="tx1" presStyleLbl="revTx" presStyleIdx="1" presStyleCnt="4"/>
      <dgm:spPr/>
    </dgm:pt>
    <dgm:pt modelId="{C950E917-59ED-4AB9-8AC4-D3D1497C591F}" type="pres">
      <dgm:prSet presAssocID="{E36D2454-B2A0-4638-BD8F-DFE4373B5427}" presName="vert1" presStyleCnt="0"/>
      <dgm:spPr/>
    </dgm:pt>
    <dgm:pt modelId="{5258DDDD-1E1A-4D77-B4FC-D92ACE107DD8}" type="pres">
      <dgm:prSet presAssocID="{00BD616D-DD05-4651-906A-5AF243FDC8B4}" presName="thickLine" presStyleLbl="alignNode1" presStyleIdx="2" presStyleCnt="4"/>
      <dgm:spPr/>
    </dgm:pt>
    <dgm:pt modelId="{87255096-B603-4F11-9E87-1915EB025EAC}" type="pres">
      <dgm:prSet presAssocID="{00BD616D-DD05-4651-906A-5AF243FDC8B4}" presName="horz1" presStyleCnt="0"/>
      <dgm:spPr/>
    </dgm:pt>
    <dgm:pt modelId="{8B21A963-D196-4A42-B905-EEB8E952A3BE}" type="pres">
      <dgm:prSet presAssocID="{00BD616D-DD05-4651-906A-5AF243FDC8B4}" presName="tx1" presStyleLbl="revTx" presStyleIdx="2" presStyleCnt="4"/>
      <dgm:spPr/>
    </dgm:pt>
    <dgm:pt modelId="{A1485BFB-32F7-40A2-B81A-A36F6764AF8E}" type="pres">
      <dgm:prSet presAssocID="{00BD616D-DD05-4651-906A-5AF243FDC8B4}" presName="vert1" presStyleCnt="0"/>
      <dgm:spPr/>
    </dgm:pt>
    <dgm:pt modelId="{2054F95E-C604-4E80-9913-56EBD2D01D55}" type="pres">
      <dgm:prSet presAssocID="{5B32B530-F724-4D1F-BC78-9B7F382F7E28}" presName="thickLine" presStyleLbl="alignNode1" presStyleIdx="3" presStyleCnt="4"/>
      <dgm:spPr/>
    </dgm:pt>
    <dgm:pt modelId="{F8BF9040-0EC3-41C2-9D39-F50372A8CF61}" type="pres">
      <dgm:prSet presAssocID="{5B32B530-F724-4D1F-BC78-9B7F382F7E28}" presName="horz1" presStyleCnt="0"/>
      <dgm:spPr/>
    </dgm:pt>
    <dgm:pt modelId="{3B0EB88A-1DA1-4C5F-849F-C35F34904094}" type="pres">
      <dgm:prSet presAssocID="{5B32B530-F724-4D1F-BC78-9B7F382F7E28}" presName="tx1" presStyleLbl="revTx" presStyleIdx="3" presStyleCnt="4"/>
      <dgm:spPr/>
    </dgm:pt>
    <dgm:pt modelId="{790C9857-4093-4185-A234-43A271B3D489}" type="pres">
      <dgm:prSet presAssocID="{5B32B530-F724-4D1F-BC78-9B7F382F7E28}" presName="vert1" presStyleCnt="0"/>
      <dgm:spPr/>
    </dgm:pt>
  </dgm:ptLst>
  <dgm:cxnLst>
    <dgm:cxn modelId="{E1F3D65F-EA18-47ED-8526-C2711BA4EEDE}" type="presOf" srcId="{E36D2454-B2A0-4638-BD8F-DFE4373B5427}" destId="{D4193F39-ECA1-421A-85AA-5D4CFE5ECE56}" srcOrd="0" destOrd="0" presId="urn:microsoft.com/office/officeart/2008/layout/LinedList"/>
    <dgm:cxn modelId="{2E008361-E010-41BF-A58A-EE58E533BAF3}" srcId="{D3AE7526-DA9A-4B50-9A94-AE30E195D3DD}" destId="{5B32B530-F724-4D1F-BC78-9B7F382F7E28}" srcOrd="3" destOrd="0" parTransId="{2D5AA205-0B91-4669-A766-7465F47CC09E}" sibTransId="{E0407EC5-3911-4B96-BABA-2FDA50A5AAD2}"/>
    <dgm:cxn modelId="{E621E06C-C907-4FE2-B9E3-4B78FC8D2075}" srcId="{D3AE7526-DA9A-4B50-9A94-AE30E195D3DD}" destId="{E36D2454-B2A0-4638-BD8F-DFE4373B5427}" srcOrd="1" destOrd="0" parTransId="{EF840643-6591-43C8-B9F0-64C714B9F4E1}" sibTransId="{031C3ED1-1757-4421-A9F7-EBD49E83E229}"/>
    <dgm:cxn modelId="{70194E50-863E-45D7-B447-BDB0B3E167E1}" srcId="{D3AE7526-DA9A-4B50-9A94-AE30E195D3DD}" destId="{00BD616D-DD05-4651-906A-5AF243FDC8B4}" srcOrd="2" destOrd="0" parTransId="{2BE12C2F-BF64-49CA-93C4-431D00A76921}" sibTransId="{AF615F41-AB40-4E1E-B08A-BD9395E6F5FC}"/>
    <dgm:cxn modelId="{F7AE327A-AD0F-494F-A756-2911A25E5AFF}" type="presOf" srcId="{00BD616D-DD05-4651-906A-5AF243FDC8B4}" destId="{8B21A963-D196-4A42-B905-EEB8E952A3BE}" srcOrd="0" destOrd="0" presId="urn:microsoft.com/office/officeart/2008/layout/LinedList"/>
    <dgm:cxn modelId="{9CBE7384-947F-49EB-8129-4473AB0B313C}" type="presOf" srcId="{DC1EB9F4-DB2E-415D-A354-8D03AF07CCD4}" destId="{F75A33A1-B216-43E0-84EE-D0F5B51492C9}" srcOrd="0" destOrd="0" presId="urn:microsoft.com/office/officeart/2008/layout/LinedList"/>
    <dgm:cxn modelId="{DD758896-D2A8-4EFB-A3AA-BC33EB88402F}" type="presOf" srcId="{D3AE7526-DA9A-4B50-9A94-AE30E195D3DD}" destId="{AC7E8695-9812-475C-B72D-1D4EB645E78D}" srcOrd="0" destOrd="0" presId="urn:microsoft.com/office/officeart/2008/layout/LinedList"/>
    <dgm:cxn modelId="{6F63C7A1-05C0-4F7D-B6E4-E3E51AE95B95}" type="presOf" srcId="{5B32B530-F724-4D1F-BC78-9B7F382F7E28}" destId="{3B0EB88A-1DA1-4C5F-849F-C35F34904094}" srcOrd="0" destOrd="0" presId="urn:microsoft.com/office/officeart/2008/layout/LinedList"/>
    <dgm:cxn modelId="{DC2A8CAA-24E9-4D5B-A52C-2915C2648150}" srcId="{D3AE7526-DA9A-4B50-9A94-AE30E195D3DD}" destId="{DC1EB9F4-DB2E-415D-A354-8D03AF07CCD4}" srcOrd="0" destOrd="0" parTransId="{FA00AFC5-7BE1-4CD6-A464-27D6E6670052}" sibTransId="{465D8F63-0CB2-4F10-92FB-A3327DCABE16}"/>
    <dgm:cxn modelId="{703EE2B7-97B3-4042-B894-ADBB8A714F68}" type="presParOf" srcId="{AC7E8695-9812-475C-B72D-1D4EB645E78D}" destId="{317185C6-89BA-4838-80D7-1FF795BEA8CB}" srcOrd="0" destOrd="0" presId="urn:microsoft.com/office/officeart/2008/layout/LinedList"/>
    <dgm:cxn modelId="{74AEA69D-E4C8-4A15-8F6A-46562F61AE03}" type="presParOf" srcId="{AC7E8695-9812-475C-B72D-1D4EB645E78D}" destId="{E45BD331-D3D6-4A8E-9D58-CB094C18B05A}" srcOrd="1" destOrd="0" presId="urn:microsoft.com/office/officeart/2008/layout/LinedList"/>
    <dgm:cxn modelId="{AABCB94D-54DB-4FDA-8474-0E37ECDD2AC8}" type="presParOf" srcId="{E45BD331-D3D6-4A8E-9D58-CB094C18B05A}" destId="{F75A33A1-B216-43E0-84EE-D0F5B51492C9}" srcOrd="0" destOrd="0" presId="urn:microsoft.com/office/officeart/2008/layout/LinedList"/>
    <dgm:cxn modelId="{3D2BE039-5971-4AE1-A3F7-B403EB0556F0}" type="presParOf" srcId="{E45BD331-D3D6-4A8E-9D58-CB094C18B05A}" destId="{78ADF43E-EE46-489B-9178-4FF56A6771CC}" srcOrd="1" destOrd="0" presId="urn:microsoft.com/office/officeart/2008/layout/LinedList"/>
    <dgm:cxn modelId="{0024D918-EF26-46BF-BC1D-880DB1A739DB}" type="presParOf" srcId="{AC7E8695-9812-475C-B72D-1D4EB645E78D}" destId="{AA5C15B0-712A-4DE4-BFB3-20DD701AE2B1}" srcOrd="2" destOrd="0" presId="urn:microsoft.com/office/officeart/2008/layout/LinedList"/>
    <dgm:cxn modelId="{47781F95-EA44-4360-BBEB-9746BAC3F5F1}" type="presParOf" srcId="{AC7E8695-9812-475C-B72D-1D4EB645E78D}" destId="{07C13439-5742-4D96-8BC4-6F8E2E5A2244}" srcOrd="3" destOrd="0" presId="urn:microsoft.com/office/officeart/2008/layout/LinedList"/>
    <dgm:cxn modelId="{FAC33927-4461-4D73-BEB6-2204EED33C9B}" type="presParOf" srcId="{07C13439-5742-4D96-8BC4-6F8E2E5A2244}" destId="{D4193F39-ECA1-421A-85AA-5D4CFE5ECE56}" srcOrd="0" destOrd="0" presId="urn:microsoft.com/office/officeart/2008/layout/LinedList"/>
    <dgm:cxn modelId="{9734D7F4-5F0F-4299-834D-FDA6E8650F09}" type="presParOf" srcId="{07C13439-5742-4D96-8BC4-6F8E2E5A2244}" destId="{C950E917-59ED-4AB9-8AC4-D3D1497C591F}" srcOrd="1" destOrd="0" presId="urn:microsoft.com/office/officeart/2008/layout/LinedList"/>
    <dgm:cxn modelId="{6316F56F-1470-4E70-A8E4-1F088AFCCDB8}" type="presParOf" srcId="{AC7E8695-9812-475C-B72D-1D4EB645E78D}" destId="{5258DDDD-1E1A-4D77-B4FC-D92ACE107DD8}" srcOrd="4" destOrd="0" presId="urn:microsoft.com/office/officeart/2008/layout/LinedList"/>
    <dgm:cxn modelId="{21228D8B-E747-4D48-9668-1CDAA0293481}" type="presParOf" srcId="{AC7E8695-9812-475C-B72D-1D4EB645E78D}" destId="{87255096-B603-4F11-9E87-1915EB025EAC}" srcOrd="5" destOrd="0" presId="urn:microsoft.com/office/officeart/2008/layout/LinedList"/>
    <dgm:cxn modelId="{C66E4F76-5E2D-4204-9807-1A0D90385A33}" type="presParOf" srcId="{87255096-B603-4F11-9E87-1915EB025EAC}" destId="{8B21A963-D196-4A42-B905-EEB8E952A3BE}" srcOrd="0" destOrd="0" presId="urn:microsoft.com/office/officeart/2008/layout/LinedList"/>
    <dgm:cxn modelId="{89540860-2963-485E-9772-B7EE76B5A804}" type="presParOf" srcId="{87255096-B603-4F11-9E87-1915EB025EAC}" destId="{A1485BFB-32F7-40A2-B81A-A36F6764AF8E}" srcOrd="1" destOrd="0" presId="urn:microsoft.com/office/officeart/2008/layout/LinedList"/>
    <dgm:cxn modelId="{31E618DA-9AA5-4DDB-86E1-99401BBB6B4A}" type="presParOf" srcId="{AC7E8695-9812-475C-B72D-1D4EB645E78D}" destId="{2054F95E-C604-4E80-9913-56EBD2D01D55}" srcOrd="6" destOrd="0" presId="urn:microsoft.com/office/officeart/2008/layout/LinedList"/>
    <dgm:cxn modelId="{DCE6E4BF-EDB4-4DB2-971D-4FED0FFABADB}" type="presParOf" srcId="{AC7E8695-9812-475C-B72D-1D4EB645E78D}" destId="{F8BF9040-0EC3-41C2-9D39-F50372A8CF61}" srcOrd="7" destOrd="0" presId="urn:microsoft.com/office/officeart/2008/layout/LinedList"/>
    <dgm:cxn modelId="{D4C17030-72F3-4933-B0F6-F04F70D7E3D9}" type="presParOf" srcId="{F8BF9040-0EC3-41C2-9D39-F50372A8CF61}" destId="{3B0EB88A-1DA1-4C5F-849F-C35F34904094}" srcOrd="0" destOrd="0" presId="urn:microsoft.com/office/officeart/2008/layout/LinedList"/>
    <dgm:cxn modelId="{FA8EB9AE-E019-4999-8FBF-7F0508EAFC20}" type="presParOf" srcId="{F8BF9040-0EC3-41C2-9D39-F50372A8CF61}" destId="{790C9857-4093-4185-A234-43A271B3D48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AF39D9D-4EB9-4309-8064-D982B151E296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AE05552F-311D-4070-A35F-0EDA3D69B130}">
      <dgm:prSet/>
      <dgm:spPr/>
      <dgm:t>
        <a:bodyPr/>
        <a:lstStyle/>
        <a:p>
          <a:r>
            <a:rPr lang="en-US"/>
            <a:t>Engagement et communication efficaces avec les parties prenantes.</a:t>
          </a:r>
        </a:p>
      </dgm:t>
    </dgm:pt>
    <dgm:pt modelId="{C1C97F66-1B70-4D0F-89B4-55E284B2BA95}" type="parTrans" cxnId="{28533D56-0C06-49AF-8C9D-6EC4BBD6A811}">
      <dgm:prSet/>
      <dgm:spPr/>
      <dgm:t>
        <a:bodyPr/>
        <a:lstStyle/>
        <a:p>
          <a:endParaRPr lang="en-US"/>
        </a:p>
      </dgm:t>
    </dgm:pt>
    <dgm:pt modelId="{B07FC797-E2BC-4A25-A224-2AC3B7CE5082}" type="sibTrans" cxnId="{28533D56-0C06-49AF-8C9D-6EC4BBD6A811}">
      <dgm:prSet/>
      <dgm:spPr/>
      <dgm:t>
        <a:bodyPr/>
        <a:lstStyle/>
        <a:p>
          <a:endParaRPr lang="en-US"/>
        </a:p>
      </dgm:t>
    </dgm:pt>
    <dgm:pt modelId="{CF4BF576-41CD-46CB-8AA3-D6D9CE9457C7}">
      <dgm:prSet/>
      <dgm:spPr/>
      <dgm:t>
        <a:bodyPr/>
        <a:lstStyle/>
        <a:p>
          <a:r>
            <a:rPr lang="en-US"/>
            <a:t>Cadre juridique et institutionnel solide.</a:t>
          </a:r>
        </a:p>
      </dgm:t>
    </dgm:pt>
    <dgm:pt modelId="{F5975BA2-3FF4-4043-BA74-8812584DC856}" type="parTrans" cxnId="{D43D8C54-6DD0-4D94-B294-186508FE944C}">
      <dgm:prSet/>
      <dgm:spPr/>
      <dgm:t>
        <a:bodyPr/>
        <a:lstStyle/>
        <a:p>
          <a:endParaRPr lang="en-US"/>
        </a:p>
      </dgm:t>
    </dgm:pt>
    <dgm:pt modelId="{27F518A4-D723-4110-BA16-5019D810EFB6}" type="sibTrans" cxnId="{D43D8C54-6DD0-4D94-B294-186508FE944C}">
      <dgm:prSet/>
      <dgm:spPr/>
      <dgm:t>
        <a:bodyPr/>
        <a:lstStyle/>
        <a:p>
          <a:endParaRPr lang="en-US"/>
        </a:p>
      </dgm:t>
    </dgm:pt>
    <dgm:pt modelId="{4BCB6305-C371-4148-882F-D662D7357894}">
      <dgm:prSet/>
      <dgm:spPr/>
      <dgm:t>
        <a:bodyPr/>
        <a:lstStyle/>
        <a:p>
          <a:r>
            <a:rPr lang="en-US"/>
            <a:t>Coordination renforcée et séparation claire des rôles.</a:t>
          </a:r>
        </a:p>
      </dgm:t>
    </dgm:pt>
    <dgm:pt modelId="{688E7A6A-F7B7-4725-BB41-E684A65E1228}" type="parTrans" cxnId="{3D2B534D-FF23-40B9-90DE-82997DC49A01}">
      <dgm:prSet/>
      <dgm:spPr/>
      <dgm:t>
        <a:bodyPr/>
        <a:lstStyle/>
        <a:p>
          <a:endParaRPr lang="en-US"/>
        </a:p>
      </dgm:t>
    </dgm:pt>
    <dgm:pt modelId="{D1DB3623-1BCE-4C11-B77D-E8C12A058F65}" type="sibTrans" cxnId="{3D2B534D-FF23-40B9-90DE-82997DC49A01}">
      <dgm:prSet/>
      <dgm:spPr/>
      <dgm:t>
        <a:bodyPr/>
        <a:lstStyle/>
        <a:p>
          <a:endParaRPr lang="en-US"/>
        </a:p>
      </dgm:t>
    </dgm:pt>
    <dgm:pt modelId="{CA782377-3B40-485D-8082-CD46BF492CD4}">
      <dgm:prSet/>
      <dgm:spPr/>
      <dgm:t>
        <a:bodyPr/>
        <a:lstStyle/>
        <a:p>
          <a:r>
            <a:rPr lang="en-US"/>
            <a:t>Limites fixées pour éviter l’exploitation abusive des fonds d’entretien.</a:t>
          </a:r>
        </a:p>
      </dgm:t>
    </dgm:pt>
    <dgm:pt modelId="{B7BCA08D-2B2E-4581-8B05-7EBA3E36467A}" type="parTrans" cxnId="{9A50A509-273E-4BEC-8646-35629ADF6A42}">
      <dgm:prSet/>
      <dgm:spPr/>
      <dgm:t>
        <a:bodyPr/>
        <a:lstStyle/>
        <a:p>
          <a:endParaRPr lang="en-US"/>
        </a:p>
      </dgm:t>
    </dgm:pt>
    <dgm:pt modelId="{C06CE0C3-13D2-4D3E-962C-5EFFCC9DDB39}" type="sibTrans" cxnId="{9A50A509-273E-4BEC-8646-35629ADF6A42}">
      <dgm:prSet/>
      <dgm:spPr/>
      <dgm:t>
        <a:bodyPr/>
        <a:lstStyle/>
        <a:p>
          <a:endParaRPr lang="en-US"/>
        </a:p>
      </dgm:t>
    </dgm:pt>
    <dgm:pt modelId="{0BB74BBF-9568-44FE-8771-0B7915404D9B}" type="pres">
      <dgm:prSet presAssocID="{8AF39D9D-4EB9-4309-8064-D982B151E296}" presName="vert0" presStyleCnt="0">
        <dgm:presLayoutVars>
          <dgm:dir/>
          <dgm:animOne val="branch"/>
          <dgm:animLvl val="lvl"/>
        </dgm:presLayoutVars>
      </dgm:prSet>
      <dgm:spPr/>
    </dgm:pt>
    <dgm:pt modelId="{CFAFB199-D397-4F8B-B205-5ECBB5F2A575}" type="pres">
      <dgm:prSet presAssocID="{AE05552F-311D-4070-A35F-0EDA3D69B130}" presName="thickLine" presStyleLbl="alignNode1" presStyleIdx="0" presStyleCnt="4"/>
      <dgm:spPr/>
    </dgm:pt>
    <dgm:pt modelId="{6CE5A71C-12A4-4333-8D6A-66C6C05611A0}" type="pres">
      <dgm:prSet presAssocID="{AE05552F-311D-4070-A35F-0EDA3D69B130}" presName="horz1" presStyleCnt="0"/>
      <dgm:spPr/>
    </dgm:pt>
    <dgm:pt modelId="{7E22C8E9-0E42-43BA-8345-93874D200456}" type="pres">
      <dgm:prSet presAssocID="{AE05552F-311D-4070-A35F-0EDA3D69B130}" presName="tx1" presStyleLbl="revTx" presStyleIdx="0" presStyleCnt="4"/>
      <dgm:spPr/>
    </dgm:pt>
    <dgm:pt modelId="{EFD3D3B6-9CD9-4BA9-9786-24A68544575F}" type="pres">
      <dgm:prSet presAssocID="{AE05552F-311D-4070-A35F-0EDA3D69B130}" presName="vert1" presStyleCnt="0"/>
      <dgm:spPr/>
    </dgm:pt>
    <dgm:pt modelId="{476307B7-11CB-4DF7-BF7A-415E5F001393}" type="pres">
      <dgm:prSet presAssocID="{CF4BF576-41CD-46CB-8AA3-D6D9CE9457C7}" presName="thickLine" presStyleLbl="alignNode1" presStyleIdx="1" presStyleCnt="4"/>
      <dgm:spPr/>
    </dgm:pt>
    <dgm:pt modelId="{39AD106D-1BA0-485D-A4CA-633406866316}" type="pres">
      <dgm:prSet presAssocID="{CF4BF576-41CD-46CB-8AA3-D6D9CE9457C7}" presName="horz1" presStyleCnt="0"/>
      <dgm:spPr/>
    </dgm:pt>
    <dgm:pt modelId="{3D6379D5-E5E8-452D-B827-AE46D029F913}" type="pres">
      <dgm:prSet presAssocID="{CF4BF576-41CD-46CB-8AA3-D6D9CE9457C7}" presName="tx1" presStyleLbl="revTx" presStyleIdx="1" presStyleCnt="4"/>
      <dgm:spPr/>
    </dgm:pt>
    <dgm:pt modelId="{BB05F954-1C7B-4520-A41B-D383ED695CFE}" type="pres">
      <dgm:prSet presAssocID="{CF4BF576-41CD-46CB-8AA3-D6D9CE9457C7}" presName="vert1" presStyleCnt="0"/>
      <dgm:spPr/>
    </dgm:pt>
    <dgm:pt modelId="{63BFE852-9FB5-4E12-8401-2F6EB79A0160}" type="pres">
      <dgm:prSet presAssocID="{4BCB6305-C371-4148-882F-D662D7357894}" presName="thickLine" presStyleLbl="alignNode1" presStyleIdx="2" presStyleCnt="4"/>
      <dgm:spPr/>
    </dgm:pt>
    <dgm:pt modelId="{1BAFDBA9-835A-4E29-8169-FB65A1619C5A}" type="pres">
      <dgm:prSet presAssocID="{4BCB6305-C371-4148-882F-D662D7357894}" presName="horz1" presStyleCnt="0"/>
      <dgm:spPr/>
    </dgm:pt>
    <dgm:pt modelId="{96BCA6B7-4404-4D04-9B50-19611A901253}" type="pres">
      <dgm:prSet presAssocID="{4BCB6305-C371-4148-882F-D662D7357894}" presName="tx1" presStyleLbl="revTx" presStyleIdx="2" presStyleCnt="4"/>
      <dgm:spPr/>
    </dgm:pt>
    <dgm:pt modelId="{93741691-63FF-4F13-8FDD-25B4E2A0FED1}" type="pres">
      <dgm:prSet presAssocID="{4BCB6305-C371-4148-882F-D662D7357894}" presName="vert1" presStyleCnt="0"/>
      <dgm:spPr/>
    </dgm:pt>
    <dgm:pt modelId="{D66CA2F8-7ABB-47EF-9081-B355E4602A8E}" type="pres">
      <dgm:prSet presAssocID="{CA782377-3B40-485D-8082-CD46BF492CD4}" presName="thickLine" presStyleLbl="alignNode1" presStyleIdx="3" presStyleCnt="4"/>
      <dgm:spPr/>
    </dgm:pt>
    <dgm:pt modelId="{FB12C8E2-6F36-4383-A69F-FA0A4178734C}" type="pres">
      <dgm:prSet presAssocID="{CA782377-3B40-485D-8082-CD46BF492CD4}" presName="horz1" presStyleCnt="0"/>
      <dgm:spPr/>
    </dgm:pt>
    <dgm:pt modelId="{C7344980-FBB2-48A2-BFD5-AF55EACF5698}" type="pres">
      <dgm:prSet presAssocID="{CA782377-3B40-485D-8082-CD46BF492CD4}" presName="tx1" presStyleLbl="revTx" presStyleIdx="3" presStyleCnt="4"/>
      <dgm:spPr/>
    </dgm:pt>
    <dgm:pt modelId="{A694AB31-CE30-43A5-9C49-E135EA9DB84B}" type="pres">
      <dgm:prSet presAssocID="{CA782377-3B40-485D-8082-CD46BF492CD4}" presName="vert1" presStyleCnt="0"/>
      <dgm:spPr/>
    </dgm:pt>
  </dgm:ptLst>
  <dgm:cxnLst>
    <dgm:cxn modelId="{9A50A509-273E-4BEC-8646-35629ADF6A42}" srcId="{8AF39D9D-4EB9-4309-8064-D982B151E296}" destId="{CA782377-3B40-485D-8082-CD46BF492CD4}" srcOrd="3" destOrd="0" parTransId="{B7BCA08D-2B2E-4581-8B05-7EBA3E36467A}" sibTransId="{C06CE0C3-13D2-4D3E-962C-5EFFCC9DDB39}"/>
    <dgm:cxn modelId="{8D200E32-084F-4ACF-9E45-7FB50C142CFE}" type="presOf" srcId="{CF4BF576-41CD-46CB-8AA3-D6D9CE9457C7}" destId="{3D6379D5-E5E8-452D-B827-AE46D029F913}" srcOrd="0" destOrd="0" presId="urn:microsoft.com/office/officeart/2008/layout/LinedList"/>
    <dgm:cxn modelId="{3D2B534D-FF23-40B9-90DE-82997DC49A01}" srcId="{8AF39D9D-4EB9-4309-8064-D982B151E296}" destId="{4BCB6305-C371-4148-882F-D662D7357894}" srcOrd="2" destOrd="0" parTransId="{688E7A6A-F7B7-4725-BB41-E684A65E1228}" sibTransId="{D1DB3623-1BCE-4C11-B77D-E8C12A058F65}"/>
    <dgm:cxn modelId="{6A6CAA53-247A-4C93-9E46-F306B0C066B7}" type="presOf" srcId="{8AF39D9D-4EB9-4309-8064-D982B151E296}" destId="{0BB74BBF-9568-44FE-8771-0B7915404D9B}" srcOrd="0" destOrd="0" presId="urn:microsoft.com/office/officeart/2008/layout/LinedList"/>
    <dgm:cxn modelId="{D43D8C54-6DD0-4D94-B294-186508FE944C}" srcId="{8AF39D9D-4EB9-4309-8064-D982B151E296}" destId="{CF4BF576-41CD-46CB-8AA3-D6D9CE9457C7}" srcOrd="1" destOrd="0" parTransId="{F5975BA2-3FF4-4043-BA74-8812584DC856}" sibTransId="{27F518A4-D723-4110-BA16-5019D810EFB6}"/>
    <dgm:cxn modelId="{28533D56-0C06-49AF-8C9D-6EC4BBD6A811}" srcId="{8AF39D9D-4EB9-4309-8064-D982B151E296}" destId="{AE05552F-311D-4070-A35F-0EDA3D69B130}" srcOrd="0" destOrd="0" parTransId="{C1C97F66-1B70-4D0F-89B4-55E284B2BA95}" sibTransId="{B07FC797-E2BC-4A25-A224-2AC3B7CE5082}"/>
    <dgm:cxn modelId="{490F9D8E-D56E-4FF6-8633-94B23C94F244}" type="presOf" srcId="{AE05552F-311D-4070-A35F-0EDA3D69B130}" destId="{7E22C8E9-0E42-43BA-8345-93874D200456}" srcOrd="0" destOrd="0" presId="urn:microsoft.com/office/officeart/2008/layout/LinedList"/>
    <dgm:cxn modelId="{F216C1F2-8E94-400D-93FD-584306611271}" type="presOf" srcId="{CA782377-3B40-485D-8082-CD46BF492CD4}" destId="{C7344980-FBB2-48A2-BFD5-AF55EACF5698}" srcOrd="0" destOrd="0" presId="urn:microsoft.com/office/officeart/2008/layout/LinedList"/>
    <dgm:cxn modelId="{0172F8FA-D925-49EB-95BF-0BA0C54DE6B4}" type="presOf" srcId="{4BCB6305-C371-4148-882F-D662D7357894}" destId="{96BCA6B7-4404-4D04-9B50-19611A901253}" srcOrd="0" destOrd="0" presId="urn:microsoft.com/office/officeart/2008/layout/LinedList"/>
    <dgm:cxn modelId="{98A7EA6D-A7A5-4B97-8264-AE6DC63D87AF}" type="presParOf" srcId="{0BB74BBF-9568-44FE-8771-0B7915404D9B}" destId="{CFAFB199-D397-4F8B-B205-5ECBB5F2A575}" srcOrd="0" destOrd="0" presId="urn:microsoft.com/office/officeart/2008/layout/LinedList"/>
    <dgm:cxn modelId="{0FA88E8B-B206-4272-A414-82904CF476DA}" type="presParOf" srcId="{0BB74BBF-9568-44FE-8771-0B7915404D9B}" destId="{6CE5A71C-12A4-4333-8D6A-66C6C05611A0}" srcOrd="1" destOrd="0" presId="urn:microsoft.com/office/officeart/2008/layout/LinedList"/>
    <dgm:cxn modelId="{F093967A-B808-4DBE-BDCC-A15EE8203FBD}" type="presParOf" srcId="{6CE5A71C-12A4-4333-8D6A-66C6C05611A0}" destId="{7E22C8E9-0E42-43BA-8345-93874D200456}" srcOrd="0" destOrd="0" presId="urn:microsoft.com/office/officeart/2008/layout/LinedList"/>
    <dgm:cxn modelId="{DACF7CFA-611D-4E18-AFE9-AEE14FBA8587}" type="presParOf" srcId="{6CE5A71C-12A4-4333-8D6A-66C6C05611A0}" destId="{EFD3D3B6-9CD9-4BA9-9786-24A68544575F}" srcOrd="1" destOrd="0" presId="urn:microsoft.com/office/officeart/2008/layout/LinedList"/>
    <dgm:cxn modelId="{C577DB04-0031-4974-950C-57ABF4991687}" type="presParOf" srcId="{0BB74BBF-9568-44FE-8771-0B7915404D9B}" destId="{476307B7-11CB-4DF7-BF7A-415E5F001393}" srcOrd="2" destOrd="0" presId="urn:microsoft.com/office/officeart/2008/layout/LinedList"/>
    <dgm:cxn modelId="{D2930DF6-5D34-4AB5-BB38-614A157F6E54}" type="presParOf" srcId="{0BB74BBF-9568-44FE-8771-0B7915404D9B}" destId="{39AD106D-1BA0-485D-A4CA-633406866316}" srcOrd="3" destOrd="0" presId="urn:microsoft.com/office/officeart/2008/layout/LinedList"/>
    <dgm:cxn modelId="{764AAF85-F168-40AC-B9F1-F258BD2DD343}" type="presParOf" srcId="{39AD106D-1BA0-485D-A4CA-633406866316}" destId="{3D6379D5-E5E8-452D-B827-AE46D029F913}" srcOrd="0" destOrd="0" presId="urn:microsoft.com/office/officeart/2008/layout/LinedList"/>
    <dgm:cxn modelId="{ED59841B-0585-4043-9CC7-73EDC5B081C1}" type="presParOf" srcId="{39AD106D-1BA0-485D-A4CA-633406866316}" destId="{BB05F954-1C7B-4520-A41B-D383ED695CFE}" srcOrd="1" destOrd="0" presId="urn:microsoft.com/office/officeart/2008/layout/LinedList"/>
    <dgm:cxn modelId="{48FF5615-ABA9-4E47-8819-8FD7B43D3E47}" type="presParOf" srcId="{0BB74BBF-9568-44FE-8771-0B7915404D9B}" destId="{63BFE852-9FB5-4E12-8401-2F6EB79A0160}" srcOrd="4" destOrd="0" presId="urn:microsoft.com/office/officeart/2008/layout/LinedList"/>
    <dgm:cxn modelId="{8F5A9990-8FB8-4CBE-B6F9-CCF1A8C2BBE4}" type="presParOf" srcId="{0BB74BBF-9568-44FE-8771-0B7915404D9B}" destId="{1BAFDBA9-835A-4E29-8169-FB65A1619C5A}" srcOrd="5" destOrd="0" presId="urn:microsoft.com/office/officeart/2008/layout/LinedList"/>
    <dgm:cxn modelId="{55042EF3-6525-4DE7-BFEA-B6DD45EA3665}" type="presParOf" srcId="{1BAFDBA9-835A-4E29-8169-FB65A1619C5A}" destId="{96BCA6B7-4404-4D04-9B50-19611A901253}" srcOrd="0" destOrd="0" presId="urn:microsoft.com/office/officeart/2008/layout/LinedList"/>
    <dgm:cxn modelId="{9FAFBF10-0653-4B14-BCB2-1678E3AEB7ED}" type="presParOf" srcId="{1BAFDBA9-835A-4E29-8169-FB65A1619C5A}" destId="{93741691-63FF-4F13-8FDD-25B4E2A0FED1}" srcOrd="1" destOrd="0" presId="urn:microsoft.com/office/officeart/2008/layout/LinedList"/>
    <dgm:cxn modelId="{5AF41043-4082-4245-92E8-87FEB054D60A}" type="presParOf" srcId="{0BB74BBF-9568-44FE-8771-0B7915404D9B}" destId="{D66CA2F8-7ABB-47EF-9081-B355E4602A8E}" srcOrd="6" destOrd="0" presId="urn:microsoft.com/office/officeart/2008/layout/LinedList"/>
    <dgm:cxn modelId="{58104936-0835-4954-B1C1-E07A83D1BAC3}" type="presParOf" srcId="{0BB74BBF-9568-44FE-8771-0B7915404D9B}" destId="{FB12C8E2-6F36-4383-A69F-FA0A4178734C}" srcOrd="7" destOrd="0" presId="urn:microsoft.com/office/officeart/2008/layout/LinedList"/>
    <dgm:cxn modelId="{20822928-979C-4DF4-80E4-EB3418554BAF}" type="presParOf" srcId="{FB12C8E2-6F36-4383-A69F-FA0A4178734C}" destId="{C7344980-FBB2-48A2-BFD5-AF55EACF5698}" srcOrd="0" destOrd="0" presId="urn:microsoft.com/office/officeart/2008/layout/LinedList"/>
    <dgm:cxn modelId="{F70E1B33-A712-4391-A830-816197814E76}" type="presParOf" srcId="{FB12C8E2-6F36-4383-A69F-FA0A4178734C}" destId="{A694AB31-CE30-43A5-9C49-E135EA9DB84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F35D569-1019-4E18-A1CF-A5EAE51E8E8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B1B9A89-6BB2-4E31-B585-750B5715D9D1}">
      <dgm:prSet/>
      <dgm:spPr/>
      <dgm:t>
        <a:bodyPr/>
        <a:lstStyle/>
        <a:p>
          <a:r>
            <a:rPr lang="en-US"/>
            <a:t>Consolider la gouvernance pour renforcer la résilience des Fonds Routiers.</a:t>
          </a:r>
        </a:p>
      </dgm:t>
    </dgm:pt>
    <dgm:pt modelId="{A6DB9032-3B8E-467B-ACA1-3382048A9AE2}" type="parTrans" cxnId="{62C2649B-6D52-4D44-9D00-CBA5E838A52E}">
      <dgm:prSet/>
      <dgm:spPr/>
      <dgm:t>
        <a:bodyPr/>
        <a:lstStyle/>
        <a:p>
          <a:endParaRPr lang="en-US"/>
        </a:p>
      </dgm:t>
    </dgm:pt>
    <dgm:pt modelId="{9B451C43-50E6-41EC-AC7A-A5DE55F4B26B}" type="sibTrans" cxnId="{62C2649B-6D52-4D44-9D00-CBA5E838A52E}">
      <dgm:prSet/>
      <dgm:spPr/>
      <dgm:t>
        <a:bodyPr/>
        <a:lstStyle/>
        <a:p>
          <a:endParaRPr lang="en-US"/>
        </a:p>
      </dgm:t>
    </dgm:pt>
    <dgm:pt modelId="{8380C2A8-6D90-4AC4-958C-4CF8ACEADD9E}">
      <dgm:prSet/>
      <dgm:spPr/>
      <dgm:t>
        <a:bodyPr/>
        <a:lstStyle/>
        <a:p>
          <a:r>
            <a:rPr lang="en-US"/>
            <a:t>Renforcer la transparence et la publication régulière des rapports.</a:t>
          </a:r>
        </a:p>
      </dgm:t>
    </dgm:pt>
    <dgm:pt modelId="{4A60E610-26FC-4A01-9522-585C4143EE72}" type="parTrans" cxnId="{83E7F1F1-2CD3-4BDD-9EF3-E407D8AD6BB1}">
      <dgm:prSet/>
      <dgm:spPr/>
      <dgm:t>
        <a:bodyPr/>
        <a:lstStyle/>
        <a:p>
          <a:endParaRPr lang="en-US"/>
        </a:p>
      </dgm:t>
    </dgm:pt>
    <dgm:pt modelId="{524EBF60-D622-45BA-9FD1-B00815AECB7B}" type="sibTrans" cxnId="{83E7F1F1-2CD3-4BDD-9EF3-E407D8AD6BB1}">
      <dgm:prSet/>
      <dgm:spPr/>
      <dgm:t>
        <a:bodyPr/>
        <a:lstStyle/>
        <a:p>
          <a:endParaRPr lang="en-US"/>
        </a:p>
      </dgm:t>
    </dgm:pt>
    <dgm:pt modelId="{0E5B0740-87EE-4FB1-83D8-5B53A08FDD7A}">
      <dgm:prSet/>
      <dgm:spPr/>
      <dgm:t>
        <a:bodyPr/>
        <a:lstStyle/>
        <a:p>
          <a:r>
            <a:rPr lang="en-US"/>
            <a:t>Diversifier les sources de financement.</a:t>
          </a:r>
        </a:p>
      </dgm:t>
    </dgm:pt>
    <dgm:pt modelId="{074636B4-21CC-4433-9B29-E24E888A3C7F}" type="parTrans" cxnId="{79E2A6DA-7E37-40E2-9216-567A7F12D00E}">
      <dgm:prSet/>
      <dgm:spPr/>
      <dgm:t>
        <a:bodyPr/>
        <a:lstStyle/>
        <a:p>
          <a:endParaRPr lang="en-US"/>
        </a:p>
      </dgm:t>
    </dgm:pt>
    <dgm:pt modelId="{FE62D534-3788-423F-AE77-AD1C39A17580}" type="sibTrans" cxnId="{79E2A6DA-7E37-40E2-9216-567A7F12D00E}">
      <dgm:prSet/>
      <dgm:spPr/>
      <dgm:t>
        <a:bodyPr/>
        <a:lstStyle/>
        <a:p>
          <a:endParaRPr lang="en-US"/>
        </a:p>
      </dgm:t>
    </dgm:pt>
    <dgm:pt modelId="{583484FA-8A4A-4746-8505-A0F2B4E54F0B}">
      <dgm:prSet/>
      <dgm:spPr/>
      <dgm:t>
        <a:bodyPr/>
        <a:lstStyle/>
        <a:p>
          <a:r>
            <a:rPr lang="en-US"/>
            <a:t>Promouvoir la parité et l’inclusion du secteur privé.</a:t>
          </a:r>
        </a:p>
      </dgm:t>
    </dgm:pt>
    <dgm:pt modelId="{C5A7C970-7577-4C08-B58B-C7B1280365B9}" type="parTrans" cxnId="{FB039594-E68F-4BAB-A45A-48A959444681}">
      <dgm:prSet/>
      <dgm:spPr/>
      <dgm:t>
        <a:bodyPr/>
        <a:lstStyle/>
        <a:p>
          <a:endParaRPr lang="en-US"/>
        </a:p>
      </dgm:t>
    </dgm:pt>
    <dgm:pt modelId="{8690966C-DC44-447A-BD94-1EACC1E927B0}" type="sibTrans" cxnId="{FB039594-E68F-4BAB-A45A-48A959444681}">
      <dgm:prSet/>
      <dgm:spPr/>
      <dgm:t>
        <a:bodyPr/>
        <a:lstStyle/>
        <a:p>
          <a:endParaRPr lang="en-US"/>
        </a:p>
      </dgm:t>
    </dgm:pt>
    <dgm:pt modelId="{B4349399-B77F-447B-BF78-D07C8FDFDC65}" type="pres">
      <dgm:prSet presAssocID="{4F35D569-1019-4E18-A1CF-A5EAE51E8E8B}" presName="linear" presStyleCnt="0">
        <dgm:presLayoutVars>
          <dgm:animLvl val="lvl"/>
          <dgm:resizeHandles val="exact"/>
        </dgm:presLayoutVars>
      </dgm:prSet>
      <dgm:spPr/>
    </dgm:pt>
    <dgm:pt modelId="{569E5FC1-76B4-4D9D-8E83-921A85B337BF}" type="pres">
      <dgm:prSet presAssocID="{3B1B9A89-6BB2-4E31-B585-750B5715D9D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C6B66DA-7675-45B6-96FC-14CB85961BDD}" type="pres">
      <dgm:prSet presAssocID="{9B451C43-50E6-41EC-AC7A-A5DE55F4B26B}" presName="spacer" presStyleCnt="0"/>
      <dgm:spPr/>
    </dgm:pt>
    <dgm:pt modelId="{FF9764E5-D7F4-4148-9508-0A6EB0937C62}" type="pres">
      <dgm:prSet presAssocID="{8380C2A8-6D90-4AC4-958C-4CF8ACEADD9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3ACCE00-E693-47D3-9C82-4E6D5C3E726D}" type="pres">
      <dgm:prSet presAssocID="{524EBF60-D622-45BA-9FD1-B00815AECB7B}" presName="spacer" presStyleCnt="0"/>
      <dgm:spPr/>
    </dgm:pt>
    <dgm:pt modelId="{5BF1CB30-D819-4DE0-9FB0-12C1394E7DC9}" type="pres">
      <dgm:prSet presAssocID="{0E5B0740-87EE-4FB1-83D8-5B53A08FDD7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D7DC3B4-C2AD-49ED-AE99-4684CE67972C}" type="pres">
      <dgm:prSet presAssocID="{FE62D534-3788-423F-AE77-AD1C39A17580}" presName="spacer" presStyleCnt="0"/>
      <dgm:spPr/>
    </dgm:pt>
    <dgm:pt modelId="{69258A1F-1724-41F8-9BA0-3DC77DF34CCC}" type="pres">
      <dgm:prSet presAssocID="{583484FA-8A4A-4746-8505-A0F2B4E54F0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99B3506-FC79-4B0A-AD92-3A92C1662D3F}" type="presOf" srcId="{583484FA-8A4A-4746-8505-A0F2B4E54F0B}" destId="{69258A1F-1724-41F8-9BA0-3DC77DF34CCC}" srcOrd="0" destOrd="0" presId="urn:microsoft.com/office/officeart/2005/8/layout/vList2"/>
    <dgm:cxn modelId="{BFCDBA3E-805D-48F9-B521-71F50716D4B4}" type="presOf" srcId="{8380C2A8-6D90-4AC4-958C-4CF8ACEADD9E}" destId="{FF9764E5-D7F4-4148-9508-0A6EB0937C62}" srcOrd="0" destOrd="0" presId="urn:microsoft.com/office/officeart/2005/8/layout/vList2"/>
    <dgm:cxn modelId="{0457DD4D-5E31-47F5-80C5-DD98B730C3B3}" type="presOf" srcId="{3B1B9A89-6BB2-4E31-B585-750B5715D9D1}" destId="{569E5FC1-76B4-4D9D-8E83-921A85B337BF}" srcOrd="0" destOrd="0" presId="urn:microsoft.com/office/officeart/2005/8/layout/vList2"/>
    <dgm:cxn modelId="{51A4068A-429F-4284-8C84-2EB252CD0EF1}" type="presOf" srcId="{4F35D569-1019-4E18-A1CF-A5EAE51E8E8B}" destId="{B4349399-B77F-447B-BF78-D07C8FDFDC65}" srcOrd="0" destOrd="0" presId="urn:microsoft.com/office/officeart/2005/8/layout/vList2"/>
    <dgm:cxn modelId="{FB039594-E68F-4BAB-A45A-48A959444681}" srcId="{4F35D569-1019-4E18-A1CF-A5EAE51E8E8B}" destId="{583484FA-8A4A-4746-8505-A0F2B4E54F0B}" srcOrd="3" destOrd="0" parTransId="{C5A7C970-7577-4C08-B58B-C7B1280365B9}" sibTransId="{8690966C-DC44-447A-BD94-1EACC1E927B0}"/>
    <dgm:cxn modelId="{62C2649B-6D52-4D44-9D00-CBA5E838A52E}" srcId="{4F35D569-1019-4E18-A1CF-A5EAE51E8E8B}" destId="{3B1B9A89-6BB2-4E31-B585-750B5715D9D1}" srcOrd="0" destOrd="0" parTransId="{A6DB9032-3B8E-467B-ACA1-3382048A9AE2}" sibTransId="{9B451C43-50E6-41EC-AC7A-A5DE55F4B26B}"/>
    <dgm:cxn modelId="{980F74B8-FD71-456A-8678-674EC0905A80}" type="presOf" srcId="{0E5B0740-87EE-4FB1-83D8-5B53A08FDD7A}" destId="{5BF1CB30-D819-4DE0-9FB0-12C1394E7DC9}" srcOrd="0" destOrd="0" presId="urn:microsoft.com/office/officeart/2005/8/layout/vList2"/>
    <dgm:cxn modelId="{79E2A6DA-7E37-40E2-9216-567A7F12D00E}" srcId="{4F35D569-1019-4E18-A1CF-A5EAE51E8E8B}" destId="{0E5B0740-87EE-4FB1-83D8-5B53A08FDD7A}" srcOrd="2" destOrd="0" parTransId="{074636B4-21CC-4433-9B29-E24E888A3C7F}" sibTransId="{FE62D534-3788-423F-AE77-AD1C39A17580}"/>
    <dgm:cxn modelId="{83E7F1F1-2CD3-4BDD-9EF3-E407D8AD6BB1}" srcId="{4F35D569-1019-4E18-A1CF-A5EAE51E8E8B}" destId="{8380C2A8-6D90-4AC4-958C-4CF8ACEADD9E}" srcOrd="1" destOrd="0" parTransId="{4A60E610-26FC-4A01-9522-585C4143EE72}" sibTransId="{524EBF60-D622-45BA-9FD1-B00815AECB7B}"/>
    <dgm:cxn modelId="{D38D1379-E78C-46D0-AD2C-2B0E6C41F376}" type="presParOf" srcId="{B4349399-B77F-447B-BF78-D07C8FDFDC65}" destId="{569E5FC1-76B4-4D9D-8E83-921A85B337BF}" srcOrd="0" destOrd="0" presId="urn:microsoft.com/office/officeart/2005/8/layout/vList2"/>
    <dgm:cxn modelId="{8FE94F8C-4705-453D-95F9-8DE9B2445EA4}" type="presParOf" srcId="{B4349399-B77F-447B-BF78-D07C8FDFDC65}" destId="{3C6B66DA-7675-45B6-96FC-14CB85961BDD}" srcOrd="1" destOrd="0" presId="urn:microsoft.com/office/officeart/2005/8/layout/vList2"/>
    <dgm:cxn modelId="{E0318BB8-F136-4FBE-9A64-E2A901E43240}" type="presParOf" srcId="{B4349399-B77F-447B-BF78-D07C8FDFDC65}" destId="{FF9764E5-D7F4-4148-9508-0A6EB0937C62}" srcOrd="2" destOrd="0" presId="urn:microsoft.com/office/officeart/2005/8/layout/vList2"/>
    <dgm:cxn modelId="{375CC76A-4AC2-4032-871C-F86864B82E0C}" type="presParOf" srcId="{B4349399-B77F-447B-BF78-D07C8FDFDC65}" destId="{83ACCE00-E693-47D3-9C82-4E6D5C3E726D}" srcOrd="3" destOrd="0" presId="urn:microsoft.com/office/officeart/2005/8/layout/vList2"/>
    <dgm:cxn modelId="{18791222-A39F-4129-AC6D-67083B94EF26}" type="presParOf" srcId="{B4349399-B77F-447B-BF78-D07C8FDFDC65}" destId="{5BF1CB30-D819-4DE0-9FB0-12C1394E7DC9}" srcOrd="4" destOrd="0" presId="urn:microsoft.com/office/officeart/2005/8/layout/vList2"/>
    <dgm:cxn modelId="{0BF89870-8EA5-468C-9644-022C1B8F9426}" type="presParOf" srcId="{B4349399-B77F-447B-BF78-D07C8FDFDC65}" destId="{0D7DC3B4-C2AD-49ED-AE99-4684CE67972C}" srcOrd="5" destOrd="0" presId="urn:microsoft.com/office/officeart/2005/8/layout/vList2"/>
    <dgm:cxn modelId="{6E063CC4-7E5D-4E96-8A0E-438EBC0C8279}" type="presParOf" srcId="{B4349399-B77F-447B-BF78-D07C8FDFDC65}" destId="{69258A1F-1724-41F8-9BA0-3DC77DF34CC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51BA59-B360-4ECE-A90D-1A2F10BEC892}">
      <dsp:nvSpPr>
        <dsp:cNvPr id="0" name=""/>
        <dsp:cNvSpPr/>
      </dsp:nvSpPr>
      <dsp:spPr>
        <a:xfrm>
          <a:off x="0" y="324229"/>
          <a:ext cx="5000124" cy="235521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Objectif : analyser la gouvernance des Fonds Routiers en Afrique (zones AFERA et hors AFERA).</a:t>
          </a:r>
        </a:p>
      </dsp:txBody>
      <dsp:txXfrm>
        <a:off x="114972" y="439201"/>
        <a:ext cx="4770180" cy="2125266"/>
      </dsp:txXfrm>
    </dsp:sp>
    <dsp:sp modelId="{510CDDAA-E5C5-4C2B-8995-70F55187BD75}">
      <dsp:nvSpPr>
        <dsp:cNvPr id="0" name=""/>
        <dsp:cNvSpPr/>
      </dsp:nvSpPr>
      <dsp:spPr>
        <a:xfrm>
          <a:off x="0" y="2774479"/>
          <a:ext cx="5000124" cy="235521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Méthodologie : enquête comparative sur plusieurs pays (Kenya, Sénégal, Niger, RCA, etc.).</a:t>
          </a:r>
        </a:p>
      </dsp:txBody>
      <dsp:txXfrm>
        <a:off x="114972" y="2889451"/>
        <a:ext cx="4770180" cy="21252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90AD7D-490C-47F3-BACD-4542307A6971}">
      <dsp:nvSpPr>
        <dsp:cNvPr id="0" name=""/>
        <dsp:cNvSpPr/>
      </dsp:nvSpPr>
      <dsp:spPr>
        <a:xfrm>
          <a:off x="0" y="673"/>
          <a:ext cx="4773168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A8D55F-1658-49EF-9D6F-BB0FA5258DD5}">
      <dsp:nvSpPr>
        <dsp:cNvPr id="0" name=""/>
        <dsp:cNvSpPr/>
      </dsp:nvSpPr>
      <dsp:spPr>
        <a:xfrm>
          <a:off x="476436" y="355047"/>
          <a:ext cx="866247" cy="8662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D7A00C-B870-41C7-BEDB-5E43E968CE09}">
      <dsp:nvSpPr>
        <dsp:cNvPr id="0" name=""/>
        <dsp:cNvSpPr/>
      </dsp:nvSpPr>
      <dsp:spPr>
        <a:xfrm>
          <a:off x="1819120" y="673"/>
          <a:ext cx="2954047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Lois spécifiques encadrant les Fonds Routiers.</a:t>
          </a:r>
        </a:p>
      </dsp:txBody>
      <dsp:txXfrm>
        <a:off x="1819120" y="673"/>
        <a:ext cx="2954047" cy="1574995"/>
      </dsp:txXfrm>
    </dsp:sp>
    <dsp:sp modelId="{11C44624-14BB-435A-8FAA-7E97516A23FB}">
      <dsp:nvSpPr>
        <dsp:cNvPr id="0" name=""/>
        <dsp:cNvSpPr/>
      </dsp:nvSpPr>
      <dsp:spPr>
        <a:xfrm>
          <a:off x="0" y="1969418"/>
          <a:ext cx="4773168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2939DE-7364-4D08-ABC7-6102E02F6630}">
      <dsp:nvSpPr>
        <dsp:cNvPr id="0" name=""/>
        <dsp:cNvSpPr/>
      </dsp:nvSpPr>
      <dsp:spPr>
        <a:xfrm>
          <a:off x="476436" y="2323792"/>
          <a:ext cx="866247" cy="8662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C54758-B11A-4F9F-9F47-C672F67C2419}">
      <dsp:nvSpPr>
        <dsp:cNvPr id="0" name=""/>
        <dsp:cNvSpPr/>
      </dsp:nvSpPr>
      <dsp:spPr>
        <a:xfrm>
          <a:off x="1819120" y="1969418"/>
          <a:ext cx="2954047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Plans stratégiques périodiques et réformes récentes.</a:t>
          </a:r>
        </a:p>
      </dsp:txBody>
      <dsp:txXfrm>
        <a:off x="1819120" y="1969418"/>
        <a:ext cx="2954047" cy="1574995"/>
      </dsp:txXfrm>
    </dsp:sp>
    <dsp:sp modelId="{95229706-82E1-4E1F-B5A7-19D1F504F49B}">
      <dsp:nvSpPr>
        <dsp:cNvPr id="0" name=""/>
        <dsp:cNvSpPr/>
      </dsp:nvSpPr>
      <dsp:spPr>
        <a:xfrm>
          <a:off x="0" y="3938162"/>
          <a:ext cx="4773168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F4572C-0421-4600-BE5C-45ABF13492E7}">
      <dsp:nvSpPr>
        <dsp:cNvPr id="0" name=""/>
        <dsp:cNvSpPr/>
      </dsp:nvSpPr>
      <dsp:spPr>
        <a:xfrm>
          <a:off x="476436" y="4292537"/>
          <a:ext cx="866247" cy="8662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33A31-F039-4266-8098-9DC169FF1F1E}">
      <dsp:nvSpPr>
        <dsp:cNvPr id="0" name=""/>
        <dsp:cNvSpPr/>
      </dsp:nvSpPr>
      <dsp:spPr>
        <a:xfrm>
          <a:off x="1819120" y="3938162"/>
          <a:ext cx="2954047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Exemple : Kenya Roads Board restructuré en 2022 avec 9 bureaux régionaux.</a:t>
          </a:r>
        </a:p>
      </dsp:txBody>
      <dsp:txXfrm>
        <a:off x="1819120" y="3938162"/>
        <a:ext cx="2954047" cy="15749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5468D0-F4EF-4B37-8350-B75BD8D27785}">
      <dsp:nvSpPr>
        <dsp:cNvPr id="0" name=""/>
        <dsp:cNvSpPr/>
      </dsp:nvSpPr>
      <dsp:spPr>
        <a:xfrm>
          <a:off x="0" y="25235"/>
          <a:ext cx="4773168" cy="17596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Décisions partagées entre Conseil des Fonds et Ministère de tutelle.</a:t>
          </a:r>
        </a:p>
      </dsp:txBody>
      <dsp:txXfrm>
        <a:off x="85900" y="111135"/>
        <a:ext cx="4601368" cy="1587880"/>
      </dsp:txXfrm>
    </dsp:sp>
    <dsp:sp modelId="{77B6404F-0A2A-4AD9-B9FC-7740BDD811D8}">
      <dsp:nvSpPr>
        <dsp:cNvPr id="0" name=""/>
        <dsp:cNvSpPr/>
      </dsp:nvSpPr>
      <dsp:spPr>
        <a:xfrm>
          <a:off x="0" y="1877076"/>
          <a:ext cx="4773168" cy="175968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Nomination des membres souvent longue et dépendante de la tutelle.</a:t>
          </a:r>
        </a:p>
      </dsp:txBody>
      <dsp:txXfrm>
        <a:off x="85900" y="1962976"/>
        <a:ext cx="4601368" cy="1587880"/>
      </dsp:txXfrm>
    </dsp:sp>
    <dsp:sp modelId="{ECBF62F7-404D-4F70-B361-368B080B2BE7}">
      <dsp:nvSpPr>
        <dsp:cNvPr id="0" name=""/>
        <dsp:cNvSpPr/>
      </dsp:nvSpPr>
      <dsp:spPr>
        <a:xfrm>
          <a:off x="0" y="3728916"/>
          <a:ext cx="4773168" cy="175968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Risque de déséquilibre entre secteurs public et privé.</a:t>
          </a:r>
        </a:p>
      </dsp:txBody>
      <dsp:txXfrm>
        <a:off x="85900" y="3814816"/>
        <a:ext cx="4601368" cy="15878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5F02DB-AC70-4D63-B4F4-B720BE570609}">
      <dsp:nvSpPr>
        <dsp:cNvPr id="0" name=""/>
        <dsp:cNvSpPr/>
      </dsp:nvSpPr>
      <dsp:spPr>
        <a:xfrm>
          <a:off x="0" y="137366"/>
          <a:ext cx="4988440" cy="170469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Conseils mixtes public/privé (Kenya 5/4, Sénégal 6/6, Niger 6/6, RCA 2/1).</a:t>
          </a:r>
        </a:p>
      </dsp:txBody>
      <dsp:txXfrm>
        <a:off x="83216" y="220582"/>
        <a:ext cx="4822008" cy="1538258"/>
      </dsp:txXfrm>
    </dsp:sp>
    <dsp:sp modelId="{355050EE-D899-4622-8C1E-508355DB3FF1}">
      <dsp:nvSpPr>
        <dsp:cNvPr id="0" name=""/>
        <dsp:cNvSpPr/>
      </dsp:nvSpPr>
      <dsp:spPr>
        <a:xfrm>
          <a:off x="0" y="1931336"/>
          <a:ext cx="4988440" cy="170469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Faible respect de la parité hommes-femmes malgré des lois favorables.</a:t>
          </a:r>
        </a:p>
      </dsp:txBody>
      <dsp:txXfrm>
        <a:off x="83216" y="2014552"/>
        <a:ext cx="4822008" cy="1538258"/>
      </dsp:txXfrm>
    </dsp:sp>
    <dsp:sp modelId="{C7878310-F9FC-464C-A7F2-14AB4730E91F}">
      <dsp:nvSpPr>
        <dsp:cNvPr id="0" name=""/>
        <dsp:cNvSpPr/>
      </dsp:nvSpPr>
      <dsp:spPr>
        <a:xfrm>
          <a:off x="0" y="3725307"/>
          <a:ext cx="4988440" cy="170469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Préjugés sociétaux freinant la participation des femmes.</a:t>
          </a:r>
        </a:p>
      </dsp:txBody>
      <dsp:txXfrm>
        <a:off x="83216" y="3808523"/>
        <a:ext cx="4822008" cy="153825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631D5E-A16E-49A0-A9DE-A23306668D85}">
      <dsp:nvSpPr>
        <dsp:cNvPr id="0" name=""/>
        <dsp:cNvSpPr/>
      </dsp:nvSpPr>
      <dsp:spPr>
        <a:xfrm>
          <a:off x="0" y="77551"/>
          <a:ext cx="5175384" cy="173415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Rapports annuels et audits indépendants réalisés.</a:t>
          </a:r>
        </a:p>
      </dsp:txBody>
      <dsp:txXfrm>
        <a:off x="84655" y="162206"/>
        <a:ext cx="5006074" cy="1564849"/>
      </dsp:txXfrm>
    </dsp:sp>
    <dsp:sp modelId="{1944CCD9-8612-4100-BCE6-ED98E97DDBCB}">
      <dsp:nvSpPr>
        <dsp:cNvPr id="0" name=""/>
        <dsp:cNvSpPr/>
      </dsp:nvSpPr>
      <dsp:spPr>
        <a:xfrm>
          <a:off x="0" y="1900990"/>
          <a:ext cx="5175384" cy="1734159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Manque de publication régulière sur les sites web.</a:t>
          </a:r>
        </a:p>
      </dsp:txBody>
      <dsp:txXfrm>
        <a:off x="84655" y="1985645"/>
        <a:ext cx="5006074" cy="1564849"/>
      </dsp:txXfrm>
    </dsp:sp>
    <dsp:sp modelId="{A2BDDD2E-1AC7-4C5B-9D92-BCEF1EA7D670}">
      <dsp:nvSpPr>
        <dsp:cNvPr id="0" name=""/>
        <dsp:cNvSpPr/>
      </dsp:nvSpPr>
      <dsp:spPr>
        <a:xfrm>
          <a:off x="0" y="3724430"/>
          <a:ext cx="5175384" cy="173415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Recettes et dépenses légalement rendues publiques.</a:t>
          </a:r>
        </a:p>
      </dsp:txBody>
      <dsp:txXfrm>
        <a:off x="84655" y="3809085"/>
        <a:ext cx="5006074" cy="156484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7185C6-89BA-4838-80D7-1FF795BEA8CB}">
      <dsp:nvSpPr>
        <dsp:cNvPr id="0" name=""/>
        <dsp:cNvSpPr/>
      </dsp:nvSpPr>
      <dsp:spPr>
        <a:xfrm>
          <a:off x="0" y="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5A33A1-B216-43E0-84EE-D0F5B51492C9}">
      <dsp:nvSpPr>
        <dsp:cNvPr id="0" name=""/>
        <dsp:cNvSpPr/>
      </dsp:nvSpPr>
      <dsp:spPr>
        <a:xfrm>
          <a:off x="0" y="0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Décalage entre priorités du Conseil et celles du Ministère.</a:t>
          </a:r>
        </a:p>
      </dsp:txBody>
      <dsp:txXfrm>
        <a:off x="0" y="0"/>
        <a:ext cx="5175384" cy="1384035"/>
      </dsp:txXfrm>
    </dsp:sp>
    <dsp:sp modelId="{AA5C15B0-712A-4DE4-BFB3-20DD701AE2B1}">
      <dsp:nvSpPr>
        <dsp:cNvPr id="0" name=""/>
        <dsp:cNvSpPr/>
      </dsp:nvSpPr>
      <dsp:spPr>
        <a:xfrm>
          <a:off x="0" y="138403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193F39-ECA1-421A-85AA-5D4CFE5ECE56}">
      <dsp:nvSpPr>
        <dsp:cNvPr id="0" name=""/>
        <dsp:cNvSpPr/>
      </dsp:nvSpPr>
      <dsp:spPr>
        <a:xfrm>
          <a:off x="0" y="1384035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Financement insuffisant et dépendance aux taxes sur carburants.</a:t>
          </a:r>
        </a:p>
      </dsp:txBody>
      <dsp:txXfrm>
        <a:off x="0" y="1384035"/>
        <a:ext cx="5175384" cy="1384035"/>
      </dsp:txXfrm>
    </dsp:sp>
    <dsp:sp modelId="{5258DDDD-1E1A-4D77-B4FC-D92ACE107DD8}">
      <dsp:nvSpPr>
        <dsp:cNvPr id="0" name=""/>
        <dsp:cNvSpPr/>
      </dsp:nvSpPr>
      <dsp:spPr>
        <a:xfrm>
          <a:off x="0" y="276807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21A963-D196-4A42-B905-EEB8E952A3BE}">
      <dsp:nvSpPr>
        <dsp:cNvPr id="0" name=""/>
        <dsp:cNvSpPr/>
      </dsp:nvSpPr>
      <dsp:spPr>
        <a:xfrm>
          <a:off x="0" y="2768070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Conflits institutionnels et déficit de données fiables.</a:t>
          </a:r>
        </a:p>
      </dsp:txBody>
      <dsp:txXfrm>
        <a:off x="0" y="2768070"/>
        <a:ext cx="5175384" cy="1384035"/>
      </dsp:txXfrm>
    </dsp:sp>
    <dsp:sp modelId="{2054F95E-C604-4E80-9913-56EBD2D01D55}">
      <dsp:nvSpPr>
        <dsp:cNvPr id="0" name=""/>
        <dsp:cNvSpPr/>
      </dsp:nvSpPr>
      <dsp:spPr>
        <a:xfrm>
          <a:off x="0" y="415210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0EB88A-1DA1-4C5F-849F-C35F34904094}">
      <dsp:nvSpPr>
        <dsp:cNvPr id="0" name=""/>
        <dsp:cNvSpPr/>
      </dsp:nvSpPr>
      <dsp:spPr>
        <a:xfrm>
          <a:off x="0" y="4152105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Pressions pour financer des projets de développement.</a:t>
          </a:r>
        </a:p>
      </dsp:txBody>
      <dsp:txXfrm>
        <a:off x="0" y="4152105"/>
        <a:ext cx="5175384" cy="138403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AFB199-D397-4F8B-B205-5ECBB5F2A575}">
      <dsp:nvSpPr>
        <dsp:cNvPr id="0" name=""/>
        <dsp:cNvSpPr/>
      </dsp:nvSpPr>
      <dsp:spPr>
        <a:xfrm>
          <a:off x="0" y="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22C8E9-0E42-43BA-8345-93874D200456}">
      <dsp:nvSpPr>
        <dsp:cNvPr id="0" name=""/>
        <dsp:cNvSpPr/>
      </dsp:nvSpPr>
      <dsp:spPr>
        <a:xfrm>
          <a:off x="0" y="0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Engagement et communication efficaces avec les parties prenantes.</a:t>
          </a:r>
        </a:p>
      </dsp:txBody>
      <dsp:txXfrm>
        <a:off x="0" y="0"/>
        <a:ext cx="5175384" cy="1384035"/>
      </dsp:txXfrm>
    </dsp:sp>
    <dsp:sp modelId="{476307B7-11CB-4DF7-BF7A-415E5F001393}">
      <dsp:nvSpPr>
        <dsp:cNvPr id="0" name=""/>
        <dsp:cNvSpPr/>
      </dsp:nvSpPr>
      <dsp:spPr>
        <a:xfrm>
          <a:off x="0" y="138403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6379D5-E5E8-452D-B827-AE46D029F913}">
      <dsp:nvSpPr>
        <dsp:cNvPr id="0" name=""/>
        <dsp:cNvSpPr/>
      </dsp:nvSpPr>
      <dsp:spPr>
        <a:xfrm>
          <a:off x="0" y="1384035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Cadre juridique et institutionnel solide.</a:t>
          </a:r>
        </a:p>
      </dsp:txBody>
      <dsp:txXfrm>
        <a:off x="0" y="1384035"/>
        <a:ext cx="5175384" cy="1384035"/>
      </dsp:txXfrm>
    </dsp:sp>
    <dsp:sp modelId="{63BFE852-9FB5-4E12-8401-2F6EB79A0160}">
      <dsp:nvSpPr>
        <dsp:cNvPr id="0" name=""/>
        <dsp:cNvSpPr/>
      </dsp:nvSpPr>
      <dsp:spPr>
        <a:xfrm>
          <a:off x="0" y="276807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BCA6B7-4404-4D04-9B50-19611A901253}">
      <dsp:nvSpPr>
        <dsp:cNvPr id="0" name=""/>
        <dsp:cNvSpPr/>
      </dsp:nvSpPr>
      <dsp:spPr>
        <a:xfrm>
          <a:off x="0" y="2768070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Coordination renforcée et séparation claire des rôles.</a:t>
          </a:r>
        </a:p>
      </dsp:txBody>
      <dsp:txXfrm>
        <a:off x="0" y="2768070"/>
        <a:ext cx="5175384" cy="1384035"/>
      </dsp:txXfrm>
    </dsp:sp>
    <dsp:sp modelId="{D66CA2F8-7ABB-47EF-9081-B355E4602A8E}">
      <dsp:nvSpPr>
        <dsp:cNvPr id="0" name=""/>
        <dsp:cNvSpPr/>
      </dsp:nvSpPr>
      <dsp:spPr>
        <a:xfrm>
          <a:off x="0" y="415210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344980-FBB2-48A2-BFD5-AF55EACF5698}">
      <dsp:nvSpPr>
        <dsp:cNvPr id="0" name=""/>
        <dsp:cNvSpPr/>
      </dsp:nvSpPr>
      <dsp:spPr>
        <a:xfrm>
          <a:off x="0" y="4152105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Limites fixées pour éviter l’exploitation abusive des fonds d’entretien.</a:t>
          </a:r>
        </a:p>
      </dsp:txBody>
      <dsp:txXfrm>
        <a:off x="0" y="4152105"/>
        <a:ext cx="5175384" cy="138403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9E5FC1-76B4-4D9D-8E83-921A85B337BF}">
      <dsp:nvSpPr>
        <dsp:cNvPr id="0" name=""/>
        <dsp:cNvSpPr/>
      </dsp:nvSpPr>
      <dsp:spPr>
        <a:xfrm>
          <a:off x="0" y="24870"/>
          <a:ext cx="5175384" cy="131975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Consolider la gouvernance pour renforcer la résilience des Fonds Routiers.</a:t>
          </a:r>
        </a:p>
      </dsp:txBody>
      <dsp:txXfrm>
        <a:off x="64425" y="89295"/>
        <a:ext cx="5046534" cy="1190909"/>
      </dsp:txXfrm>
    </dsp:sp>
    <dsp:sp modelId="{FF9764E5-D7F4-4148-9508-0A6EB0937C62}">
      <dsp:nvSpPr>
        <dsp:cNvPr id="0" name=""/>
        <dsp:cNvSpPr/>
      </dsp:nvSpPr>
      <dsp:spPr>
        <a:xfrm>
          <a:off x="0" y="1413750"/>
          <a:ext cx="5175384" cy="1319759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Renforcer la transparence et la publication régulière des rapports.</a:t>
          </a:r>
        </a:p>
      </dsp:txBody>
      <dsp:txXfrm>
        <a:off x="64425" y="1478175"/>
        <a:ext cx="5046534" cy="1190909"/>
      </dsp:txXfrm>
    </dsp:sp>
    <dsp:sp modelId="{5BF1CB30-D819-4DE0-9FB0-12C1394E7DC9}">
      <dsp:nvSpPr>
        <dsp:cNvPr id="0" name=""/>
        <dsp:cNvSpPr/>
      </dsp:nvSpPr>
      <dsp:spPr>
        <a:xfrm>
          <a:off x="0" y="2802630"/>
          <a:ext cx="5175384" cy="1319759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Diversifier les sources de financement.</a:t>
          </a:r>
        </a:p>
      </dsp:txBody>
      <dsp:txXfrm>
        <a:off x="64425" y="2867055"/>
        <a:ext cx="5046534" cy="1190909"/>
      </dsp:txXfrm>
    </dsp:sp>
    <dsp:sp modelId="{69258A1F-1724-41F8-9BA0-3DC77DF34CCC}">
      <dsp:nvSpPr>
        <dsp:cNvPr id="0" name=""/>
        <dsp:cNvSpPr/>
      </dsp:nvSpPr>
      <dsp:spPr>
        <a:xfrm>
          <a:off x="0" y="4191510"/>
          <a:ext cx="5175384" cy="131975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Promouvoir la parité et l’inclusion du secteur privé.</a:t>
          </a:r>
        </a:p>
      </dsp:txBody>
      <dsp:txXfrm>
        <a:off x="64425" y="4255935"/>
        <a:ext cx="5046534" cy="11909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24BFD5-D814-402B-B6C4-EEF6AE14B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1122362"/>
            <a:ext cx="4711446" cy="4135437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/>
              <a:t>Financement et Résilience de l’Entretien Routier </a:t>
            </a:r>
            <a:r>
              <a:rPr lang="fr-FR" sz="3600" b="1" dirty="0"/>
              <a:t>Enquête sur les fonds de nouvelle génération dans les zones AFERA ​​et hors AFERA/ </a:t>
            </a:r>
            <a:r>
              <a:rPr lang="fr-FR" sz="3600" dirty="0"/>
              <a:t>Assistance technique DP4 / SSATP - AFERA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FED7E8-9A97-475F-9FA4-113410D44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79604" y="1031284"/>
            <a:ext cx="2735746" cy="4436126"/>
          </a:xfrm>
          <a:custGeom>
            <a:avLst/>
            <a:gdLst>
              <a:gd name="connsiteX0" fmla="*/ 0 w 2735746"/>
              <a:gd name="connsiteY0" fmla="*/ 0 h 4436126"/>
              <a:gd name="connsiteX1" fmla="*/ 601864 w 2735746"/>
              <a:gd name="connsiteY1" fmla="*/ 0 h 4436126"/>
              <a:gd name="connsiteX2" fmla="*/ 1203728 w 2735746"/>
              <a:gd name="connsiteY2" fmla="*/ 0 h 4436126"/>
              <a:gd name="connsiteX3" fmla="*/ 1860307 w 2735746"/>
              <a:gd name="connsiteY3" fmla="*/ 0 h 4436126"/>
              <a:gd name="connsiteX4" fmla="*/ 2735746 w 2735746"/>
              <a:gd name="connsiteY4" fmla="*/ 0 h 4436126"/>
              <a:gd name="connsiteX5" fmla="*/ 2735746 w 2735746"/>
              <a:gd name="connsiteY5" fmla="*/ 722455 h 4436126"/>
              <a:gd name="connsiteX6" fmla="*/ 2735746 w 2735746"/>
              <a:gd name="connsiteY6" fmla="*/ 1400548 h 4436126"/>
              <a:gd name="connsiteX7" fmla="*/ 2735746 w 2735746"/>
              <a:gd name="connsiteY7" fmla="*/ 2123003 h 4436126"/>
              <a:gd name="connsiteX8" fmla="*/ 2735746 w 2735746"/>
              <a:gd name="connsiteY8" fmla="*/ 2623652 h 4436126"/>
              <a:gd name="connsiteX9" fmla="*/ 2735746 w 2735746"/>
              <a:gd name="connsiteY9" fmla="*/ 3346106 h 4436126"/>
              <a:gd name="connsiteX10" fmla="*/ 2735746 w 2735746"/>
              <a:gd name="connsiteY10" fmla="*/ 4436126 h 4436126"/>
              <a:gd name="connsiteX11" fmla="*/ 2106524 w 2735746"/>
              <a:gd name="connsiteY11" fmla="*/ 4436126 h 4436126"/>
              <a:gd name="connsiteX12" fmla="*/ 1449945 w 2735746"/>
              <a:gd name="connsiteY12" fmla="*/ 4436126 h 4436126"/>
              <a:gd name="connsiteX13" fmla="*/ 793366 w 2735746"/>
              <a:gd name="connsiteY13" fmla="*/ 4436126 h 4436126"/>
              <a:gd name="connsiteX14" fmla="*/ 0 w 2735746"/>
              <a:gd name="connsiteY14" fmla="*/ 4436126 h 4436126"/>
              <a:gd name="connsiteX15" fmla="*/ 0 w 2735746"/>
              <a:gd name="connsiteY15" fmla="*/ 3713671 h 4436126"/>
              <a:gd name="connsiteX16" fmla="*/ 0 w 2735746"/>
              <a:gd name="connsiteY16" fmla="*/ 3124300 h 4436126"/>
              <a:gd name="connsiteX17" fmla="*/ 0 w 2735746"/>
              <a:gd name="connsiteY17" fmla="*/ 2446207 h 4436126"/>
              <a:gd name="connsiteX18" fmla="*/ 0 w 2735746"/>
              <a:gd name="connsiteY18" fmla="*/ 1856836 h 4436126"/>
              <a:gd name="connsiteX19" fmla="*/ 0 w 2735746"/>
              <a:gd name="connsiteY19" fmla="*/ 1178742 h 4436126"/>
              <a:gd name="connsiteX20" fmla="*/ 0 w 2735746"/>
              <a:gd name="connsiteY20" fmla="*/ 678094 h 4436126"/>
              <a:gd name="connsiteX21" fmla="*/ 0 w 2735746"/>
              <a:gd name="connsiteY21" fmla="*/ 0 h 4436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735746" h="4436126" fill="none" extrusionOk="0">
                <a:moveTo>
                  <a:pt x="0" y="0"/>
                </a:moveTo>
                <a:cubicBezTo>
                  <a:pt x="179540" y="26169"/>
                  <a:pt x="438012" y="23230"/>
                  <a:pt x="601864" y="0"/>
                </a:cubicBezTo>
                <a:cubicBezTo>
                  <a:pt x="765716" y="-23230"/>
                  <a:pt x="955038" y="-5127"/>
                  <a:pt x="1203728" y="0"/>
                </a:cubicBezTo>
                <a:cubicBezTo>
                  <a:pt x="1452418" y="5127"/>
                  <a:pt x="1646417" y="-25974"/>
                  <a:pt x="1860307" y="0"/>
                </a:cubicBezTo>
                <a:cubicBezTo>
                  <a:pt x="2074197" y="25974"/>
                  <a:pt x="2430568" y="-26480"/>
                  <a:pt x="2735746" y="0"/>
                </a:cubicBezTo>
                <a:cubicBezTo>
                  <a:pt x="2706048" y="340749"/>
                  <a:pt x="2740838" y="495871"/>
                  <a:pt x="2735746" y="722455"/>
                </a:cubicBezTo>
                <a:cubicBezTo>
                  <a:pt x="2730654" y="949039"/>
                  <a:pt x="2752433" y="1198388"/>
                  <a:pt x="2735746" y="1400548"/>
                </a:cubicBezTo>
                <a:cubicBezTo>
                  <a:pt x="2719059" y="1602708"/>
                  <a:pt x="2715247" y="1770847"/>
                  <a:pt x="2735746" y="2123003"/>
                </a:cubicBezTo>
                <a:cubicBezTo>
                  <a:pt x="2756245" y="2475160"/>
                  <a:pt x="2751062" y="2522091"/>
                  <a:pt x="2735746" y="2623652"/>
                </a:cubicBezTo>
                <a:cubicBezTo>
                  <a:pt x="2720430" y="2725213"/>
                  <a:pt x="2753604" y="3142493"/>
                  <a:pt x="2735746" y="3346106"/>
                </a:cubicBezTo>
                <a:cubicBezTo>
                  <a:pt x="2717888" y="3549719"/>
                  <a:pt x="2748400" y="4025565"/>
                  <a:pt x="2735746" y="4436126"/>
                </a:cubicBezTo>
                <a:cubicBezTo>
                  <a:pt x="2455834" y="4434463"/>
                  <a:pt x="2336666" y="4425166"/>
                  <a:pt x="2106524" y="4436126"/>
                </a:cubicBezTo>
                <a:cubicBezTo>
                  <a:pt x="1876382" y="4447086"/>
                  <a:pt x="1601121" y="4420147"/>
                  <a:pt x="1449945" y="4436126"/>
                </a:cubicBezTo>
                <a:cubicBezTo>
                  <a:pt x="1298769" y="4452105"/>
                  <a:pt x="950963" y="4404014"/>
                  <a:pt x="793366" y="4436126"/>
                </a:cubicBezTo>
                <a:cubicBezTo>
                  <a:pt x="635769" y="4468238"/>
                  <a:pt x="300146" y="4462205"/>
                  <a:pt x="0" y="4436126"/>
                </a:cubicBezTo>
                <a:cubicBezTo>
                  <a:pt x="25833" y="4232419"/>
                  <a:pt x="3486" y="4019021"/>
                  <a:pt x="0" y="3713671"/>
                </a:cubicBezTo>
                <a:cubicBezTo>
                  <a:pt x="-3486" y="3408322"/>
                  <a:pt x="-27541" y="3277286"/>
                  <a:pt x="0" y="3124300"/>
                </a:cubicBezTo>
                <a:cubicBezTo>
                  <a:pt x="27541" y="2971314"/>
                  <a:pt x="31162" y="2762025"/>
                  <a:pt x="0" y="2446207"/>
                </a:cubicBezTo>
                <a:cubicBezTo>
                  <a:pt x="-31162" y="2130389"/>
                  <a:pt x="9656" y="2027375"/>
                  <a:pt x="0" y="1856836"/>
                </a:cubicBezTo>
                <a:cubicBezTo>
                  <a:pt x="-9656" y="1686297"/>
                  <a:pt x="-14688" y="1512539"/>
                  <a:pt x="0" y="1178742"/>
                </a:cubicBezTo>
                <a:cubicBezTo>
                  <a:pt x="14688" y="844945"/>
                  <a:pt x="2890" y="917816"/>
                  <a:pt x="0" y="678094"/>
                </a:cubicBezTo>
                <a:cubicBezTo>
                  <a:pt x="-2890" y="438372"/>
                  <a:pt x="5448" y="207647"/>
                  <a:pt x="0" y="0"/>
                </a:cubicBezTo>
                <a:close/>
              </a:path>
              <a:path w="2735746" h="4436126" stroke="0" extrusionOk="0">
                <a:moveTo>
                  <a:pt x="0" y="0"/>
                </a:moveTo>
                <a:cubicBezTo>
                  <a:pt x="209894" y="16338"/>
                  <a:pt x="375877" y="-31334"/>
                  <a:pt x="629222" y="0"/>
                </a:cubicBezTo>
                <a:cubicBezTo>
                  <a:pt x="882567" y="31334"/>
                  <a:pt x="997255" y="-29736"/>
                  <a:pt x="1258443" y="0"/>
                </a:cubicBezTo>
                <a:cubicBezTo>
                  <a:pt x="1519631" y="29736"/>
                  <a:pt x="1769008" y="-24969"/>
                  <a:pt x="1942380" y="0"/>
                </a:cubicBezTo>
                <a:cubicBezTo>
                  <a:pt x="2115752" y="24969"/>
                  <a:pt x="2487652" y="32052"/>
                  <a:pt x="2735746" y="0"/>
                </a:cubicBezTo>
                <a:cubicBezTo>
                  <a:pt x="2751518" y="246908"/>
                  <a:pt x="2711283" y="325094"/>
                  <a:pt x="2735746" y="589371"/>
                </a:cubicBezTo>
                <a:cubicBezTo>
                  <a:pt x="2760209" y="853648"/>
                  <a:pt x="2718833" y="972107"/>
                  <a:pt x="2735746" y="1090020"/>
                </a:cubicBezTo>
                <a:cubicBezTo>
                  <a:pt x="2752659" y="1207933"/>
                  <a:pt x="2729992" y="1582062"/>
                  <a:pt x="2735746" y="1812474"/>
                </a:cubicBezTo>
                <a:cubicBezTo>
                  <a:pt x="2741500" y="2042886"/>
                  <a:pt x="2707628" y="2235903"/>
                  <a:pt x="2735746" y="2401845"/>
                </a:cubicBezTo>
                <a:cubicBezTo>
                  <a:pt x="2763864" y="2567787"/>
                  <a:pt x="2758150" y="2913761"/>
                  <a:pt x="2735746" y="3124300"/>
                </a:cubicBezTo>
                <a:cubicBezTo>
                  <a:pt x="2713342" y="3334839"/>
                  <a:pt x="2720989" y="3582863"/>
                  <a:pt x="2735746" y="3758032"/>
                </a:cubicBezTo>
                <a:cubicBezTo>
                  <a:pt x="2750503" y="3933201"/>
                  <a:pt x="2736802" y="4250321"/>
                  <a:pt x="2735746" y="4436126"/>
                </a:cubicBezTo>
                <a:cubicBezTo>
                  <a:pt x="2480396" y="4409468"/>
                  <a:pt x="2193035" y="4433672"/>
                  <a:pt x="2051810" y="4436126"/>
                </a:cubicBezTo>
                <a:cubicBezTo>
                  <a:pt x="1910585" y="4438580"/>
                  <a:pt x="1557696" y="4442846"/>
                  <a:pt x="1422588" y="4436126"/>
                </a:cubicBezTo>
                <a:cubicBezTo>
                  <a:pt x="1287480" y="4429406"/>
                  <a:pt x="1114403" y="4428562"/>
                  <a:pt x="820724" y="4436126"/>
                </a:cubicBezTo>
                <a:cubicBezTo>
                  <a:pt x="527045" y="4443690"/>
                  <a:pt x="375914" y="4447757"/>
                  <a:pt x="0" y="4436126"/>
                </a:cubicBezTo>
                <a:cubicBezTo>
                  <a:pt x="-31538" y="4174476"/>
                  <a:pt x="-31250" y="4099935"/>
                  <a:pt x="0" y="3802394"/>
                </a:cubicBezTo>
                <a:cubicBezTo>
                  <a:pt x="31250" y="3504853"/>
                  <a:pt x="9806" y="3349077"/>
                  <a:pt x="0" y="3213023"/>
                </a:cubicBezTo>
                <a:cubicBezTo>
                  <a:pt x="-9806" y="3076969"/>
                  <a:pt x="-22953" y="2900441"/>
                  <a:pt x="0" y="2712374"/>
                </a:cubicBezTo>
                <a:cubicBezTo>
                  <a:pt x="22953" y="2524307"/>
                  <a:pt x="-35854" y="2231517"/>
                  <a:pt x="0" y="1989919"/>
                </a:cubicBezTo>
                <a:cubicBezTo>
                  <a:pt x="35854" y="1748321"/>
                  <a:pt x="1945" y="1519865"/>
                  <a:pt x="0" y="1400548"/>
                </a:cubicBezTo>
                <a:cubicBezTo>
                  <a:pt x="-1945" y="1281231"/>
                  <a:pt x="-11601" y="971726"/>
                  <a:pt x="0" y="811177"/>
                </a:cubicBezTo>
                <a:cubicBezTo>
                  <a:pt x="11601" y="650628"/>
                  <a:pt x="34125" y="21079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8728339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79604" y="1232452"/>
            <a:ext cx="2566781" cy="38509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fr-FR" b="1" dirty="0">
                <a:solidFill>
                  <a:srgbClr val="FFFFFF"/>
                </a:solidFill>
              </a:rPr>
              <a:t>Gouvernance</a:t>
            </a:r>
            <a:r>
              <a:rPr lang="fr-FR" dirty="0">
                <a:solidFill>
                  <a:srgbClr val="FFFFFF"/>
                </a:solidFill>
              </a:rPr>
              <a:t> des Fonds de nouvelle génération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A39B854-4B6C-4F7F-A602-6F97770CE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49" y="5439978"/>
            <a:ext cx="4711446" cy="18288"/>
          </a:xfrm>
          <a:custGeom>
            <a:avLst/>
            <a:gdLst>
              <a:gd name="connsiteX0" fmla="*/ 0 w 4711446"/>
              <a:gd name="connsiteY0" fmla="*/ 0 h 18288"/>
              <a:gd name="connsiteX1" fmla="*/ 625949 w 4711446"/>
              <a:gd name="connsiteY1" fmla="*/ 0 h 18288"/>
              <a:gd name="connsiteX2" fmla="*/ 1157670 w 4711446"/>
              <a:gd name="connsiteY2" fmla="*/ 0 h 18288"/>
              <a:gd name="connsiteX3" fmla="*/ 1736504 w 4711446"/>
              <a:gd name="connsiteY3" fmla="*/ 0 h 18288"/>
              <a:gd name="connsiteX4" fmla="*/ 2456683 w 4711446"/>
              <a:gd name="connsiteY4" fmla="*/ 0 h 18288"/>
              <a:gd name="connsiteX5" fmla="*/ 3082632 w 4711446"/>
              <a:gd name="connsiteY5" fmla="*/ 0 h 18288"/>
              <a:gd name="connsiteX6" fmla="*/ 3661467 w 4711446"/>
              <a:gd name="connsiteY6" fmla="*/ 0 h 18288"/>
              <a:gd name="connsiteX7" fmla="*/ 4711446 w 4711446"/>
              <a:gd name="connsiteY7" fmla="*/ 0 h 18288"/>
              <a:gd name="connsiteX8" fmla="*/ 4711446 w 4711446"/>
              <a:gd name="connsiteY8" fmla="*/ 18288 h 18288"/>
              <a:gd name="connsiteX9" fmla="*/ 4038382 w 4711446"/>
              <a:gd name="connsiteY9" fmla="*/ 18288 h 18288"/>
              <a:gd name="connsiteX10" fmla="*/ 3459547 w 4711446"/>
              <a:gd name="connsiteY10" fmla="*/ 18288 h 18288"/>
              <a:gd name="connsiteX11" fmla="*/ 2692255 w 4711446"/>
              <a:gd name="connsiteY11" fmla="*/ 18288 h 18288"/>
              <a:gd name="connsiteX12" fmla="*/ 2066306 w 4711446"/>
              <a:gd name="connsiteY12" fmla="*/ 18288 h 18288"/>
              <a:gd name="connsiteX13" fmla="*/ 1534585 w 4711446"/>
              <a:gd name="connsiteY13" fmla="*/ 18288 h 18288"/>
              <a:gd name="connsiteX14" fmla="*/ 814407 w 4711446"/>
              <a:gd name="connsiteY14" fmla="*/ 18288 h 18288"/>
              <a:gd name="connsiteX15" fmla="*/ 0 w 4711446"/>
              <a:gd name="connsiteY15" fmla="*/ 18288 h 18288"/>
              <a:gd name="connsiteX16" fmla="*/ 0 w 4711446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11446" h="18288" fill="none" extrusionOk="0">
                <a:moveTo>
                  <a:pt x="0" y="0"/>
                </a:moveTo>
                <a:cubicBezTo>
                  <a:pt x="275996" y="-6775"/>
                  <a:pt x="430270" y="12128"/>
                  <a:pt x="625949" y="0"/>
                </a:cubicBezTo>
                <a:cubicBezTo>
                  <a:pt x="821628" y="-12128"/>
                  <a:pt x="953153" y="2170"/>
                  <a:pt x="1157670" y="0"/>
                </a:cubicBezTo>
                <a:cubicBezTo>
                  <a:pt x="1362187" y="-2170"/>
                  <a:pt x="1508708" y="24986"/>
                  <a:pt x="1736504" y="0"/>
                </a:cubicBezTo>
                <a:cubicBezTo>
                  <a:pt x="1964300" y="-24986"/>
                  <a:pt x="2114331" y="-14747"/>
                  <a:pt x="2456683" y="0"/>
                </a:cubicBezTo>
                <a:cubicBezTo>
                  <a:pt x="2799035" y="14747"/>
                  <a:pt x="2904885" y="27883"/>
                  <a:pt x="3082632" y="0"/>
                </a:cubicBezTo>
                <a:cubicBezTo>
                  <a:pt x="3260379" y="-27883"/>
                  <a:pt x="3449277" y="21284"/>
                  <a:pt x="3661467" y="0"/>
                </a:cubicBezTo>
                <a:cubicBezTo>
                  <a:pt x="3873658" y="-21284"/>
                  <a:pt x="4403906" y="12447"/>
                  <a:pt x="4711446" y="0"/>
                </a:cubicBezTo>
                <a:cubicBezTo>
                  <a:pt x="4711844" y="7429"/>
                  <a:pt x="4711426" y="10822"/>
                  <a:pt x="4711446" y="18288"/>
                </a:cubicBezTo>
                <a:cubicBezTo>
                  <a:pt x="4441704" y="14143"/>
                  <a:pt x="4312170" y="5146"/>
                  <a:pt x="4038382" y="18288"/>
                </a:cubicBezTo>
                <a:cubicBezTo>
                  <a:pt x="3764594" y="31430"/>
                  <a:pt x="3716634" y="24680"/>
                  <a:pt x="3459547" y="18288"/>
                </a:cubicBezTo>
                <a:cubicBezTo>
                  <a:pt x="3202460" y="11896"/>
                  <a:pt x="2879854" y="19674"/>
                  <a:pt x="2692255" y="18288"/>
                </a:cubicBezTo>
                <a:cubicBezTo>
                  <a:pt x="2504656" y="16902"/>
                  <a:pt x="2223731" y="-2796"/>
                  <a:pt x="2066306" y="18288"/>
                </a:cubicBezTo>
                <a:cubicBezTo>
                  <a:pt x="1908881" y="39372"/>
                  <a:pt x="1781464" y="10855"/>
                  <a:pt x="1534585" y="18288"/>
                </a:cubicBezTo>
                <a:cubicBezTo>
                  <a:pt x="1287706" y="25721"/>
                  <a:pt x="979966" y="-15294"/>
                  <a:pt x="814407" y="18288"/>
                </a:cubicBezTo>
                <a:cubicBezTo>
                  <a:pt x="648848" y="51870"/>
                  <a:pt x="195527" y="13986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711446" h="18288" stroke="0" extrusionOk="0">
                <a:moveTo>
                  <a:pt x="0" y="0"/>
                </a:moveTo>
                <a:cubicBezTo>
                  <a:pt x="225644" y="-29218"/>
                  <a:pt x="321824" y="-13505"/>
                  <a:pt x="625949" y="0"/>
                </a:cubicBezTo>
                <a:cubicBezTo>
                  <a:pt x="930074" y="13505"/>
                  <a:pt x="1040728" y="23682"/>
                  <a:pt x="1157670" y="0"/>
                </a:cubicBezTo>
                <a:cubicBezTo>
                  <a:pt x="1274612" y="-23682"/>
                  <a:pt x="1732715" y="-38127"/>
                  <a:pt x="1924962" y="0"/>
                </a:cubicBezTo>
                <a:cubicBezTo>
                  <a:pt x="2117209" y="38127"/>
                  <a:pt x="2299261" y="17383"/>
                  <a:pt x="2550911" y="0"/>
                </a:cubicBezTo>
                <a:cubicBezTo>
                  <a:pt x="2802561" y="-17383"/>
                  <a:pt x="2873352" y="-24010"/>
                  <a:pt x="3176861" y="0"/>
                </a:cubicBezTo>
                <a:cubicBezTo>
                  <a:pt x="3480370" y="24010"/>
                  <a:pt x="3597961" y="-9070"/>
                  <a:pt x="3944153" y="0"/>
                </a:cubicBezTo>
                <a:cubicBezTo>
                  <a:pt x="4290345" y="9070"/>
                  <a:pt x="4345995" y="26854"/>
                  <a:pt x="4711446" y="0"/>
                </a:cubicBezTo>
                <a:cubicBezTo>
                  <a:pt x="4710560" y="5429"/>
                  <a:pt x="4712267" y="14046"/>
                  <a:pt x="4711446" y="18288"/>
                </a:cubicBezTo>
                <a:cubicBezTo>
                  <a:pt x="4574282" y="23897"/>
                  <a:pt x="4363770" y="43566"/>
                  <a:pt x="4132611" y="18288"/>
                </a:cubicBezTo>
                <a:cubicBezTo>
                  <a:pt x="3901452" y="-6990"/>
                  <a:pt x="3795359" y="-7327"/>
                  <a:pt x="3459547" y="18288"/>
                </a:cubicBezTo>
                <a:cubicBezTo>
                  <a:pt x="3123735" y="43903"/>
                  <a:pt x="3000502" y="-9998"/>
                  <a:pt x="2786484" y="18288"/>
                </a:cubicBezTo>
                <a:cubicBezTo>
                  <a:pt x="2572466" y="46574"/>
                  <a:pt x="2424773" y="17766"/>
                  <a:pt x="2160535" y="18288"/>
                </a:cubicBezTo>
                <a:cubicBezTo>
                  <a:pt x="1896297" y="18810"/>
                  <a:pt x="1673486" y="-6557"/>
                  <a:pt x="1393242" y="18288"/>
                </a:cubicBezTo>
                <a:cubicBezTo>
                  <a:pt x="1112998" y="43133"/>
                  <a:pt x="887393" y="39122"/>
                  <a:pt x="625949" y="18288"/>
                </a:cubicBezTo>
                <a:cubicBezTo>
                  <a:pt x="364505" y="-2546"/>
                  <a:pt x="251092" y="19641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fr-FR" sz="3500">
                <a:solidFill>
                  <a:srgbClr val="FFFFFF"/>
                </a:solidFill>
              </a:rPr>
              <a:t>Contexte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8AD788A-47B8-E7F7-F67C-21FAD4812A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7786730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fr-FR" sz="3500"/>
              <a:t>Cadre juridique et institutionnel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902A16B-622F-84BB-C259-154FC7F6F4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4991346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fr-FR" sz="3500"/>
              <a:t>Gouvernance et prise de décision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A8717F7-E780-5767-3075-E4FCA10576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8543884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070828-E616-4355-9C8A-A1065032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5161C6-1218-4EAF-A9E9-A319CFD76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310" y="1905000"/>
            <a:ext cx="3402600" cy="3141047"/>
          </a:xfrm>
          <a:custGeom>
            <a:avLst/>
            <a:gdLst>
              <a:gd name="connsiteX0" fmla="*/ 3362388 w 6230568"/>
              <a:gd name="connsiteY0" fmla="*/ 861 h 4239440"/>
              <a:gd name="connsiteX1" fmla="*/ 4026621 w 6230568"/>
              <a:gd name="connsiteY1" fmla="*/ 15392 h 4239440"/>
              <a:gd name="connsiteX2" fmla="*/ 5114556 w 6230568"/>
              <a:gd name="connsiteY2" fmla="*/ 34130 h 4239440"/>
              <a:gd name="connsiteX3" fmla="*/ 5776495 w 6230568"/>
              <a:gd name="connsiteY3" fmla="*/ 112905 h 4239440"/>
              <a:gd name="connsiteX4" fmla="*/ 5862918 w 6230568"/>
              <a:gd name="connsiteY4" fmla="*/ 141585 h 4239440"/>
              <a:gd name="connsiteX5" fmla="*/ 5840738 w 6230568"/>
              <a:gd name="connsiteY5" fmla="*/ 200475 h 4239440"/>
              <a:gd name="connsiteX6" fmla="*/ 5691219 w 6230568"/>
              <a:gd name="connsiteY6" fmla="*/ 216153 h 4239440"/>
              <a:gd name="connsiteX7" fmla="*/ 5773053 w 6230568"/>
              <a:gd name="connsiteY7" fmla="*/ 260130 h 4239440"/>
              <a:gd name="connsiteX8" fmla="*/ 5593324 w 6230568"/>
              <a:gd name="connsiteY8" fmla="*/ 293781 h 4239440"/>
              <a:gd name="connsiteX9" fmla="*/ 5617033 w 6230568"/>
              <a:gd name="connsiteY9" fmla="*/ 317108 h 4239440"/>
              <a:gd name="connsiteX10" fmla="*/ 5641124 w 6230568"/>
              <a:gd name="connsiteY10" fmla="*/ 339287 h 4239440"/>
              <a:gd name="connsiteX11" fmla="*/ 5299256 w 6230568"/>
              <a:gd name="connsiteY11" fmla="*/ 396265 h 4239440"/>
              <a:gd name="connsiteX12" fmla="*/ 5703073 w 6230568"/>
              <a:gd name="connsiteY12" fmla="*/ 500661 h 4239440"/>
              <a:gd name="connsiteX13" fmla="*/ 5629652 w 6230568"/>
              <a:gd name="connsiteY13" fmla="*/ 556874 h 4239440"/>
              <a:gd name="connsiteX14" fmla="*/ 5862918 w 6230568"/>
              <a:gd name="connsiteY14" fmla="*/ 645591 h 4239440"/>
              <a:gd name="connsiteX15" fmla="*/ 6052207 w 6230568"/>
              <a:gd name="connsiteY15" fmla="*/ 756106 h 4239440"/>
              <a:gd name="connsiteX16" fmla="*/ 6158515 w 6230568"/>
              <a:gd name="connsiteY16" fmla="*/ 901419 h 4239440"/>
              <a:gd name="connsiteX17" fmla="*/ 6195990 w 6230568"/>
              <a:gd name="connsiteY17" fmla="*/ 966427 h 4239440"/>
              <a:gd name="connsiteX18" fmla="*/ 6229642 w 6230568"/>
              <a:gd name="connsiteY18" fmla="*/ 1034878 h 4239440"/>
              <a:gd name="connsiteX19" fmla="*/ 6171516 w 6230568"/>
              <a:gd name="connsiteY19" fmla="*/ 1102946 h 4239440"/>
              <a:gd name="connsiteX20" fmla="*/ 6133659 w 6230568"/>
              <a:gd name="connsiteY20" fmla="*/ 1185545 h 4239440"/>
              <a:gd name="connsiteX21" fmla="*/ 6168458 w 6230568"/>
              <a:gd name="connsiteY21" fmla="*/ 1234110 h 4239440"/>
              <a:gd name="connsiteX22" fmla="*/ 6169222 w 6230568"/>
              <a:gd name="connsiteY22" fmla="*/ 1342712 h 4239440"/>
              <a:gd name="connsiteX23" fmla="*/ 6145131 w 6230568"/>
              <a:gd name="connsiteY23" fmla="*/ 1393954 h 4239440"/>
              <a:gd name="connsiteX24" fmla="*/ 6071709 w 6230568"/>
              <a:gd name="connsiteY24" fmla="*/ 1505233 h 4239440"/>
              <a:gd name="connsiteX25" fmla="*/ 6009378 w 6230568"/>
              <a:gd name="connsiteY25" fmla="*/ 1530089 h 4239440"/>
              <a:gd name="connsiteX26" fmla="*/ 6015879 w 6230568"/>
              <a:gd name="connsiteY26" fmla="*/ 1979030 h 4239440"/>
              <a:gd name="connsiteX27" fmla="*/ 6061385 w 6230568"/>
              <a:gd name="connsiteY27" fmla="*/ 2196234 h 4239440"/>
              <a:gd name="connsiteX28" fmla="*/ 6029263 w 6230568"/>
              <a:gd name="connsiteY28" fmla="*/ 2440972 h 4239440"/>
              <a:gd name="connsiteX29" fmla="*/ 6135571 w 6230568"/>
              <a:gd name="connsiteY29" fmla="*/ 2621848 h 4239440"/>
              <a:gd name="connsiteX30" fmla="*/ 6091594 w 6230568"/>
              <a:gd name="connsiteY30" fmla="*/ 2691446 h 4239440"/>
              <a:gd name="connsiteX31" fmla="*/ 6215493 w 6230568"/>
              <a:gd name="connsiteY31" fmla="*/ 2769456 h 4239440"/>
              <a:gd name="connsiteX32" fmla="*/ 6100389 w 6230568"/>
              <a:gd name="connsiteY32" fmla="*/ 2880352 h 4239440"/>
              <a:gd name="connsiteX33" fmla="*/ 5909953 w 6230568"/>
              <a:gd name="connsiteY33" fmla="*/ 3053963 h 4239440"/>
              <a:gd name="connsiteX34" fmla="*/ 5741696 w 6230568"/>
              <a:gd name="connsiteY34" fmla="*/ 3798118 h 4239440"/>
              <a:gd name="connsiteX35" fmla="*/ 5493899 w 6230568"/>
              <a:gd name="connsiteY35" fmla="*/ 4026795 h 4239440"/>
              <a:gd name="connsiteX36" fmla="*/ 3773471 w 6230568"/>
              <a:gd name="connsiteY36" fmla="*/ 4239028 h 4239440"/>
              <a:gd name="connsiteX37" fmla="*/ 2569285 w 6230568"/>
              <a:gd name="connsiteY37" fmla="*/ 4103275 h 4239440"/>
              <a:gd name="connsiteX38" fmla="*/ 2693948 w 6230568"/>
              <a:gd name="connsiteY38" fmla="*/ 4061593 h 4239440"/>
              <a:gd name="connsiteX39" fmla="*/ 2588788 w 6230568"/>
              <a:gd name="connsiteY39" fmla="*/ 4062358 h 4239440"/>
              <a:gd name="connsiteX40" fmla="*/ 2300073 w 6230568"/>
              <a:gd name="connsiteY40" fmla="*/ 4008822 h 4239440"/>
              <a:gd name="connsiteX41" fmla="*/ 1508500 w 6230568"/>
              <a:gd name="connsiteY41" fmla="*/ 3798118 h 4239440"/>
              <a:gd name="connsiteX42" fmla="*/ 1061089 w 6230568"/>
              <a:gd name="connsiteY42" fmla="*/ 3697546 h 4239440"/>
              <a:gd name="connsiteX43" fmla="*/ 939102 w 6230568"/>
              <a:gd name="connsiteY43" fmla="*/ 3648216 h 4239440"/>
              <a:gd name="connsiteX44" fmla="*/ 1243495 w 6230568"/>
              <a:gd name="connsiteY44" fmla="*/ 3624890 h 4239440"/>
              <a:gd name="connsiteX45" fmla="*/ 1083651 w 6230568"/>
              <a:gd name="connsiteY45" fmla="*/ 3595827 h 4239440"/>
              <a:gd name="connsiteX46" fmla="*/ 966636 w 6230568"/>
              <a:gd name="connsiteY46" fmla="*/ 3605770 h 4239440"/>
              <a:gd name="connsiteX47" fmla="*/ 885566 w 6230568"/>
              <a:gd name="connsiteY47" fmla="*/ 3609976 h 4239440"/>
              <a:gd name="connsiteX48" fmla="*/ 641976 w 6230568"/>
              <a:gd name="connsiteY48" fmla="*/ 3567912 h 4239440"/>
              <a:gd name="connsiteX49" fmla="*/ 399533 w 6230568"/>
              <a:gd name="connsiteY49" fmla="*/ 3583590 h 4239440"/>
              <a:gd name="connsiteX50" fmla="*/ 409093 w 6230568"/>
              <a:gd name="connsiteY50" fmla="*/ 3548792 h 4239440"/>
              <a:gd name="connsiteX51" fmla="*/ 792642 w 6230568"/>
              <a:gd name="connsiteY51" fmla="*/ 3417628 h 4239440"/>
              <a:gd name="connsiteX52" fmla="*/ 771610 w 6230568"/>
              <a:gd name="connsiteY52" fmla="*/ 3345736 h 4239440"/>
              <a:gd name="connsiteX53" fmla="*/ 945986 w 6230568"/>
              <a:gd name="connsiteY53" fmla="*/ 3317056 h 4239440"/>
              <a:gd name="connsiteX54" fmla="*/ 892449 w 6230568"/>
              <a:gd name="connsiteY54" fmla="*/ 3285316 h 4239440"/>
              <a:gd name="connsiteX55" fmla="*/ 949045 w 6230568"/>
              <a:gd name="connsiteY55" fmla="*/ 3262755 h 4239440"/>
              <a:gd name="connsiteX56" fmla="*/ 1252673 w 6230568"/>
              <a:gd name="connsiteY56" fmla="*/ 3200041 h 4239440"/>
              <a:gd name="connsiteX57" fmla="*/ 388825 w 6230568"/>
              <a:gd name="connsiteY57" fmla="*/ 3176714 h 4239440"/>
              <a:gd name="connsiteX58" fmla="*/ 127644 w 6230568"/>
              <a:gd name="connsiteY58" fmla="*/ 3111323 h 4239440"/>
              <a:gd name="connsiteX59" fmla="*/ 437008 w 6230568"/>
              <a:gd name="connsiteY59" fmla="*/ 2921652 h 4239440"/>
              <a:gd name="connsiteX60" fmla="*/ 601441 w 6230568"/>
              <a:gd name="connsiteY60" fmla="*/ 2840965 h 4239440"/>
              <a:gd name="connsiteX61" fmla="*/ 330700 w 6230568"/>
              <a:gd name="connsiteY61" fmla="*/ 2859320 h 4239440"/>
              <a:gd name="connsiteX62" fmla="*/ 534521 w 6230568"/>
              <a:gd name="connsiteY62" fmla="*/ 2720126 h 4239440"/>
              <a:gd name="connsiteX63" fmla="*/ 492839 w 6230568"/>
              <a:gd name="connsiteY63" fmla="*/ 2694505 h 4239440"/>
              <a:gd name="connsiteX64" fmla="*/ 416358 w 6230568"/>
              <a:gd name="connsiteY64" fmla="*/ 2677297 h 4239440"/>
              <a:gd name="connsiteX65" fmla="*/ 761285 w 6230568"/>
              <a:gd name="connsiteY65" fmla="*/ 2589726 h 4239440"/>
              <a:gd name="connsiteX66" fmla="*/ 664920 w 6230568"/>
              <a:gd name="connsiteY66" fmla="*/ 2466593 h 4239440"/>
              <a:gd name="connsiteX67" fmla="*/ 740253 w 6230568"/>
              <a:gd name="connsiteY67" fmla="*/ 2438677 h 4239440"/>
              <a:gd name="connsiteX68" fmla="*/ 650006 w 6230568"/>
              <a:gd name="connsiteY68" fmla="*/ 2435236 h 4239440"/>
              <a:gd name="connsiteX69" fmla="*/ 578879 w 6230568"/>
              <a:gd name="connsiteY69" fmla="*/ 2435618 h 4239440"/>
              <a:gd name="connsiteX70" fmla="*/ 451157 w 6230568"/>
              <a:gd name="connsiteY70" fmla="*/ 2404644 h 4239440"/>
              <a:gd name="connsiteX71" fmla="*/ 2216 w 6230568"/>
              <a:gd name="connsiteY71" fmla="*/ 2456650 h 4239440"/>
              <a:gd name="connsiteX72" fmla="*/ 97052 w 6230568"/>
              <a:gd name="connsiteY72" fmla="*/ 2383611 h 4239440"/>
              <a:gd name="connsiteX73" fmla="*/ 210626 w 6230568"/>
              <a:gd name="connsiteY73" fmla="*/ 2341930 h 4239440"/>
              <a:gd name="connsiteX74" fmla="*/ 57282 w 6230568"/>
              <a:gd name="connsiteY74" fmla="*/ 2319750 h 4239440"/>
              <a:gd name="connsiteX75" fmla="*/ 365499 w 6230568"/>
              <a:gd name="connsiteY75" fmla="*/ 2250153 h 4239440"/>
              <a:gd name="connsiteX76" fmla="*/ 290548 w 6230568"/>
              <a:gd name="connsiteY76" fmla="*/ 2187821 h 4239440"/>
              <a:gd name="connsiteX77" fmla="*/ 482896 w 6230568"/>
              <a:gd name="connsiteY77" fmla="*/ 1906755 h 4239440"/>
              <a:gd name="connsiteX78" fmla="*/ 867211 w 6230568"/>
              <a:gd name="connsiteY78" fmla="*/ 1747294 h 4239440"/>
              <a:gd name="connsiteX79" fmla="*/ 1063766 w 6230568"/>
              <a:gd name="connsiteY79" fmla="*/ 1734674 h 4239440"/>
              <a:gd name="connsiteX80" fmla="*/ 1008701 w 6230568"/>
              <a:gd name="connsiteY80" fmla="*/ 1683432 h 4239440"/>
              <a:gd name="connsiteX81" fmla="*/ 1152865 w 6230568"/>
              <a:gd name="connsiteY81" fmla="*/ 1394719 h 4239440"/>
              <a:gd name="connsiteX82" fmla="*/ 998376 w 6230568"/>
              <a:gd name="connsiteY82" fmla="*/ 1411927 h 4239440"/>
              <a:gd name="connsiteX83" fmla="*/ 206419 w 6230568"/>
              <a:gd name="connsiteY83" fmla="*/ 1424164 h 4239440"/>
              <a:gd name="connsiteX84" fmla="*/ 128027 w 6230568"/>
              <a:gd name="connsiteY84" fmla="*/ 1413074 h 4239440"/>
              <a:gd name="connsiteX85" fmla="*/ 672950 w 6230568"/>
              <a:gd name="connsiteY85" fmla="*/ 1268143 h 4239440"/>
              <a:gd name="connsiteX86" fmla="*/ 457658 w 6230568"/>
              <a:gd name="connsiteY86" fmla="*/ 1229138 h 4239440"/>
              <a:gd name="connsiteX87" fmla="*/ 407945 w 6230568"/>
              <a:gd name="connsiteY87" fmla="*/ 1213459 h 4239440"/>
              <a:gd name="connsiteX88" fmla="*/ 453451 w 6230568"/>
              <a:gd name="connsiteY88" fmla="*/ 1172924 h 4239440"/>
              <a:gd name="connsiteX89" fmla="*/ 568172 w 6230568"/>
              <a:gd name="connsiteY89" fmla="*/ 1132007 h 4239440"/>
              <a:gd name="connsiteX90" fmla="*/ 255367 w 6230568"/>
              <a:gd name="connsiteY90" fmla="*/ 1190898 h 4239440"/>
              <a:gd name="connsiteX91" fmla="*/ 277546 w 6230568"/>
              <a:gd name="connsiteY91" fmla="*/ 1128567 h 4239440"/>
              <a:gd name="connsiteX92" fmla="*/ 246572 w 6230568"/>
              <a:gd name="connsiteY92" fmla="*/ 1072353 h 4239440"/>
              <a:gd name="connsiteX93" fmla="*/ 422859 w 6230568"/>
              <a:gd name="connsiteY93" fmla="*/ 1000078 h 4239440"/>
              <a:gd name="connsiteX94" fmla="*/ 668362 w 6230568"/>
              <a:gd name="connsiteY94" fmla="*/ 858972 h 4239440"/>
              <a:gd name="connsiteX95" fmla="*/ 914629 w 6230568"/>
              <a:gd name="connsiteY95" fmla="*/ 768725 h 4239440"/>
              <a:gd name="connsiteX96" fmla="*/ 1117684 w 6230568"/>
              <a:gd name="connsiteY96" fmla="*/ 688420 h 4239440"/>
              <a:gd name="connsiteX97" fmla="*/ 928778 w 6230568"/>
              <a:gd name="connsiteY97" fmla="*/ 701040 h 4239440"/>
              <a:gd name="connsiteX98" fmla="*/ 1243877 w 6230568"/>
              <a:gd name="connsiteY98" fmla="*/ 574464 h 4239440"/>
              <a:gd name="connsiteX99" fmla="*/ 1291678 w 6230568"/>
              <a:gd name="connsiteY99" fmla="*/ 566434 h 4239440"/>
              <a:gd name="connsiteX100" fmla="*/ 1797596 w 6230568"/>
              <a:gd name="connsiteY100" fmla="*/ 476952 h 4239440"/>
              <a:gd name="connsiteX101" fmla="*/ 1895491 w 6230568"/>
              <a:gd name="connsiteY101" fmla="*/ 432593 h 4239440"/>
              <a:gd name="connsiteX102" fmla="*/ 1782682 w 6230568"/>
              <a:gd name="connsiteY102" fmla="*/ 423033 h 4239440"/>
              <a:gd name="connsiteX103" fmla="*/ 1406781 w 6230568"/>
              <a:gd name="connsiteY103" fmla="*/ 449419 h 4239440"/>
              <a:gd name="connsiteX104" fmla="*/ 1662226 w 6230568"/>
              <a:gd name="connsiteY104" fmla="*/ 393970 h 4239440"/>
              <a:gd name="connsiteX105" fmla="*/ 1383837 w 6230568"/>
              <a:gd name="connsiteY105" fmla="*/ 376762 h 4239440"/>
              <a:gd name="connsiteX106" fmla="*/ 1318063 w 6230568"/>
              <a:gd name="connsiteY106" fmla="*/ 333168 h 4239440"/>
              <a:gd name="connsiteX107" fmla="*/ 1365099 w 6230568"/>
              <a:gd name="connsiteY107" fmla="*/ 290722 h 4239440"/>
              <a:gd name="connsiteX108" fmla="*/ 1536798 w 6230568"/>
              <a:gd name="connsiteY108" fmla="*/ 244069 h 4239440"/>
              <a:gd name="connsiteX109" fmla="*/ 1711938 w 6230568"/>
              <a:gd name="connsiteY109" fmla="*/ 175619 h 4239440"/>
              <a:gd name="connsiteX110" fmla="*/ 2273687 w 6230568"/>
              <a:gd name="connsiteY110" fmla="*/ 78488 h 4239440"/>
              <a:gd name="connsiteX111" fmla="*/ 2646913 w 6230568"/>
              <a:gd name="connsiteY111" fmla="*/ 46749 h 4239440"/>
              <a:gd name="connsiteX112" fmla="*/ 3362388 w 6230568"/>
              <a:gd name="connsiteY112" fmla="*/ 861 h 423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230568" h="4239440">
                <a:moveTo>
                  <a:pt x="3362388" y="861"/>
                </a:moveTo>
                <a:cubicBezTo>
                  <a:pt x="3584946" y="-3346"/>
                  <a:pt x="3805210" y="8891"/>
                  <a:pt x="4026621" y="15392"/>
                </a:cubicBezTo>
                <a:cubicBezTo>
                  <a:pt x="4388374" y="26482"/>
                  <a:pt x="4752039" y="26099"/>
                  <a:pt x="5114556" y="34130"/>
                </a:cubicBezTo>
                <a:cubicBezTo>
                  <a:pt x="5340556" y="39101"/>
                  <a:pt x="5563879" y="57074"/>
                  <a:pt x="5776495" y="112905"/>
                </a:cubicBezTo>
                <a:cubicBezTo>
                  <a:pt x="5806322" y="120935"/>
                  <a:pt x="5839973" y="122465"/>
                  <a:pt x="5862918" y="141585"/>
                </a:cubicBezTo>
                <a:cubicBezTo>
                  <a:pt x="5888539" y="162999"/>
                  <a:pt x="5878214" y="194356"/>
                  <a:pt x="5840738" y="200475"/>
                </a:cubicBezTo>
                <a:cubicBezTo>
                  <a:pt x="5792938" y="208505"/>
                  <a:pt x="5743991" y="210800"/>
                  <a:pt x="5691219" y="216153"/>
                </a:cubicBezTo>
                <a:cubicBezTo>
                  <a:pt x="5711486" y="245598"/>
                  <a:pt x="5760434" y="223419"/>
                  <a:pt x="5773053" y="260130"/>
                </a:cubicBezTo>
                <a:cubicBezTo>
                  <a:pt x="5716458" y="285368"/>
                  <a:pt x="5648008" y="268925"/>
                  <a:pt x="5593324" y="293781"/>
                </a:cubicBezTo>
                <a:cubicBezTo>
                  <a:pt x="5594854" y="310989"/>
                  <a:pt x="5607090" y="312519"/>
                  <a:pt x="5617033" y="317108"/>
                </a:cubicBezTo>
                <a:cubicBezTo>
                  <a:pt x="5626976" y="321314"/>
                  <a:pt x="5651831" y="315196"/>
                  <a:pt x="5641124" y="339287"/>
                </a:cubicBezTo>
                <a:cubicBezTo>
                  <a:pt x="5527551" y="353818"/>
                  <a:pt x="5418949" y="403148"/>
                  <a:pt x="5299256" y="396265"/>
                </a:cubicBezTo>
                <a:cubicBezTo>
                  <a:pt x="5447247" y="409649"/>
                  <a:pt x="5572292" y="464333"/>
                  <a:pt x="5703073" y="500661"/>
                </a:cubicBezTo>
                <a:cubicBezTo>
                  <a:pt x="5697720" y="543490"/>
                  <a:pt x="5644949" y="526282"/>
                  <a:pt x="5629652" y="556874"/>
                </a:cubicBezTo>
                <a:cubicBezTo>
                  <a:pt x="5713398" y="578288"/>
                  <a:pt x="5793703" y="603527"/>
                  <a:pt x="5862918" y="645591"/>
                </a:cubicBezTo>
                <a:cubicBezTo>
                  <a:pt x="5925250" y="683449"/>
                  <a:pt x="5984521" y="725131"/>
                  <a:pt x="6052207" y="756106"/>
                </a:cubicBezTo>
                <a:cubicBezTo>
                  <a:pt x="6123334" y="788611"/>
                  <a:pt x="6166545" y="830293"/>
                  <a:pt x="6158515" y="901419"/>
                </a:cubicBezTo>
                <a:cubicBezTo>
                  <a:pt x="6155073" y="930482"/>
                  <a:pt x="6164251" y="954955"/>
                  <a:pt x="6195990" y="966427"/>
                </a:cubicBezTo>
                <a:cubicBezTo>
                  <a:pt x="6235378" y="980576"/>
                  <a:pt x="6231172" y="1001990"/>
                  <a:pt x="6229642" y="1034878"/>
                </a:cubicBezTo>
                <a:cubicBezTo>
                  <a:pt x="6227347" y="1074265"/>
                  <a:pt x="6207080" y="1089562"/>
                  <a:pt x="6171516" y="1102946"/>
                </a:cubicBezTo>
                <a:cubicBezTo>
                  <a:pt x="6120657" y="1121682"/>
                  <a:pt x="6120274" y="1150745"/>
                  <a:pt x="6133659" y="1185545"/>
                </a:cubicBezTo>
                <a:cubicBezTo>
                  <a:pt x="6140925" y="1204664"/>
                  <a:pt x="6152014" y="1219961"/>
                  <a:pt x="6168458" y="1234110"/>
                </a:cubicBezTo>
                <a:cubicBezTo>
                  <a:pt x="6225435" y="1283439"/>
                  <a:pt x="6225053" y="1284204"/>
                  <a:pt x="6169222" y="1342712"/>
                </a:cubicBezTo>
                <a:cubicBezTo>
                  <a:pt x="6154308" y="1358390"/>
                  <a:pt x="6138247" y="1368715"/>
                  <a:pt x="6145131" y="1393954"/>
                </a:cubicBezTo>
                <a:cubicBezTo>
                  <a:pt x="6168458" y="1477700"/>
                  <a:pt x="6165398" y="1477700"/>
                  <a:pt x="6071709" y="1505233"/>
                </a:cubicBezTo>
                <a:cubicBezTo>
                  <a:pt x="6050295" y="1511734"/>
                  <a:pt x="6021615" y="1505998"/>
                  <a:pt x="6009378" y="1530089"/>
                </a:cubicBezTo>
                <a:cubicBezTo>
                  <a:pt x="6017026" y="1547680"/>
                  <a:pt x="5999053" y="1972146"/>
                  <a:pt x="6015879" y="1979030"/>
                </a:cubicBezTo>
                <a:cubicBezTo>
                  <a:pt x="6147425" y="2032948"/>
                  <a:pt x="6163868" y="2096427"/>
                  <a:pt x="6061385" y="2196234"/>
                </a:cubicBezTo>
                <a:cubicBezTo>
                  <a:pt x="5992552" y="2263155"/>
                  <a:pt x="6000582" y="2372522"/>
                  <a:pt x="6029263" y="2440972"/>
                </a:cubicBezTo>
                <a:cubicBezTo>
                  <a:pt x="6137482" y="2471182"/>
                  <a:pt x="6113774" y="2551486"/>
                  <a:pt x="6135571" y="2621848"/>
                </a:cubicBezTo>
                <a:cubicBezTo>
                  <a:pt x="6151632" y="2674620"/>
                  <a:pt x="6088535" y="2667354"/>
                  <a:pt x="6091594" y="2691446"/>
                </a:cubicBezTo>
                <a:cubicBezTo>
                  <a:pt x="6131364" y="2720508"/>
                  <a:pt x="6184518" y="2729686"/>
                  <a:pt x="6215493" y="2769456"/>
                </a:cubicBezTo>
                <a:cubicBezTo>
                  <a:pt x="6159662" y="2798518"/>
                  <a:pt x="6131364" y="2839435"/>
                  <a:pt x="6100389" y="2880352"/>
                </a:cubicBezTo>
                <a:cubicBezTo>
                  <a:pt x="6050295" y="2946890"/>
                  <a:pt x="5982227" y="3003103"/>
                  <a:pt x="5909953" y="3053963"/>
                </a:cubicBezTo>
                <a:cubicBezTo>
                  <a:pt x="5873243" y="3408068"/>
                  <a:pt x="5754698" y="3779763"/>
                  <a:pt x="5741696" y="3798118"/>
                </a:cubicBezTo>
                <a:cubicBezTo>
                  <a:pt x="5688160" y="3792764"/>
                  <a:pt x="5584146" y="4006910"/>
                  <a:pt x="5493899" y="4026795"/>
                </a:cubicBezTo>
                <a:cubicBezTo>
                  <a:pt x="5399063" y="4048592"/>
                  <a:pt x="3988763" y="4249736"/>
                  <a:pt x="3773471" y="4239028"/>
                </a:cubicBezTo>
                <a:cubicBezTo>
                  <a:pt x="2603319" y="4182050"/>
                  <a:pt x="2569285" y="4103275"/>
                  <a:pt x="2569285" y="4103275"/>
                </a:cubicBezTo>
                <a:cubicBezTo>
                  <a:pt x="2569285" y="4103275"/>
                  <a:pt x="2635823" y="4083773"/>
                  <a:pt x="2693948" y="4061593"/>
                </a:cubicBezTo>
                <a:cubicBezTo>
                  <a:pt x="2658767" y="4062741"/>
                  <a:pt x="2623587" y="4063505"/>
                  <a:pt x="2588788" y="4062358"/>
                </a:cubicBezTo>
                <a:cubicBezTo>
                  <a:pt x="2319193" y="4054328"/>
                  <a:pt x="2565461" y="4039414"/>
                  <a:pt x="2300073" y="4008822"/>
                </a:cubicBezTo>
                <a:cubicBezTo>
                  <a:pt x="1852280" y="3957198"/>
                  <a:pt x="1919582" y="3943813"/>
                  <a:pt x="1508500" y="3798118"/>
                </a:cubicBezTo>
                <a:cubicBezTo>
                  <a:pt x="1472171" y="3785116"/>
                  <a:pt x="1217109" y="3706342"/>
                  <a:pt x="1061089" y="3697546"/>
                </a:cubicBezTo>
                <a:cubicBezTo>
                  <a:pt x="1019790" y="3695252"/>
                  <a:pt x="974667" y="3696017"/>
                  <a:pt x="939102" y="3648216"/>
                </a:cubicBezTo>
                <a:cubicBezTo>
                  <a:pt x="1048088" y="3649746"/>
                  <a:pt x="1141776" y="3649746"/>
                  <a:pt x="1243495" y="3624890"/>
                </a:cubicBezTo>
                <a:cubicBezTo>
                  <a:pt x="1189194" y="3590473"/>
                  <a:pt x="1126862" y="3619919"/>
                  <a:pt x="1083651" y="3595827"/>
                </a:cubicBezTo>
                <a:cubicBezTo>
                  <a:pt x="1043116" y="3573648"/>
                  <a:pt x="1007935" y="3570589"/>
                  <a:pt x="966636" y="3605770"/>
                </a:cubicBezTo>
                <a:cubicBezTo>
                  <a:pt x="945221" y="3624125"/>
                  <a:pt x="907363" y="3620683"/>
                  <a:pt x="885566" y="3609976"/>
                </a:cubicBezTo>
                <a:cubicBezTo>
                  <a:pt x="768933" y="3552233"/>
                  <a:pt x="771610" y="3552998"/>
                  <a:pt x="641976" y="3567912"/>
                </a:cubicBezTo>
                <a:cubicBezTo>
                  <a:pt x="559377" y="3577089"/>
                  <a:pt x="475248" y="3593533"/>
                  <a:pt x="399533" y="3583590"/>
                </a:cubicBezTo>
                <a:cubicBezTo>
                  <a:pt x="389973" y="3561793"/>
                  <a:pt x="398385" y="3551851"/>
                  <a:pt x="409093" y="3548792"/>
                </a:cubicBezTo>
                <a:cubicBezTo>
                  <a:pt x="583468" y="3501374"/>
                  <a:pt x="615972" y="3447073"/>
                  <a:pt x="792642" y="3417628"/>
                </a:cubicBezTo>
                <a:cubicBezTo>
                  <a:pt x="805644" y="3384359"/>
                  <a:pt x="741400" y="3378622"/>
                  <a:pt x="771610" y="3345736"/>
                </a:cubicBezTo>
                <a:cubicBezTo>
                  <a:pt x="826676" y="3320115"/>
                  <a:pt x="891302" y="3350325"/>
                  <a:pt x="945986" y="3317056"/>
                </a:cubicBezTo>
                <a:cubicBezTo>
                  <a:pt x="936426" y="3293347"/>
                  <a:pt x="890537" y="3310555"/>
                  <a:pt x="892449" y="3285316"/>
                </a:cubicBezTo>
                <a:cubicBezTo>
                  <a:pt x="894744" y="3256254"/>
                  <a:pt x="926866" y="3260843"/>
                  <a:pt x="949045" y="3262755"/>
                </a:cubicBezTo>
                <a:cubicBezTo>
                  <a:pt x="1056500" y="3272697"/>
                  <a:pt x="1149806" y="3218396"/>
                  <a:pt x="1252673" y="3200041"/>
                </a:cubicBezTo>
                <a:cubicBezTo>
                  <a:pt x="1142923" y="3154152"/>
                  <a:pt x="503164" y="3190863"/>
                  <a:pt x="388825" y="3176714"/>
                </a:cubicBezTo>
                <a:cubicBezTo>
                  <a:pt x="269133" y="3162183"/>
                  <a:pt x="78697" y="3123560"/>
                  <a:pt x="127644" y="3111323"/>
                </a:cubicBezTo>
                <a:cubicBezTo>
                  <a:pt x="183093" y="3097175"/>
                  <a:pt x="380795" y="2929300"/>
                  <a:pt x="437008" y="2921652"/>
                </a:cubicBezTo>
                <a:cubicBezTo>
                  <a:pt x="502399" y="2912857"/>
                  <a:pt x="515401" y="2901002"/>
                  <a:pt x="601441" y="2840965"/>
                </a:cubicBezTo>
                <a:cubicBezTo>
                  <a:pt x="658037" y="2801577"/>
                  <a:pt x="422477" y="2887235"/>
                  <a:pt x="330700" y="2859320"/>
                </a:cubicBezTo>
                <a:cubicBezTo>
                  <a:pt x="297049" y="2848995"/>
                  <a:pt x="534521" y="2740010"/>
                  <a:pt x="534521" y="2720126"/>
                </a:cubicBezTo>
                <a:cubicBezTo>
                  <a:pt x="534521" y="2699093"/>
                  <a:pt x="513106" y="2694505"/>
                  <a:pt x="492839" y="2694505"/>
                </a:cubicBezTo>
                <a:cubicBezTo>
                  <a:pt x="447715" y="2694505"/>
                  <a:pt x="461482" y="2676149"/>
                  <a:pt x="416358" y="2677297"/>
                </a:cubicBezTo>
                <a:cubicBezTo>
                  <a:pt x="548670" y="2624143"/>
                  <a:pt x="630504" y="2638292"/>
                  <a:pt x="761285" y="2589726"/>
                </a:cubicBezTo>
                <a:cubicBezTo>
                  <a:pt x="825147" y="2566017"/>
                  <a:pt x="599147" y="2487242"/>
                  <a:pt x="664920" y="2466593"/>
                </a:cubicBezTo>
                <a:cubicBezTo>
                  <a:pt x="689776" y="2458562"/>
                  <a:pt x="723045" y="2466975"/>
                  <a:pt x="740253" y="2438677"/>
                </a:cubicBezTo>
                <a:cubicBezTo>
                  <a:pt x="713103" y="2416116"/>
                  <a:pt x="677157" y="2426058"/>
                  <a:pt x="650006" y="2435236"/>
                </a:cubicBezTo>
                <a:cubicBezTo>
                  <a:pt x="580791" y="2458945"/>
                  <a:pt x="585763" y="2453209"/>
                  <a:pt x="578879" y="2435618"/>
                </a:cubicBezTo>
                <a:cubicBezTo>
                  <a:pt x="556318" y="2375581"/>
                  <a:pt x="500487" y="2394701"/>
                  <a:pt x="451157" y="2404644"/>
                </a:cubicBezTo>
                <a:cubicBezTo>
                  <a:pt x="302020" y="2434471"/>
                  <a:pt x="150971" y="2426058"/>
                  <a:pt x="2216" y="2456650"/>
                </a:cubicBezTo>
                <a:cubicBezTo>
                  <a:pt x="-13844" y="2460092"/>
                  <a:pt x="61489" y="2391642"/>
                  <a:pt x="97052" y="2383611"/>
                </a:cubicBezTo>
                <a:cubicBezTo>
                  <a:pt x="135675" y="2375199"/>
                  <a:pt x="183093" y="2381317"/>
                  <a:pt x="210626" y="2341930"/>
                </a:cubicBezTo>
                <a:cubicBezTo>
                  <a:pt x="161678" y="2331987"/>
                  <a:pt x="105848" y="2351107"/>
                  <a:pt x="57282" y="2319750"/>
                </a:cubicBezTo>
                <a:cubicBezTo>
                  <a:pt x="165120" y="2276539"/>
                  <a:pt x="272575" y="2278068"/>
                  <a:pt x="365499" y="2250153"/>
                </a:cubicBezTo>
                <a:cubicBezTo>
                  <a:pt x="373912" y="2198529"/>
                  <a:pt x="312727" y="2217266"/>
                  <a:pt x="290548" y="2187821"/>
                </a:cubicBezTo>
                <a:cubicBezTo>
                  <a:pt x="990345" y="2137344"/>
                  <a:pt x="599529" y="1988207"/>
                  <a:pt x="482896" y="1906755"/>
                </a:cubicBezTo>
                <a:cubicBezTo>
                  <a:pt x="443891" y="1879605"/>
                  <a:pt x="853827" y="1750735"/>
                  <a:pt x="867211" y="1747294"/>
                </a:cubicBezTo>
                <a:cubicBezTo>
                  <a:pt x="901245" y="1739263"/>
                  <a:pt x="1036233" y="1744999"/>
                  <a:pt x="1063766" y="1734674"/>
                </a:cubicBezTo>
                <a:cubicBezTo>
                  <a:pt x="1098947" y="1721673"/>
                  <a:pt x="982696" y="1699111"/>
                  <a:pt x="1008701" y="1683432"/>
                </a:cubicBezTo>
                <a:cubicBezTo>
                  <a:pt x="1191107" y="1572918"/>
                  <a:pt x="1204107" y="1406573"/>
                  <a:pt x="1152865" y="1394719"/>
                </a:cubicBezTo>
                <a:cubicBezTo>
                  <a:pt x="1099712" y="1382482"/>
                  <a:pt x="1047706" y="1392042"/>
                  <a:pt x="998376" y="1411927"/>
                </a:cubicBezTo>
                <a:cubicBezTo>
                  <a:pt x="918070" y="1444431"/>
                  <a:pt x="362057" y="1398160"/>
                  <a:pt x="206419" y="1424164"/>
                </a:cubicBezTo>
                <a:cubicBezTo>
                  <a:pt x="182710" y="1427988"/>
                  <a:pt x="150589" y="1445196"/>
                  <a:pt x="128027" y="1413074"/>
                </a:cubicBezTo>
                <a:cubicBezTo>
                  <a:pt x="288254" y="1309060"/>
                  <a:pt x="493986" y="1338888"/>
                  <a:pt x="672950" y="1268143"/>
                </a:cubicBezTo>
                <a:cubicBezTo>
                  <a:pt x="602588" y="1219578"/>
                  <a:pt x="531079" y="1221873"/>
                  <a:pt x="457658" y="1229138"/>
                </a:cubicBezTo>
                <a:cubicBezTo>
                  <a:pt x="438538" y="1231050"/>
                  <a:pt x="412534" y="1233727"/>
                  <a:pt x="407945" y="1213459"/>
                </a:cubicBezTo>
                <a:cubicBezTo>
                  <a:pt x="402209" y="1187838"/>
                  <a:pt x="433184" y="1183250"/>
                  <a:pt x="453451" y="1172924"/>
                </a:cubicBezTo>
                <a:cubicBezTo>
                  <a:pt x="484426" y="1156863"/>
                  <a:pt x="530314" y="1175984"/>
                  <a:pt x="568172" y="1132007"/>
                </a:cubicBezTo>
                <a:cubicBezTo>
                  <a:pt x="453451" y="1142333"/>
                  <a:pt x="356704" y="1160305"/>
                  <a:pt x="255367" y="1190898"/>
                </a:cubicBezTo>
                <a:cubicBezTo>
                  <a:pt x="264162" y="1163747"/>
                  <a:pt x="294754" y="1151128"/>
                  <a:pt x="277546" y="1128567"/>
                </a:cubicBezTo>
                <a:cubicBezTo>
                  <a:pt x="264545" y="1111740"/>
                  <a:pt x="227452" y="1103709"/>
                  <a:pt x="246572" y="1072353"/>
                </a:cubicBezTo>
                <a:cubicBezTo>
                  <a:pt x="300490" y="1039083"/>
                  <a:pt x="376971" y="1047879"/>
                  <a:pt x="422859" y="1000078"/>
                </a:cubicBezTo>
                <a:cubicBezTo>
                  <a:pt x="487868" y="932012"/>
                  <a:pt x="588822" y="908684"/>
                  <a:pt x="668362" y="858972"/>
                </a:cubicBezTo>
                <a:cubicBezTo>
                  <a:pt x="694747" y="842911"/>
                  <a:pt x="867976" y="786699"/>
                  <a:pt x="914629" y="768725"/>
                </a:cubicBezTo>
                <a:cubicBezTo>
                  <a:pt x="979637" y="743486"/>
                  <a:pt x="1053823" y="734691"/>
                  <a:pt x="1117684" y="688420"/>
                </a:cubicBezTo>
                <a:cubicBezTo>
                  <a:pt x="1054970" y="678860"/>
                  <a:pt x="1004112" y="722072"/>
                  <a:pt x="928778" y="701040"/>
                </a:cubicBezTo>
                <a:cubicBezTo>
                  <a:pt x="1048088" y="656299"/>
                  <a:pt x="1157454" y="636031"/>
                  <a:pt x="1243877" y="574464"/>
                </a:cubicBezTo>
                <a:cubicBezTo>
                  <a:pt x="1254585" y="566816"/>
                  <a:pt x="1275617" y="569111"/>
                  <a:pt x="1291678" y="566434"/>
                </a:cubicBezTo>
                <a:cubicBezTo>
                  <a:pt x="1460699" y="539283"/>
                  <a:pt x="1630486" y="516339"/>
                  <a:pt x="1797596" y="476952"/>
                </a:cubicBezTo>
                <a:cubicBezTo>
                  <a:pt x="1835454" y="467774"/>
                  <a:pt x="1902374" y="465480"/>
                  <a:pt x="1895491" y="432593"/>
                </a:cubicBezTo>
                <a:cubicBezTo>
                  <a:pt x="1885166" y="383263"/>
                  <a:pt x="1822835" y="418444"/>
                  <a:pt x="1782682" y="423033"/>
                </a:cubicBezTo>
                <a:cubicBezTo>
                  <a:pt x="1658019" y="437947"/>
                  <a:pt x="1533356" y="463950"/>
                  <a:pt x="1406781" y="449419"/>
                </a:cubicBezTo>
                <a:cubicBezTo>
                  <a:pt x="1492056" y="431064"/>
                  <a:pt x="1576950" y="412326"/>
                  <a:pt x="1662226" y="393970"/>
                </a:cubicBezTo>
                <a:cubicBezTo>
                  <a:pt x="1564330" y="400471"/>
                  <a:pt x="1479055" y="357642"/>
                  <a:pt x="1383837" y="376762"/>
                </a:cubicBezTo>
                <a:cubicBezTo>
                  <a:pt x="1353244" y="382881"/>
                  <a:pt x="1321123" y="363378"/>
                  <a:pt x="1318063" y="333168"/>
                </a:cubicBezTo>
                <a:cubicBezTo>
                  <a:pt x="1314622" y="309077"/>
                  <a:pt x="1343302" y="298370"/>
                  <a:pt x="1365099" y="290722"/>
                </a:cubicBezTo>
                <a:cubicBezTo>
                  <a:pt x="1420930" y="271219"/>
                  <a:pt x="1465288" y="213477"/>
                  <a:pt x="1536798" y="244069"/>
                </a:cubicBezTo>
                <a:cubicBezTo>
                  <a:pt x="1581921" y="195886"/>
                  <a:pt x="1653813" y="188238"/>
                  <a:pt x="1711938" y="175619"/>
                </a:cubicBezTo>
                <a:cubicBezTo>
                  <a:pt x="1897403" y="135849"/>
                  <a:pt x="2085546" y="104874"/>
                  <a:pt x="2273687" y="78488"/>
                </a:cubicBezTo>
                <a:cubicBezTo>
                  <a:pt x="2397204" y="61280"/>
                  <a:pt x="2524544" y="68546"/>
                  <a:pt x="2646913" y="46749"/>
                </a:cubicBezTo>
                <a:cubicBezTo>
                  <a:pt x="2886297" y="4302"/>
                  <a:pt x="3124151" y="5450"/>
                  <a:pt x="3362388" y="861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495427"/>
            <a:ext cx="2800350" cy="4024310"/>
          </a:xfrm>
        </p:spPr>
        <p:txBody>
          <a:bodyPr>
            <a:normAutofit/>
          </a:bodyPr>
          <a:lstStyle/>
          <a:p>
            <a:r>
              <a:rPr lang="fr-FR" sz="3700"/>
              <a:t>Composition et parité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EF976C-CD05-FFD9-F58B-128AFC81C9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74722"/>
              </p:ext>
            </p:extLst>
          </p:nvPr>
        </p:nvGraphicFramePr>
        <p:xfrm>
          <a:off x="3526910" y="609600"/>
          <a:ext cx="4988440" cy="55673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fr-FR" sz="3300"/>
              <a:t>Transparence et redevabilité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B6FB1E7-0C90-DDFC-D7B8-0551B3777C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7732808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fr-FR" sz="4700"/>
              <a:t>Défis majeurs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781B3F-9782-65C7-86C7-2D556F86F5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3268523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fr-FR" sz="4700"/>
              <a:t>Bonnes pratiques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A83071-EF36-6F8D-14D1-4F53281C95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0031882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fr-FR" sz="3600"/>
              <a:t>Conclusion et perspectives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B936B8-2A34-9429-C881-5049885CFC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19991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AE84F999B26149BAD494A5506E81F3" ma:contentTypeVersion="25" ma:contentTypeDescription="Create a new document." ma:contentTypeScope="" ma:versionID="cd295e73000c6148a28815fbef325cf0">
  <xsd:schema xmlns:xsd="http://www.w3.org/2001/XMLSchema" xmlns:xs="http://www.w3.org/2001/XMLSchema" xmlns:p="http://schemas.microsoft.com/office/2006/metadata/properties" xmlns:ns1="http://schemas.microsoft.com/sharepoint/v3" xmlns:ns2="80f4c7fb-5be7-48ae-9ddb-a5c46a443b58" xmlns:ns3="b39bf1ee-6b4f-479f-9ce9-7241d6522d55" targetNamespace="http://schemas.microsoft.com/office/2006/metadata/properties" ma:root="true" ma:fieldsID="443c52d966bc38211c74f43f1a24c477" ns1:_="" ns2:_="" ns3:_="">
    <xsd:import namespace="http://schemas.microsoft.com/sharepoint/v3"/>
    <xsd:import namespace="80f4c7fb-5be7-48ae-9ddb-a5c46a443b58"/>
    <xsd:import namespace="b39bf1ee-6b4f-479f-9ce9-7241d6522d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dlc_ExpireDateSaved" minOccurs="0"/>
                <xsd:element ref="ns1:_dlc_ExpireDate" minOccurs="0"/>
                <xsd:element ref="ns1:_dlc_Exempt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_Flow_SignoffStatu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dlc_ExpireDateSaved" ma:index="10" nillable="true" ma:displayName="Original Expiration Date" ma:hidden="true" ma:internalName="_dlc_ExpireDateSaved" ma:readOnly="true">
      <xsd:simpleType>
        <xsd:restriction base="dms:DateTime"/>
      </xsd:simpleType>
    </xsd:element>
    <xsd:element name="_dlc_ExpireDate" ma:index="11" nillable="true" ma:displayName="Expiration Date" ma:description="" ma:hidden="true" ma:indexed="true" ma:internalName="_dlc_ExpireDate" ma:readOnly="true">
      <xsd:simpleType>
        <xsd:restriction base="dms:DateTime"/>
      </xsd:simpleType>
    </xsd:element>
    <xsd:element name="_dlc_Exempt" ma:index="12" nillable="true" ma:displayName="Exempt from Policy" ma:hidden="true" ma:internalName="_dlc_Exempt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f4c7fb-5be7-48ae-9ddb-a5c46a443b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5" nillable="true" ma:displayName="MediaServiceAutoTags" ma:internalName="MediaServiceAutoTags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_Flow_SignoffStatus" ma:index="20" nillable="true" ma:displayName="Sign-off status" ma:internalName="Sign_x002d_off_x0020_status">
      <xsd:simpleType>
        <xsd:restriction base="dms:Text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556e139c-3976-4f37-8cfc-4ca6bb14bc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9bf1ee-6b4f-479f-9ce9-7241d6522d55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f521ea0d-b711-45dc-8afd-6539f8507523}" ma:internalName="TaxCatchAll" ma:showField="CatchAllData" ma:web="b39bf1ee-6b4f-479f-9ce9-7241d6522d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0f4c7fb-5be7-48ae-9ddb-a5c46a443b58">
      <Terms xmlns="http://schemas.microsoft.com/office/infopath/2007/PartnerControls"/>
    </lcf76f155ced4ddcb4097134ff3c332f>
    <_Flow_SignoffStatus xmlns="80f4c7fb-5be7-48ae-9ddb-a5c46a443b58" xsi:nil="true"/>
    <TaxCatchAll xmlns="b39bf1ee-6b4f-479f-9ce9-7241d6522d55" xsi:nil="true"/>
    <_dlc_ExpireDateSaved xmlns="http://schemas.microsoft.com/sharepoint/v3" xsi:nil="true"/>
    <_dlc_ExpireDate xmlns="http://schemas.microsoft.com/sharepoint/v3">2025-10-06T08:23:08+00:00</_dlc_ExpireDate>
  </documentManagement>
</p:properties>
</file>

<file path=customXml/itemProps1.xml><?xml version="1.0" encoding="utf-8"?>
<ds:datastoreItem xmlns:ds="http://schemas.openxmlformats.org/officeDocument/2006/customXml" ds:itemID="{A7D4FD10-4AE9-4C1F-B074-41CA701F845E}"/>
</file>

<file path=customXml/itemProps2.xml><?xml version="1.0" encoding="utf-8"?>
<ds:datastoreItem xmlns:ds="http://schemas.openxmlformats.org/officeDocument/2006/customXml" ds:itemID="{FD4590AC-6239-438F-B326-660EB6198426}"/>
</file>

<file path=customXml/itemProps3.xml><?xml version="1.0" encoding="utf-8"?>
<ds:datastoreItem xmlns:ds="http://schemas.openxmlformats.org/officeDocument/2006/customXml" ds:itemID="{CBAD52A2-8A3D-4403-A42C-6326EC9CDEC3}"/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315</Words>
  <Application>Microsoft Office PowerPoint</Application>
  <PresentationFormat>Affichage à l'écran (4:3)</PresentationFormat>
  <Paragraphs>36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Financement et Résilience de l’Entretien Routier Enquête sur les fonds de nouvelle génération dans les zones AFERA ​​et hors AFERA/ Assistance technique DP4 / SSATP - AFERA</vt:lpstr>
      <vt:lpstr>Contexte</vt:lpstr>
      <vt:lpstr>Cadre juridique et institutionnel</vt:lpstr>
      <vt:lpstr>Gouvernance et prise de décision</vt:lpstr>
      <vt:lpstr>Composition et parité</vt:lpstr>
      <vt:lpstr>Transparence et redevabilité</vt:lpstr>
      <vt:lpstr>Défis majeurs</vt:lpstr>
      <vt:lpstr>Bonnes pratiques</vt:lpstr>
      <vt:lpstr>Conclusion et perspectives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Abdoulaziz Alassane gounga</cp:lastModifiedBy>
  <cp:revision>2</cp:revision>
  <dcterms:created xsi:type="dcterms:W3CDTF">2013-01-27T09:14:16Z</dcterms:created>
  <dcterms:modified xsi:type="dcterms:W3CDTF">2025-09-18T05:21:32Z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0x01010064AE84F999B26149BAD494A5506E81F3</vt:lpwstr>
  </property>
  <property fmtid="{D5CDD505-2E9C-101B-9397-08002B2CF9AE}" pid="3" name="_dlc_policyId">
    <vt:lpwstr>/sites/FileTransfer/AFRICA</vt:lpwstr>
  </property>
  <property fmtid="{D5CDD505-2E9C-101B-9397-08002B2CF9AE}" pid="4" name="ItemRetentionFormula">
    <vt:lpwstr>&lt;formula id="Microsoft.Office.RecordsManagement.PolicyFeatures.Expiration.Formula.BuiltIn"&gt;&lt;number&gt;15&lt;/number&gt;&lt;property&gt;Created&lt;/property&gt;&lt;propertyId&gt;8c06beca-0777-48f7-91c7-6da68bc07b69&lt;/propertyId&gt;&lt;period&gt;days&lt;/period&gt;&lt;/formula&gt;</vt:lpwstr>
  </property>
  <property fmtid="{D5CDD505-2E9C-101B-9397-08002B2CF9AE}" pid="5" name="MediaServiceImageTags">
    <vt:lpwstr/>
  </property>
</Properties>
</file>