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embeddedFontLst>
    <p:embeddedFont>
      <p:font typeface="Play"/>
      <p:regular r:id="rId12"/>
      <p:bold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jfn6MQ51RUdRADX15c2CVi2jPb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3" Type="http://schemas.openxmlformats.org/officeDocument/2006/relationships/font" Target="fonts/Play-bold.fntdata"/><Relationship Id="rId8" Type="http://schemas.openxmlformats.org/officeDocument/2006/relationships/slide" Target="slides/slide4.xml"/><Relationship Id="rId3" Type="http://schemas.openxmlformats.org/officeDocument/2006/relationships/slideMaster" Target="slideMasters/slideMaster1.xml"/><Relationship Id="rId12" Type="http://schemas.openxmlformats.org/officeDocument/2006/relationships/font" Target="fonts/Play-regular.fntdata"/><Relationship Id="rId7" Type="http://schemas.openxmlformats.org/officeDocument/2006/relationships/slide" Target="slides/slide3.xml"/><Relationship Id="rId17" Type="http://schemas.openxmlformats.org/officeDocument/2006/relationships/customXml" Target="../customXml/item3.xml"/><Relationship Id="rId2" Type="http://schemas.openxmlformats.org/officeDocument/2006/relationships/presProps" Target="presProps.xml"/><Relationship Id="rId16" Type="http://schemas.openxmlformats.org/officeDocument/2006/relationships/customXml" Target="../customXml/item2.xml"/><Relationship Id="rId11" Type="http://schemas.openxmlformats.org/officeDocument/2006/relationships/slide" Target="slides/slide7.xml"/><Relationship Id="rId1" Type="http://schemas.openxmlformats.org/officeDocument/2006/relationships/theme" Target="theme/theme1.xml"/><Relationship Id="rId6" Type="http://schemas.openxmlformats.org/officeDocument/2006/relationships/slide" Target="slides/slide2.xml"/><Relationship Id="rId5" Type="http://schemas.openxmlformats.org/officeDocument/2006/relationships/slide" Target="slides/slide1.xml"/><Relationship Id="rId15" Type="http://schemas.openxmlformats.org/officeDocument/2006/relationships/customXml" Target="../customXml/item1.xml"/><Relationship Id="rId10" Type="http://schemas.openxmlformats.org/officeDocument/2006/relationships/slide" Target="slides/slide6.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 name="Google Shape;8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05cca7c0c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805cca7c0c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g3805cca7c0c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805cca7c0c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805cca7c0c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g3805cca7c0c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05cca7c0c_1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g3805cca7c0c_1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g3805cca7c0c_1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805cca7c0c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805cca7c0c_1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3805cca7c0c_1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05cca7c0c_1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805cca7c0c_1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 name="Google Shape;125;g3805cca7c0c_1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05cca7c0c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g3805cca7c0c_1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g3805cca7c0c_1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jp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Imagen 1">
  <p:cSld name="Texto e Imagen 1">
    <p:spTree>
      <p:nvGrpSpPr>
        <p:cNvPr id="21" name="Shape 21"/>
        <p:cNvGrpSpPr/>
        <p:nvPr/>
      </p:nvGrpSpPr>
      <p:grpSpPr>
        <a:xfrm>
          <a:off x="0" y="0"/>
          <a:ext cx="0" cy="0"/>
          <a:chOff x="0" y="0"/>
          <a:chExt cx="0" cy="0"/>
        </a:xfrm>
      </p:grpSpPr>
      <p:sp>
        <p:nvSpPr>
          <p:cNvPr id="22" name="Google Shape;22;p19"/>
          <p:cNvSpPr/>
          <p:nvPr/>
        </p:nvSpPr>
        <p:spPr>
          <a:xfrm>
            <a:off x="2" y="3"/>
            <a:ext cx="194471" cy="1028733"/>
          </a:xfrm>
          <a:prstGeom prst="rect">
            <a:avLst/>
          </a:prstGeom>
          <a:solidFill>
            <a:srgbClr val="E2081E"/>
          </a:solidFill>
          <a:ln>
            <a:noFill/>
          </a:ln>
        </p:spPr>
        <p:txBody>
          <a:bodyPr anchorCtr="0" anchor="ctr" bIns="53625" lIns="107250" spcFirstLastPara="1" rIns="107250" wrap="square" tIns="536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cxnSp>
        <p:nvCxnSpPr>
          <p:cNvPr id="23" name="Google Shape;23;p19"/>
          <p:cNvCxnSpPr/>
          <p:nvPr/>
        </p:nvCxnSpPr>
        <p:spPr>
          <a:xfrm>
            <a:off x="378184" y="1013409"/>
            <a:ext cx="11109067" cy="0"/>
          </a:xfrm>
          <a:prstGeom prst="straightConnector1">
            <a:avLst/>
          </a:prstGeom>
          <a:noFill/>
          <a:ln cap="flat" cmpd="sng" w="19050">
            <a:solidFill>
              <a:srgbClr val="D8D8D8"/>
            </a:solidFill>
            <a:prstDash val="dot"/>
            <a:miter lim="800000"/>
            <a:headEnd len="sm" w="sm" type="none"/>
            <a:tailEnd len="sm" w="sm" type="none"/>
          </a:ln>
        </p:spPr>
      </p:cxnSp>
      <p:pic>
        <p:nvPicPr>
          <p:cNvPr descr="Home | SSATP" id="24" name="Google Shape;24;p19"/>
          <p:cNvPicPr preferRelativeResize="0"/>
          <p:nvPr/>
        </p:nvPicPr>
        <p:blipFill rotWithShape="1">
          <a:blip r:embed="rId2">
            <a:alphaModFix/>
          </a:blip>
          <a:srcRect b="0" l="0" r="0" t="0"/>
          <a:stretch/>
        </p:blipFill>
        <p:spPr>
          <a:xfrm>
            <a:off x="9006589" y="283908"/>
            <a:ext cx="1562044" cy="546716"/>
          </a:xfrm>
          <a:prstGeom prst="rect">
            <a:avLst/>
          </a:prstGeom>
          <a:noFill/>
          <a:ln>
            <a:noFill/>
          </a:ln>
        </p:spPr>
      </p:pic>
      <p:pic>
        <p:nvPicPr>
          <p:cNvPr descr="European Union Logo, symbol, meaning, history, PNG, brand" id="25" name="Google Shape;25;p19"/>
          <p:cNvPicPr preferRelativeResize="0"/>
          <p:nvPr/>
        </p:nvPicPr>
        <p:blipFill rotWithShape="1">
          <a:blip r:embed="rId3">
            <a:alphaModFix/>
          </a:blip>
          <a:srcRect b="23486" l="0" r="0" t="23355"/>
          <a:stretch/>
        </p:blipFill>
        <p:spPr>
          <a:xfrm>
            <a:off x="7253882" y="338983"/>
            <a:ext cx="1562045" cy="467082"/>
          </a:xfrm>
          <a:prstGeom prst="rect">
            <a:avLst/>
          </a:prstGeom>
          <a:noFill/>
          <a:ln>
            <a:noFill/>
          </a:ln>
        </p:spPr>
      </p:pic>
      <p:pic>
        <p:nvPicPr>
          <p:cNvPr descr="TYPSA, Técnica y Proyectos S.A. - Asociación Española del Hidrógeno" id="26" name="Google Shape;26;p19"/>
          <p:cNvPicPr preferRelativeResize="0"/>
          <p:nvPr/>
        </p:nvPicPr>
        <p:blipFill rotWithShape="1">
          <a:blip r:embed="rId4">
            <a:alphaModFix/>
          </a:blip>
          <a:srcRect b="0" l="0" r="0" t="0"/>
          <a:stretch/>
        </p:blipFill>
        <p:spPr>
          <a:xfrm>
            <a:off x="10568633" y="239881"/>
            <a:ext cx="1188011" cy="66528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p:nvPr>
            <p:ph idx="2" type="pic"/>
          </p:nvPr>
        </p:nvSpPr>
        <p:spPr>
          <a:xfrm>
            <a:off x="5183188" y="987425"/>
            <a:ext cx="6172200" cy="4873625"/>
          </a:xfrm>
          <a:prstGeom prst="rect">
            <a:avLst/>
          </a:prstGeom>
          <a:noFill/>
          <a:ln>
            <a:noFill/>
          </a:ln>
        </p:spPr>
      </p:sp>
      <p:sp>
        <p:nvSpPr>
          <p:cNvPr id="70" name="Google Shape;70;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txBox="1"/>
          <p:nvPr>
            <p:ph idx="1" type="body"/>
          </p:nvPr>
        </p:nvSpPr>
        <p:spPr>
          <a:xfrm>
            <a:off x="838200" y="1601885"/>
            <a:ext cx="10515600" cy="2753100"/>
          </a:xfrm>
          <a:prstGeom prst="rect">
            <a:avLst/>
          </a:prstGeom>
          <a:noFill/>
          <a:ln>
            <a:noFill/>
          </a:ln>
        </p:spPr>
        <p:txBody>
          <a:bodyPr anchorCtr="0" anchor="t" bIns="45700" lIns="91425" spcFirstLastPara="1" rIns="91425" wrap="square" tIns="45700">
            <a:normAutofit fontScale="25000" lnSpcReduction="20000"/>
          </a:bodyPr>
          <a:lstStyle/>
          <a:p>
            <a:pPr indent="0" lvl="0" marL="114300" rtl="0" algn="ctr">
              <a:lnSpc>
                <a:spcPct val="200000"/>
              </a:lnSpc>
              <a:spcBef>
                <a:spcPts val="1000"/>
              </a:spcBef>
              <a:spcAft>
                <a:spcPts val="0"/>
              </a:spcAft>
              <a:buSzPts val="486"/>
              <a:buNone/>
            </a:pPr>
            <a:r>
              <a:rPr b="1" lang="en-GB" sz="10073"/>
              <a:t>Technical Assistance to Support the Africa Transport Policy Program</a:t>
            </a:r>
            <a:r>
              <a:rPr lang="en-GB" sz="10073"/>
              <a:t> </a:t>
            </a:r>
            <a:r>
              <a:rPr b="1" lang="en-GB" sz="10073"/>
              <a:t>(SSATP) Fourth Development Plan (DP4) Implementation</a:t>
            </a:r>
            <a:endParaRPr b="1" sz="8330">
              <a:solidFill>
                <a:srgbClr val="E2081E"/>
              </a:solidFill>
            </a:endParaRPr>
          </a:p>
          <a:p>
            <a:pPr indent="0" lvl="0" marL="114300" rtl="0" algn="ctr">
              <a:lnSpc>
                <a:spcPct val="200000"/>
              </a:lnSpc>
              <a:spcBef>
                <a:spcPts val="1000"/>
              </a:spcBef>
              <a:spcAft>
                <a:spcPts val="0"/>
              </a:spcAft>
              <a:buSzPts val="486"/>
              <a:buNone/>
            </a:pPr>
            <a:r>
              <a:t/>
            </a:r>
            <a:endParaRPr b="1" sz="8330">
              <a:solidFill>
                <a:srgbClr val="E2081E"/>
              </a:solidFill>
            </a:endParaRPr>
          </a:p>
          <a:p>
            <a:pPr indent="0" lvl="0" marL="114300" rtl="0" algn="ctr">
              <a:lnSpc>
                <a:spcPct val="90000"/>
              </a:lnSpc>
              <a:spcBef>
                <a:spcPts val="1000"/>
              </a:spcBef>
              <a:spcAft>
                <a:spcPts val="0"/>
              </a:spcAft>
              <a:buSzPts val="486"/>
              <a:buNone/>
            </a:pPr>
            <a:r>
              <a:rPr b="1" lang="en-GB" sz="8330">
                <a:solidFill>
                  <a:srgbClr val="E2081E"/>
                </a:solidFill>
              </a:rPr>
              <a:t>PRÉSENTATION DU GROUPE DE TRAVAIL FINANCES</a:t>
            </a:r>
            <a:endParaRPr b="1" sz="8330">
              <a:solidFill>
                <a:srgbClr val="E2081E"/>
              </a:solidFill>
            </a:endParaRPr>
          </a:p>
          <a:p>
            <a:pPr indent="0" lvl="0" marL="457200" rtl="0" algn="ctr">
              <a:lnSpc>
                <a:spcPct val="100000"/>
              </a:lnSpc>
              <a:spcBef>
                <a:spcPts val="0"/>
              </a:spcBef>
              <a:spcAft>
                <a:spcPts val="0"/>
              </a:spcAft>
              <a:buSzPct val="105882"/>
              <a:buNone/>
            </a:pPr>
            <a:r>
              <a:t/>
            </a:r>
            <a:endParaRPr i="1" sz="6800"/>
          </a:p>
          <a:p>
            <a:pPr indent="0" lvl="0" marL="114300" rtl="0" algn="ctr">
              <a:lnSpc>
                <a:spcPct val="90000"/>
              </a:lnSpc>
              <a:spcBef>
                <a:spcPts val="1000"/>
              </a:spcBef>
              <a:spcAft>
                <a:spcPts val="0"/>
              </a:spcAft>
              <a:buSzPts val="486"/>
              <a:buNone/>
            </a:pPr>
            <a:r>
              <a:t/>
            </a:r>
            <a:endParaRPr b="1" sz="8330">
              <a:solidFill>
                <a:srgbClr val="E2081E"/>
              </a:solidFill>
            </a:endParaRPr>
          </a:p>
        </p:txBody>
      </p:sp>
      <p:pic>
        <p:nvPicPr>
          <p:cNvPr id="91" name="Google Shape;91;p1"/>
          <p:cNvPicPr preferRelativeResize="0"/>
          <p:nvPr/>
        </p:nvPicPr>
        <p:blipFill rotWithShape="1">
          <a:blip r:embed="rId3">
            <a:alphaModFix/>
          </a:blip>
          <a:srcRect b="0" l="0" r="0" t="0"/>
          <a:stretch/>
        </p:blipFill>
        <p:spPr>
          <a:xfrm>
            <a:off x="838200" y="203200"/>
            <a:ext cx="10515600" cy="1132114"/>
          </a:xfrm>
          <a:prstGeom prst="rect">
            <a:avLst/>
          </a:prstGeom>
          <a:noFill/>
          <a:ln>
            <a:noFill/>
          </a:ln>
        </p:spPr>
      </p:pic>
      <p:sp>
        <p:nvSpPr>
          <p:cNvPr id="92" name="Google Shape;92;p1"/>
          <p:cNvSpPr txBox="1"/>
          <p:nvPr/>
        </p:nvSpPr>
        <p:spPr>
          <a:xfrm>
            <a:off x="315532" y="4792688"/>
            <a:ext cx="11737168" cy="11322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None/>
            </a:pPr>
            <a:r>
              <a:rPr b="1" i="1" lang="en-GB" sz="1600" u="none" cap="none" strike="noStrike">
                <a:solidFill>
                  <a:schemeClr val="dk1"/>
                </a:solidFill>
              </a:rPr>
              <a:t>Modéré par: </a:t>
            </a:r>
            <a:r>
              <a:rPr i="1" lang="en-GB" sz="1600" u="none" cap="none" strike="noStrike">
                <a:solidFill>
                  <a:schemeClr val="dk1"/>
                </a:solidFill>
              </a:rPr>
              <a:t>Annstellah Wanjiru Maina, experte en analyse de données et d'enquêtes (Equipe d'assistance technique). </a:t>
            </a:r>
            <a:r>
              <a:rPr b="1" i="1" lang="en-GB" sz="1600" u="none" cap="none" strike="noStrike">
                <a:solidFill>
                  <a:schemeClr val="dk1"/>
                </a:solidFill>
              </a:rPr>
              <a:t>Présenté par</a:t>
            </a:r>
            <a:r>
              <a:rPr b="1" i="1" lang="en-GB" sz="1600">
                <a:solidFill>
                  <a:schemeClr val="dk1"/>
                </a:solidFill>
              </a:rPr>
              <a:t>: </a:t>
            </a:r>
            <a:r>
              <a:rPr i="1" lang="en-GB" sz="1600" u="none" cap="none" strike="noStrike">
                <a:solidFill>
                  <a:schemeClr val="dk1"/>
                </a:solidFill>
              </a:rPr>
              <a:t>Ousseynou BA, Spécialiste Suivi-Evaluation du Fonds d’Entretien routier autonome (FERA) - Sénégal.</a:t>
            </a:r>
            <a:endParaRPr i="1" sz="1600" u="none" cap="none" strike="noStrike">
              <a:solidFill>
                <a:schemeClr val="dk1"/>
              </a:solidFill>
              <a:highlight>
                <a:srgbClr val="FFFF00"/>
              </a:highlight>
            </a:endParaRPr>
          </a:p>
        </p:txBody>
      </p:sp>
      <p:sp>
        <p:nvSpPr>
          <p:cNvPr id="93" name="Google Shape;93;p1"/>
          <p:cNvSpPr txBox="1"/>
          <p:nvPr/>
        </p:nvSpPr>
        <p:spPr>
          <a:xfrm>
            <a:off x="9052700" y="6362600"/>
            <a:ext cx="3000000" cy="400200"/>
          </a:xfrm>
          <a:prstGeom prst="rect">
            <a:avLst/>
          </a:prstGeom>
          <a:noFill/>
          <a:ln>
            <a:noFill/>
          </a:ln>
        </p:spPr>
        <p:txBody>
          <a:bodyPr anchorCtr="0" anchor="t" bIns="91425" lIns="91425" spcFirstLastPara="1" rIns="91425" wrap="square" tIns="91425">
            <a:spAutoFit/>
          </a:bodyPr>
          <a:lstStyle/>
          <a:p>
            <a:pPr indent="0" lvl="0" marL="457200" marR="0" rtl="0" algn="ctr">
              <a:lnSpc>
                <a:spcPct val="100000"/>
              </a:lnSpc>
              <a:spcBef>
                <a:spcPts val="0"/>
              </a:spcBef>
              <a:spcAft>
                <a:spcPts val="0"/>
              </a:spcAft>
              <a:buClr>
                <a:srgbClr val="000000"/>
              </a:buClr>
              <a:buSzPts val="1400"/>
              <a:buFont typeface="Arial"/>
              <a:buNone/>
            </a:pPr>
            <a:r>
              <a:rPr b="0" i="1" lang="en-GB" sz="1400" u="none" cap="none" strike="noStrike">
                <a:solidFill>
                  <a:schemeClr val="dk1"/>
                </a:solidFill>
                <a:latin typeface="Arial"/>
                <a:ea typeface="Arial"/>
                <a:cs typeface="Arial"/>
                <a:sym typeface="Arial"/>
              </a:rPr>
              <a:t>18 September 2025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805cca7c0c_1_2"/>
          <p:cNvSpPr txBox="1"/>
          <p:nvPr/>
        </p:nvSpPr>
        <p:spPr>
          <a:xfrm>
            <a:off x="453075" y="240475"/>
            <a:ext cx="5975700" cy="60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GB" sz="2500" u="none" cap="none" strike="noStrike">
                <a:solidFill>
                  <a:srgbClr val="E2081E"/>
                </a:solidFill>
                <a:latin typeface="Arial"/>
                <a:ea typeface="Arial"/>
                <a:cs typeface="Arial"/>
                <a:sym typeface="Arial"/>
              </a:rPr>
              <a:t>Plan</a:t>
            </a:r>
            <a:endParaRPr b="1" i="0" sz="2500" u="none" cap="none" strike="noStrike">
              <a:solidFill>
                <a:srgbClr val="E2081E"/>
              </a:solidFill>
              <a:latin typeface="Arial"/>
              <a:ea typeface="Arial"/>
              <a:cs typeface="Arial"/>
              <a:sym typeface="Arial"/>
            </a:endParaRPr>
          </a:p>
        </p:txBody>
      </p:sp>
      <p:sp>
        <p:nvSpPr>
          <p:cNvPr id="100" name="Google Shape;100;g3805cca7c0c_1_2"/>
          <p:cNvSpPr txBox="1"/>
          <p:nvPr/>
        </p:nvSpPr>
        <p:spPr>
          <a:xfrm>
            <a:off x="180304" y="1100004"/>
            <a:ext cx="11912958" cy="5757995"/>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i="0" lang="en-GB" sz="1700" u="sng" cap="none" strike="noStrike">
                <a:solidFill>
                  <a:schemeClr val="dk1"/>
                </a:solidFill>
                <a:latin typeface="Arial"/>
                <a:ea typeface="Arial"/>
                <a:cs typeface="Arial"/>
                <a:sym typeface="Arial"/>
              </a:rPr>
              <a:t>Objectif de la séance de travail sur les finances </a:t>
            </a:r>
            <a:r>
              <a:rPr b="1" i="0" lang="en-GB" sz="1700" u="none" cap="none" strike="noStrike">
                <a:solidFill>
                  <a:schemeClr val="dk1"/>
                </a:solidFill>
                <a:latin typeface="Arial"/>
                <a:ea typeface="Arial"/>
                <a:cs typeface="Arial"/>
                <a:sym typeface="Arial"/>
              </a:rPr>
              <a:t>:</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Évaluer la santé financière et les systèmes de gestion du Fonds routier ;</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Identifier les déficits de financement importants et les possibilités de diversification des recettes ;</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Explorer les mesures susceptibles de renforcer la collecte et la gestion des recettes pour une plus grande efficacité.</a:t>
            </a:r>
            <a:endParaRPr/>
          </a:p>
          <a:p>
            <a:pPr indent="0" lvl="0" marL="0" marR="0" rtl="0" algn="l">
              <a:lnSpc>
                <a:spcPct val="115000"/>
              </a:lnSpc>
              <a:spcBef>
                <a:spcPts val="0"/>
              </a:spcBef>
              <a:spcAft>
                <a:spcPts val="0"/>
              </a:spcAft>
              <a:buNone/>
            </a:pPr>
            <a:r>
              <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rPr b="1" i="0" lang="en-GB" sz="1700" u="sng" cap="none" strike="noStrike">
                <a:solidFill>
                  <a:schemeClr val="dk1"/>
                </a:solidFill>
                <a:latin typeface="Arial"/>
                <a:ea typeface="Arial"/>
                <a:cs typeface="Arial"/>
                <a:sym typeface="Arial"/>
              </a:rPr>
              <a:t>Pays représentés </a:t>
            </a:r>
            <a:r>
              <a:rPr b="1" i="0" lang="en-GB" sz="1700" u="none" cap="none" strike="noStrike">
                <a:solidFill>
                  <a:schemeClr val="dk1"/>
                </a:solidFill>
                <a:latin typeface="Arial"/>
                <a:ea typeface="Arial"/>
                <a:cs typeface="Arial"/>
                <a:sym typeface="Arial"/>
              </a:rPr>
              <a:t>: </a:t>
            </a:r>
            <a:r>
              <a:rPr b="0" i="0" lang="en-GB" sz="1700" u="none" cap="none" strike="noStrike">
                <a:solidFill>
                  <a:schemeClr val="dk1"/>
                </a:solidFill>
                <a:latin typeface="Arial"/>
                <a:ea typeface="Arial"/>
                <a:cs typeface="Arial"/>
                <a:sym typeface="Arial"/>
              </a:rPr>
              <a:t>Sénégal, République Centrafricaine, Niger, Guinée, Sierra Leone, Togo, Libéria.</a:t>
            </a:r>
            <a:endParaRPr/>
          </a:p>
          <a:p>
            <a:pPr indent="0" lvl="0" marL="0" marR="0" rtl="0" algn="l">
              <a:lnSpc>
                <a:spcPct val="115000"/>
              </a:lnSpc>
              <a:spcBef>
                <a:spcPts val="0"/>
              </a:spcBef>
              <a:spcAft>
                <a:spcPts val="0"/>
              </a:spcAft>
              <a:buNone/>
            </a:pPr>
            <a:r>
              <a:t/>
            </a:r>
            <a:endParaRPr b="1" i="0" sz="17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None/>
            </a:pPr>
            <a:r>
              <a:rPr b="1" i="0" lang="en-GB" sz="1700" u="sng" cap="none" strike="noStrike">
                <a:solidFill>
                  <a:schemeClr val="dk1"/>
                </a:solidFill>
                <a:latin typeface="Arial"/>
                <a:ea typeface="Arial"/>
                <a:cs typeface="Arial"/>
                <a:sym typeface="Arial"/>
              </a:rPr>
              <a:t>Principaux thèmes de discussion </a:t>
            </a:r>
            <a:r>
              <a:rPr b="1" i="0" lang="en-GB" sz="1700" u="none" cap="none" strike="noStrike">
                <a:solidFill>
                  <a:schemeClr val="dk1"/>
                </a:solidFill>
                <a:latin typeface="Arial"/>
                <a:ea typeface="Arial"/>
                <a:cs typeface="Arial"/>
                <a:sym typeface="Arial"/>
              </a:rPr>
              <a:t>:</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Systèmes de gestion et outils d’appui</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Sources et adéquation des recettes</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Procédures de collecte des recettes</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Coûts d’entretien</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Mécanismes de financement des projets d’entretien</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Gestion des risques financiers</a:t>
            </a:r>
            <a:endParaRPr/>
          </a:p>
          <a:p>
            <a:pPr indent="-285750" lvl="0" marL="285750" marR="0" rtl="0" algn="l">
              <a:lnSpc>
                <a:spcPct val="150000"/>
              </a:lnSpc>
              <a:spcBef>
                <a:spcPts val="0"/>
              </a:spcBef>
              <a:spcAft>
                <a:spcPts val="0"/>
              </a:spcAft>
              <a:buClr>
                <a:srgbClr val="000000"/>
              </a:buClr>
              <a:buSzPts val="1700"/>
              <a:buFont typeface="Noto Sans Symbols"/>
              <a:buChar char="❑"/>
            </a:pPr>
            <a:r>
              <a:rPr b="0" i="0" lang="en-GB" sz="1700" u="none" cap="none" strike="noStrike">
                <a:solidFill>
                  <a:schemeClr val="dk1"/>
                </a:solidFill>
                <a:latin typeface="Arial"/>
                <a:ea typeface="Arial"/>
                <a:cs typeface="Arial"/>
                <a:sym typeface="Arial"/>
              </a:rPr>
              <a:t>Allocation budgétaire pour la résilience climatique</a:t>
            </a:r>
            <a:endParaRPr b="0" i="0" sz="17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805cca7c0c_1_10"/>
          <p:cNvSpPr txBox="1"/>
          <p:nvPr/>
        </p:nvSpPr>
        <p:spPr>
          <a:xfrm>
            <a:off x="634725" y="356075"/>
            <a:ext cx="7017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n-GB" sz="2500" u="none" cap="none" strike="noStrike">
                <a:solidFill>
                  <a:srgbClr val="E2081E"/>
                </a:solidFill>
                <a:highlight>
                  <a:schemeClr val="lt1"/>
                </a:highlight>
                <a:latin typeface="Arial"/>
                <a:ea typeface="Arial"/>
                <a:cs typeface="Arial"/>
                <a:sym typeface="Arial"/>
              </a:rPr>
              <a:t>Principales conclusions</a:t>
            </a:r>
            <a:endParaRPr b="1" i="0" sz="2500" u="none" cap="none" strike="noStrike">
              <a:solidFill>
                <a:srgbClr val="E2081E"/>
              </a:solidFill>
              <a:highlight>
                <a:schemeClr val="lt1"/>
              </a:highlight>
              <a:latin typeface="Arial"/>
              <a:ea typeface="Arial"/>
              <a:cs typeface="Arial"/>
              <a:sym typeface="Arial"/>
            </a:endParaRPr>
          </a:p>
        </p:txBody>
      </p:sp>
      <p:sp>
        <p:nvSpPr>
          <p:cNvPr id="107" name="Google Shape;107;g3805cca7c0c_1_10"/>
          <p:cNvSpPr txBox="1"/>
          <p:nvPr/>
        </p:nvSpPr>
        <p:spPr>
          <a:xfrm>
            <a:off x="287400" y="1096750"/>
            <a:ext cx="11617200" cy="5447615"/>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None/>
            </a:pPr>
            <a:r>
              <a:rPr b="1" i="0" lang="en-GB" sz="1800" u="sng" cap="none" strike="noStrike">
                <a:solidFill>
                  <a:schemeClr val="dk1"/>
                </a:solidFill>
                <a:latin typeface="Arial"/>
                <a:ea typeface="Arial"/>
                <a:cs typeface="Arial"/>
                <a:sym typeface="Arial"/>
              </a:rPr>
              <a:t>Exhaustivité du questionnaire d'enquête</a:t>
            </a:r>
            <a:endParaRPr/>
          </a:p>
          <a:p>
            <a:pPr indent="0" lvl="0" marL="0" marR="0" rtl="0" algn="just">
              <a:lnSpc>
                <a:spcPct val="100000"/>
              </a:lnSpc>
              <a:spcBef>
                <a:spcPts val="0"/>
              </a:spcBef>
              <a:spcAft>
                <a:spcPts val="0"/>
              </a:spcAft>
              <a:buNone/>
            </a:pPr>
            <a:r>
              <a:t/>
            </a:r>
            <a:endParaRPr b="1" i="0" sz="18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800"/>
              <a:buFont typeface="Noto Sans Symbols"/>
              <a:buChar char="❑"/>
            </a:pPr>
            <a:r>
              <a:rPr b="1" i="0" lang="en-GB" sz="1800" u="none" cap="none" strike="noStrike">
                <a:solidFill>
                  <a:schemeClr val="dk1"/>
                </a:solidFill>
                <a:latin typeface="Arial"/>
                <a:ea typeface="Arial"/>
                <a:cs typeface="Arial"/>
                <a:sym typeface="Arial"/>
              </a:rPr>
              <a:t>Étendue du questionnaire : </a:t>
            </a:r>
            <a:r>
              <a:rPr b="0" i="0" lang="en-GB" sz="1800" u="none" cap="none" strike="noStrike">
                <a:solidFill>
                  <a:schemeClr val="dk1"/>
                </a:solidFill>
                <a:latin typeface="Arial"/>
                <a:ea typeface="Arial"/>
                <a:cs typeface="Arial"/>
                <a:sym typeface="Arial"/>
              </a:rPr>
              <a:t>Les participants ont apprécié l'étendue du questionnaire, car ils y voient une opportunité d'utiliser les résultats pour influencer les changements aux niveaux institutionnel et ministériel sur la manière dont leurs activités de gestion financière sont menées.</a:t>
            </a:r>
            <a:endParaRPr/>
          </a:p>
          <a:p>
            <a:pPr indent="-285750" lvl="0" marL="285750" marR="0" rtl="0" algn="just">
              <a:lnSpc>
                <a:spcPct val="100000"/>
              </a:lnSpc>
              <a:spcBef>
                <a:spcPts val="0"/>
              </a:spcBef>
              <a:spcAft>
                <a:spcPts val="0"/>
              </a:spcAft>
              <a:buClr>
                <a:srgbClr val="000000"/>
              </a:buClr>
              <a:buSzPts val="1800"/>
              <a:buFont typeface="Noto Sans Symbols"/>
              <a:buChar char="❑"/>
            </a:pPr>
            <a:r>
              <a:rPr b="1" i="0" lang="en-GB" sz="1800" u="none" cap="none" strike="noStrike">
                <a:solidFill>
                  <a:schemeClr val="dk1"/>
                </a:solidFill>
                <a:latin typeface="Arial"/>
                <a:ea typeface="Arial"/>
                <a:cs typeface="Arial"/>
                <a:sym typeface="Arial"/>
              </a:rPr>
              <a:t>Disponibilité des sources de données : </a:t>
            </a:r>
            <a:r>
              <a:rPr b="0" i="0" lang="en-GB" sz="1800" u="none" cap="none" strike="noStrike">
                <a:solidFill>
                  <a:schemeClr val="dk1"/>
                </a:solidFill>
                <a:latin typeface="Arial"/>
                <a:ea typeface="Arial"/>
                <a:cs typeface="Arial"/>
                <a:sym typeface="Arial"/>
              </a:rPr>
              <a:t>Des inquiétudes ont été soulevées quant à la disponibilité des données pour remplir efficacement le questionnaire, certains documents étant conservés par le ministère.</a:t>
            </a:r>
            <a:endParaRPr/>
          </a:p>
          <a:p>
            <a:pPr indent="0" lvl="0" marL="0" marR="0" rtl="0" algn="just">
              <a:lnSpc>
                <a:spcPct val="100000"/>
              </a:lnSpc>
              <a:spcBef>
                <a:spcPts val="0"/>
              </a:spcBef>
              <a:spcAft>
                <a:spcPts val="0"/>
              </a:spcAft>
              <a:buNone/>
            </a:pPr>
            <a:r>
              <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b="1" i="0" lang="en-GB" sz="1800" u="sng" cap="none" strike="noStrike">
                <a:solidFill>
                  <a:schemeClr val="dk1"/>
                </a:solidFill>
                <a:latin typeface="Arial"/>
                <a:ea typeface="Arial"/>
                <a:cs typeface="Arial"/>
                <a:sym typeface="Arial"/>
              </a:rPr>
              <a:t>Points de consensus concernant les pratiques de gestion financière</a:t>
            </a:r>
            <a:endParaRPr/>
          </a:p>
          <a:p>
            <a:pPr indent="0" lvl="0" marL="0" marR="0" rtl="0" algn="just">
              <a:lnSpc>
                <a:spcPct val="100000"/>
              </a:lnSpc>
              <a:spcBef>
                <a:spcPts val="0"/>
              </a:spcBef>
              <a:spcAft>
                <a:spcPts val="0"/>
              </a:spcAft>
              <a:buNone/>
            </a:pPr>
            <a:r>
              <a:t/>
            </a:r>
            <a:endParaRPr b="1" i="0" sz="1800" u="none" cap="none" strike="noStrike">
              <a:solidFill>
                <a:schemeClr val="dk1"/>
              </a:solidFill>
              <a:latin typeface="Arial"/>
              <a:ea typeface="Arial"/>
              <a:cs typeface="Arial"/>
              <a:sym typeface="Arial"/>
            </a:endParaRPr>
          </a:p>
          <a:p>
            <a:pPr indent="-285750" lvl="0" marL="285750" marR="0" rtl="0" algn="just">
              <a:lnSpc>
                <a:spcPct val="100000"/>
              </a:lnSpc>
              <a:spcBef>
                <a:spcPts val="0"/>
              </a:spcBef>
              <a:spcAft>
                <a:spcPts val="0"/>
              </a:spcAft>
              <a:buClr>
                <a:srgbClr val="000000"/>
              </a:buClr>
              <a:buSzPts val="1800"/>
              <a:buFont typeface="Noto Sans Symbols"/>
              <a:buChar char="❑"/>
            </a:pPr>
            <a:r>
              <a:rPr b="1" i="0" lang="en-GB" sz="1800" u="none" cap="none" strike="noStrike">
                <a:solidFill>
                  <a:schemeClr val="dk1"/>
                </a:solidFill>
                <a:latin typeface="Arial"/>
                <a:ea typeface="Arial"/>
                <a:cs typeface="Arial"/>
                <a:sym typeface="Arial"/>
              </a:rPr>
              <a:t>Sources de recettes : </a:t>
            </a:r>
            <a:r>
              <a:rPr b="0" i="0" lang="en-GB" sz="1800" u="none" cap="none" strike="noStrike">
                <a:solidFill>
                  <a:schemeClr val="dk1"/>
                </a:solidFill>
                <a:latin typeface="Arial"/>
                <a:ea typeface="Arial"/>
                <a:cs typeface="Arial"/>
                <a:sym typeface="Arial"/>
              </a:rPr>
              <a:t>Tous les participants du groupe perçoivent les recettes des taxes sur les carburants.</a:t>
            </a:r>
            <a:endParaRPr/>
          </a:p>
          <a:p>
            <a:pPr indent="-285750" lvl="0" marL="285750" marR="0" rtl="0" algn="just">
              <a:lnSpc>
                <a:spcPct val="100000"/>
              </a:lnSpc>
              <a:spcBef>
                <a:spcPts val="0"/>
              </a:spcBef>
              <a:spcAft>
                <a:spcPts val="0"/>
              </a:spcAft>
              <a:buClr>
                <a:srgbClr val="000000"/>
              </a:buClr>
              <a:buSzPts val="1800"/>
              <a:buFont typeface="Noto Sans Symbols"/>
              <a:buChar char="❑"/>
            </a:pPr>
            <a:r>
              <a:rPr b="1" i="0" lang="en-GB" sz="1800" u="none" cap="none" strike="noStrike">
                <a:solidFill>
                  <a:schemeClr val="dk1"/>
                </a:solidFill>
                <a:latin typeface="Arial"/>
                <a:ea typeface="Arial"/>
                <a:cs typeface="Arial"/>
                <a:sym typeface="Arial"/>
              </a:rPr>
              <a:t>Restitution des excédents de recettes : </a:t>
            </a:r>
            <a:r>
              <a:rPr b="0" i="0" lang="en-GB" sz="1800" u="none" cap="none" strike="noStrike">
                <a:solidFill>
                  <a:schemeClr val="dk1"/>
                </a:solidFill>
                <a:latin typeface="Arial"/>
                <a:ea typeface="Arial"/>
                <a:cs typeface="Arial"/>
                <a:sym typeface="Arial"/>
              </a:rPr>
              <a:t>Il est clair qu'aucun pays ne présente d'excédent de recettes et que les besoins d'entretien sont sous-financés.</a:t>
            </a:r>
            <a:endParaRPr/>
          </a:p>
          <a:p>
            <a:pPr indent="-285750" lvl="0" marL="285750" marR="0" rtl="0" algn="just">
              <a:lnSpc>
                <a:spcPct val="100000"/>
              </a:lnSpc>
              <a:spcBef>
                <a:spcPts val="0"/>
              </a:spcBef>
              <a:spcAft>
                <a:spcPts val="0"/>
              </a:spcAft>
              <a:buClr>
                <a:srgbClr val="000000"/>
              </a:buClr>
              <a:buSzPts val="1800"/>
              <a:buFont typeface="Noto Sans Symbols"/>
              <a:buChar char="❑"/>
            </a:pPr>
            <a:r>
              <a:rPr b="1" i="0" lang="en-GB" sz="1800" u="none" cap="none" strike="noStrike">
                <a:solidFill>
                  <a:schemeClr val="dk1"/>
                </a:solidFill>
                <a:latin typeface="Arial"/>
                <a:ea typeface="Arial"/>
                <a:cs typeface="Arial"/>
                <a:sym typeface="Arial"/>
              </a:rPr>
              <a:t>Recettes collectées versus recettes reversées aux RFB : </a:t>
            </a:r>
            <a:r>
              <a:rPr b="0" i="0" lang="en-GB" sz="1800" u="none" cap="none" strike="noStrike">
                <a:solidFill>
                  <a:schemeClr val="dk1"/>
                </a:solidFill>
                <a:latin typeface="Arial"/>
                <a:ea typeface="Arial"/>
                <a:cs typeface="Arial"/>
                <a:sym typeface="Arial"/>
              </a:rPr>
              <a:t>Il existe une nette différence entre les montants des recettes collectées et les montants déboursés pour les opérations d'entretien routier, car les RFB reçoivent des fonds du Trésor public et les recettes perçues sont déposées sur des comptes distincts gérés par les ministères et le Trésor.</a:t>
            </a:r>
            <a:endParaRPr/>
          </a:p>
          <a:p>
            <a:pPr indent="-285750" lvl="0" marL="285750" marR="0" rtl="0" algn="just">
              <a:lnSpc>
                <a:spcPct val="100000"/>
              </a:lnSpc>
              <a:spcBef>
                <a:spcPts val="0"/>
              </a:spcBef>
              <a:spcAft>
                <a:spcPts val="0"/>
              </a:spcAft>
              <a:buClr>
                <a:srgbClr val="000000"/>
              </a:buClr>
              <a:buSzPts val="1800"/>
              <a:buFont typeface="Noto Sans Symbols"/>
              <a:buChar char="❑"/>
            </a:pPr>
            <a:r>
              <a:rPr b="1" i="0" lang="en-GB" sz="1800" u="none" cap="none" strike="noStrike">
                <a:solidFill>
                  <a:schemeClr val="dk1"/>
                </a:solidFill>
                <a:latin typeface="Arial"/>
                <a:ea typeface="Arial"/>
                <a:cs typeface="Arial"/>
                <a:sym typeface="Arial"/>
              </a:rPr>
              <a:t>Numérisation : </a:t>
            </a:r>
            <a:r>
              <a:rPr b="0" i="0" lang="en-GB" sz="1800" u="none" cap="none" strike="noStrike">
                <a:solidFill>
                  <a:schemeClr val="dk1"/>
                </a:solidFill>
                <a:latin typeface="Arial"/>
                <a:ea typeface="Arial"/>
                <a:cs typeface="Arial"/>
                <a:sym typeface="Arial"/>
              </a:rPr>
              <a:t>Les activités comptables ont été numérisées grâce à des outils TIC tels que SAGE, qui sont très appréciés des participants.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3805cca7c0c_1_18"/>
          <p:cNvSpPr txBox="1"/>
          <p:nvPr/>
        </p:nvSpPr>
        <p:spPr>
          <a:xfrm>
            <a:off x="283200" y="1470675"/>
            <a:ext cx="11908800" cy="2927438"/>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None/>
            </a:pPr>
            <a:r>
              <a:rPr b="1" i="0" lang="en-GB" sz="1800" u="sng" cap="none" strike="noStrike">
                <a:solidFill>
                  <a:schemeClr val="dk1"/>
                </a:solidFill>
                <a:latin typeface="Arial"/>
                <a:ea typeface="Arial"/>
                <a:cs typeface="Arial"/>
                <a:sym typeface="Arial"/>
              </a:rPr>
              <a:t>Disparités dans les pratiques de gestion financière </a:t>
            </a:r>
            <a:r>
              <a:rPr b="1" i="0" lang="en-GB" sz="1800" u="none" cap="none" strike="noStrike">
                <a:solidFill>
                  <a:schemeClr val="dk1"/>
                </a:solidFill>
                <a:latin typeface="Arial"/>
                <a:ea typeface="Arial"/>
                <a:cs typeface="Arial"/>
                <a:sym typeface="Arial"/>
              </a:rPr>
              <a:t>:</a:t>
            </a:r>
            <a:endParaRPr/>
          </a:p>
          <a:p>
            <a:pPr indent="-285750" lvl="0" marL="285750" marR="0" rtl="0" algn="just">
              <a:lnSpc>
                <a:spcPct val="115000"/>
              </a:lnSpc>
              <a:spcBef>
                <a:spcPts val="1000"/>
              </a:spcBef>
              <a:spcAft>
                <a:spcPts val="0"/>
              </a:spcAft>
              <a:buClr>
                <a:srgbClr val="000000"/>
              </a:buClr>
              <a:buSzPts val="1800"/>
              <a:buFont typeface="Noto Sans Symbols"/>
              <a:buChar char="❑"/>
            </a:pPr>
            <a:r>
              <a:rPr b="0" i="0" lang="en-GB" sz="1800" u="none" cap="none" strike="noStrike">
                <a:solidFill>
                  <a:schemeClr val="dk1"/>
                </a:solidFill>
                <a:latin typeface="Arial"/>
                <a:ea typeface="Arial"/>
                <a:cs typeface="Arial"/>
                <a:sym typeface="Arial"/>
              </a:rPr>
              <a:t>Des pays comme la Guinée ne disposent pas de péages comme source de recettes, bien que des projets soient en cours.</a:t>
            </a:r>
            <a:endParaRPr/>
          </a:p>
          <a:p>
            <a:pPr indent="-285750" lvl="0" marL="285750" marR="0" rtl="0" algn="just">
              <a:lnSpc>
                <a:spcPct val="115000"/>
              </a:lnSpc>
              <a:spcBef>
                <a:spcPts val="1000"/>
              </a:spcBef>
              <a:spcAft>
                <a:spcPts val="0"/>
              </a:spcAft>
              <a:buClr>
                <a:srgbClr val="000000"/>
              </a:buClr>
              <a:buSzPts val="1800"/>
              <a:buFont typeface="Noto Sans Symbols"/>
              <a:buChar char="❑"/>
            </a:pPr>
            <a:r>
              <a:rPr b="0" i="0" lang="en-GB" sz="1800" u="none" cap="none" strike="noStrike">
                <a:solidFill>
                  <a:schemeClr val="dk1"/>
                </a:solidFill>
                <a:latin typeface="Arial"/>
                <a:ea typeface="Arial"/>
                <a:cs typeface="Arial"/>
                <a:sym typeface="Arial"/>
              </a:rPr>
              <a:t>Certains organismes de transport régional perçoivent la totalité des recettes perçues (Sierra Leone), tandis que d'autres perçoivent des montants inférieurs.</a:t>
            </a:r>
            <a:endParaRPr/>
          </a:p>
          <a:p>
            <a:pPr indent="-285750" lvl="0" marL="285750" marR="0" rtl="0" algn="just">
              <a:lnSpc>
                <a:spcPct val="115000"/>
              </a:lnSpc>
              <a:spcBef>
                <a:spcPts val="1000"/>
              </a:spcBef>
              <a:spcAft>
                <a:spcPts val="0"/>
              </a:spcAft>
              <a:buClr>
                <a:srgbClr val="000000"/>
              </a:buClr>
              <a:buSzPts val="1800"/>
              <a:buFont typeface="Noto Sans Symbols"/>
              <a:buChar char="❑"/>
            </a:pPr>
            <a:r>
              <a:rPr b="0" i="0" lang="en-GB" sz="1800" u="none" cap="none" strike="noStrike">
                <a:solidFill>
                  <a:schemeClr val="dk1"/>
                </a:solidFill>
                <a:latin typeface="Arial"/>
                <a:ea typeface="Arial"/>
                <a:cs typeface="Arial"/>
                <a:sym typeface="Arial"/>
              </a:rPr>
              <a:t>Les amendes pour charges à l'essieu sont considérées comme une source de recettes par la plupart des pays, à l'exception du Togo, qui a souligné l'absence de taxe sur les charges à l'essieu excédentaires.</a:t>
            </a:r>
            <a:endParaRPr b="0" i="0" sz="1600" u="none" cap="none" strike="noStrike">
              <a:solidFill>
                <a:srgbClr val="000000"/>
              </a:solidFill>
              <a:latin typeface="Arial"/>
              <a:ea typeface="Arial"/>
              <a:cs typeface="Arial"/>
              <a:sym typeface="Arial"/>
            </a:endParaRPr>
          </a:p>
        </p:txBody>
      </p:sp>
      <p:sp>
        <p:nvSpPr>
          <p:cNvPr id="114" name="Google Shape;114;g3805cca7c0c_1_18"/>
          <p:cNvSpPr txBox="1"/>
          <p:nvPr/>
        </p:nvSpPr>
        <p:spPr>
          <a:xfrm>
            <a:off x="371550" y="340575"/>
            <a:ext cx="70944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GB" sz="2500" u="none" cap="none" strike="noStrike">
                <a:solidFill>
                  <a:srgbClr val="E2081E"/>
                </a:solidFill>
                <a:highlight>
                  <a:schemeClr val="lt1"/>
                </a:highlight>
                <a:latin typeface="Arial"/>
                <a:ea typeface="Arial"/>
                <a:cs typeface="Arial"/>
                <a:sym typeface="Arial"/>
              </a:rPr>
              <a:t>Principales conclusions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805cca7c0c_1_26"/>
          <p:cNvSpPr txBox="1"/>
          <p:nvPr/>
        </p:nvSpPr>
        <p:spPr>
          <a:xfrm>
            <a:off x="-83713" y="1383878"/>
            <a:ext cx="12096900" cy="4960302"/>
          </a:xfrm>
          <a:prstGeom prst="rect">
            <a:avLst/>
          </a:prstGeom>
          <a:noFill/>
          <a:ln>
            <a:noFill/>
          </a:ln>
        </p:spPr>
        <p:txBody>
          <a:bodyPr anchorCtr="0" anchor="t" bIns="91425" lIns="91425" spcFirstLastPara="1" rIns="91425" wrap="square" tIns="91425">
            <a:spAutoFit/>
          </a:bodyPr>
          <a:lstStyle/>
          <a:p>
            <a:pPr indent="-342900" lvl="0" marL="457200" marR="0" rtl="0" algn="just">
              <a:lnSpc>
                <a:spcPct val="100000"/>
              </a:lnSpc>
              <a:spcBef>
                <a:spcPts val="1000"/>
              </a:spcBef>
              <a:spcAft>
                <a:spcPts val="0"/>
              </a:spcAft>
              <a:buClr>
                <a:schemeClr val="dk1"/>
              </a:buClr>
              <a:buSzPts val="1800"/>
              <a:buFont typeface="Noto Sans Symbols"/>
              <a:buChar char="❑"/>
            </a:pPr>
            <a:r>
              <a:rPr b="1" i="0" lang="en-GB" sz="1800" u="none" cap="none" strike="noStrike">
                <a:solidFill>
                  <a:schemeClr val="dk1"/>
                </a:solidFill>
                <a:latin typeface="Arial"/>
                <a:ea typeface="Arial"/>
                <a:cs typeface="Arial"/>
                <a:sym typeface="Arial"/>
              </a:rPr>
              <a:t>L'incohérence </a:t>
            </a:r>
            <a:r>
              <a:rPr b="0" i="0" lang="en-GB" sz="1800" u="none" cap="none" strike="noStrike">
                <a:solidFill>
                  <a:schemeClr val="dk1"/>
                </a:solidFill>
                <a:latin typeface="Arial"/>
                <a:ea typeface="Arial"/>
                <a:cs typeface="Arial"/>
                <a:sym typeface="Arial"/>
              </a:rPr>
              <a:t>des montants versés aux organismes de financement par le Trésor public complique le financement des projets d'entretien.</a:t>
            </a:r>
            <a:endParaRPr/>
          </a:p>
          <a:p>
            <a:pPr indent="-342900" lvl="0" marL="457200" marR="0" rtl="0" algn="just">
              <a:lnSpc>
                <a:spcPct val="100000"/>
              </a:lnSpc>
              <a:spcBef>
                <a:spcPts val="100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Manque de </a:t>
            </a:r>
            <a:r>
              <a:rPr b="1" i="0" lang="en-GB" sz="1800" u="none" cap="none" strike="noStrike">
                <a:solidFill>
                  <a:schemeClr val="dk1"/>
                </a:solidFill>
                <a:latin typeface="Arial"/>
                <a:ea typeface="Arial"/>
                <a:cs typeface="Arial"/>
                <a:sym typeface="Arial"/>
              </a:rPr>
              <a:t>transparence </a:t>
            </a:r>
            <a:r>
              <a:rPr b="0" i="0" lang="en-GB" sz="1800" u="none" cap="none" strike="noStrike">
                <a:solidFill>
                  <a:schemeClr val="dk1"/>
                </a:solidFill>
                <a:latin typeface="Arial"/>
                <a:ea typeface="Arial"/>
                <a:cs typeface="Arial"/>
                <a:sym typeface="Arial"/>
              </a:rPr>
              <a:t>sur les recettes collectées.</a:t>
            </a:r>
            <a:endParaRPr/>
          </a:p>
          <a:p>
            <a:pPr indent="-342900" lvl="0" marL="457200" marR="0" rtl="0" algn="just">
              <a:lnSpc>
                <a:spcPct val="100000"/>
              </a:lnSpc>
              <a:spcBef>
                <a:spcPts val="1000"/>
              </a:spcBef>
              <a:spcAft>
                <a:spcPts val="0"/>
              </a:spcAft>
              <a:buClr>
                <a:schemeClr val="dk1"/>
              </a:buClr>
              <a:buSzPts val="1800"/>
              <a:buFont typeface="Noto Sans Symbols"/>
              <a:buChar char="❑"/>
            </a:pPr>
            <a:r>
              <a:rPr b="1" i="0" lang="en-GB" sz="1800" u="none" cap="none" strike="noStrike">
                <a:solidFill>
                  <a:schemeClr val="dk1"/>
                </a:solidFill>
                <a:latin typeface="Arial"/>
                <a:ea typeface="Arial"/>
                <a:cs typeface="Arial"/>
                <a:sym typeface="Arial"/>
              </a:rPr>
              <a:t>Les partenariats public-privé (PPP) </a:t>
            </a:r>
            <a:r>
              <a:rPr b="0" i="0" lang="en-GB" sz="1800" u="none" cap="none" strike="noStrike">
                <a:solidFill>
                  <a:schemeClr val="dk1"/>
                </a:solidFill>
                <a:latin typeface="Arial"/>
                <a:ea typeface="Arial"/>
                <a:cs typeface="Arial"/>
                <a:sym typeface="Arial"/>
              </a:rPr>
              <a:t>réduisent le contrôle des recettes, et les organismes de financement ne perçoivent que 30 % du total des recettes collectées (par exemple, au Libéria).</a:t>
            </a:r>
            <a:endParaRPr/>
          </a:p>
          <a:p>
            <a:pPr indent="-342900" lvl="0" marL="457200" marR="0" rtl="0" algn="just">
              <a:lnSpc>
                <a:spcPct val="100000"/>
              </a:lnSpc>
              <a:spcBef>
                <a:spcPts val="100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Les ministères </a:t>
            </a:r>
            <a:r>
              <a:rPr b="1" i="0" lang="en-GB" sz="1800" u="none" cap="none" strike="noStrike">
                <a:solidFill>
                  <a:schemeClr val="dk1"/>
                </a:solidFill>
                <a:latin typeface="Arial"/>
                <a:ea typeface="Arial"/>
                <a:cs typeface="Arial"/>
                <a:sym typeface="Arial"/>
              </a:rPr>
              <a:t>retardent le partage des données </a:t>
            </a:r>
            <a:r>
              <a:rPr b="0" i="0" lang="en-GB" sz="1800" u="none" cap="none" strike="noStrike">
                <a:solidFill>
                  <a:schemeClr val="dk1"/>
                </a:solidFill>
                <a:latin typeface="Arial"/>
                <a:ea typeface="Arial"/>
                <a:cs typeface="Arial"/>
                <a:sym typeface="Arial"/>
              </a:rPr>
              <a:t>sur les réseaux routiers à entretenir pour une planification rapide et efficace de l'entretien (par exemple, au Niger). </a:t>
            </a:r>
            <a:endParaRPr/>
          </a:p>
          <a:p>
            <a:pPr indent="-342900" lvl="0" marL="457200" marR="0" rtl="0" algn="just">
              <a:lnSpc>
                <a:spcPct val="100000"/>
              </a:lnSpc>
              <a:spcBef>
                <a:spcPts val="1000"/>
              </a:spcBef>
              <a:spcAft>
                <a:spcPts val="0"/>
              </a:spcAft>
              <a:buClr>
                <a:schemeClr val="dk1"/>
              </a:buClr>
              <a:buSzPts val="1800"/>
              <a:buFont typeface="Noto Sans Symbols"/>
              <a:buChar char="❑"/>
            </a:pPr>
            <a:r>
              <a:rPr b="1" i="0" lang="en-GB" sz="1800" u="none" cap="none" strike="noStrike">
                <a:solidFill>
                  <a:schemeClr val="dk1"/>
                </a:solidFill>
                <a:latin typeface="Arial"/>
                <a:ea typeface="Arial"/>
                <a:cs typeface="Arial"/>
                <a:sym typeface="Arial"/>
              </a:rPr>
              <a:t>L'instabilité politique</a:t>
            </a:r>
            <a:r>
              <a:rPr b="0" i="0" lang="en-GB" sz="1800" u="none" cap="none" strike="noStrike">
                <a:solidFill>
                  <a:schemeClr val="dk1"/>
                </a:solidFill>
                <a:latin typeface="Arial"/>
                <a:ea typeface="Arial"/>
                <a:cs typeface="Arial"/>
                <a:sym typeface="Arial"/>
              </a:rPr>
              <a:t> retarde les activités, certaines zones du pays devenant inaccessibles pour des raisons de sécurité. Au Niger, l'entretien des routes n'a pas été effectué depuis cinq ans. Le conflit a également entraîné le départ de partenaires financiers étrangers au Niger, affectant ainsi le financement des activités d'entretien.</a:t>
            </a:r>
            <a:endParaRPr/>
          </a:p>
          <a:p>
            <a:pPr indent="-342900" lvl="0" marL="457200" marR="0" rtl="0" algn="just">
              <a:lnSpc>
                <a:spcPct val="100000"/>
              </a:lnSpc>
              <a:spcBef>
                <a:spcPts val="1000"/>
              </a:spcBef>
              <a:spcAft>
                <a:spcPts val="0"/>
              </a:spcAft>
              <a:buClr>
                <a:schemeClr val="dk1"/>
              </a:buClr>
              <a:buSzPts val="1800"/>
              <a:buFont typeface="Noto Sans Symbols"/>
              <a:buChar char="❑"/>
            </a:pPr>
            <a:r>
              <a:rPr b="1" i="0" lang="en-GB" sz="1800" u="none" cap="none" strike="noStrike">
                <a:solidFill>
                  <a:schemeClr val="dk1"/>
                </a:solidFill>
                <a:latin typeface="Arial"/>
                <a:ea typeface="Arial"/>
                <a:cs typeface="Arial"/>
                <a:sym typeface="Arial"/>
              </a:rPr>
              <a:t>Interférence politique : </a:t>
            </a:r>
            <a:r>
              <a:rPr b="0" i="0" lang="en-GB" sz="1800" u="none" cap="none" strike="noStrike">
                <a:solidFill>
                  <a:schemeClr val="dk1"/>
                </a:solidFill>
                <a:latin typeface="Arial"/>
                <a:ea typeface="Arial"/>
                <a:cs typeface="Arial"/>
                <a:sym typeface="Arial"/>
              </a:rPr>
              <a:t>Le gouvernement fait des déclarations exécutives qui affectent la gestion financière des organismes de financement, par exemple en République Centrafricaine.</a:t>
            </a:r>
            <a:endParaRPr/>
          </a:p>
          <a:p>
            <a:pPr indent="-342900" lvl="0" marL="457200" marR="0" rtl="0" algn="just">
              <a:lnSpc>
                <a:spcPct val="100000"/>
              </a:lnSpc>
              <a:spcBef>
                <a:spcPts val="100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Retards de </a:t>
            </a:r>
            <a:r>
              <a:rPr b="1" i="0" lang="en-GB" sz="1800" u="none" cap="none" strike="noStrike">
                <a:solidFill>
                  <a:schemeClr val="dk1"/>
                </a:solidFill>
                <a:latin typeface="Arial"/>
                <a:ea typeface="Arial"/>
                <a:cs typeface="Arial"/>
                <a:sym typeface="Arial"/>
              </a:rPr>
              <a:t>remboursement des prêts </a:t>
            </a:r>
            <a:r>
              <a:rPr b="0" i="0" lang="en-GB" sz="1800" u="none" cap="none" strike="noStrike">
                <a:solidFill>
                  <a:schemeClr val="dk1"/>
                </a:solidFill>
                <a:latin typeface="Arial"/>
                <a:ea typeface="Arial"/>
                <a:cs typeface="Arial"/>
                <a:sym typeface="Arial"/>
              </a:rPr>
              <a:t>contractés par les organismes de financement pour couvrir les besoins d'entretien non couverts par les recettes collectées (par exemple, au Sénégal).</a:t>
            </a:r>
            <a:endParaRPr b="0" i="0" sz="1800" u="none" cap="none" strike="noStrike">
              <a:solidFill>
                <a:schemeClr val="dk1"/>
              </a:solidFill>
              <a:latin typeface="Arial"/>
              <a:ea typeface="Arial"/>
              <a:cs typeface="Arial"/>
              <a:sym typeface="Arial"/>
            </a:endParaRPr>
          </a:p>
        </p:txBody>
      </p:sp>
      <p:sp>
        <p:nvSpPr>
          <p:cNvPr id="121" name="Google Shape;121;g3805cca7c0c_1_26"/>
          <p:cNvSpPr txBox="1"/>
          <p:nvPr/>
        </p:nvSpPr>
        <p:spPr>
          <a:xfrm>
            <a:off x="371550" y="340575"/>
            <a:ext cx="70944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i="0" lang="en-GB" sz="2500" u="none" cap="none" strike="noStrike">
                <a:solidFill>
                  <a:srgbClr val="E2081E"/>
                </a:solidFill>
                <a:latin typeface="Arial"/>
                <a:ea typeface="Arial"/>
                <a:cs typeface="Arial"/>
                <a:sym typeface="Arial"/>
              </a:rPr>
              <a:t>Principaux défis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805cca7c0c_1_33"/>
          <p:cNvSpPr txBox="1"/>
          <p:nvPr/>
        </p:nvSpPr>
        <p:spPr>
          <a:xfrm>
            <a:off x="476400" y="209500"/>
            <a:ext cx="5619600" cy="74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GB" sz="2500" u="none" cap="none" strike="noStrike">
                <a:solidFill>
                  <a:srgbClr val="E2081E"/>
                </a:solidFill>
                <a:latin typeface="Arial"/>
                <a:ea typeface="Arial"/>
                <a:cs typeface="Arial"/>
                <a:sym typeface="Arial"/>
              </a:rPr>
              <a:t>Histoires de réussite</a:t>
            </a:r>
            <a:endParaRPr b="1" i="0" sz="2500" u="none" cap="none" strike="noStrike">
              <a:solidFill>
                <a:srgbClr val="E2081E"/>
              </a:solidFill>
              <a:highlight>
                <a:schemeClr val="lt1"/>
              </a:highlight>
              <a:latin typeface="Arial"/>
              <a:ea typeface="Arial"/>
              <a:cs typeface="Arial"/>
              <a:sym typeface="Arial"/>
            </a:endParaRPr>
          </a:p>
        </p:txBody>
      </p:sp>
      <p:sp>
        <p:nvSpPr>
          <p:cNvPr id="128" name="Google Shape;128;g3805cca7c0c_1_33"/>
          <p:cNvSpPr txBox="1"/>
          <p:nvPr/>
        </p:nvSpPr>
        <p:spPr>
          <a:xfrm>
            <a:off x="615725" y="2005275"/>
            <a:ext cx="10654800" cy="3724066"/>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1000"/>
              </a:spcBef>
              <a:spcAft>
                <a:spcPts val="0"/>
              </a:spcAft>
              <a:buNone/>
            </a:pPr>
            <a:r>
              <a:rPr b="1" i="0" lang="en-GB" sz="1800" u="sng" cap="none" strike="noStrike">
                <a:solidFill>
                  <a:schemeClr val="dk1"/>
                </a:solidFill>
                <a:latin typeface="Arial"/>
                <a:ea typeface="Arial"/>
                <a:cs typeface="Arial"/>
                <a:sym typeface="Arial"/>
              </a:rPr>
              <a:t>EXEMPLES DE RÉUSSITES</a:t>
            </a:r>
            <a:endParaRPr/>
          </a:p>
          <a:p>
            <a:pPr indent="0" lvl="0" marL="0" marR="0" rtl="0" algn="l">
              <a:lnSpc>
                <a:spcPct val="100000"/>
              </a:lnSpc>
              <a:spcBef>
                <a:spcPts val="1000"/>
              </a:spcBef>
              <a:spcAft>
                <a:spcPts val="0"/>
              </a:spcAft>
              <a:buNone/>
            </a:pPr>
            <a:r>
              <a:rPr b="1" i="0" lang="en-GB" sz="1800" u="sng" cap="none" strike="noStrike">
                <a:solidFill>
                  <a:schemeClr val="dk1"/>
                </a:solidFill>
                <a:latin typeface="Arial"/>
                <a:ea typeface="Arial"/>
                <a:cs typeface="Arial"/>
                <a:sym typeface="Arial"/>
              </a:rPr>
              <a:t>Sources de revenus innovantes :</a:t>
            </a:r>
            <a:endParaRPr/>
          </a:p>
          <a:p>
            <a:pPr indent="-285750" lvl="0" marL="285750" marR="0" rtl="0" algn="just">
              <a:lnSpc>
                <a:spcPct val="100000"/>
              </a:lnSpc>
              <a:spcBef>
                <a:spcPts val="1000"/>
              </a:spcBef>
              <a:spcAft>
                <a:spcPts val="0"/>
              </a:spcAft>
              <a:buClr>
                <a:srgbClr val="000000"/>
              </a:buClr>
              <a:buSzPts val="1800"/>
              <a:buFont typeface="Noto Sans Symbols"/>
              <a:buChar char="❑"/>
            </a:pPr>
            <a:r>
              <a:rPr b="0" i="0" lang="en-GB" sz="1800" u="none" cap="none" strike="noStrike">
                <a:solidFill>
                  <a:schemeClr val="dk1"/>
                </a:solidFill>
                <a:latin typeface="Arial"/>
                <a:ea typeface="Arial"/>
                <a:cs typeface="Arial"/>
                <a:sym typeface="Arial"/>
              </a:rPr>
              <a:t>Le Conseil du Fonds routier de la Sierra Leone perçoit des redevances auprès des sociétés minières, car celles-ci contribuent fortement à la dégradation des routes. Ces fonds sont utilisés pour les activités d'entretien.</a:t>
            </a:r>
            <a:endParaRPr/>
          </a:p>
          <a:p>
            <a:pPr indent="-285750" lvl="0" marL="285750" marR="0" rtl="0" algn="just">
              <a:lnSpc>
                <a:spcPct val="100000"/>
              </a:lnSpc>
              <a:spcBef>
                <a:spcPts val="1000"/>
              </a:spcBef>
              <a:spcAft>
                <a:spcPts val="0"/>
              </a:spcAft>
              <a:buClr>
                <a:srgbClr val="000000"/>
              </a:buClr>
              <a:buSzPts val="1800"/>
              <a:buFont typeface="Noto Sans Symbols"/>
              <a:buChar char="❑"/>
            </a:pPr>
            <a:r>
              <a:rPr b="0" i="0" lang="en-GB" sz="1800" u="none" cap="none" strike="noStrike">
                <a:solidFill>
                  <a:schemeClr val="dk1"/>
                </a:solidFill>
                <a:latin typeface="Arial"/>
                <a:ea typeface="Arial"/>
                <a:cs typeface="Arial"/>
                <a:sym typeface="Arial"/>
              </a:rPr>
              <a:t>Le Niger perçoit des redevances, ce qui a permis d'augmenter les recettes.</a:t>
            </a:r>
            <a:endParaRPr/>
          </a:p>
          <a:p>
            <a:pPr indent="-171450" lvl="0" marL="285750" marR="0" rtl="0" algn="just">
              <a:lnSpc>
                <a:spcPct val="100000"/>
              </a:lnSpc>
              <a:spcBef>
                <a:spcPts val="1000"/>
              </a:spcBef>
              <a:spcAft>
                <a:spcPts val="0"/>
              </a:spcAft>
              <a:buClr>
                <a:srgbClr val="000000"/>
              </a:buClr>
              <a:buSzPts val="1800"/>
              <a:buFont typeface="Noto Sans Symbols"/>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1000"/>
              </a:spcBef>
              <a:spcAft>
                <a:spcPts val="0"/>
              </a:spcAft>
              <a:buNone/>
            </a:pPr>
            <a:r>
              <a:rPr b="1" i="0" lang="en-GB" sz="1800" u="sng" cap="none" strike="noStrike">
                <a:solidFill>
                  <a:schemeClr val="dk1"/>
                </a:solidFill>
                <a:latin typeface="Arial"/>
                <a:ea typeface="Arial"/>
                <a:cs typeface="Arial"/>
                <a:sym typeface="Arial"/>
              </a:rPr>
              <a:t>La participation du secteur privé au Conseil et à la présidence </a:t>
            </a:r>
            <a:r>
              <a:rPr b="0" i="0" lang="en-GB" sz="1800" u="none" cap="none" strike="noStrike">
                <a:solidFill>
                  <a:schemeClr val="dk1"/>
                </a:solidFill>
                <a:latin typeface="Arial"/>
                <a:ea typeface="Arial"/>
                <a:cs typeface="Arial"/>
                <a:sym typeface="Arial"/>
              </a:rPr>
              <a:t>influence positivement les décisions financières et la responsabilisation. Par exemple, au Togo, un représentant du secteur privé préside le Conseil.</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805cca7c0c_1_37"/>
          <p:cNvSpPr txBox="1"/>
          <p:nvPr/>
        </p:nvSpPr>
        <p:spPr>
          <a:xfrm>
            <a:off x="-161180" y="1890257"/>
            <a:ext cx="12063600" cy="3508623"/>
          </a:xfrm>
          <a:prstGeom prst="rect">
            <a:avLst/>
          </a:prstGeom>
          <a:noFill/>
          <a:ln>
            <a:noFill/>
          </a:ln>
        </p:spPr>
        <p:txBody>
          <a:bodyPr anchorCtr="0" anchor="t" bIns="91425" lIns="91425" spcFirstLastPara="1" rIns="91425" wrap="square" tIns="91425">
            <a:spAutoFit/>
          </a:bodyPr>
          <a:lstStyle/>
          <a:p>
            <a:pPr indent="-342900" lvl="0" marL="914400" marR="0" rtl="0" algn="just">
              <a:lnSpc>
                <a:spcPct val="150000"/>
              </a:lnSpc>
              <a:spcBef>
                <a:spcPts val="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Une assistance technique est nécessaire pour mener une campagne de sensibilisation du public sur l'importance des sources de revenus, telles que la taxe sur les carburants pour l'entretien des routes ;</a:t>
            </a:r>
            <a:endParaRPr/>
          </a:p>
          <a:p>
            <a:pPr indent="-342900" lvl="0" marL="914400" marR="0" rtl="0" algn="just">
              <a:lnSpc>
                <a:spcPct val="150000"/>
              </a:lnSpc>
              <a:spcBef>
                <a:spcPts val="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Des formations et des financements sont indispensables pour l'adoption d'outils plus sophistiqués de gestion financière ;</a:t>
            </a:r>
            <a:endParaRPr/>
          </a:p>
          <a:p>
            <a:pPr indent="-342900" lvl="0" marL="914400" marR="0" rtl="0" algn="just">
              <a:lnSpc>
                <a:spcPct val="150000"/>
              </a:lnSpc>
              <a:spcBef>
                <a:spcPts val="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Les fonds routiers ne devraient pas reposer uniquement sur la taxe sur les carburants. De nouvelles sources de revenus, telles que les taxes climatiques ou les crédits carbone, peuvent être explorées ;</a:t>
            </a:r>
            <a:endParaRPr/>
          </a:p>
          <a:p>
            <a:pPr indent="-342900" lvl="0" marL="914400" marR="0" rtl="0" algn="just">
              <a:lnSpc>
                <a:spcPct val="150000"/>
              </a:lnSpc>
              <a:spcBef>
                <a:spcPts val="0"/>
              </a:spcBef>
              <a:spcAft>
                <a:spcPts val="0"/>
              </a:spcAft>
              <a:buClr>
                <a:schemeClr val="dk1"/>
              </a:buClr>
              <a:buSzPts val="1800"/>
              <a:buFont typeface="Noto Sans Symbols"/>
              <a:buChar char="❑"/>
            </a:pPr>
            <a:r>
              <a:rPr b="0" i="0" lang="en-GB" sz="1800" u="none" cap="none" strike="noStrike">
                <a:solidFill>
                  <a:schemeClr val="dk1"/>
                </a:solidFill>
                <a:latin typeface="Arial"/>
                <a:ea typeface="Arial"/>
                <a:cs typeface="Arial"/>
                <a:sym typeface="Arial"/>
              </a:rPr>
              <a:t>Pour éviter que les fonds ne soient détournés vers d'autres projets gouvernementaux, les recettes devraient être déposées sur un compte distinct, et non sur le Trésor public.</a:t>
            </a:r>
            <a:endParaRPr b="0" i="0" sz="1800" u="none" cap="none" strike="noStrike">
              <a:solidFill>
                <a:srgbClr val="000000"/>
              </a:solidFill>
              <a:latin typeface="Arial"/>
              <a:ea typeface="Arial"/>
              <a:cs typeface="Arial"/>
              <a:sym typeface="Arial"/>
            </a:endParaRPr>
          </a:p>
        </p:txBody>
      </p:sp>
      <p:sp>
        <p:nvSpPr>
          <p:cNvPr id="135" name="Google Shape;135;g3805cca7c0c_1_37"/>
          <p:cNvSpPr txBox="1"/>
          <p:nvPr/>
        </p:nvSpPr>
        <p:spPr>
          <a:xfrm>
            <a:off x="654325" y="209500"/>
            <a:ext cx="5542200" cy="77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0" lang="en-GB" sz="2800" u="none" cap="none" strike="noStrike">
                <a:solidFill>
                  <a:srgbClr val="E2081E"/>
                </a:solidFill>
                <a:latin typeface="Arial"/>
                <a:ea typeface="Arial"/>
                <a:cs typeface="Arial"/>
                <a:sym typeface="Arial"/>
              </a:rPr>
              <a:t>Recommandations</a:t>
            </a:r>
            <a:endParaRPr b="1" i="0" sz="2800" u="none" cap="none" strike="noStrike">
              <a:solidFill>
                <a:srgbClr val="E2081E"/>
              </a:solidFill>
              <a:highlight>
                <a:schemeClr val="lt1"/>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4AE84F999B26149BAD494A5506E81F3" ma:contentTypeVersion="25" ma:contentTypeDescription="Create a new document." ma:contentTypeScope="" ma:versionID="cd295e73000c6148a28815fbef325cf0">
  <xsd:schema xmlns:xsd="http://www.w3.org/2001/XMLSchema" xmlns:xs="http://www.w3.org/2001/XMLSchema" xmlns:p="http://schemas.microsoft.com/office/2006/metadata/properties" xmlns:ns1="http://schemas.microsoft.com/sharepoint/v3" xmlns:ns2="80f4c7fb-5be7-48ae-9ddb-a5c46a443b58" xmlns:ns3="b39bf1ee-6b4f-479f-9ce9-7241d6522d55" targetNamespace="http://schemas.microsoft.com/office/2006/metadata/properties" ma:root="true" ma:fieldsID="443c52d966bc38211c74f43f1a24c477" ns1:_="" ns2:_="" ns3:_="">
    <xsd:import namespace="http://schemas.microsoft.com/sharepoint/v3"/>
    <xsd:import namespace="80f4c7fb-5be7-48ae-9ddb-a5c46a443b58"/>
    <xsd:import namespace="b39bf1ee-6b4f-479f-9ce9-7241d6522d55"/>
    <xsd:element name="properties">
      <xsd:complexType>
        <xsd:sequence>
          <xsd:element name="documentManagement">
            <xsd:complexType>
              <xsd:all>
                <xsd:element ref="ns2:MediaServiceMetadata" minOccurs="0"/>
                <xsd:element ref="ns2:MediaServiceFastMetadata" minOccurs="0"/>
                <xsd:element ref="ns1:_dlc_ExpireDateSaved" minOccurs="0"/>
                <xsd:element ref="ns1:_dlc_ExpireDate" minOccurs="0"/>
                <xsd:element ref="ns1:_dlc_Exempt"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_Flow_SignoffStatus" minOccurs="0"/>
                <xsd:element ref="ns2:MediaServiceLocation"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pireDateSaved" ma:index="10" nillable="true" ma:displayName="Original Expiration Date" ma:hidden="true" ma:internalName="_dlc_ExpireDateSaved" ma:readOnly="true">
      <xsd:simpleType>
        <xsd:restriction base="dms:DateTime"/>
      </xsd:simpleType>
    </xsd:element>
    <xsd:element name="_dlc_ExpireDate" ma:index="11" nillable="true" ma:displayName="Expiration Date" ma:description="" ma:hidden="true" ma:indexed="true" ma:internalName="_dlc_ExpireDate" ma:readOnly="true">
      <xsd:simpleType>
        <xsd:restriction base="dms:DateTime"/>
      </xsd:simpleType>
    </xsd:element>
    <xsd:element name="_dlc_Exempt" ma:index="12"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0f4c7fb-5be7-48ae-9ddb-a5c46a443b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5"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556e139c-3976-4f37-8cfc-4ca6bb14bc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9bf1ee-6b4f-479f-9ce9-7241d6522d5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521ea0d-b711-45dc-8afd-6539f8507523}" ma:internalName="TaxCatchAll" ma:showField="CatchAllData" ma:web="b39bf1ee-6b4f-479f-9ce9-7241d6522d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0f4c7fb-5be7-48ae-9ddb-a5c46a443b58">
      <Terms xmlns="http://schemas.microsoft.com/office/infopath/2007/PartnerControls"/>
    </lcf76f155ced4ddcb4097134ff3c332f>
    <_Flow_SignoffStatus xmlns="80f4c7fb-5be7-48ae-9ddb-a5c46a443b58" xsi:nil="true"/>
    <TaxCatchAll xmlns="b39bf1ee-6b4f-479f-9ce9-7241d6522d55" xsi:nil="true"/>
    <_dlc_ExpireDateSaved xmlns="http://schemas.microsoft.com/sharepoint/v3" xsi:nil="true"/>
    <_dlc_ExpireDate xmlns="http://schemas.microsoft.com/sharepoint/v3">2025-10-06T08:23:07+00:00</_dlc_ExpireDate>
  </documentManagement>
</p:properties>
</file>

<file path=customXml/itemProps1.xml><?xml version="1.0" encoding="utf-8"?>
<ds:datastoreItem xmlns:ds="http://schemas.openxmlformats.org/officeDocument/2006/customXml" ds:itemID="{B9FCEED7-8DDF-4C19-98EF-094C3D24AEBE}"/>
</file>

<file path=customXml/itemProps2.xml><?xml version="1.0" encoding="utf-8"?>
<ds:datastoreItem xmlns:ds="http://schemas.openxmlformats.org/officeDocument/2006/customXml" ds:itemID="{E9F3F419-7D80-450B-8D4F-E35B9228E6EC}"/>
</file>

<file path=customXml/itemProps3.xml><?xml version="1.0" encoding="utf-8"?>
<ds:datastoreItem xmlns:ds="http://schemas.openxmlformats.org/officeDocument/2006/customXml" ds:itemID="{625FA661-D5E2-44F7-B792-145B8C645AB8}"/>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Sid Boubekeur</dc:creator>
  <dcterms:created xsi:type="dcterms:W3CDTF">2025-09-10T08:44:17Z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0x01010064AE84F999B26149BAD494A5506E81F3</vt:lpwstr>
  </property>
  <property fmtid="{D5CDD505-2E9C-101B-9397-08002B2CF9AE}" pid="3" name="MediaServiceImageTags">
    <vt:lpwstr/>
  </property>
  <property fmtid="{D5CDD505-2E9C-101B-9397-08002B2CF9AE}" pid="4" name="_dlc_policyId">
    <vt:lpwstr>/sites/FileTransfer/AFRICA</vt:lpwstr>
  </property>
  <property fmtid="{D5CDD505-2E9C-101B-9397-08002B2CF9AE}" pid="5" name="ItemRetentionFormula">
    <vt:lpwstr>&lt;formula id="Microsoft.Office.RecordsManagement.PolicyFeatures.Expiration.Formula.BuiltIn"&gt;&lt;number&gt;15&lt;/number&gt;&lt;property&gt;Created&lt;/property&gt;&lt;propertyId&gt;8c06beca-0777-48f7-91c7-6da68bc07b69&lt;/propertyId&gt;&lt;period&gt;days&lt;/period&gt;&lt;/formula&gt;</vt:lpwstr>
  </property>
</Properties>
</file>