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8"/>
  </p:notesMasterIdLst>
  <p:sldIdLst>
    <p:sldId id="256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Play" pitchFamily="2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145" d="100"/>
          <a:sy n="145" d="100"/>
        </p:scale>
        <p:origin x="60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0148f072c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80148f072c_0_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g380148f072c_0_1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C230F49-A9A1-5F84-5D87-E5B6713FD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0148f072c_0_107:notes">
            <a:extLst>
              <a:ext uri="{FF2B5EF4-FFF2-40B4-BE49-F238E27FC236}">
                <a16:creationId xmlns:a16="http://schemas.microsoft.com/office/drawing/2014/main" id="{22237770-062A-1E02-BF7A-4003E8D0CE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80148f072c_0_107:notes">
            <a:extLst>
              <a:ext uri="{FF2B5EF4-FFF2-40B4-BE49-F238E27FC236}">
                <a16:creationId xmlns:a16="http://schemas.microsoft.com/office/drawing/2014/main" id="{2E06C34A-9863-D1D2-0232-931E338F1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80148f072c_0_107:notes">
            <a:extLst>
              <a:ext uri="{FF2B5EF4-FFF2-40B4-BE49-F238E27FC236}">
                <a16:creationId xmlns:a16="http://schemas.microsoft.com/office/drawing/2014/main" id="{FF007A11-85D9-5F48-ADB7-F249518ABA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6120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FE85180-18F1-60DB-2022-9D383D6C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0148f072c_0_107:notes">
            <a:extLst>
              <a:ext uri="{FF2B5EF4-FFF2-40B4-BE49-F238E27FC236}">
                <a16:creationId xmlns:a16="http://schemas.microsoft.com/office/drawing/2014/main" id="{2885774F-8D30-1ABF-5502-B5D0AEB53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80148f072c_0_107:notes">
            <a:extLst>
              <a:ext uri="{FF2B5EF4-FFF2-40B4-BE49-F238E27FC236}">
                <a16:creationId xmlns:a16="http://schemas.microsoft.com/office/drawing/2014/main" id="{C01F24F2-5B21-6AD3-ADC0-F05EA7B9A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80148f072c_0_107:notes">
            <a:extLst>
              <a:ext uri="{FF2B5EF4-FFF2-40B4-BE49-F238E27FC236}">
                <a16:creationId xmlns:a16="http://schemas.microsoft.com/office/drawing/2014/main" id="{E4823EE1-854F-1C03-ED79-4C5F6862BF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3774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41CF3EB-149B-F25B-AED9-52E23CB6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0148f072c_0_107:notes">
            <a:extLst>
              <a:ext uri="{FF2B5EF4-FFF2-40B4-BE49-F238E27FC236}">
                <a16:creationId xmlns:a16="http://schemas.microsoft.com/office/drawing/2014/main" id="{5D475D7B-29C0-463A-013F-021867CB6E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80148f072c_0_107:notes">
            <a:extLst>
              <a:ext uri="{FF2B5EF4-FFF2-40B4-BE49-F238E27FC236}">
                <a16:creationId xmlns:a16="http://schemas.microsoft.com/office/drawing/2014/main" id="{DAC107BB-951A-A870-CF38-8818EF033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80148f072c_0_107:notes">
            <a:extLst>
              <a:ext uri="{FF2B5EF4-FFF2-40B4-BE49-F238E27FC236}">
                <a16:creationId xmlns:a16="http://schemas.microsoft.com/office/drawing/2014/main" id="{A4CFFA39-9290-AC17-E69D-6BCB00CB73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6676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38F2FB0-106E-1456-3010-519848DFF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0148f072c_0_107:notes">
            <a:extLst>
              <a:ext uri="{FF2B5EF4-FFF2-40B4-BE49-F238E27FC236}">
                <a16:creationId xmlns:a16="http://schemas.microsoft.com/office/drawing/2014/main" id="{8476D791-C088-480C-5E77-FAA489BA10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80148f072c_0_107:notes">
            <a:extLst>
              <a:ext uri="{FF2B5EF4-FFF2-40B4-BE49-F238E27FC236}">
                <a16:creationId xmlns:a16="http://schemas.microsoft.com/office/drawing/2014/main" id="{30765F64-1666-56CF-C0B2-D578EFF89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80148f072c_0_107:notes">
            <a:extLst>
              <a:ext uri="{FF2B5EF4-FFF2-40B4-BE49-F238E27FC236}">
                <a16:creationId xmlns:a16="http://schemas.microsoft.com/office/drawing/2014/main" id="{ED16B6E3-8D75-F211-22ED-5DACF622C6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493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Imagen 1">
  <p:cSld name="Texto e Imagen 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1" y="2"/>
            <a:ext cx="145800" cy="771600"/>
          </a:xfrm>
          <a:prstGeom prst="rect">
            <a:avLst/>
          </a:prstGeom>
          <a:solidFill>
            <a:srgbClr val="E2081E"/>
          </a:solidFill>
          <a:ln>
            <a:noFill/>
          </a:ln>
        </p:spPr>
        <p:txBody>
          <a:bodyPr spcFirstLastPara="1" wrap="square" lIns="80450" tIns="40225" rIns="80450" bIns="402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p14"/>
          <p:cNvCxnSpPr/>
          <p:nvPr/>
        </p:nvCxnSpPr>
        <p:spPr>
          <a:xfrm>
            <a:off x="283638" y="760057"/>
            <a:ext cx="8331900" cy="0"/>
          </a:xfrm>
          <a:prstGeom prst="straightConnector1">
            <a:avLst/>
          </a:prstGeom>
          <a:noFill/>
          <a:ln w="14300" cap="flat" cmpd="sng">
            <a:solidFill>
              <a:srgbClr val="D8D8D8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59" name="Google Shape;59;p14" descr="Home | SSATP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54942" y="212931"/>
            <a:ext cx="1171533" cy="41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descr="European Union Logo, symbol, meaning, history, PNG, brand"/>
          <p:cNvPicPr preferRelativeResize="0"/>
          <p:nvPr/>
        </p:nvPicPr>
        <p:blipFill rotWithShape="1">
          <a:blip r:embed="rId3">
            <a:alphaModFix/>
          </a:blip>
          <a:srcRect t="23353" b="23486"/>
          <a:stretch/>
        </p:blipFill>
        <p:spPr>
          <a:xfrm>
            <a:off x="5440411" y="254237"/>
            <a:ext cx="1171534" cy="35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 descr="TYPSA, Técnica y Proyectos S.A. - Asociación Española del Hidrógeno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6475" y="179911"/>
            <a:ext cx="891008" cy="498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/>
        </p:nvSpPr>
        <p:spPr>
          <a:xfrm>
            <a:off x="548775" y="1794038"/>
            <a:ext cx="7895100" cy="294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rgbClr val="E2081E"/>
                </a:solidFill>
              </a:rPr>
              <a:t>4</a:t>
            </a:r>
            <a:r>
              <a:rPr lang="en" sz="2100" b="1" i="0" u="none" strike="noStrike" cap="none" dirty="0">
                <a:solidFill>
                  <a:srgbClr val="E2081E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2100" b="1" dirty="0">
                <a:solidFill>
                  <a:srgbClr val="E2081E"/>
                </a:solidFill>
              </a:rPr>
              <a:t>GROUPE CORRIDORS</a:t>
            </a:r>
            <a:endParaRPr sz="11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u="sng" dirty="0">
                <a:solidFill>
                  <a:schemeClr val="dk1"/>
                </a:solidFill>
                <a:highlight>
                  <a:schemeClr val="lt1"/>
                </a:highlight>
              </a:rPr>
              <a:t>HARMONISATTION DES NORMES DES CORRIDORS DE TRANSPORT TRANSFRONTALIERS </a:t>
            </a:r>
            <a:r>
              <a:rPr lang="en" sz="1800" b="1" u="sng" dirty="0">
                <a:solidFill>
                  <a:srgbClr val="262626"/>
                </a:solidFill>
                <a:highlight>
                  <a:schemeClr val="lt1"/>
                </a:highlight>
              </a:rPr>
              <a:t>: </a:t>
            </a:r>
            <a:r>
              <a:rPr lang="en" sz="1800" b="1" i="0" u="sng" strike="noStrike" cap="none" dirty="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SITUATION ACTUELLE </a:t>
            </a:r>
            <a:r>
              <a:rPr lang="en" sz="1800" b="1" i="0" u="sng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ET DISCUSSIONS</a:t>
            </a:r>
            <a:endParaRPr sz="1800" b="1" u="sng" dirty="0">
              <a:highlight>
                <a:schemeClr val="lt1"/>
              </a:highlight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u="sng" dirty="0">
              <a:highlight>
                <a:srgbClr val="FFFF00"/>
              </a:highlight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u="sng" dirty="0">
              <a:highlight>
                <a:srgbClr val="FFFF00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500" i="1" dirty="0" err="1">
                <a:solidFill>
                  <a:schemeClr val="dk1"/>
                </a:solidFill>
              </a:rPr>
              <a:t>Modérateur</a:t>
            </a:r>
            <a:r>
              <a:rPr lang="en" sz="1500" i="1" dirty="0">
                <a:solidFill>
                  <a:schemeClr val="dk1"/>
                </a:solidFill>
              </a:rPr>
              <a:t> : Maurice NIATY-MOUAMBA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fr-FR" sz="1500" i="1" dirty="0">
                <a:solidFill>
                  <a:schemeClr val="dk1"/>
                </a:solidFill>
              </a:rPr>
              <a:t>Rapporteur : Maurice DJINAKI</a:t>
            </a:r>
            <a:endParaRPr sz="1500" i="1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1" i="0" u="none" strike="noStrike" cap="none" dirty="0">
              <a:solidFill>
                <a:srgbClr val="E2081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BE8A74FD-C7FA-6744-4F3F-1D96FB39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>
            <a:extLst>
              <a:ext uri="{FF2B5EF4-FFF2-40B4-BE49-F238E27FC236}">
                <a16:creationId xmlns:a16="http://schemas.microsoft.com/office/drawing/2014/main" id="{0C303868-A658-CEE2-4995-319FA280C949}"/>
              </a:ext>
            </a:extLst>
          </p:cNvPr>
          <p:cNvSpPr txBox="1"/>
          <p:nvPr/>
        </p:nvSpPr>
        <p:spPr>
          <a:xfrm>
            <a:off x="622507" y="1305348"/>
            <a:ext cx="8222554" cy="359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algn="just"/>
            <a:r>
              <a:rPr lang="fr-FR" b="1" dirty="0"/>
              <a:t>Principales ressources de financement de l’entretien routier sur des corridors proviennent principalement de :</a:t>
            </a:r>
            <a:endParaRPr lang="fr-CD" b="1" dirty="0"/>
          </a:p>
          <a:p>
            <a:pPr marL="533400" lvl="0" indent="-271463" algn="just">
              <a:buFont typeface="Wingdings" pitchFamily="2" charset="2"/>
              <a:buChar char="Ø"/>
            </a:pPr>
            <a:r>
              <a:rPr lang="fr-FR" dirty="0"/>
              <a:t>Droits de péage,</a:t>
            </a:r>
            <a:endParaRPr lang="fr-CD" dirty="0"/>
          </a:p>
          <a:p>
            <a:pPr marL="533400" lvl="0" indent="-271463" algn="just">
              <a:buFont typeface="Wingdings" pitchFamily="2" charset="2"/>
              <a:buChar char="Ø"/>
            </a:pPr>
            <a:r>
              <a:rPr lang="fr-FR" dirty="0"/>
              <a:t>Amendes de pesages fixes ou mobiles,</a:t>
            </a:r>
            <a:endParaRPr lang="fr-CD" dirty="0"/>
          </a:p>
          <a:p>
            <a:pPr marL="533400" lvl="0" indent="-271463" algn="just">
              <a:buFont typeface="Wingdings" pitchFamily="2" charset="2"/>
              <a:buChar char="Ø"/>
            </a:pPr>
            <a:r>
              <a:rPr lang="fr-FR" dirty="0"/>
              <a:t>La côte part des taxes sur les produits pétroliers,</a:t>
            </a:r>
            <a:endParaRPr lang="fr-CD" dirty="0"/>
          </a:p>
          <a:p>
            <a:pPr marL="533400" lvl="0" indent="-271463" algn="just">
              <a:buFont typeface="Wingdings" pitchFamily="2" charset="2"/>
              <a:buChar char="Ø"/>
            </a:pPr>
            <a:r>
              <a:rPr lang="fr-FR" dirty="0"/>
              <a:t>Les taxes à l’essieu,</a:t>
            </a:r>
            <a:endParaRPr lang="fr-CD" dirty="0"/>
          </a:p>
          <a:p>
            <a:pPr marL="533400" lvl="0" indent="-271463" algn="just">
              <a:buFont typeface="Wingdings" pitchFamily="2" charset="2"/>
              <a:buChar char="Ø"/>
            </a:pPr>
            <a:r>
              <a:rPr lang="fr-FR" dirty="0"/>
              <a:t>Droit de passage/transit.</a:t>
            </a:r>
            <a:endParaRPr lang="fr-CD" dirty="0"/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fr-FR" b="1" dirty="0"/>
              <a:t>Ces ressources sont collectées et utilisées de diverses manières :</a:t>
            </a:r>
            <a:endParaRPr lang="fr-CD" b="1" dirty="0"/>
          </a:p>
          <a:p>
            <a:pPr marL="614362" lvl="4" indent="-342900" algn="just">
              <a:buFont typeface="+mj-lt"/>
              <a:buAutoNum type="alphaLcParenR"/>
            </a:pPr>
            <a:r>
              <a:rPr lang="fr-FR" dirty="0"/>
              <a:t>Collectes effectuées par des structures de l’Etat et reversées dans les comptes des Fonds Routier,</a:t>
            </a:r>
            <a:endParaRPr lang="fr-CD" dirty="0"/>
          </a:p>
          <a:p>
            <a:pPr marL="614362" lvl="4" indent="-342900" algn="just">
              <a:buFont typeface="+mj-lt"/>
              <a:buAutoNum type="alphaLcParenR"/>
            </a:pPr>
            <a:r>
              <a:rPr lang="fr-FR" dirty="0"/>
              <a:t>Collectes assurées directement par les Fonds Routier et mis à la disposition des Agences routières,</a:t>
            </a:r>
            <a:endParaRPr lang="fr-CD" dirty="0"/>
          </a:p>
          <a:p>
            <a:pPr marL="614362" lvl="4" indent="-342900" algn="just">
              <a:buFont typeface="+mj-lt"/>
              <a:buAutoNum type="alphaLcParenR"/>
            </a:pPr>
            <a:r>
              <a:rPr lang="fr-FR" dirty="0"/>
              <a:t>Collectes effectuées par les structures de l’Etat et reversées dans le compte du Trésor Public.</a:t>
            </a:r>
            <a:endParaRPr lang="fr-CD" dirty="0"/>
          </a:p>
          <a:p>
            <a:pPr algn="just">
              <a:spcBef>
                <a:spcPts val="600"/>
              </a:spcBef>
            </a:pPr>
            <a:r>
              <a:rPr lang="fr-FR" b="1" i="1" dirty="0"/>
              <a:t>NB : en ce qui concerne les mécanismes de financement, il n’existe pas une harmonisation au niveau des Etats</a:t>
            </a:r>
            <a:r>
              <a:rPr lang="fr-CD" sz="1800" b="1" i="1" dirty="0"/>
              <a:t> </a:t>
            </a:r>
            <a:endParaRPr sz="1700" b="1" i="1" dirty="0">
              <a:solidFill>
                <a:srgbClr val="262626"/>
              </a:solidFill>
            </a:endParaRPr>
          </a:p>
        </p:txBody>
      </p:sp>
      <p:sp>
        <p:nvSpPr>
          <p:cNvPr id="139" name="Google Shape;139;p26">
            <a:extLst>
              <a:ext uri="{FF2B5EF4-FFF2-40B4-BE49-F238E27FC236}">
                <a16:creationId xmlns:a16="http://schemas.microsoft.com/office/drawing/2014/main" id="{29B8E61B-DA2A-82C3-FF89-A784FD79987E}"/>
              </a:ext>
            </a:extLst>
          </p:cNvPr>
          <p:cNvSpPr txBox="1"/>
          <p:nvPr/>
        </p:nvSpPr>
        <p:spPr>
          <a:xfrm>
            <a:off x="294635" y="334681"/>
            <a:ext cx="5740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E2081E"/>
                </a:solidFill>
                <a:latin typeface="Arial"/>
                <a:ea typeface="Arial"/>
                <a:cs typeface="Arial"/>
                <a:sym typeface="Arial"/>
              </a:rPr>
              <a:t>Rationale for the Working Group</a:t>
            </a:r>
            <a:endParaRPr sz="1500" b="1" i="0" u="none" strike="noStrike" cap="none">
              <a:solidFill>
                <a:srgbClr val="E208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10C7735-7F1C-28AF-E4A3-AE732B051A31}"/>
              </a:ext>
            </a:extLst>
          </p:cNvPr>
          <p:cNvSpPr txBox="1"/>
          <p:nvPr/>
        </p:nvSpPr>
        <p:spPr>
          <a:xfrm>
            <a:off x="974199" y="785348"/>
            <a:ext cx="7519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b="1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Point 1 : Harmonisation des politiques et systèmes de financement</a:t>
            </a:r>
            <a:r>
              <a:rPr lang="fr-CD" sz="1800" b="1" dirty="0">
                <a:solidFill>
                  <a:srgbClr val="00B050"/>
                </a:solidFill>
                <a:effectLst/>
              </a:rPr>
              <a:t> </a:t>
            </a:r>
            <a:endParaRPr lang="fr-FR" sz="1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32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1E59B375-C293-5772-BF8C-1F4E1F50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>
            <a:extLst>
              <a:ext uri="{FF2B5EF4-FFF2-40B4-BE49-F238E27FC236}">
                <a16:creationId xmlns:a16="http://schemas.microsoft.com/office/drawing/2014/main" id="{87256BD6-4E8A-8663-6D23-577E74454C27}"/>
              </a:ext>
            </a:extLst>
          </p:cNvPr>
          <p:cNvSpPr txBox="1"/>
          <p:nvPr/>
        </p:nvSpPr>
        <p:spPr>
          <a:xfrm>
            <a:off x="473039" y="1584928"/>
            <a:ext cx="7700100" cy="243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fr-FR" sz="1600" b="1" dirty="0"/>
              <a:t>Certaines Communautés Économiques Régionales (CER), ou certains Etats, disposent des accords, par exemple :</a:t>
            </a:r>
            <a:endParaRPr lang="fr-CD" sz="1600" b="1" dirty="0"/>
          </a:p>
          <a:p>
            <a:pPr marL="285750" lvl="0" indent="-285750" algn="just">
              <a:buFont typeface="Wingdings" pitchFamily="2" charset="2"/>
              <a:buChar char="q"/>
            </a:pPr>
            <a:r>
              <a:rPr lang="fr-FR" sz="1600" dirty="0"/>
              <a:t>Le Règlement 14 de l’UEMOA et l’acte additionnel de la CEDEAO qui prescrit l’harmonisation des normes et procédures de contrôle des charges à l’essieu des camions sur les corridors de l’ensemble des pays membres,</a:t>
            </a:r>
            <a:endParaRPr lang="fr-CD" sz="1600" dirty="0"/>
          </a:p>
          <a:p>
            <a:pPr algn="just"/>
            <a:endParaRPr lang="fr-FR" sz="1600" dirty="0"/>
          </a:p>
          <a:p>
            <a:pPr algn="just"/>
            <a:r>
              <a:rPr lang="fr-FR" sz="1600" b="1" dirty="0"/>
              <a:t>Certains Etats disposent d’accords bilatéraux pour gérer uniquement la facilitation du transit et non au financement de l’entretien routier</a:t>
            </a:r>
            <a:r>
              <a:rPr lang="fr-CD" sz="1600" b="1" dirty="0"/>
              <a:t> </a:t>
            </a:r>
            <a:endParaRPr lang="fr-CD" sz="1600" b="1" dirty="0">
              <a:solidFill>
                <a:srgbClr val="262626"/>
              </a:solidFill>
            </a:endParaRPr>
          </a:p>
          <a:p>
            <a:pPr algn="just"/>
            <a:endParaRPr lang="fr-CD" sz="1600" b="1" dirty="0"/>
          </a:p>
        </p:txBody>
      </p:sp>
      <p:sp>
        <p:nvSpPr>
          <p:cNvPr id="139" name="Google Shape;139;p26">
            <a:extLst>
              <a:ext uri="{FF2B5EF4-FFF2-40B4-BE49-F238E27FC236}">
                <a16:creationId xmlns:a16="http://schemas.microsoft.com/office/drawing/2014/main" id="{D56CC9B6-80F4-94FA-3533-18F0C12237AA}"/>
              </a:ext>
            </a:extLst>
          </p:cNvPr>
          <p:cNvSpPr txBox="1"/>
          <p:nvPr/>
        </p:nvSpPr>
        <p:spPr>
          <a:xfrm>
            <a:off x="294635" y="334681"/>
            <a:ext cx="5740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E2081E"/>
                </a:solidFill>
                <a:latin typeface="Arial"/>
                <a:ea typeface="Arial"/>
                <a:cs typeface="Arial"/>
                <a:sym typeface="Arial"/>
              </a:rPr>
              <a:t>Rationale for the Working Group</a:t>
            </a:r>
            <a:endParaRPr sz="1500" b="1" i="0" u="none" strike="noStrike" cap="none">
              <a:solidFill>
                <a:srgbClr val="E208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9D4E80C-8BA1-C57E-F1EE-87C196D42FF9}"/>
              </a:ext>
            </a:extLst>
          </p:cNvPr>
          <p:cNvSpPr txBox="1"/>
          <p:nvPr/>
        </p:nvSpPr>
        <p:spPr>
          <a:xfrm>
            <a:off x="982992" y="996363"/>
            <a:ext cx="7519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b="1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Point 2 : </a:t>
            </a:r>
            <a:r>
              <a:rPr lang="fr-CA" sz="1800" b="1" dirty="0">
                <a:solidFill>
                  <a:srgbClr val="00B050"/>
                </a:solidFill>
                <a:latin typeface="Arial" panose="020B0604020202020204" pitchFamily="34" charset="0"/>
              </a:rPr>
              <a:t>Mécanismes d’appui à la gestion des corridors</a:t>
            </a:r>
            <a:r>
              <a:rPr lang="fr-CD" sz="1800" b="1" dirty="0">
                <a:solidFill>
                  <a:srgbClr val="00B050"/>
                </a:solidFill>
                <a:latin typeface="Arial" panose="020B0604020202020204" pitchFamily="34" charset="0"/>
              </a:rPr>
              <a:t>  </a:t>
            </a:r>
            <a:endParaRPr lang="fr-FR" sz="1800" b="1" dirty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23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75E16785-7E02-0915-324F-23AAE9FE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>
            <a:extLst>
              <a:ext uri="{FF2B5EF4-FFF2-40B4-BE49-F238E27FC236}">
                <a16:creationId xmlns:a16="http://schemas.microsoft.com/office/drawing/2014/main" id="{14CEC5BF-D4B7-8F30-6C26-A98B54AA01FA}"/>
              </a:ext>
            </a:extLst>
          </p:cNvPr>
          <p:cNvSpPr txBox="1"/>
          <p:nvPr/>
        </p:nvSpPr>
        <p:spPr>
          <a:xfrm>
            <a:off x="534584" y="1154680"/>
            <a:ext cx="7967578" cy="385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fr-FR" sz="1600" b="1" dirty="0"/>
              <a:t>La CEDEAO a élaboré une stratégie d’entretien des corridors.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fr-FR" sz="1600" b="1" dirty="0"/>
              <a:t>Certains Etats ont élaboré leur stratégie nationale d’entretien routier; d’autres n’en disposent pas encore.</a:t>
            </a:r>
            <a:endParaRPr lang="fr-CD" dirty="0"/>
          </a:p>
          <a:p>
            <a:pPr lvl="0" algn="just"/>
            <a:r>
              <a:rPr lang="fr-FR" sz="1800" b="1" dirty="0">
                <a:solidFill>
                  <a:srgbClr val="FF0000"/>
                </a:solidFill>
              </a:rPr>
              <a:t>Les défis :</a:t>
            </a:r>
            <a:endParaRPr lang="fr-CD" sz="1800" dirty="0">
              <a:solidFill>
                <a:srgbClr val="FF0000"/>
              </a:solidFill>
            </a:endParaRPr>
          </a:p>
          <a:p>
            <a:pPr marL="401638" indent="-219075" algn="just">
              <a:buFont typeface="+mj-lt"/>
              <a:buAutoNum type="arabicPeriod"/>
            </a:pPr>
            <a:r>
              <a:rPr lang="fr-FR" sz="1600" dirty="0"/>
              <a:t>Susciter la volonté politique à la priorisation du financement de l’entretien routier sur les corridors,</a:t>
            </a:r>
            <a:endParaRPr lang="fr-CD" sz="1600" dirty="0"/>
          </a:p>
          <a:p>
            <a:pPr marL="401638" lvl="0" indent="-219075" algn="just">
              <a:buFont typeface="+mj-lt"/>
              <a:buAutoNum type="arabicPeriod"/>
            </a:pPr>
            <a:r>
              <a:rPr lang="fr-FR" sz="1600" dirty="0"/>
              <a:t>Elaborer une stratégie sous- régionale de financement de l’entretien routier des corridors,</a:t>
            </a:r>
            <a:endParaRPr lang="fr-CD" sz="1600" dirty="0"/>
          </a:p>
          <a:p>
            <a:pPr marL="401638" lvl="0" indent="-219075" algn="just">
              <a:buFont typeface="+mj-lt"/>
              <a:buAutoNum type="arabicPeriod"/>
            </a:pPr>
            <a:r>
              <a:rPr lang="fr-FR" sz="1600" dirty="0"/>
              <a:t>créer des comités techniques sous- régionaux pour harmoniser l’entretien routier sur les corridors,</a:t>
            </a:r>
            <a:endParaRPr lang="fr-CD" sz="1600" dirty="0"/>
          </a:p>
          <a:p>
            <a:pPr marL="401638" lvl="0" indent="-219075" algn="just">
              <a:buFont typeface="+mj-lt"/>
              <a:buAutoNum type="arabicPeriod"/>
            </a:pPr>
            <a:r>
              <a:rPr lang="fr-FR" sz="1600" dirty="0"/>
              <a:t>Digitaliser les procédures de collecte et de reversement des ressources afin d’accroitre les financements nécessaires à l’entretien routier des corridors,</a:t>
            </a:r>
            <a:endParaRPr lang="fr-CD" sz="1600" dirty="0"/>
          </a:p>
          <a:p>
            <a:pPr marL="401638" lvl="0" indent="-219075" algn="just">
              <a:buFont typeface="+mj-lt"/>
              <a:buAutoNum type="arabicPeriod"/>
            </a:pPr>
            <a:r>
              <a:rPr lang="fr-FR" sz="1600" dirty="0"/>
              <a:t>Harmoniser les textes sur la protection du patrimoine routier (contrôle de la charge à l’essieu et sensibilisation des utilisateurs</a:t>
            </a:r>
            <a:endParaRPr lang="fr-CD" sz="1600" dirty="0"/>
          </a:p>
        </p:txBody>
      </p:sp>
      <p:sp>
        <p:nvSpPr>
          <p:cNvPr id="139" name="Google Shape;139;p26">
            <a:extLst>
              <a:ext uri="{FF2B5EF4-FFF2-40B4-BE49-F238E27FC236}">
                <a16:creationId xmlns:a16="http://schemas.microsoft.com/office/drawing/2014/main" id="{3BA26EFE-731B-0B75-3F91-545BDE74BF15}"/>
              </a:ext>
            </a:extLst>
          </p:cNvPr>
          <p:cNvSpPr txBox="1"/>
          <p:nvPr/>
        </p:nvSpPr>
        <p:spPr>
          <a:xfrm>
            <a:off x="294635" y="334681"/>
            <a:ext cx="5740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E2081E"/>
                </a:solidFill>
                <a:latin typeface="Arial"/>
                <a:ea typeface="Arial"/>
                <a:cs typeface="Arial"/>
                <a:sym typeface="Arial"/>
              </a:rPr>
              <a:t>Rationale for the Working Group</a:t>
            </a:r>
            <a:endParaRPr sz="1500" b="1" i="0" u="none" strike="noStrike" cap="none">
              <a:solidFill>
                <a:srgbClr val="E208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00B6E94-A625-F6F6-241A-6B509256AB98}"/>
              </a:ext>
            </a:extLst>
          </p:cNvPr>
          <p:cNvSpPr txBox="1"/>
          <p:nvPr/>
        </p:nvSpPr>
        <p:spPr>
          <a:xfrm>
            <a:off x="982992" y="785348"/>
            <a:ext cx="7519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b="1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Point </a:t>
            </a:r>
            <a:r>
              <a:rPr lang="fr-CA" sz="1800" b="1" dirty="0">
                <a:solidFill>
                  <a:srgbClr val="00B05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3</a:t>
            </a:r>
            <a:r>
              <a:rPr lang="fr-CA" sz="1800" b="1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: </a:t>
            </a:r>
            <a:r>
              <a:rPr lang="fr-CA" sz="1800" b="1" dirty="0">
                <a:solidFill>
                  <a:srgbClr val="00B050"/>
                </a:solidFill>
                <a:latin typeface="Arial" panose="020B0604020202020204" pitchFamily="34" charset="0"/>
              </a:rPr>
              <a:t>Stratégies d’entretien routier sur les corridors</a:t>
            </a:r>
            <a:r>
              <a:rPr lang="fr-CD" sz="1800" b="1" dirty="0">
                <a:solidFill>
                  <a:srgbClr val="00B050"/>
                </a:solidFill>
                <a:latin typeface="Arial" panose="020B0604020202020204" pitchFamily="34" charset="0"/>
              </a:rPr>
              <a:t>  </a:t>
            </a:r>
            <a:endParaRPr lang="fr-FR" sz="1800" b="1" dirty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45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328A2C20-3A99-23D4-5C0B-333E0CF6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>
            <a:extLst>
              <a:ext uri="{FF2B5EF4-FFF2-40B4-BE49-F238E27FC236}">
                <a16:creationId xmlns:a16="http://schemas.microsoft.com/office/drawing/2014/main" id="{BEC15C0D-FD3C-7799-07CA-3E830BBD6C32}"/>
              </a:ext>
            </a:extLst>
          </p:cNvPr>
          <p:cNvSpPr txBox="1"/>
          <p:nvPr/>
        </p:nvSpPr>
        <p:spPr>
          <a:xfrm>
            <a:off x="721950" y="1507574"/>
            <a:ext cx="7700100" cy="330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fr-FR" sz="2000" b="1" dirty="0">
                <a:solidFill>
                  <a:srgbClr val="FF0000"/>
                </a:solidFill>
              </a:rPr>
              <a:t>Opportunités :</a:t>
            </a:r>
            <a:endParaRPr lang="fr-CD" sz="2000" b="1" dirty="0">
              <a:solidFill>
                <a:srgbClr val="FF0000"/>
              </a:solidFill>
            </a:endParaRPr>
          </a:p>
          <a:p>
            <a:pPr marL="446088" lvl="0" indent="-263525" algn="just">
              <a:buFont typeface="+mj-lt"/>
              <a:buAutoNum type="arabicPeriod"/>
            </a:pPr>
            <a:r>
              <a:rPr lang="fr-FR" sz="1800" dirty="0"/>
              <a:t>L’Association des Fonds d’entretien routier (AFERA) pour faire le plaidoyer à tous les niveaux politiques,</a:t>
            </a:r>
            <a:endParaRPr lang="fr-CD" sz="1800" dirty="0"/>
          </a:p>
          <a:p>
            <a:pPr marL="446088" lvl="0" indent="-263525" algn="just">
              <a:buFont typeface="+mj-lt"/>
              <a:buAutoNum type="arabicPeriod"/>
            </a:pPr>
            <a:r>
              <a:rPr lang="fr-FR" sz="1800" dirty="0"/>
              <a:t>Les Communautés Economiques Régionales et autres institutions d’intégration sous-régionale pour donner les directives nécessaires,</a:t>
            </a:r>
            <a:endParaRPr lang="fr-CD" sz="1800" dirty="0"/>
          </a:p>
          <a:p>
            <a:pPr marL="446088" lvl="0" indent="-263525" algn="just">
              <a:buFont typeface="+mj-lt"/>
              <a:buAutoNum type="arabicPeriod"/>
            </a:pPr>
            <a:r>
              <a:rPr lang="fr-FR" sz="1800" dirty="0"/>
              <a:t>Les cadres juridiques PPP au niveau des Etats et des </a:t>
            </a:r>
            <a:r>
              <a:rPr lang="fr-FR" sz="1800" dirty="0" err="1"/>
              <a:t>CERs</a:t>
            </a:r>
            <a:r>
              <a:rPr lang="fr-FR" sz="1800" dirty="0"/>
              <a:t>, pour mobiliser davantage de ressources pour l’entretien routier, notamment sur les corridors ;</a:t>
            </a:r>
            <a:endParaRPr lang="fr-CD" sz="1800" dirty="0"/>
          </a:p>
          <a:p>
            <a:pPr marL="446088" lvl="0" indent="-263525" algn="just">
              <a:buFont typeface="+mj-lt"/>
              <a:buAutoNum type="arabicPeriod"/>
            </a:pPr>
            <a:r>
              <a:rPr lang="fr-FR" sz="1800" dirty="0"/>
              <a:t>Les différents comités techniques et autorités de facilitation du transport et transit au niveau régional et sous-régional pour la gestion des corridors et qui ne </a:t>
            </a:r>
            <a:r>
              <a:rPr lang="fr-FR" sz="1800"/>
              <a:t>coordonnent que les </a:t>
            </a:r>
            <a:r>
              <a:rPr lang="fr-FR" sz="1800" dirty="0"/>
              <a:t>aspects liés </a:t>
            </a:r>
            <a:r>
              <a:rPr lang="fr-FR" sz="1800"/>
              <a:t>au transit.</a:t>
            </a:r>
            <a:endParaRPr lang="fr-CD" sz="1800" dirty="0"/>
          </a:p>
        </p:txBody>
      </p:sp>
      <p:sp>
        <p:nvSpPr>
          <p:cNvPr id="139" name="Google Shape;139;p26">
            <a:extLst>
              <a:ext uri="{FF2B5EF4-FFF2-40B4-BE49-F238E27FC236}">
                <a16:creationId xmlns:a16="http://schemas.microsoft.com/office/drawing/2014/main" id="{31D08DAA-E66B-A5FF-85FC-EF8F835DA873}"/>
              </a:ext>
            </a:extLst>
          </p:cNvPr>
          <p:cNvSpPr txBox="1"/>
          <p:nvPr/>
        </p:nvSpPr>
        <p:spPr>
          <a:xfrm>
            <a:off x="294635" y="334681"/>
            <a:ext cx="5740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E2081E"/>
                </a:solidFill>
                <a:latin typeface="Arial"/>
                <a:ea typeface="Arial"/>
                <a:cs typeface="Arial"/>
                <a:sym typeface="Arial"/>
              </a:rPr>
              <a:t>Rationale for the Working Group</a:t>
            </a:r>
            <a:endParaRPr sz="1500" b="1" i="0" u="none" strike="noStrike" cap="none">
              <a:solidFill>
                <a:srgbClr val="E208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4F64E5D-8F0E-DAD1-67B0-240CF1FC7587}"/>
              </a:ext>
            </a:extLst>
          </p:cNvPr>
          <p:cNvSpPr txBox="1"/>
          <p:nvPr/>
        </p:nvSpPr>
        <p:spPr>
          <a:xfrm>
            <a:off x="982992" y="996363"/>
            <a:ext cx="7519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b="1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Point </a:t>
            </a:r>
            <a:r>
              <a:rPr lang="fr-CA" sz="1800" b="1" dirty="0">
                <a:solidFill>
                  <a:srgbClr val="00B050"/>
                </a:solidFill>
                <a:latin typeface="Arial" panose="020B0604020202020204" pitchFamily="34" charset="0"/>
                <a:ea typeface="Aptos" panose="020B0004020202020204" pitchFamily="34" charset="0"/>
              </a:rPr>
              <a:t>3</a:t>
            </a:r>
            <a:r>
              <a:rPr lang="fr-CA" sz="1800" b="1" dirty="0">
                <a:solidFill>
                  <a:srgbClr val="00B05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</a:rPr>
              <a:t> : </a:t>
            </a:r>
            <a:r>
              <a:rPr lang="fr-CA" sz="1800" b="1" dirty="0">
                <a:solidFill>
                  <a:srgbClr val="00B050"/>
                </a:solidFill>
                <a:latin typeface="Arial" panose="020B0604020202020204" pitchFamily="34" charset="0"/>
              </a:rPr>
              <a:t>Stratégies d’entretien routier sur les corridors</a:t>
            </a:r>
            <a:r>
              <a:rPr lang="fr-CD" sz="1800" b="1" dirty="0">
                <a:solidFill>
                  <a:srgbClr val="00B050"/>
                </a:solidFill>
                <a:latin typeface="Arial" panose="020B0604020202020204" pitchFamily="34" charset="0"/>
              </a:rPr>
              <a:t>  </a:t>
            </a:r>
            <a:endParaRPr lang="fr-FR" sz="1800" b="1" dirty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25306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E84F999B26149BAD494A5506E81F3" ma:contentTypeVersion="25" ma:contentTypeDescription="Create a new document." ma:contentTypeScope="" ma:versionID="cd295e73000c6148a28815fbef325cf0">
  <xsd:schema xmlns:xsd="http://www.w3.org/2001/XMLSchema" xmlns:xs="http://www.w3.org/2001/XMLSchema" xmlns:p="http://schemas.microsoft.com/office/2006/metadata/properties" xmlns:ns1="http://schemas.microsoft.com/sharepoint/v3" xmlns:ns2="80f4c7fb-5be7-48ae-9ddb-a5c46a443b58" xmlns:ns3="b39bf1ee-6b4f-479f-9ce9-7241d6522d55" targetNamespace="http://schemas.microsoft.com/office/2006/metadata/properties" ma:root="true" ma:fieldsID="443c52d966bc38211c74f43f1a24c477" ns1:_="" ns2:_="" ns3:_="">
    <xsd:import namespace="http://schemas.microsoft.com/sharepoint/v3"/>
    <xsd:import namespace="80f4c7fb-5be7-48ae-9ddb-a5c46a443b58"/>
    <xsd:import namespace="b39bf1ee-6b4f-479f-9ce9-7241d6522d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dlc_ExpireDateSaved" minOccurs="0"/>
                <xsd:element ref="ns1:_dlc_ExpireDate" minOccurs="0"/>
                <xsd:element ref="ns1:_dlc_Exempt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pireDateSaved" ma:index="10" nillable="true" ma:displayName="Original Expiration Date" ma:hidden="true" ma:internalName="_dlc_ExpireDateSaved" ma:readOnly="true">
      <xsd:simpleType>
        <xsd:restriction base="dms:DateTime"/>
      </xsd:simpleType>
    </xsd:element>
    <xsd:element name="_dlc_ExpireDate" ma:index="11" nillable="true" ma:displayName="Expiration Date" ma:description="" ma:hidden="true" ma:indexed="true" ma:internalName="_dlc_ExpireDate" ma:readOnly="true">
      <xsd:simpleType>
        <xsd:restriction base="dms:DateTime"/>
      </xsd:simpleType>
    </xsd:element>
    <xsd:element name="_dlc_Exempt" ma:index="12" nillable="true" ma:displayName="Exempt from Policy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f4c7fb-5be7-48ae-9ddb-a5c46a443b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MediaServiceAutoTags" ma:internalName="MediaServiceAutoTags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556e139c-3976-4f37-8cfc-4ca6bb14bc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9bf1ee-6b4f-479f-9ce9-7241d6522d5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f521ea0d-b711-45dc-8afd-6539f8507523}" ma:internalName="TaxCatchAll" ma:showField="CatchAllData" ma:web="b39bf1ee-6b4f-479f-9ce9-7241d6522d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f4c7fb-5be7-48ae-9ddb-a5c46a443b58">
      <Terms xmlns="http://schemas.microsoft.com/office/infopath/2007/PartnerControls"/>
    </lcf76f155ced4ddcb4097134ff3c332f>
    <_Flow_SignoffStatus xmlns="80f4c7fb-5be7-48ae-9ddb-a5c46a443b58" xsi:nil="true"/>
    <TaxCatchAll xmlns="b39bf1ee-6b4f-479f-9ce9-7241d6522d55" xsi:nil="true"/>
    <_dlc_ExpireDateSaved xmlns="http://schemas.microsoft.com/sharepoint/v3" xsi:nil="true"/>
    <_dlc_ExpireDate xmlns="http://schemas.microsoft.com/sharepoint/v3">2025-10-06T08:23:06+00:00</_dlc_ExpireDate>
  </documentManagement>
</p:properties>
</file>

<file path=customXml/itemProps1.xml><?xml version="1.0" encoding="utf-8"?>
<ds:datastoreItem xmlns:ds="http://schemas.openxmlformats.org/officeDocument/2006/customXml" ds:itemID="{10366E16-6477-49BA-8469-1063783A3CB6}"/>
</file>

<file path=customXml/itemProps2.xml><?xml version="1.0" encoding="utf-8"?>
<ds:datastoreItem xmlns:ds="http://schemas.openxmlformats.org/officeDocument/2006/customXml" ds:itemID="{E4990C9E-2144-48CB-AD81-D664B9CDC2D7}"/>
</file>

<file path=customXml/itemProps3.xml><?xml version="1.0" encoding="utf-8"?>
<ds:datastoreItem xmlns:ds="http://schemas.openxmlformats.org/officeDocument/2006/customXml" ds:itemID="{427C3669-36AD-4E7C-9A9C-758069F22893}"/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491</Words>
  <Application>Microsoft Macintosh PowerPoint</Application>
  <PresentationFormat>Affichage à l'écran (16:9)</PresentationFormat>
  <Paragraphs>52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Play</vt:lpstr>
      <vt:lpstr>Times New Roman</vt:lpstr>
      <vt:lpstr>Wingdings</vt:lpstr>
      <vt:lpstr>Simple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NIATY MOUAMBA Maurice</cp:lastModifiedBy>
  <cp:revision>4</cp:revision>
  <dcterms:modified xsi:type="dcterms:W3CDTF">2025-09-17T23:55:25Z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0x01010064AE84F999B26149BAD494A5506E81F3</vt:lpwstr>
  </property>
  <property fmtid="{D5CDD505-2E9C-101B-9397-08002B2CF9AE}" pid="3" name="_dlc_policyId">
    <vt:lpwstr>/sites/FileTransfer/AFRICA</vt:lpwstr>
  </property>
  <property fmtid="{D5CDD505-2E9C-101B-9397-08002B2CF9AE}" pid="4" name="ItemRetentionFormula">
    <vt:lpwstr>&lt;formula id="Microsoft.Office.RecordsManagement.PolicyFeatures.Expiration.Formula.BuiltIn"&gt;&lt;number&gt;15&lt;/number&gt;&lt;property&gt;Created&lt;/property&gt;&lt;propertyId&gt;8c06beca-0777-48f7-91c7-6da68bc07b69&lt;/propertyId&gt;&lt;period&gt;days&lt;/period&gt;&lt;/formula&gt;</vt:lpwstr>
  </property>
  <property fmtid="{D5CDD505-2E9C-101B-9397-08002B2CF9AE}" pid="5" name="MediaServiceImageTags">
    <vt:lpwstr/>
  </property>
</Properties>
</file>