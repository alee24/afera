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6"/>
  </p:notesMasterIdLst>
  <p:sldIdLst>
    <p:sldId id="256" r:id="rId5"/>
    <p:sldId id="259" r:id="rId6"/>
    <p:sldId id="411" r:id="rId7"/>
    <p:sldId id="353" r:id="rId8"/>
    <p:sldId id="412" r:id="rId9"/>
    <p:sldId id="369" r:id="rId10"/>
    <p:sldId id="308" r:id="rId11"/>
    <p:sldId id="329" r:id="rId12"/>
    <p:sldId id="364" r:id="rId13"/>
    <p:sldId id="368" r:id="rId14"/>
    <p:sldId id="263" r:id="rId15"/>
    <p:sldId id="446" r:id="rId16"/>
    <p:sldId id="413" r:id="rId17"/>
    <p:sldId id="414" r:id="rId18"/>
    <p:sldId id="355" r:id="rId19"/>
    <p:sldId id="445" r:id="rId20"/>
    <p:sldId id="363" r:id="rId21"/>
    <p:sldId id="331" r:id="rId22"/>
    <p:sldId id="447" r:id="rId23"/>
    <p:sldId id="417" r:id="rId24"/>
    <p:sldId id="267" r:id="rId25"/>
    <p:sldId id="358" r:id="rId26"/>
    <p:sldId id="357" r:id="rId27"/>
    <p:sldId id="448" r:id="rId28"/>
    <p:sldId id="415" r:id="rId29"/>
    <p:sldId id="373" r:id="rId30"/>
    <p:sldId id="264" r:id="rId31"/>
    <p:sldId id="362" r:id="rId32"/>
    <p:sldId id="360" r:id="rId33"/>
    <p:sldId id="365" r:id="rId34"/>
    <p:sldId id="449" r:id="rId35"/>
    <p:sldId id="416" r:id="rId36"/>
    <p:sldId id="374" r:id="rId37"/>
    <p:sldId id="367" r:id="rId38"/>
    <p:sldId id="372" r:id="rId39"/>
    <p:sldId id="376" r:id="rId40"/>
    <p:sldId id="457" r:id="rId41"/>
    <p:sldId id="377" r:id="rId42"/>
    <p:sldId id="316" r:id="rId43"/>
    <p:sldId id="450" r:id="rId44"/>
    <p:sldId id="418" r:id="rId45"/>
    <p:sldId id="375" r:id="rId46"/>
    <p:sldId id="378" r:id="rId47"/>
    <p:sldId id="318" r:id="rId48"/>
    <p:sldId id="379" r:id="rId49"/>
    <p:sldId id="333" r:id="rId50"/>
    <p:sldId id="451" r:id="rId51"/>
    <p:sldId id="421" r:id="rId52"/>
    <p:sldId id="419" r:id="rId53"/>
    <p:sldId id="380" r:id="rId54"/>
    <p:sldId id="381" r:id="rId55"/>
    <p:sldId id="291" r:id="rId56"/>
    <p:sldId id="286" r:id="rId57"/>
    <p:sldId id="335" r:id="rId58"/>
    <p:sldId id="289" r:id="rId59"/>
    <p:sldId id="382" r:id="rId60"/>
    <p:sldId id="383" r:id="rId61"/>
    <p:sldId id="293" r:id="rId62"/>
    <p:sldId id="292" r:id="rId63"/>
    <p:sldId id="294" r:id="rId64"/>
    <p:sldId id="452" r:id="rId65"/>
    <p:sldId id="422" r:id="rId66"/>
    <p:sldId id="423" r:id="rId67"/>
    <p:sldId id="395" r:id="rId68"/>
    <p:sldId id="406" r:id="rId69"/>
    <p:sldId id="439" r:id="rId70"/>
    <p:sldId id="424" r:id="rId71"/>
    <p:sldId id="409" r:id="rId72"/>
    <p:sldId id="425" r:id="rId73"/>
    <p:sldId id="426" r:id="rId74"/>
    <p:sldId id="453" r:id="rId75"/>
    <p:sldId id="427" r:id="rId76"/>
    <p:sldId id="428" r:id="rId77"/>
    <p:sldId id="336" r:id="rId78"/>
    <p:sldId id="384" r:id="rId79"/>
    <p:sldId id="296" r:id="rId80"/>
    <p:sldId id="295" r:id="rId81"/>
    <p:sldId id="429" r:id="rId82"/>
    <p:sldId id="390" r:id="rId83"/>
    <p:sldId id="430" r:id="rId84"/>
    <p:sldId id="433" r:id="rId85"/>
    <p:sldId id="454" r:id="rId86"/>
    <p:sldId id="431" r:id="rId87"/>
    <p:sldId id="438" r:id="rId88"/>
    <p:sldId id="393" r:id="rId89"/>
    <p:sldId id="435" r:id="rId90"/>
    <p:sldId id="436" r:id="rId91"/>
    <p:sldId id="440" r:id="rId92"/>
    <p:sldId id="455" r:id="rId93"/>
    <p:sldId id="432" r:id="rId94"/>
    <p:sldId id="404" r:id="rId95"/>
    <p:sldId id="398" r:id="rId96"/>
    <p:sldId id="396" r:id="rId97"/>
    <p:sldId id="400" r:id="rId98"/>
    <p:sldId id="397" r:id="rId99"/>
    <p:sldId id="399" r:id="rId100"/>
    <p:sldId id="442" r:id="rId101"/>
    <p:sldId id="443" r:id="rId102"/>
    <p:sldId id="456" r:id="rId103"/>
    <p:sldId id="444" r:id="rId104"/>
    <p:sldId id="303" r:id="rId10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FF"/>
    <a:srgbClr val="D1D1D1"/>
    <a:srgbClr val="DCDCDC"/>
    <a:srgbClr val="7045EB"/>
    <a:srgbClr val="F2F2F2"/>
    <a:srgbClr val="000000"/>
    <a:srgbClr val="5A7AD6"/>
    <a:srgbClr val="4F56E1"/>
    <a:srgbClr val="6699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41" autoAdjust="0"/>
    <p:restoredTop sz="94434" autoAdjust="0"/>
  </p:normalViewPr>
  <p:slideViewPr>
    <p:cSldViewPr snapToGrid="0" showGuides="1">
      <p:cViewPr varScale="1">
        <p:scale>
          <a:sx n="88" d="100"/>
          <a:sy n="88" d="100"/>
        </p:scale>
        <p:origin x="17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07" Type="http://schemas.openxmlformats.org/officeDocument/2006/relationships/presProps" Target="presProps.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slide" Target="slides/slide83.xml"/><Relationship Id="rId102" Type="http://schemas.openxmlformats.org/officeDocument/2006/relationships/slide" Target="slides/slide98.xml"/><Relationship Id="rId110"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slide" Target="slides/slide86.xml"/><Relationship Id="rId95" Type="http://schemas.openxmlformats.org/officeDocument/2006/relationships/slide" Target="slides/slide9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slide" Target="slides/slide99.xml"/><Relationship Id="rId108"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theme" Target="theme/theme1.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s>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1C6492-58DF-4481-900A-E11EB5BA8E8B}" type="doc">
      <dgm:prSet loTypeId="urn:microsoft.com/office/officeart/2005/8/layout/cycle1" loCatId="cycle" qsTypeId="urn:microsoft.com/office/officeart/2005/8/quickstyle/simple1" qsCatId="simple" csTypeId="urn:microsoft.com/office/officeart/2005/8/colors/accent1_4" csCatId="accent1" phldr="1"/>
      <dgm:spPr/>
      <dgm:t>
        <a:bodyPr/>
        <a:lstStyle/>
        <a:p>
          <a:endParaRPr lang="en-US"/>
        </a:p>
      </dgm:t>
    </dgm:pt>
    <dgm:pt modelId="{9C8B92FC-94CC-47F3-90E7-6B7A164FC51C}">
      <dgm:prSet phldrT="[Text]" custT="1"/>
      <dgm:spPr/>
      <dgm:t>
        <a:bodyPr/>
        <a:lstStyle/>
        <a:p>
          <a:r>
            <a:rPr lang="en-US" sz="1800" b="1" dirty="0" smtClean="0">
              <a:latin typeface="Arial" panose="020B0604020202020204" pitchFamily="34" charset="0"/>
              <a:cs typeface="Arial" panose="020B0604020202020204" pitchFamily="34" charset="0"/>
            </a:rPr>
            <a:t>Context and situation analysis</a:t>
          </a:r>
          <a:endParaRPr lang="en-US" sz="1800" b="1" dirty="0">
            <a:latin typeface="Arial" panose="020B0604020202020204" pitchFamily="34" charset="0"/>
            <a:cs typeface="Arial" panose="020B0604020202020204" pitchFamily="34" charset="0"/>
          </a:endParaRPr>
        </a:p>
      </dgm:t>
    </dgm:pt>
    <dgm:pt modelId="{F86DE76E-ECC6-44FC-903E-81B3F92A5C43}" type="parTrans" cxnId="{6471DE52-6229-49AB-87CE-C5558EB0E394}">
      <dgm:prSet/>
      <dgm:spPr/>
      <dgm:t>
        <a:bodyPr/>
        <a:lstStyle/>
        <a:p>
          <a:endParaRPr lang="en-US" sz="1800" b="1">
            <a:latin typeface="Arial" panose="020B0604020202020204" pitchFamily="34" charset="0"/>
            <a:cs typeface="Arial" panose="020B0604020202020204" pitchFamily="34" charset="0"/>
          </a:endParaRPr>
        </a:p>
      </dgm:t>
    </dgm:pt>
    <dgm:pt modelId="{71F99017-1857-4CF0-9821-E74511B9FE4A}" type="sibTrans" cxnId="{6471DE52-6229-49AB-87CE-C5558EB0E394}">
      <dgm:prSet/>
      <dgm:spPr/>
      <dgm:t>
        <a:bodyPr/>
        <a:lstStyle/>
        <a:p>
          <a:endParaRPr lang="en-US" sz="1800" b="1">
            <a:latin typeface="Arial" panose="020B0604020202020204" pitchFamily="34" charset="0"/>
            <a:cs typeface="Arial" panose="020B0604020202020204" pitchFamily="34" charset="0"/>
          </a:endParaRPr>
        </a:p>
      </dgm:t>
    </dgm:pt>
    <dgm:pt modelId="{CCAB6365-4E20-450F-97E2-3B00912D7B83}">
      <dgm:prSet phldrT="[Text]" custT="1"/>
      <dgm:spPr/>
      <dgm:t>
        <a:bodyPr/>
        <a:lstStyle/>
        <a:p>
          <a:r>
            <a:rPr lang="en-US" sz="1800" b="1" dirty="0" smtClean="0">
              <a:latin typeface="Arial" panose="020B0604020202020204" pitchFamily="34" charset="0"/>
              <a:cs typeface="Arial" panose="020B0604020202020204" pitchFamily="34" charset="0"/>
            </a:rPr>
            <a:t>Strategic prioritization and planning</a:t>
          </a:r>
          <a:endParaRPr lang="en-US" sz="1800" b="1" dirty="0">
            <a:latin typeface="Arial" panose="020B0604020202020204" pitchFamily="34" charset="0"/>
            <a:cs typeface="Arial" panose="020B0604020202020204" pitchFamily="34" charset="0"/>
          </a:endParaRPr>
        </a:p>
      </dgm:t>
    </dgm:pt>
    <dgm:pt modelId="{DFE6DEF6-0C85-48FD-A8BE-AE28650025FD}" type="parTrans" cxnId="{1A6EC18D-A714-4EA2-A168-2BF913710892}">
      <dgm:prSet/>
      <dgm:spPr/>
      <dgm:t>
        <a:bodyPr/>
        <a:lstStyle/>
        <a:p>
          <a:endParaRPr lang="en-US" sz="1800" b="1">
            <a:latin typeface="Arial" panose="020B0604020202020204" pitchFamily="34" charset="0"/>
            <a:cs typeface="Arial" panose="020B0604020202020204" pitchFamily="34" charset="0"/>
          </a:endParaRPr>
        </a:p>
      </dgm:t>
    </dgm:pt>
    <dgm:pt modelId="{F2648894-7315-46A0-81F2-87F95D2A54D6}" type="sibTrans" cxnId="{1A6EC18D-A714-4EA2-A168-2BF913710892}">
      <dgm:prSet/>
      <dgm:spPr/>
      <dgm:t>
        <a:bodyPr/>
        <a:lstStyle/>
        <a:p>
          <a:endParaRPr lang="en-US" sz="1800" b="1">
            <a:latin typeface="Arial" panose="020B0604020202020204" pitchFamily="34" charset="0"/>
            <a:cs typeface="Arial" panose="020B0604020202020204" pitchFamily="34" charset="0"/>
          </a:endParaRPr>
        </a:p>
      </dgm:t>
    </dgm:pt>
    <dgm:pt modelId="{C3666863-793E-41E4-A683-CA244B1B89B7}">
      <dgm:prSet phldrT="[Text]" custT="1"/>
      <dgm:spPr/>
      <dgm:t>
        <a:bodyPr/>
        <a:lstStyle/>
        <a:p>
          <a:r>
            <a:rPr lang="en-US" sz="1800" b="1" dirty="0" smtClean="0">
              <a:latin typeface="Arial" panose="020B0604020202020204" pitchFamily="34" charset="0"/>
              <a:cs typeface="Arial" panose="020B0604020202020204" pitchFamily="34" charset="0"/>
            </a:rPr>
            <a:t>Implementation</a:t>
          </a:r>
          <a:endParaRPr lang="en-US" sz="1800" b="1" dirty="0">
            <a:latin typeface="Arial" panose="020B0604020202020204" pitchFamily="34" charset="0"/>
            <a:cs typeface="Arial" panose="020B0604020202020204" pitchFamily="34" charset="0"/>
          </a:endParaRPr>
        </a:p>
      </dgm:t>
    </dgm:pt>
    <dgm:pt modelId="{F78A6F3B-11C2-4CE7-9991-7B0A4B7F579B}" type="parTrans" cxnId="{5192B363-AC1E-4539-81CD-D12FD7296102}">
      <dgm:prSet/>
      <dgm:spPr/>
      <dgm:t>
        <a:bodyPr/>
        <a:lstStyle/>
        <a:p>
          <a:endParaRPr lang="en-US" sz="1800" b="1">
            <a:latin typeface="Arial" panose="020B0604020202020204" pitchFamily="34" charset="0"/>
            <a:cs typeface="Arial" panose="020B0604020202020204" pitchFamily="34" charset="0"/>
          </a:endParaRPr>
        </a:p>
      </dgm:t>
    </dgm:pt>
    <dgm:pt modelId="{D0265096-91D4-49D4-80B6-79AC79C10038}" type="sibTrans" cxnId="{5192B363-AC1E-4539-81CD-D12FD7296102}">
      <dgm:prSet/>
      <dgm:spPr/>
      <dgm:t>
        <a:bodyPr/>
        <a:lstStyle/>
        <a:p>
          <a:endParaRPr lang="en-US" sz="1800" b="1">
            <a:latin typeface="Arial" panose="020B0604020202020204" pitchFamily="34" charset="0"/>
            <a:cs typeface="Arial" panose="020B0604020202020204" pitchFamily="34" charset="0"/>
          </a:endParaRPr>
        </a:p>
      </dgm:t>
    </dgm:pt>
    <dgm:pt modelId="{A8BD99DD-F5C8-42F5-9A62-BAFE95658597}">
      <dgm:prSet phldrT="[Text]" custT="1"/>
      <dgm:spPr/>
      <dgm:t>
        <a:bodyPr/>
        <a:lstStyle/>
        <a:p>
          <a:r>
            <a:rPr lang="en-US" sz="1800" b="1" dirty="0" smtClean="0">
              <a:latin typeface="Arial" panose="020B0604020202020204" pitchFamily="34" charset="0"/>
              <a:cs typeface="Arial" panose="020B0604020202020204" pitchFamily="34" charset="0"/>
            </a:rPr>
            <a:t>Monitoring, Evaluation and Reporting</a:t>
          </a:r>
          <a:endParaRPr lang="en-US" sz="1800" b="1" dirty="0">
            <a:latin typeface="Arial" panose="020B0604020202020204" pitchFamily="34" charset="0"/>
            <a:cs typeface="Arial" panose="020B0604020202020204" pitchFamily="34" charset="0"/>
          </a:endParaRPr>
        </a:p>
      </dgm:t>
    </dgm:pt>
    <dgm:pt modelId="{FAD36E7C-A51C-4672-9DFE-7E6E187E1B2F}" type="parTrans" cxnId="{62C5376D-B852-4F3F-BA4F-E8CA83D2C3FA}">
      <dgm:prSet/>
      <dgm:spPr/>
      <dgm:t>
        <a:bodyPr/>
        <a:lstStyle/>
        <a:p>
          <a:endParaRPr lang="en-US" sz="1800" b="1">
            <a:latin typeface="Arial" panose="020B0604020202020204" pitchFamily="34" charset="0"/>
            <a:cs typeface="Arial" panose="020B0604020202020204" pitchFamily="34" charset="0"/>
          </a:endParaRPr>
        </a:p>
      </dgm:t>
    </dgm:pt>
    <dgm:pt modelId="{5FDAB8AC-3C83-4A05-BF57-63F9A58490D0}" type="sibTrans" cxnId="{62C5376D-B852-4F3F-BA4F-E8CA83D2C3FA}">
      <dgm:prSet/>
      <dgm:spPr/>
      <dgm:t>
        <a:bodyPr/>
        <a:lstStyle/>
        <a:p>
          <a:endParaRPr lang="en-US" sz="1800" b="1">
            <a:latin typeface="Arial" panose="020B0604020202020204" pitchFamily="34" charset="0"/>
            <a:cs typeface="Arial" panose="020B0604020202020204" pitchFamily="34" charset="0"/>
          </a:endParaRPr>
        </a:p>
      </dgm:t>
    </dgm:pt>
    <dgm:pt modelId="{265B43B8-CBFB-4614-98FF-A866829443B7}">
      <dgm:prSet phldrT="[Text]" custT="1"/>
      <dgm:spPr/>
      <dgm:t>
        <a:bodyPr/>
        <a:lstStyle/>
        <a:p>
          <a:r>
            <a:rPr lang="en-US" sz="1800" b="1" dirty="0" smtClean="0">
              <a:latin typeface="Arial" panose="020B0604020202020204" pitchFamily="34" charset="0"/>
              <a:cs typeface="Arial" panose="020B0604020202020204" pitchFamily="34" charset="0"/>
            </a:rPr>
            <a:t>Learning and adjustment</a:t>
          </a:r>
          <a:endParaRPr lang="en-US" sz="1800" b="1" dirty="0">
            <a:latin typeface="Arial" panose="020B0604020202020204" pitchFamily="34" charset="0"/>
            <a:cs typeface="Arial" panose="020B0604020202020204" pitchFamily="34" charset="0"/>
          </a:endParaRPr>
        </a:p>
      </dgm:t>
    </dgm:pt>
    <dgm:pt modelId="{4548773A-9680-4503-B0DC-B0341A6EF9D7}" type="parTrans" cxnId="{B37F9304-D79B-45F7-8E7D-2E8BF6A30E40}">
      <dgm:prSet/>
      <dgm:spPr/>
      <dgm:t>
        <a:bodyPr/>
        <a:lstStyle/>
        <a:p>
          <a:endParaRPr lang="en-US" sz="1800" b="1">
            <a:latin typeface="Arial" panose="020B0604020202020204" pitchFamily="34" charset="0"/>
            <a:cs typeface="Arial" panose="020B0604020202020204" pitchFamily="34" charset="0"/>
          </a:endParaRPr>
        </a:p>
      </dgm:t>
    </dgm:pt>
    <dgm:pt modelId="{48E24C02-588D-45CA-B389-E4F568D9E95A}" type="sibTrans" cxnId="{B37F9304-D79B-45F7-8E7D-2E8BF6A30E40}">
      <dgm:prSet/>
      <dgm:spPr/>
      <dgm:t>
        <a:bodyPr/>
        <a:lstStyle/>
        <a:p>
          <a:endParaRPr lang="en-US" sz="1800" b="1">
            <a:latin typeface="Arial" panose="020B0604020202020204" pitchFamily="34" charset="0"/>
            <a:cs typeface="Arial" panose="020B0604020202020204" pitchFamily="34" charset="0"/>
          </a:endParaRPr>
        </a:p>
      </dgm:t>
    </dgm:pt>
    <dgm:pt modelId="{72382C1F-5EB8-44F0-9B2B-25966B225241}" type="pres">
      <dgm:prSet presAssocID="{EC1C6492-58DF-4481-900A-E11EB5BA8E8B}" presName="cycle" presStyleCnt="0">
        <dgm:presLayoutVars>
          <dgm:dir/>
          <dgm:resizeHandles val="exact"/>
        </dgm:presLayoutVars>
      </dgm:prSet>
      <dgm:spPr/>
      <dgm:t>
        <a:bodyPr/>
        <a:lstStyle/>
        <a:p>
          <a:endParaRPr lang="en-US"/>
        </a:p>
      </dgm:t>
    </dgm:pt>
    <dgm:pt modelId="{C47A005F-9119-4498-A768-C39507FEC0C0}" type="pres">
      <dgm:prSet presAssocID="{9C8B92FC-94CC-47F3-90E7-6B7A164FC51C}" presName="dummy" presStyleCnt="0"/>
      <dgm:spPr/>
    </dgm:pt>
    <dgm:pt modelId="{EA77FD0A-198D-4678-A3CB-04921FAA9291}" type="pres">
      <dgm:prSet presAssocID="{9C8B92FC-94CC-47F3-90E7-6B7A164FC51C}" presName="node" presStyleLbl="revTx" presStyleIdx="0" presStyleCnt="5">
        <dgm:presLayoutVars>
          <dgm:bulletEnabled val="1"/>
        </dgm:presLayoutVars>
      </dgm:prSet>
      <dgm:spPr/>
      <dgm:t>
        <a:bodyPr/>
        <a:lstStyle/>
        <a:p>
          <a:endParaRPr lang="en-US"/>
        </a:p>
      </dgm:t>
    </dgm:pt>
    <dgm:pt modelId="{6804FD8B-7F67-498D-94DA-7B986F68CBA3}" type="pres">
      <dgm:prSet presAssocID="{71F99017-1857-4CF0-9821-E74511B9FE4A}" presName="sibTrans" presStyleLbl="node1" presStyleIdx="0" presStyleCnt="5"/>
      <dgm:spPr/>
      <dgm:t>
        <a:bodyPr/>
        <a:lstStyle/>
        <a:p>
          <a:endParaRPr lang="en-US"/>
        </a:p>
      </dgm:t>
    </dgm:pt>
    <dgm:pt modelId="{3B4117C8-2804-40FA-BA7D-59EA9F7DB651}" type="pres">
      <dgm:prSet presAssocID="{CCAB6365-4E20-450F-97E2-3B00912D7B83}" presName="dummy" presStyleCnt="0"/>
      <dgm:spPr/>
    </dgm:pt>
    <dgm:pt modelId="{E3B95158-525C-459E-A0B7-A646CABF4055}" type="pres">
      <dgm:prSet presAssocID="{CCAB6365-4E20-450F-97E2-3B00912D7B83}" presName="node" presStyleLbl="revTx" presStyleIdx="1" presStyleCnt="5" custScaleX="142865">
        <dgm:presLayoutVars>
          <dgm:bulletEnabled val="1"/>
        </dgm:presLayoutVars>
      </dgm:prSet>
      <dgm:spPr/>
      <dgm:t>
        <a:bodyPr/>
        <a:lstStyle/>
        <a:p>
          <a:endParaRPr lang="en-US"/>
        </a:p>
      </dgm:t>
    </dgm:pt>
    <dgm:pt modelId="{BC278F25-75B3-406B-97BD-AF932A50F5FF}" type="pres">
      <dgm:prSet presAssocID="{F2648894-7315-46A0-81F2-87F95D2A54D6}" presName="sibTrans" presStyleLbl="node1" presStyleIdx="1" presStyleCnt="5"/>
      <dgm:spPr/>
      <dgm:t>
        <a:bodyPr/>
        <a:lstStyle/>
        <a:p>
          <a:endParaRPr lang="en-US"/>
        </a:p>
      </dgm:t>
    </dgm:pt>
    <dgm:pt modelId="{1A7AB50D-2AF8-40C5-B185-FB63255C4EA5}" type="pres">
      <dgm:prSet presAssocID="{C3666863-793E-41E4-A683-CA244B1B89B7}" presName="dummy" presStyleCnt="0"/>
      <dgm:spPr/>
    </dgm:pt>
    <dgm:pt modelId="{9D8561A6-14B8-4E39-8A84-FA469975C95E}" type="pres">
      <dgm:prSet presAssocID="{C3666863-793E-41E4-A683-CA244B1B89B7}" presName="node" presStyleLbl="revTx" presStyleIdx="2" presStyleCnt="5">
        <dgm:presLayoutVars>
          <dgm:bulletEnabled val="1"/>
        </dgm:presLayoutVars>
      </dgm:prSet>
      <dgm:spPr/>
      <dgm:t>
        <a:bodyPr/>
        <a:lstStyle/>
        <a:p>
          <a:endParaRPr lang="en-US"/>
        </a:p>
      </dgm:t>
    </dgm:pt>
    <dgm:pt modelId="{D80BC845-4574-4188-8893-0B0B193A8C3D}" type="pres">
      <dgm:prSet presAssocID="{D0265096-91D4-49D4-80B6-79AC79C10038}" presName="sibTrans" presStyleLbl="node1" presStyleIdx="2" presStyleCnt="5"/>
      <dgm:spPr/>
      <dgm:t>
        <a:bodyPr/>
        <a:lstStyle/>
        <a:p>
          <a:endParaRPr lang="en-US"/>
        </a:p>
      </dgm:t>
    </dgm:pt>
    <dgm:pt modelId="{4D01FE8F-B9FB-4145-80BA-C2B0EBE280B1}" type="pres">
      <dgm:prSet presAssocID="{A8BD99DD-F5C8-42F5-9A62-BAFE95658597}" presName="dummy" presStyleCnt="0"/>
      <dgm:spPr/>
    </dgm:pt>
    <dgm:pt modelId="{071D3CF6-4C0C-4A48-88D4-241B96D31478}" type="pres">
      <dgm:prSet presAssocID="{A8BD99DD-F5C8-42F5-9A62-BAFE95658597}" presName="node" presStyleLbl="revTx" presStyleIdx="3" presStyleCnt="5" custScaleX="134108">
        <dgm:presLayoutVars>
          <dgm:bulletEnabled val="1"/>
        </dgm:presLayoutVars>
      </dgm:prSet>
      <dgm:spPr/>
      <dgm:t>
        <a:bodyPr/>
        <a:lstStyle/>
        <a:p>
          <a:endParaRPr lang="en-US"/>
        </a:p>
      </dgm:t>
    </dgm:pt>
    <dgm:pt modelId="{61210481-5A6D-43FB-9CD0-43E87D1B2734}" type="pres">
      <dgm:prSet presAssocID="{5FDAB8AC-3C83-4A05-BF57-63F9A58490D0}" presName="sibTrans" presStyleLbl="node1" presStyleIdx="3" presStyleCnt="5"/>
      <dgm:spPr/>
      <dgm:t>
        <a:bodyPr/>
        <a:lstStyle/>
        <a:p>
          <a:endParaRPr lang="en-US"/>
        </a:p>
      </dgm:t>
    </dgm:pt>
    <dgm:pt modelId="{435EA7EC-C8F2-46FA-840B-8C11A3B59916}" type="pres">
      <dgm:prSet presAssocID="{265B43B8-CBFB-4614-98FF-A866829443B7}" presName="dummy" presStyleCnt="0"/>
      <dgm:spPr/>
    </dgm:pt>
    <dgm:pt modelId="{3033E30F-514B-4E6A-BB4B-58A25B7C6A48}" type="pres">
      <dgm:prSet presAssocID="{265B43B8-CBFB-4614-98FF-A866829443B7}" presName="node" presStyleLbl="revTx" presStyleIdx="4" presStyleCnt="5">
        <dgm:presLayoutVars>
          <dgm:bulletEnabled val="1"/>
        </dgm:presLayoutVars>
      </dgm:prSet>
      <dgm:spPr/>
      <dgm:t>
        <a:bodyPr/>
        <a:lstStyle/>
        <a:p>
          <a:endParaRPr lang="en-US"/>
        </a:p>
      </dgm:t>
    </dgm:pt>
    <dgm:pt modelId="{93FE87AC-0D67-4B69-9D71-4C454A4D7DF8}" type="pres">
      <dgm:prSet presAssocID="{48E24C02-588D-45CA-B389-E4F568D9E95A}" presName="sibTrans" presStyleLbl="node1" presStyleIdx="4" presStyleCnt="5"/>
      <dgm:spPr/>
      <dgm:t>
        <a:bodyPr/>
        <a:lstStyle/>
        <a:p>
          <a:endParaRPr lang="en-US"/>
        </a:p>
      </dgm:t>
    </dgm:pt>
  </dgm:ptLst>
  <dgm:cxnLst>
    <dgm:cxn modelId="{0F6ADA05-D30C-4760-B5E8-6A40E5EF23D6}" type="presOf" srcId="{48E24C02-588D-45CA-B389-E4F568D9E95A}" destId="{93FE87AC-0D67-4B69-9D71-4C454A4D7DF8}" srcOrd="0" destOrd="0" presId="urn:microsoft.com/office/officeart/2005/8/layout/cycle1"/>
    <dgm:cxn modelId="{62C5376D-B852-4F3F-BA4F-E8CA83D2C3FA}" srcId="{EC1C6492-58DF-4481-900A-E11EB5BA8E8B}" destId="{A8BD99DD-F5C8-42F5-9A62-BAFE95658597}" srcOrd="3" destOrd="0" parTransId="{FAD36E7C-A51C-4672-9DFE-7E6E187E1B2F}" sibTransId="{5FDAB8AC-3C83-4A05-BF57-63F9A58490D0}"/>
    <dgm:cxn modelId="{544A5880-FBCC-4AF0-8B8F-7387282743ED}" type="presOf" srcId="{F2648894-7315-46A0-81F2-87F95D2A54D6}" destId="{BC278F25-75B3-406B-97BD-AF932A50F5FF}" srcOrd="0" destOrd="0" presId="urn:microsoft.com/office/officeart/2005/8/layout/cycle1"/>
    <dgm:cxn modelId="{BBC28DC3-4889-4F78-801F-3DEF1767D6DE}" type="presOf" srcId="{5FDAB8AC-3C83-4A05-BF57-63F9A58490D0}" destId="{61210481-5A6D-43FB-9CD0-43E87D1B2734}" srcOrd="0" destOrd="0" presId="urn:microsoft.com/office/officeart/2005/8/layout/cycle1"/>
    <dgm:cxn modelId="{3F9C2769-E60A-4850-8A69-7B6F0A3E0409}" type="presOf" srcId="{265B43B8-CBFB-4614-98FF-A866829443B7}" destId="{3033E30F-514B-4E6A-BB4B-58A25B7C6A48}" srcOrd="0" destOrd="0" presId="urn:microsoft.com/office/officeart/2005/8/layout/cycle1"/>
    <dgm:cxn modelId="{A9B700A8-CC22-4E33-BD0E-1D404D18E459}" type="presOf" srcId="{9C8B92FC-94CC-47F3-90E7-6B7A164FC51C}" destId="{EA77FD0A-198D-4678-A3CB-04921FAA9291}" srcOrd="0" destOrd="0" presId="urn:microsoft.com/office/officeart/2005/8/layout/cycle1"/>
    <dgm:cxn modelId="{6471DE52-6229-49AB-87CE-C5558EB0E394}" srcId="{EC1C6492-58DF-4481-900A-E11EB5BA8E8B}" destId="{9C8B92FC-94CC-47F3-90E7-6B7A164FC51C}" srcOrd="0" destOrd="0" parTransId="{F86DE76E-ECC6-44FC-903E-81B3F92A5C43}" sibTransId="{71F99017-1857-4CF0-9821-E74511B9FE4A}"/>
    <dgm:cxn modelId="{5192B363-AC1E-4539-81CD-D12FD7296102}" srcId="{EC1C6492-58DF-4481-900A-E11EB5BA8E8B}" destId="{C3666863-793E-41E4-A683-CA244B1B89B7}" srcOrd="2" destOrd="0" parTransId="{F78A6F3B-11C2-4CE7-9991-7B0A4B7F579B}" sibTransId="{D0265096-91D4-49D4-80B6-79AC79C10038}"/>
    <dgm:cxn modelId="{CB7F2C41-2F0B-4FE5-8C2A-5502D1B1044B}" type="presOf" srcId="{71F99017-1857-4CF0-9821-E74511B9FE4A}" destId="{6804FD8B-7F67-498D-94DA-7B986F68CBA3}" srcOrd="0" destOrd="0" presId="urn:microsoft.com/office/officeart/2005/8/layout/cycle1"/>
    <dgm:cxn modelId="{560B382F-0DE7-47AE-8B69-7F173ED34C50}" type="presOf" srcId="{D0265096-91D4-49D4-80B6-79AC79C10038}" destId="{D80BC845-4574-4188-8893-0B0B193A8C3D}" srcOrd="0" destOrd="0" presId="urn:microsoft.com/office/officeart/2005/8/layout/cycle1"/>
    <dgm:cxn modelId="{8DE0C9BC-B10E-40CC-8500-32C96D573EDE}" type="presOf" srcId="{CCAB6365-4E20-450F-97E2-3B00912D7B83}" destId="{E3B95158-525C-459E-A0B7-A646CABF4055}" srcOrd="0" destOrd="0" presId="urn:microsoft.com/office/officeart/2005/8/layout/cycle1"/>
    <dgm:cxn modelId="{1A6EC18D-A714-4EA2-A168-2BF913710892}" srcId="{EC1C6492-58DF-4481-900A-E11EB5BA8E8B}" destId="{CCAB6365-4E20-450F-97E2-3B00912D7B83}" srcOrd="1" destOrd="0" parTransId="{DFE6DEF6-0C85-48FD-A8BE-AE28650025FD}" sibTransId="{F2648894-7315-46A0-81F2-87F95D2A54D6}"/>
    <dgm:cxn modelId="{B37F9304-D79B-45F7-8E7D-2E8BF6A30E40}" srcId="{EC1C6492-58DF-4481-900A-E11EB5BA8E8B}" destId="{265B43B8-CBFB-4614-98FF-A866829443B7}" srcOrd="4" destOrd="0" parTransId="{4548773A-9680-4503-B0DC-B0341A6EF9D7}" sibTransId="{48E24C02-588D-45CA-B389-E4F568D9E95A}"/>
    <dgm:cxn modelId="{32066B17-491E-43E9-976C-0FC10D5EB693}" type="presOf" srcId="{EC1C6492-58DF-4481-900A-E11EB5BA8E8B}" destId="{72382C1F-5EB8-44F0-9B2B-25966B225241}" srcOrd="0" destOrd="0" presId="urn:microsoft.com/office/officeart/2005/8/layout/cycle1"/>
    <dgm:cxn modelId="{661B879A-CCFA-4CC6-8466-C222B84101C9}" type="presOf" srcId="{A8BD99DD-F5C8-42F5-9A62-BAFE95658597}" destId="{071D3CF6-4C0C-4A48-88D4-241B96D31478}" srcOrd="0" destOrd="0" presId="urn:microsoft.com/office/officeart/2005/8/layout/cycle1"/>
    <dgm:cxn modelId="{8BA5F5A3-68A6-40F6-8C40-206F74417982}" type="presOf" srcId="{C3666863-793E-41E4-A683-CA244B1B89B7}" destId="{9D8561A6-14B8-4E39-8A84-FA469975C95E}" srcOrd="0" destOrd="0" presId="urn:microsoft.com/office/officeart/2005/8/layout/cycle1"/>
    <dgm:cxn modelId="{D9D0170E-B8D4-4E8B-A065-514D25C83BBB}" type="presParOf" srcId="{72382C1F-5EB8-44F0-9B2B-25966B225241}" destId="{C47A005F-9119-4498-A768-C39507FEC0C0}" srcOrd="0" destOrd="0" presId="urn:microsoft.com/office/officeart/2005/8/layout/cycle1"/>
    <dgm:cxn modelId="{1AFD138D-A47D-4D98-9AC0-65A84FD162F0}" type="presParOf" srcId="{72382C1F-5EB8-44F0-9B2B-25966B225241}" destId="{EA77FD0A-198D-4678-A3CB-04921FAA9291}" srcOrd="1" destOrd="0" presId="urn:microsoft.com/office/officeart/2005/8/layout/cycle1"/>
    <dgm:cxn modelId="{E23E7788-4735-4E33-80FF-18E13A720F05}" type="presParOf" srcId="{72382C1F-5EB8-44F0-9B2B-25966B225241}" destId="{6804FD8B-7F67-498D-94DA-7B986F68CBA3}" srcOrd="2" destOrd="0" presId="urn:microsoft.com/office/officeart/2005/8/layout/cycle1"/>
    <dgm:cxn modelId="{D0D885F2-4D89-411B-BD97-C10F3B3C133D}" type="presParOf" srcId="{72382C1F-5EB8-44F0-9B2B-25966B225241}" destId="{3B4117C8-2804-40FA-BA7D-59EA9F7DB651}" srcOrd="3" destOrd="0" presId="urn:microsoft.com/office/officeart/2005/8/layout/cycle1"/>
    <dgm:cxn modelId="{7CF0269C-60B4-44E5-9C6C-F3ACC662B445}" type="presParOf" srcId="{72382C1F-5EB8-44F0-9B2B-25966B225241}" destId="{E3B95158-525C-459E-A0B7-A646CABF4055}" srcOrd="4" destOrd="0" presId="urn:microsoft.com/office/officeart/2005/8/layout/cycle1"/>
    <dgm:cxn modelId="{07C4AE3C-CB73-42DF-92EA-521A4F539098}" type="presParOf" srcId="{72382C1F-5EB8-44F0-9B2B-25966B225241}" destId="{BC278F25-75B3-406B-97BD-AF932A50F5FF}" srcOrd="5" destOrd="0" presId="urn:microsoft.com/office/officeart/2005/8/layout/cycle1"/>
    <dgm:cxn modelId="{6D80E99A-9591-4107-B2DA-526786123D37}" type="presParOf" srcId="{72382C1F-5EB8-44F0-9B2B-25966B225241}" destId="{1A7AB50D-2AF8-40C5-B185-FB63255C4EA5}" srcOrd="6" destOrd="0" presId="urn:microsoft.com/office/officeart/2005/8/layout/cycle1"/>
    <dgm:cxn modelId="{D7312F67-9336-41D2-B40A-ACEAB5706FDE}" type="presParOf" srcId="{72382C1F-5EB8-44F0-9B2B-25966B225241}" destId="{9D8561A6-14B8-4E39-8A84-FA469975C95E}" srcOrd="7" destOrd="0" presId="urn:microsoft.com/office/officeart/2005/8/layout/cycle1"/>
    <dgm:cxn modelId="{8AA54D6C-BEF2-4439-B506-B888BB818D7D}" type="presParOf" srcId="{72382C1F-5EB8-44F0-9B2B-25966B225241}" destId="{D80BC845-4574-4188-8893-0B0B193A8C3D}" srcOrd="8" destOrd="0" presId="urn:microsoft.com/office/officeart/2005/8/layout/cycle1"/>
    <dgm:cxn modelId="{4A866F81-89CB-4463-9CC7-043AD3139C7A}" type="presParOf" srcId="{72382C1F-5EB8-44F0-9B2B-25966B225241}" destId="{4D01FE8F-B9FB-4145-80BA-C2B0EBE280B1}" srcOrd="9" destOrd="0" presId="urn:microsoft.com/office/officeart/2005/8/layout/cycle1"/>
    <dgm:cxn modelId="{039AA4D7-A3AA-4653-B55C-2A31D40E3C77}" type="presParOf" srcId="{72382C1F-5EB8-44F0-9B2B-25966B225241}" destId="{071D3CF6-4C0C-4A48-88D4-241B96D31478}" srcOrd="10" destOrd="0" presId="urn:microsoft.com/office/officeart/2005/8/layout/cycle1"/>
    <dgm:cxn modelId="{3326B604-518F-4DAC-A42F-7E3B1E7E415A}" type="presParOf" srcId="{72382C1F-5EB8-44F0-9B2B-25966B225241}" destId="{61210481-5A6D-43FB-9CD0-43E87D1B2734}" srcOrd="11" destOrd="0" presId="urn:microsoft.com/office/officeart/2005/8/layout/cycle1"/>
    <dgm:cxn modelId="{DDEE7A34-1DF4-4EB0-B4BC-720BC4E878BE}" type="presParOf" srcId="{72382C1F-5EB8-44F0-9B2B-25966B225241}" destId="{435EA7EC-C8F2-46FA-840B-8C11A3B59916}" srcOrd="12" destOrd="0" presId="urn:microsoft.com/office/officeart/2005/8/layout/cycle1"/>
    <dgm:cxn modelId="{C77D1265-EB11-4BC4-8093-D8982DA44844}" type="presParOf" srcId="{72382C1F-5EB8-44F0-9B2B-25966B225241}" destId="{3033E30F-514B-4E6A-BB4B-58A25B7C6A48}" srcOrd="13" destOrd="0" presId="urn:microsoft.com/office/officeart/2005/8/layout/cycle1"/>
    <dgm:cxn modelId="{480B983E-FFF2-4FA7-8E1F-2E8E2EC7886C}" type="presParOf" srcId="{72382C1F-5EB8-44F0-9B2B-25966B225241}" destId="{93FE87AC-0D67-4B69-9D71-4C454A4D7DF8}" srcOrd="14"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AFD7538-3761-4466-BFD2-485C5145ABC6}" type="doc">
      <dgm:prSet loTypeId="urn:microsoft.com/office/officeart/2005/8/layout/gear1" loCatId="process" qsTypeId="urn:microsoft.com/office/officeart/2005/8/quickstyle/simple1" qsCatId="simple" csTypeId="urn:microsoft.com/office/officeart/2005/8/colors/accent1_3" csCatId="accent1" phldr="1"/>
      <dgm:spPr/>
    </dgm:pt>
    <dgm:pt modelId="{59881592-88F4-4FE5-BA06-F60CDA0C8580}">
      <dgm:prSet phldrT="[Text]"/>
      <dgm:spPr/>
      <dgm:t>
        <a:bodyPr/>
        <a:lstStyle/>
        <a:p>
          <a:r>
            <a:rPr lang="en-US" dirty="0">
              <a:latin typeface="Arial" panose="020B0604020202020204" pitchFamily="34" charset="0"/>
              <a:cs typeface="Arial" panose="020B0604020202020204" pitchFamily="34" charset="0"/>
            </a:rPr>
            <a:t>Cash</a:t>
          </a:r>
        </a:p>
      </dgm:t>
    </dgm:pt>
    <dgm:pt modelId="{7C6B2E27-C524-4760-827C-13EAB6E945FD}" type="parTrans" cxnId="{7E023BA9-707C-420B-A63C-2B8492DD4A5A}">
      <dgm:prSet/>
      <dgm:spPr/>
      <dgm:t>
        <a:bodyPr/>
        <a:lstStyle/>
        <a:p>
          <a:endParaRPr lang="en-US">
            <a:latin typeface="Arial" panose="020B0604020202020204" pitchFamily="34" charset="0"/>
            <a:cs typeface="Arial" panose="020B0604020202020204" pitchFamily="34" charset="0"/>
          </a:endParaRPr>
        </a:p>
      </dgm:t>
    </dgm:pt>
    <dgm:pt modelId="{CC97BCAC-86B4-47DA-A3E5-1194B32D45C3}" type="sibTrans" cxnId="{7E023BA9-707C-420B-A63C-2B8492DD4A5A}">
      <dgm:prSet/>
      <dgm:spPr/>
      <dgm:t>
        <a:bodyPr/>
        <a:lstStyle/>
        <a:p>
          <a:endParaRPr lang="en-US">
            <a:latin typeface="Arial" panose="020B0604020202020204" pitchFamily="34" charset="0"/>
            <a:cs typeface="Arial" panose="020B0604020202020204" pitchFamily="34" charset="0"/>
          </a:endParaRPr>
        </a:p>
      </dgm:t>
    </dgm:pt>
    <dgm:pt modelId="{D43966CF-F3EB-4969-B8D8-77F1FAA50C7C}">
      <dgm:prSet phldrT="[Text]"/>
      <dgm:spPr/>
      <dgm:t>
        <a:bodyPr/>
        <a:lstStyle/>
        <a:p>
          <a:r>
            <a:rPr lang="en-US" dirty="0">
              <a:latin typeface="Arial" panose="020B0604020202020204" pitchFamily="34" charset="0"/>
              <a:cs typeface="Arial" panose="020B0604020202020204" pitchFamily="34" charset="0"/>
            </a:rPr>
            <a:t>Supplies</a:t>
          </a:r>
        </a:p>
      </dgm:t>
    </dgm:pt>
    <dgm:pt modelId="{40927C1E-A609-4586-BC91-979062B7E44D}" type="parTrans" cxnId="{04DDC5C6-37F7-45EF-8AAB-9FD107F76730}">
      <dgm:prSet/>
      <dgm:spPr/>
      <dgm:t>
        <a:bodyPr/>
        <a:lstStyle/>
        <a:p>
          <a:endParaRPr lang="en-US">
            <a:latin typeface="Arial" panose="020B0604020202020204" pitchFamily="34" charset="0"/>
            <a:cs typeface="Arial" panose="020B0604020202020204" pitchFamily="34" charset="0"/>
          </a:endParaRPr>
        </a:p>
      </dgm:t>
    </dgm:pt>
    <dgm:pt modelId="{F6714E1A-6785-4EDA-B785-8452956167C6}" type="sibTrans" cxnId="{04DDC5C6-37F7-45EF-8AAB-9FD107F76730}">
      <dgm:prSet/>
      <dgm:spPr/>
      <dgm:t>
        <a:bodyPr/>
        <a:lstStyle/>
        <a:p>
          <a:endParaRPr lang="en-US">
            <a:latin typeface="Arial" panose="020B0604020202020204" pitchFamily="34" charset="0"/>
            <a:cs typeface="Arial" panose="020B0604020202020204" pitchFamily="34" charset="0"/>
          </a:endParaRPr>
        </a:p>
      </dgm:t>
    </dgm:pt>
    <dgm:pt modelId="{A1291640-09A1-4160-8DDC-55F52C19CD28}">
      <dgm:prSet phldrT="[Text]"/>
      <dgm:spPr/>
      <dgm:t>
        <a:bodyPr/>
        <a:lstStyle/>
        <a:p>
          <a:r>
            <a:rPr lang="en-US" dirty="0" smtClean="0">
              <a:latin typeface="Arial" panose="020B0604020202020204" pitchFamily="34" charset="0"/>
              <a:cs typeface="Arial" panose="020B0604020202020204" pitchFamily="34" charset="0"/>
            </a:rPr>
            <a:t>People</a:t>
          </a:r>
          <a:endParaRPr lang="en-US" dirty="0">
            <a:latin typeface="Arial" panose="020B0604020202020204" pitchFamily="34" charset="0"/>
            <a:cs typeface="Arial" panose="020B0604020202020204" pitchFamily="34" charset="0"/>
          </a:endParaRPr>
        </a:p>
      </dgm:t>
    </dgm:pt>
    <dgm:pt modelId="{2BE091F4-5D44-4E80-B2C6-25ED48640472}" type="parTrans" cxnId="{4C1CEFA7-5BD4-4462-850E-23C8AA19039C}">
      <dgm:prSet/>
      <dgm:spPr/>
      <dgm:t>
        <a:bodyPr/>
        <a:lstStyle/>
        <a:p>
          <a:endParaRPr lang="en-US">
            <a:latin typeface="Arial" panose="020B0604020202020204" pitchFamily="34" charset="0"/>
            <a:cs typeface="Arial" panose="020B0604020202020204" pitchFamily="34" charset="0"/>
          </a:endParaRPr>
        </a:p>
      </dgm:t>
    </dgm:pt>
    <dgm:pt modelId="{F3E4B76E-9728-4EF0-899F-ABFF78FAAD00}" type="sibTrans" cxnId="{4C1CEFA7-5BD4-4462-850E-23C8AA19039C}">
      <dgm:prSet/>
      <dgm:spPr/>
      <dgm:t>
        <a:bodyPr/>
        <a:lstStyle/>
        <a:p>
          <a:endParaRPr lang="en-US">
            <a:latin typeface="Arial" panose="020B0604020202020204" pitchFamily="34" charset="0"/>
            <a:cs typeface="Arial" panose="020B0604020202020204" pitchFamily="34" charset="0"/>
          </a:endParaRPr>
        </a:p>
      </dgm:t>
    </dgm:pt>
    <dgm:pt modelId="{05734B61-0416-4FD2-A2B5-9C21F0B35CA4}" type="pres">
      <dgm:prSet presAssocID="{4AFD7538-3761-4466-BFD2-485C5145ABC6}" presName="composite" presStyleCnt="0">
        <dgm:presLayoutVars>
          <dgm:chMax val="3"/>
          <dgm:animLvl val="lvl"/>
          <dgm:resizeHandles val="exact"/>
        </dgm:presLayoutVars>
      </dgm:prSet>
      <dgm:spPr/>
    </dgm:pt>
    <dgm:pt modelId="{C1987ECA-B82C-4C7D-B441-BA4F32CCC9CD}" type="pres">
      <dgm:prSet presAssocID="{59881592-88F4-4FE5-BA06-F60CDA0C8580}" presName="gear1" presStyleLbl="node1" presStyleIdx="0" presStyleCnt="3">
        <dgm:presLayoutVars>
          <dgm:chMax val="1"/>
          <dgm:bulletEnabled val="1"/>
        </dgm:presLayoutVars>
      </dgm:prSet>
      <dgm:spPr/>
      <dgm:t>
        <a:bodyPr/>
        <a:lstStyle/>
        <a:p>
          <a:endParaRPr lang="en-US"/>
        </a:p>
      </dgm:t>
    </dgm:pt>
    <dgm:pt modelId="{69527C7A-11E3-4A12-8D10-5D957801A0EC}" type="pres">
      <dgm:prSet presAssocID="{59881592-88F4-4FE5-BA06-F60CDA0C8580}" presName="gear1srcNode" presStyleLbl="node1" presStyleIdx="0" presStyleCnt="3"/>
      <dgm:spPr/>
      <dgm:t>
        <a:bodyPr/>
        <a:lstStyle/>
        <a:p>
          <a:endParaRPr lang="en-US"/>
        </a:p>
      </dgm:t>
    </dgm:pt>
    <dgm:pt modelId="{0A74DE40-8262-454F-A17D-70FB70938CD0}" type="pres">
      <dgm:prSet presAssocID="{59881592-88F4-4FE5-BA06-F60CDA0C8580}" presName="gear1dstNode" presStyleLbl="node1" presStyleIdx="0" presStyleCnt="3"/>
      <dgm:spPr/>
      <dgm:t>
        <a:bodyPr/>
        <a:lstStyle/>
        <a:p>
          <a:endParaRPr lang="en-US"/>
        </a:p>
      </dgm:t>
    </dgm:pt>
    <dgm:pt modelId="{E8C40631-2DDC-404C-B4E9-424505C68D4A}" type="pres">
      <dgm:prSet presAssocID="{D43966CF-F3EB-4969-B8D8-77F1FAA50C7C}" presName="gear2" presStyleLbl="node1" presStyleIdx="1" presStyleCnt="3">
        <dgm:presLayoutVars>
          <dgm:chMax val="1"/>
          <dgm:bulletEnabled val="1"/>
        </dgm:presLayoutVars>
      </dgm:prSet>
      <dgm:spPr/>
      <dgm:t>
        <a:bodyPr/>
        <a:lstStyle/>
        <a:p>
          <a:endParaRPr lang="en-US"/>
        </a:p>
      </dgm:t>
    </dgm:pt>
    <dgm:pt modelId="{22094D55-9A9E-4AA6-BBEA-F7BC0C434DA7}" type="pres">
      <dgm:prSet presAssocID="{D43966CF-F3EB-4969-B8D8-77F1FAA50C7C}" presName="gear2srcNode" presStyleLbl="node1" presStyleIdx="1" presStyleCnt="3"/>
      <dgm:spPr/>
      <dgm:t>
        <a:bodyPr/>
        <a:lstStyle/>
        <a:p>
          <a:endParaRPr lang="en-US"/>
        </a:p>
      </dgm:t>
    </dgm:pt>
    <dgm:pt modelId="{413CB469-B46F-4091-A94D-C5473B0BC24D}" type="pres">
      <dgm:prSet presAssocID="{D43966CF-F3EB-4969-B8D8-77F1FAA50C7C}" presName="gear2dstNode" presStyleLbl="node1" presStyleIdx="1" presStyleCnt="3"/>
      <dgm:spPr/>
      <dgm:t>
        <a:bodyPr/>
        <a:lstStyle/>
        <a:p>
          <a:endParaRPr lang="en-US"/>
        </a:p>
      </dgm:t>
    </dgm:pt>
    <dgm:pt modelId="{50516FD1-2C2F-4E95-9DC4-B95E10DD28E2}" type="pres">
      <dgm:prSet presAssocID="{A1291640-09A1-4160-8DDC-55F52C19CD28}" presName="gear3" presStyleLbl="node1" presStyleIdx="2" presStyleCnt="3"/>
      <dgm:spPr/>
      <dgm:t>
        <a:bodyPr/>
        <a:lstStyle/>
        <a:p>
          <a:endParaRPr lang="en-US"/>
        </a:p>
      </dgm:t>
    </dgm:pt>
    <dgm:pt modelId="{40BB8D54-DE52-44CC-8439-CDAADA22D77E}" type="pres">
      <dgm:prSet presAssocID="{A1291640-09A1-4160-8DDC-55F52C19CD28}" presName="gear3tx" presStyleLbl="node1" presStyleIdx="2" presStyleCnt="3">
        <dgm:presLayoutVars>
          <dgm:chMax val="1"/>
          <dgm:bulletEnabled val="1"/>
        </dgm:presLayoutVars>
      </dgm:prSet>
      <dgm:spPr/>
      <dgm:t>
        <a:bodyPr/>
        <a:lstStyle/>
        <a:p>
          <a:endParaRPr lang="en-US"/>
        </a:p>
      </dgm:t>
    </dgm:pt>
    <dgm:pt modelId="{78BEF898-F76B-417B-AAC3-60DC6632A047}" type="pres">
      <dgm:prSet presAssocID="{A1291640-09A1-4160-8DDC-55F52C19CD28}" presName="gear3srcNode" presStyleLbl="node1" presStyleIdx="2" presStyleCnt="3"/>
      <dgm:spPr/>
      <dgm:t>
        <a:bodyPr/>
        <a:lstStyle/>
        <a:p>
          <a:endParaRPr lang="en-US"/>
        </a:p>
      </dgm:t>
    </dgm:pt>
    <dgm:pt modelId="{E4B1FDD1-2F6F-4957-BEF1-6C5B90BC876A}" type="pres">
      <dgm:prSet presAssocID="{A1291640-09A1-4160-8DDC-55F52C19CD28}" presName="gear3dstNode" presStyleLbl="node1" presStyleIdx="2" presStyleCnt="3"/>
      <dgm:spPr/>
      <dgm:t>
        <a:bodyPr/>
        <a:lstStyle/>
        <a:p>
          <a:endParaRPr lang="en-US"/>
        </a:p>
      </dgm:t>
    </dgm:pt>
    <dgm:pt modelId="{C0419CEB-EB3F-48D0-B194-C4DBD9E233B7}" type="pres">
      <dgm:prSet presAssocID="{CC97BCAC-86B4-47DA-A3E5-1194B32D45C3}" presName="connector1" presStyleLbl="sibTrans2D1" presStyleIdx="0" presStyleCnt="3"/>
      <dgm:spPr/>
      <dgm:t>
        <a:bodyPr/>
        <a:lstStyle/>
        <a:p>
          <a:endParaRPr lang="en-US"/>
        </a:p>
      </dgm:t>
    </dgm:pt>
    <dgm:pt modelId="{5ACF97DC-BD2A-490C-8D5B-3D8193A5E823}" type="pres">
      <dgm:prSet presAssocID="{F6714E1A-6785-4EDA-B785-8452956167C6}" presName="connector2" presStyleLbl="sibTrans2D1" presStyleIdx="1" presStyleCnt="3"/>
      <dgm:spPr/>
      <dgm:t>
        <a:bodyPr/>
        <a:lstStyle/>
        <a:p>
          <a:endParaRPr lang="en-US"/>
        </a:p>
      </dgm:t>
    </dgm:pt>
    <dgm:pt modelId="{6D57D0F1-BC2A-4C06-89C3-75F3B93E2002}" type="pres">
      <dgm:prSet presAssocID="{F3E4B76E-9728-4EF0-899F-ABFF78FAAD00}" presName="connector3" presStyleLbl="sibTrans2D1" presStyleIdx="2" presStyleCnt="3"/>
      <dgm:spPr/>
      <dgm:t>
        <a:bodyPr/>
        <a:lstStyle/>
        <a:p>
          <a:endParaRPr lang="en-US"/>
        </a:p>
      </dgm:t>
    </dgm:pt>
  </dgm:ptLst>
  <dgm:cxnLst>
    <dgm:cxn modelId="{D7F93DCC-5316-4979-A7D1-38B562205A34}" type="presOf" srcId="{A1291640-09A1-4160-8DDC-55F52C19CD28}" destId="{78BEF898-F76B-417B-AAC3-60DC6632A047}" srcOrd="2" destOrd="0" presId="urn:microsoft.com/office/officeart/2005/8/layout/gear1"/>
    <dgm:cxn modelId="{D6628556-2B06-4E40-85C1-235EEEA2DDFA}" type="presOf" srcId="{F6714E1A-6785-4EDA-B785-8452956167C6}" destId="{5ACF97DC-BD2A-490C-8D5B-3D8193A5E823}" srcOrd="0" destOrd="0" presId="urn:microsoft.com/office/officeart/2005/8/layout/gear1"/>
    <dgm:cxn modelId="{D78AD407-7B80-4D88-8D2D-69CDB7223B79}" type="presOf" srcId="{D43966CF-F3EB-4969-B8D8-77F1FAA50C7C}" destId="{413CB469-B46F-4091-A94D-C5473B0BC24D}" srcOrd="2" destOrd="0" presId="urn:microsoft.com/office/officeart/2005/8/layout/gear1"/>
    <dgm:cxn modelId="{4C1CEFA7-5BD4-4462-850E-23C8AA19039C}" srcId="{4AFD7538-3761-4466-BFD2-485C5145ABC6}" destId="{A1291640-09A1-4160-8DDC-55F52C19CD28}" srcOrd="2" destOrd="0" parTransId="{2BE091F4-5D44-4E80-B2C6-25ED48640472}" sibTransId="{F3E4B76E-9728-4EF0-899F-ABFF78FAAD00}"/>
    <dgm:cxn modelId="{AAAC57A8-F983-4C69-B8DE-4C0297F0A2EF}" type="presOf" srcId="{A1291640-09A1-4160-8DDC-55F52C19CD28}" destId="{E4B1FDD1-2F6F-4957-BEF1-6C5B90BC876A}" srcOrd="3" destOrd="0" presId="urn:microsoft.com/office/officeart/2005/8/layout/gear1"/>
    <dgm:cxn modelId="{04DDC5C6-37F7-45EF-8AAB-9FD107F76730}" srcId="{4AFD7538-3761-4466-BFD2-485C5145ABC6}" destId="{D43966CF-F3EB-4969-B8D8-77F1FAA50C7C}" srcOrd="1" destOrd="0" parTransId="{40927C1E-A609-4586-BC91-979062B7E44D}" sibTransId="{F6714E1A-6785-4EDA-B785-8452956167C6}"/>
    <dgm:cxn modelId="{CC36DB91-0B99-4714-8EE6-EE9D7652243D}" type="presOf" srcId="{F3E4B76E-9728-4EF0-899F-ABFF78FAAD00}" destId="{6D57D0F1-BC2A-4C06-89C3-75F3B93E2002}" srcOrd="0" destOrd="0" presId="urn:microsoft.com/office/officeart/2005/8/layout/gear1"/>
    <dgm:cxn modelId="{3DB1988D-E68D-4A38-852F-E436DF713D76}" type="presOf" srcId="{A1291640-09A1-4160-8DDC-55F52C19CD28}" destId="{50516FD1-2C2F-4E95-9DC4-B95E10DD28E2}" srcOrd="0" destOrd="0" presId="urn:microsoft.com/office/officeart/2005/8/layout/gear1"/>
    <dgm:cxn modelId="{08466AB8-BD85-43B8-A0B4-FE65F9FCA3CD}" type="presOf" srcId="{A1291640-09A1-4160-8DDC-55F52C19CD28}" destId="{40BB8D54-DE52-44CC-8439-CDAADA22D77E}" srcOrd="1" destOrd="0" presId="urn:microsoft.com/office/officeart/2005/8/layout/gear1"/>
    <dgm:cxn modelId="{9DA8D803-10B9-4436-B9DE-8493590BCC01}" type="presOf" srcId="{4AFD7538-3761-4466-BFD2-485C5145ABC6}" destId="{05734B61-0416-4FD2-A2B5-9C21F0B35CA4}" srcOrd="0" destOrd="0" presId="urn:microsoft.com/office/officeart/2005/8/layout/gear1"/>
    <dgm:cxn modelId="{F851D62E-2F0B-423D-9EBC-D3E3E6F8995B}" type="presOf" srcId="{CC97BCAC-86B4-47DA-A3E5-1194B32D45C3}" destId="{C0419CEB-EB3F-48D0-B194-C4DBD9E233B7}" srcOrd="0" destOrd="0" presId="urn:microsoft.com/office/officeart/2005/8/layout/gear1"/>
    <dgm:cxn modelId="{7F69F623-310D-420B-8309-33E4429CAC3B}" type="presOf" srcId="{59881592-88F4-4FE5-BA06-F60CDA0C8580}" destId="{69527C7A-11E3-4A12-8D10-5D957801A0EC}" srcOrd="1" destOrd="0" presId="urn:microsoft.com/office/officeart/2005/8/layout/gear1"/>
    <dgm:cxn modelId="{59B01928-456E-42B7-8524-030C6C1BBAD8}" type="presOf" srcId="{D43966CF-F3EB-4969-B8D8-77F1FAA50C7C}" destId="{22094D55-9A9E-4AA6-BBEA-F7BC0C434DA7}" srcOrd="1" destOrd="0" presId="urn:microsoft.com/office/officeart/2005/8/layout/gear1"/>
    <dgm:cxn modelId="{ABB6C9CF-CE70-4341-9248-41D83D6213D1}" type="presOf" srcId="{59881592-88F4-4FE5-BA06-F60CDA0C8580}" destId="{0A74DE40-8262-454F-A17D-70FB70938CD0}" srcOrd="2" destOrd="0" presId="urn:microsoft.com/office/officeart/2005/8/layout/gear1"/>
    <dgm:cxn modelId="{B263A38F-50C7-4290-96A5-D525E1B2F2E1}" type="presOf" srcId="{59881592-88F4-4FE5-BA06-F60CDA0C8580}" destId="{C1987ECA-B82C-4C7D-B441-BA4F32CCC9CD}" srcOrd="0" destOrd="0" presId="urn:microsoft.com/office/officeart/2005/8/layout/gear1"/>
    <dgm:cxn modelId="{85F8ED9A-2CEA-4D9D-806D-CA0EA7BD845F}" type="presOf" srcId="{D43966CF-F3EB-4969-B8D8-77F1FAA50C7C}" destId="{E8C40631-2DDC-404C-B4E9-424505C68D4A}" srcOrd="0" destOrd="0" presId="urn:microsoft.com/office/officeart/2005/8/layout/gear1"/>
    <dgm:cxn modelId="{7E023BA9-707C-420B-A63C-2B8492DD4A5A}" srcId="{4AFD7538-3761-4466-BFD2-485C5145ABC6}" destId="{59881592-88F4-4FE5-BA06-F60CDA0C8580}" srcOrd="0" destOrd="0" parTransId="{7C6B2E27-C524-4760-827C-13EAB6E945FD}" sibTransId="{CC97BCAC-86B4-47DA-A3E5-1194B32D45C3}"/>
    <dgm:cxn modelId="{D9D8CE9C-2931-4D80-8863-67C99CB28566}" type="presParOf" srcId="{05734B61-0416-4FD2-A2B5-9C21F0B35CA4}" destId="{C1987ECA-B82C-4C7D-B441-BA4F32CCC9CD}" srcOrd="0" destOrd="0" presId="urn:microsoft.com/office/officeart/2005/8/layout/gear1"/>
    <dgm:cxn modelId="{ABC3B7CB-04B6-4BDA-AE47-78D9AE7F6847}" type="presParOf" srcId="{05734B61-0416-4FD2-A2B5-9C21F0B35CA4}" destId="{69527C7A-11E3-4A12-8D10-5D957801A0EC}" srcOrd="1" destOrd="0" presId="urn:microsoft.com/office/officeart/2005/8/layout/gear1"/>
    <dgm:cxn modelId="{82C7C22B-53AE-47D8-8A59-D5638966F0FE}" type="presParOf" srcId="{05734B61-0416-4FD2-A2B5-9C21F0B35CA4}" destId="{0A74DE40-8262-454F-A17D-70FB70938CD0}" srcOrd="2" destOrd="0" presId="urn:microsoft.com/office/officeart/2005/8/layout/gear1"/>
    <dgm:cxn modelId="{98AEC1C7-226A-42F5-AE36-069F3FE7D7A2}" type="presParOf" srcId="{05734B61-0416-4FD2-A2B5-9C21F0B35CA4}" destId="{E8C40631-2DDC-404C-B4E9-424505C68D4A}" srcOrd="3" destOrd="0" presId="urn:microsoft.com/office/officeart/2005/8/layout/gear1"/>
    <dgm:cxn modelId="{C6697223-4AA8-4223-A48E-1C9B6E068AC4}" type="presParOf" srcId="{05734B61-0416-4FD2-A2B5-9C21F0B35CA4}" destId="{22094D55-9A9E-4AA6-BBEA-F7BC0C434DA7}" srcOrd="4" destOrd="0" presId="urn:microsoft.com/office/officeart/2005/8/layout/gear1"/>
    <dgm:cxn modelId="{B722BA7F-37E0-4A45-AB53-468F400631F4}" type="presParOf" srcId="{05734B61-0416-4FD2-A2B5-9C21F0B35CA4}" destId="{413CB469-B46F-4091-A94D-C5473B0BC24D}" srcOrd="5" destOrd="0" presId="urn:microsoft.com/office/officeart/2005/8/layout/gear1"/>
    <dgm:cxn modelId="{7D9A0D19-C492-48EE-BCC7-183377F9F179}" type="presParOf" srcId="{05734B61-0416-4FD2-A2B5-9C21F0B35CA4}" destId="{50516FD1-2C2F-4E95-9DC4-B95E10DD28E2}" srcOrd="6" destOrd="0" presId="urn:microsoft.com/office/officeart/2005/8/layout/gear1"/>
    <dgm:cxn modelId="{8769D66A-4618-4790-8901-526009F97B2F}" type="presParOf" srcId="{05734B61-0416-4FD2-A2B5-9C21F0B35CA4}" destId="{40BB8D54-DE52-44CC-8439-CDAADA22D77E}" srcOrd="7" destOrd="0" presId="urn:microsoft.com/office/officeart/2005/8/layout/gear1"/>
    <dgm:cxn modelId="{89B1BC0C-56F0-4DAD-BFF4-E77833734575}" type="presParOf" srcId="{05734B61-0416-4FD2-A2B5-9C21F0B35CA4}" destId="{78BEF898-F76B-417B-AAC3-60DC6632A047}" srcOrd="8" destOrd="0" presId="urn:microsoft.com/office/officeart/2005/8/layout/gear1"/>
    <dgm:cxn modelId="{A028A1B9-D13D-4FE3-81B4-4A2707769B0A}" type="presParOf" srcId="{05734B61-0416-4FD2-A2B5-9C21F0B35CA4}" destId="{E4B1FDD1-2F6F-4957-BEF1-6C5B90BC876A}" srcOrd="9" destOrd="0" presId="urn:microsoft.com/office/officeart/2005/8/layout/gear1"/>
    <dgm:cxn modelId="{32DCD753-24E8-42EB-988D-1060A1CADF10}" type="presParOf" srcId="{05734B61-0416-4FD2-A2B5-9C21F0B35CA4}" destId="{C0419CEB-EB3F-48D0-B194-C4DBD9E233B7}" srcOrd="10" destOrd="0" presId="urn:microsoft.com/office/officeart/2005/8/layout/gear1"/>
    <dgm:cxn modelId="{F1C2D43B-8A38-4398-9623-9D9FE7F9DCA8}" type="presParOf" srcId="{05734B61-0416-4FD2-A2B5-9C21F0B35CA4}" destId="{5ACF97DC-BD2A-490C-8D5B-3D8193A5E823}" srcOrd="11" destOrd="0" presId="urn:microsoft.com/office/officeart/2005/8/layout/gear1"/>
    <dgm:cxn modelId="{665E5513-FF2E-4BC4-A1EE-27E594547A9E}" type="presParOf" srcId="{05734B61-0416-4FD2-A2B5-9C21F0B35CA4}" destId="{6D57D0F1-BC2A-4C06-89C3-75F3B93E2002}" srcOrd="12"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8E8C37-1C00-456E-B713-A54117AEAD74}" type="datetimeFigureOut">
              <a:rPr lang="en-US" smtClean="0"/>
              <a:t>6/29/2016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4F3281-3907-4CB3-99D0-7C3EB1A17FF8}" type="slidenum">
              <a:rPr lang="en-US" smtClean="0"/>
              <a:t>‹#›</a:t>
            </a:fld>
            <a:endParaRPr lang="en-US"/>
          </a:p>
        </p:txBody>
      </p:sp>
    </p:spTree>
    <p:extLst>
      <p:ext uri="{BB962C8B-B14F-4D97-AF65-F5344CB8AC3E}">
        <p14:creationId xmlns:p14="http://schemas.microsoft.com/office/powerpoint/2010/main" val="283915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Equity focus:</a:t>
            </a:r>
          </a:p>
          <a:p>
            <a:pPr marL="628650" lvl="1" indent="-171450">
              <a:buFontTx/>
              <a:buChar char="-"/>
            </a:pPr>
            <a:r>
              <a:rPr lang="en-US" dirty="0" smtClean="0"/>
              <a:t>Reaching</a:t>
            </a:r>
            <a:r>
              <a:rPr lang="en-US" baseline="0" dirty="0" smtClean="0"/>
              <a:t> the most deprived and vulnerable</a:t>
            </a:r>
          </a:p>
          <a:p>
            <a:pPr marL="628650" lvl="1" indent="-171450">
              <a:buFontTx/>
              <a:buChar char="-"/>
            </a:pPr>
            <a:r>
              <a:rPr lang="en-US" dirty="0" smtClean="0"/>
              <a:t>Differentiation</a:t>
            </a:r>
            <a:r>
              <a:rPr lang="en-US" baseline="0" dirty="0" smtClean="0"/>
              <a:t> with equality</a:t>
            </a:r>
          </a:p>
          <a:p>
            <a:pPr marL="171450" lvl="0" indent="-171450">
              <a:buFontTx/>
              <a:buChar char="-"/>
            </a:pPr>
            <a:r>
              <a:rPr lang="en-US" dirty="0" smtClean="0"/>
              <a:t>MTSP:</a:t>
            </a:r>
          </a:p>
          <a:p>
            <a:pPr marL="628650" lvl="1" indent="-171450">
              <a:buFontTx/>
              <a:buChar char="-"/>
            </a:pPr>
            <a:r>
              <a:rPr lang="en-US" dirty="0" smtClean="0"/>
              <a:t>7 outcomes areas (education #4)</a:t>
            </a:r>
            <a:r>
              <a:rPr lang="en-US" baseline="0" dirty="0" smtClean="0"/>
              <a:t> with linkages / synergies</a:t>
            </a:r>
          </a:p>
          <a:p>
            <a:pPr marL="628650" lvl="1" indent="-171450">
              <a:buFontTx/>
              <a:buChar char="-"/>
            </a:pPr>
            <a:r>
              <a:rPr lang="en-US" baseline="0" dirty="0" smtClean="0"/>
              <a:t>Each SP outcome areas contributes on its own to reducing inequities + collectively, even greater result through synergies</a:t>
            </a:r>
          </a:p>
          <a:p>
            <a:pPr marL="628650" lvl="1" indent="-171450">
              <a:buFontTx/>
              <a:buChar char="-"/>
            </a:pPr>
            <a:r>
              <a:rPr lang="en-US" baseline="0" dirty="0" smtClean="0"/>
              <a:t>Each SP has its own </a:t>
            </a:r>
            <a:r>
              <a:rPr lang="en-US" baseline="0" dirty="0" err="1" smtClean="0"/>
              <a:t>ToC</a:t>
            </a:r>
            <a:endParaRPr lang="en-US" baseline="0" dirty="0" smtClean="0"/>
          </a:p>
          <a:p>
            <a:pPr marL="628650" lvl="1" indent="-171450">
              <a:buFontTx/>
              <a:buChar char="-"/>
            </a:pPr>
            <a:r>
              <a:rPr lang="en-GB" sz="1200" kern="1200" dirty="0" smtClean="0">
                <a:solidFill>
                  <a:schemeClr val="tx1"/>
                </a:solidFill>
                <a:effectLst/>
                <a:latin typeface="+mn-lt"/>
                <a:ea typeface="+mn-ea"/>
                <a:cs typeface="+mn-cs"/>
              </a:rPr>
              <a:t>SP results framework has impact, outcome and output results, and each with indicator, baseline and target.   </a:t>
            </a:r>
            <a:endParaRPr lang="en-US" baseline="0" dirty="0" smtClean="0"/>
          </a:p>
          <a:p>
            <a:pPr marL="171450" lvl="0" indent="-171450">
              <a:buFontTx/>
              <a:buChar char="-"/>
            </a:pPr>
            <a:r>
              <a:rPr lang="en-US" dirty="0" smtClean="0"/>
              <a:t>SDGs:</a:t>
            </a:r>
          </a:p>
          <a:p>
            <a:pPr marL="628650" lvl="1" indent="-171450">
              <a:buFontTx/>
              <a:buChar char="-"/>
            </a:pPr>
            <a:r>
              <a:rPr lang="en-GB" sz="1200" kern="1200" dirty="0" smtClean="0">
                <a:solidFill>
                  <a:schemeClr val="tx1"/>
                </a:solidFill>
                <a:effectLst/>
                <a:latin typeface="+mn-lt"/>
                <a:ea typeface="+mn-ea"/>
                <a:cs typeface="+mn-cs"/>
              </a:rPr>
              <a:t>Equitable results for all children, ‘leave no one behind’ Perhaps the most fundamental lesson of the MDGs was that, due to their focus on national averages and global aggregates, they failed to account for stagnating progress or – in some cases – growing inequalities among income and social groups and along gender lines. </a:t>
            </a:r>
            <a:endParaRPr lang="en-US" dirty="0" smtClean="0"/>
          </a:p>
          <a:p>
            <a:pPr marL="628650" lvl="1" indent="-171450">
              <a:buFontTx/>
              <a:buChar char="-"/>
            </a:pPr>
            <a:endParaRPr lang="en-US" dirty="0" smtClean="0"/>
          </a:p>
          <a:p>
            <a:pPr marL="171450" lvl="0" indent="-171450">
              <a:buFontTx/>
              <a:buChar char="-"/>
            </a:pPr>
            <a:r>
              <a:rPr lang="en-US" dirty="0" smtClean="0"/>
              <a:t>Humanitarian</a:t>
            </a:r>
            <a:r>
              <a:rPr lang="en-US" baseline="0" dirty="0" smtClean="0"/>
              <a:t> Imperatives:</a:t>
            </a:r>
          </a:p>
          <a:p>
            <a:pPr marL="628650" lvl="1" indent="-171450">
              <a:buFontTx/>
              <a:buChar char="-"/>
            </a:pPr>
            <a:r>
              <a:rPr lang="en-US" dirty="0" smtClean="0"/>
              <a:t>As heard this morning, </a:t>
            </a:r>
            <a:r>
              <a:rPr lang="en-GB" sz="1200" kern="1200" dirty="0" smtClean="0">
                <a:solidFill>
                  <a:schemeClr val="tx1"/>
                </a:solidFill>
                <a:effectLst/>
                <a:latin typeface="+mn-lt"/>
                <a:ea typeface="+mn-ea"/>
                <a:cs typeface="+mn-cs"/>
              </a:rPr>
              <a:t>Shocks, including disasters and violent conflict are a threat to development</a:t>
            </a:r>
          </a:p>
          <a:p>
            <a:pPr marL="628650" lvl="1" indent="-171450">
              <a:buFontTx/>
              <a:buChar char="-"/>
            </a:pPr>
            <a:r>
              <a:rPr lang="en-GB" sz="1200" kern="1200" dirty="0" smtClean="0">
                <a:solidFill>
                  <a:schemeClr val="tx1"/>
                </a:solidFill>
                <a:effectLst/>
                <a:latin typeface="+mn-lt"/>
                <a:ea typeface="+mn-ea"/>
                <a:cs typeface="+mn-cs"/>
              </a:rPr>
              <a:t>Building resilient and sustainable societies means addressing existing and future risks in development planning and budgeting. </a:t>
            </a:r>
          </a:p>
          <a:p>
            <a:pPr marL="171450" lvl="0" indent="-171450">
              <a:buFontTx/>
              <a:buChar char="-"/>
            </a:pPr>
            <a:endParaRPr lang="en-GB" kern="1200" dirty="0" smtClean="0">
              <a:solidFill>
                <a:schemeClr val="tx1"/>
              </a:solidFill>
              <a:effectLst/>
              <a:latin typeface="+mn-lt"/>
              <a:ea typeface="+mn-ea"/>
              <a:cs typeface="+mn-cs"/>
            </a:endParaRPr>
          </a:p>
          <a:p>
            <a:pPr marL="171450" lvl="0" indent="-171450">
              <a:buFontTx/>
              <a:buChar char="-"/>
            </a:pPr>
            <a:r>
              <a:rPr lang="en-GB" kern="1200" dirty="0" smtClean="0">
                <a:solidFill>
                  <a:schemeClr val="tx1"/>
                </a:solidFill>
                <a:effectLst/>
                <a:latin typeface="+mn-lt"/>
                <a:ea typeface="+mn-ea"/>
                <a:cs typeface="+mn-cs"/>
              </a:rPr>
              <a:t>Reporting on results / transparency</a:t>
            </a:r>
          </a:p>
          <a:p>
            <a:pPr marL="628650" lvl="1" indent="-171450">
              <a:buFontTx/>
              <a:buChar char="-"/>
            </a:pPr>
            <a:r>
              <a:rPr lang="en-GB" sz="1200" kern="1200" dirty="0" smtClean="0">
                <a:solidFill>
                  <a:schemeClr val="tx1"/>
                </a:solidFill>
                <a:effectLst/>
                <a:latin typeface="+mn-lt"/>
                <a:ea typeface="+mn-ea"/>
                <a:cs typeface="+mn-cs"/>
              </a:rPr>
              <a:t>Accountability communication to the outside world on how and where UNICEF uses resources to leverage and achieve results for children.  </a:t>
            </a:r>
            <a:endParaRPr lang="en-US" sz="1200" kern="1200" dirty="0" smtClean="0">
              <a:solidFill>
                <a:schemeClr val="tx1"/>
              </a:solidFill>
              <a:effectLst/>
              <a:latin typeface="+mn-lt"/>
              <a:ea typeface="+mn-ea"/>
              <a:cs typeface="+mn-cs"/>
            </a:endParaRPr>
          </a:p>
          <a:p>
            <a:pPr marL="628650" lvl="1" indent="-171450">
              <a:buFontTx/>
              <a:buChar char="-"/>
            </a:pPr>
            <a:r>
              <a:rPr lang="en-GB" sz="1200" kern="1200" dirty="0" smtClean="0">
                <a:solidFill>
                  <a:schemeClr val="tx1"/>
                </a:solidFill>
                <a:effectLst/>
                <a:latin typeface="+mn-lt"/>
                <a:ea typeface="+mn-ea"/>
                <a:cs typeface="+mn-cs"/>
              </a:rPr>
              <a:t>Enhance UNICEF’s visibility among key stakeholders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171450" lvl="0" indent="-171450">
              <a:buFontTx/>
              <a:buChar char="-"/>
            </a:pPr>
            <a:r>
              <a:rPr lang="en-US" sz="1200" kern="1200" dirty="0" smtClean="0">
                <a:solidFill>
                  <a:schemeClr val="tx1"/>
                </a:solidFill>
                <a:effectLst/>
                <a:latin typeface="+mn-lt"/>
                <a:ea typeface="+mn-ea"/>
                <a:cs typeface="+mn-cs"/>
              </a:rPr>
              <a:t>Funding</a:t>
            </a:r>
            <a:r>
              <a:rPr lang="en-US" sz="1200" kern="1200" baseline="0" dirty="0" smtClean="0">
                <a:solidFill>
                  <a:schemeClr val="tx1"/>
                </a:solidFill>
                <a:effectLst/>
                <a:latin typeface="+mn-lt"/>
                <a:ea typeface="+mn-ea"/>
                <a:cs typeface="+mn-cs"/>
              </a:rPr>
              <a:t> and Donors: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kern="1200" dirty="0" smtClean="0">
                <a:solidFill>
                  <a:schemeClr val="tx1"/>
                </a:solidFill>
                <a:effectLst/>
                <a:latin typeface="+mn-lt"/>
                <a:ea typeface="+mn-ea"/>
                <a:cs typeface="+mn-cs"/>
              </a:rPr>
              <a:t>Improve UNICEF’s ability to leverage results and resources for children as donors are increasingly including transparency, and in particular IATI compliance as part of their assessment criteria of potential aid recipients.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C4F3281-3907-4CB3-99D0-7C3EB1A17FF8}" type="slidenum">
              <a:rPr lang="en-US" smtClean="0"/>
              <a:t>5</a:t>
            </a:fld>
            <a:endParaRPr lang="en-US"/>
          </a:p>
        </p:txBody>
      </p:sp>
    </p:spTree>
    <p:extLst>
      <p:ext uri="{BB962C8B-B14F-4D97-AF65-F5344CB8AC3E}">
        <p14:creationId xmlns:p14="http://schemas.microsoft.com/office/powerpoint/2010/main" val="1620219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Equity focus:</a:t>
            </a:r>
          </a:p>
          <a:p>
            <a:pPr marL="628650" lvl="1" indent="-171450">
              <a:buFontTx/>
              <a:buChar char="-"/>
            </a:pPr>
            <a:r>
              <a:rPr lang="en-US" dirty="0" smtClean="0"/>
              <a:t>Reaching</a:t>
            </a:r>
            <a:r>
              <a:rPr lang="en-US" baseline="0" dirty="0" smtClean="0"/>
              <a:t> the most deprived and vulnerable</a:t>
            </a:r>
          </a:p>
          <a:p>
            <a:pPr marL="628650" lvl="1" indent="-171450">
              <a:buFontTx/>
              <a:buChar char="-"/>
            </a:pPr>
            <a:r>
              <a:rPr lang="en-US" dirty="0" smtClean="0"/>
              <a:t>Differentiation</a:t>
            </a:r>
            <a:r>
              <a:rPr lang="en-US" baseline="0" dirty="0" smtClean="0"/>
              <a:t> with equality</a:t>
            </a:r>
          </a:p>
          <a:p>
            <a:pPr marL="171450" lvl="0" indent="-171450">
              <a:buFontTx/>
              <a:buChar char="-"/>
            </a:pPr>
            <a:r>
              <a:rPr lang="en-US" dirty="0" smtClean="0"/>
              <a:t>MTSP:</a:t>
            </a:r>
          </a:p>
          <a:p>
            <a:pPr marL="628650" lvl="1" indent="-171450">
              <a:buFontTx/>
              <a:buChar char="-"/>
            </a:pPr>
            <a:r>
              <a:rPr lang="en-US" dirty="0" smtClean="0"/>
              <a:t>7 outcomes areas (education #4)</a:t>
            </a:r>
            <a:r>
              <a:rPr lang="en-US" baseline="0" dirty="0" smtClean="0"/>
              <a:t> with linkages / synergies</a:t>
            </a:r>
          </a:p>
          <a:p>
            <a:pPr marL="628650" lvl="1" indent="-171450">
              <a:buFontTx/>
              <a:buChar char="-"/>
            </a:pPr>
            <a:r>
              <a:rPr lang="en-US" baseline="0" dirty="0" smtClean="0"/>
              <a:t>Each SP outcome areas contributes on its own to reducing inequities + collectively, even greater result through synergies</a:t>
            </a:r>
          </a:p>
          <a:p>
            <a:pPr marL="628650" lvl="1" indent="-171450">
              <a:buFontTx/>
              <a:buChar char="-"/>
            </a:pPr>
            <a:r>
              <a:rPr lang="en-US" baseline="0" dirty="0" smtClean="0"/>
              <a:t>Each SP has its own </a:t>
            </a:r>
            <a:r>
              <a:rPr lang="en-US" baseline="0" dirty="0" err="1" smtClean="0"/>
              <a:t>ToC</a:t>
            </a:r>
            <a:endParaRPr lang="en-US" baseline="0" dirty="0" smtClean="0"/>
          </a:p>
          <a:p>
            <a:pPr marL="628650" lvl="1" indent="-171450">
              <a:buFontTx/>
              <a:buChar char="-"/>
            </a:pPr>
            <a:r>
              <a:rPr lang="en-GB" sz="1200" kern="1200" dirty="0" smtClean="0">
                <a:solidFill>
                  <a:schemeClr val="tx1"/>
                </a:solidFill>
                <a:effectLst/>
                <a:latin typeface="+mn-lt"/>
                <a:ea typeface="+mn-ea"/>
                <a:cs typeface="+mn-cs"/>
              </a:rPr>
              <a:t>SP results framework has impact, outcome and output results, and each with indicator, baseline and target.   </a:t>
            </a:r>
            <a:endParaRPr lang="en-US" baseline="0" dirty="0" smtClean="0"/>
          </a:p>
          <a:p>
            <a:pPr marL="171450" lvl="0" indent="-171450">
              <a:buFontTx/>
              <a:buChar char="-"/>
            </a:pPr>
            <a:r>
              <a:rPr lang="en-US" dirty="0" smtClean="0"/>
              <a:t>SDGs:</a:t>
            </a:r>
          </a:p>
          <a:p>
            <a:pPr marL="628650" lvl="1" indent="-171450">
              <a:buFontTx/>
              <a:buChar char="-"/>
            </a:pPr>
            <a:r>
              <a:rPr lang="en-GB" sz="1200" kern="1200" dirty="0" smtClean="0">
                <a:solidFill>
                  <a:schemeClr val="tx1"/>
                </a:solidFill>
                <a:effectLst/>
                <a:latin typeface="+mn-lt"/>
                <a:ea typeface="+mn-ea"/>
                <a:cs typeface="+mn-cs"/>
              </a:rPr>
              <a:t>Equitable results for all children, ‘leave no one behind’ Perhaps the most fundamental lesson of the MDGs was that, due to their focus on national averages and global aggregates, they failed to account for stagnating progress or – in some cases – growing inequalities among income and social groups and along gender lines. </a:t>
            </a:r>
            <a:endParaRPr lang="en-US" dirty="0" smtClean="0"/>
          </a:p>
          <a:p>
            <a:pPr marL="628650" lvl="1" indent="-171450">
              <a:buFontTx/>
              <a:buChar char="-"/>
            </a:pPr>
            <a:endParaRPr lang="en-US" dirty="0" smtClean="0"/>
          </a:p>
          <a:p>
            <a:pPr marL="171450" lvl="0" indent="-171450">
              <a:buFontTx/>
              <a:buChar char="-"/>
            </a:pPr>
            <a:r>
              <a:rPr lang="en-US" dirty="0" smtClean="0"/>
              <a:t>Humanitarian</a:t>
            </a:r>
            <a:r>
              <a:rPr lang="en-US" baseline="0" dirty="0" smtClean="0"/>
              <a:t> Imperatives:</a:t>
            </a:r>
          </a:p>
          <a:p>
            <a:pPr marL="628650" lvl="1" indent="-171450">
              <a:buFontTx/>
              <a:buChar char="-"/>
            </a:pPr>
            <a:r>
              <a:rPr lang="en-US" dirty="0" smtClean="0"/>
              <a:t>As heard this morning, </a:t>
            </a:r>
            <a:r>
              <a:rPr lang="en-GB" sz="1200" kern="1200" dirty="0" smtClean="0">
                <a:solidFill>
                  <a:schemeClr val="tx1"/>
                </a:solidFill>
                <a:effectLst/>
                <a:latin typeface="+mn-lt"/>
                <a:ea typeface="+mn-ea"/>
                <a:cs typeface="+mn-cs"/>
              </a:rPr>
              <a:t>Shocks, including disasters and violent conflict are a threat to development</a:t>
            </a:r>
          </a:p>
          <a:p>
            <a:pPr marL="628650" lvl="1" indent="-171450">
              <a:buFontTx/>
              <a:buChar char="-"/>
            </a:pPr>
            <a:r>
              <a:rPr lang="en-GB" sz="1200" kern="1200" dirty="0" smtClean="0">
                <a:solidFill>
                  <a:schemeClr val="tx1"/>
                </a:solidFill>
                <a:effectLst/>
                <a:latin typeface="+mn-lt"/>
                <a:ea typeface="+mn-ea"/>
                <a:cs typeface="+mn-cs"/>
              </a:rPr>
              <a:t>Building resilient and sustainable societies means addressing existing and future risks in development planning and budgeting. </a:t>
            </a:r>
          </a:p>
          <a:p>
            <a:pPr marL="171450" lvl="0" indent="-171450">
              <a:buFontTx/>
              <a:buChar char="-"/>
            </a:pPr>
            <a:endParaRPr lang="en-GB" kern="1200" dirty="0" smtClean="0">
              <a:solidFill>
                <a:schemeClr val="tx1"/>
              </a:solidFill>
              <a:effectLst/>
              <a:latin typeface="+mn-lt"/>
              <a:ea typeface="+mn-ea"/>
              <a:cs typeface="+mn-cs"/>
            </a:endParaRPr>
          </a:p>
          <a:p>
            <a:pPr marL="171450" lvl="0" indent="-171450">
              <a:buFontTx/>
              <a:buChar char="-"/>
            </a:pPr>
            <a:r>
              <a:rPr lang="en-GB" kern="1200" dirty="0" smtClean="0">
                <a:solidFill>
                  <a:schemeClr val="tx1"/>
                </a:solidFill>
                <a:effectLst/>
                <a:latin typeface="+mn-lt"/>
                <a:ea typeface="+mn-ea"/>
                <a:cs typeface="+mn-cs"/>
              </a:rPr>
              <a:t>Reporting on results / transparency</a:t>
            </a:r>
          </a:p>
          <a:p>
            <a:pPr marL="628650" lvl="1" indent="-171450">
              <a:buFontTx/>
              <a:buChar char="-"/>
            </a:pPr>
            <a:r>
              <a:rPr lang="en-GB" sz="1200" kern="1200" dirty="0" smtClean="0">
                <a:solidFill>
                  <a:schemeClr val="tx1"/>
                </a:solidFill>
                <a:effectLst/>
                <a:latin typeface="+mn-lt"/>
                <a:ea typeface="+mn-ea"/>
                <a:cs typeface="+mn-cs"/>
              </a:rPr>
              <a:t>Accountability communication to the outside world on how and where UNICEF uses resources to leverage and achieve results for children.  </a:t>
            </a:r>
            <a:endParaRPr lang="en-US" sz="1200" kern="1200" dirty="0" smtClean="0">
              <a:solidFill>
                <a:schemeClr val="tx1"/>
              </a:solidFill>
              <a:effectLst/>
              <a:latin typeface="+mn-lt"/>
              <a:ea typeface="+mn-ea"/>
              <a:cs typeface="+mn-cs"/>
            </a:endParaRPr>
          </a:p>
          <a:p>
            <a:pPr marL="628650" lvl="1" indent="-171450">
              <a:buFontTx/>
              <a:buChar char="-"/>
            </a:pPr>
            <a:r>
              <a:rPr lang="en-GB" sz="1200" kern="1200" dirty="0" smtClean="0">
                <a:solidFill>
                  <a:schemeClr val="tx1"/>
                </a:solidFill>
                <a:effectLst/>
                <a:latin typeface="+mn-lt"/>
                <a:ea typeface="+mn-ea"/>
                <a:cs typeface="+mn-cs"/>
              </a:rPr>
              <a:t>Enhance UNICEF’s visibility among key stakeholders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171450" lvl="0" indent="-171450">
              <a:buFontTx/>
              <a:buChar char="-"/>
            </a:pPr>
            <a:r>
              <a:rPr lang="en-US" sz="1200" kern="1200" dirty="0" smtClean="0">
                <a:solidFill>
                  <a:schemeClr val="tx1"/>
                </a:solidFill>
                <a:effectLst/>
                <a:latin typeface="+mn-lt"/>
                <a:ea typeface="+mn-ea"/>
                <a:cs typeface="+mn-cs"/>
              </a:rPr>
              <a:t>Funding</a:t>
            </a:r>
            <a:r>
              <a:rPr lang="en-US" sz="1200" kern="1200" baseline="0" dirty="0" smtClean="0">
                <a:solidFill>
                  <a:schemeClr val="tx1"/>
                </a:solidFill>
                <a:effectLst/>
                <a:latin typeface="+mn-lt"/>
                <a:ea typeface="+mn-ea"/>
                <a:cs typeface="+mn-cs"/>
              </a:rPr>
              <a:t> and Donors: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kern="1200" dirty="0" smtClean="0">
                <a:solidFill>
                  <a:schemeClr val="tx1"/>
                </a:solidFill>
                <a:effectLst/>
                <a:latin typeface="+mn-lt"/>
                <a:ea typeface="+mn-ea"/>
                <a:cs typeface="+mn-cs"/>
              </a:rPr>
              <a:t>Improve UNICEF’s ability to leverage results and resources for children as donors are increasingly including transparency, and in particular IATI compliance as part of their assessment criteria of potential aid recipients.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C4F3281-3907-4CB3-99D0-7C3EB1A17FF8}" type="slidenum">
              <a:rPr lang="en-US" smtClean="0"/>
              <a:t>6</a:t>
            </a:fld>
            <a:endParaRPr lang="en-US"/>
          </a:p>
        </p:txBody>
      </p:sp>
    </p:spTree>
    <p:extLst>
      <p:ext uri="{BB962C8B-B14F-4D97-AF65-F5344CB8AC3E}">
        <p14:creationId xmlns:p14="http://schemas.microsoft.com/office/powerpoint/2010/main" val="26300216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4F3281-3907-4CB3-99D0-7C3EB1A17FF8}" type="slidenum">
              <a:rPr lang="en-US" smtClean="0"/>
              <a:t>7</a:t>
            </a:fld>
            <a:endParaRPr lang="en-US"/>
          </a:p>
        </p:txBody>
      </p:sp>
    </p:spTree>
    <p:extLst>
      <p:ext uri="{BB962C8B-B14F-4D97-AF65-F5344CB8AC3E}">
        <p14:creationId xmlns:p14="http://schemas.microsoft.com/office/powerpoint/2010/main" val="35717523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Equity focus:</a:t>
            </a:r>
          </a:p>
          <a:p>
            <a:pPr marL="628650" lvl="1" indent="-171450">
              <a:buFontTx/>
              <a:buChar char="-"/>
            </a:pPr>
            <a:r>
              <a:rPr lang="en-US" dirty="0" smtClean="0"/>
              <a:t>Reaching</a:t>
            </a:r>
            <a:r>
              <a:rPr lang="en-US" baseline="0" dirty="0" smtClean="0"/>
              <a:t> the most deprived and vulnerable</a:t>
            </a:r>
          </a:p>
          <a:p>
            <a:pPr marL="628650" lvl="1" indent="-171450">
              <a:buFontTx/>
              <a:buChar char="-"/>
            </a:pPr>
            <a:r>
              <a:rPr lang="en-US" dirty="0" smtClean="0"/>
              <a:t>Differentiation</a:t>
            </a:r>
            <a:r>
              <a:rPr lang="en-US" baseline="0" dirty="0" smtClean="0"/>
              <a:t> with equality</a:t>
            </a:r>
          </a:p>
          <a:p>
            <a:pPr marL="171450" lvl="0" indent="-171450">
              <a:buFontTx/>
              <a:buChar char="-"/>
            </a:pPr>
            <a:r>
              <a:rPr lang="en-US" dirty="0" smtClean="0"/>
              <a:t>MTSP:</a:t>
            </a:r>
          </a:p>
          <a:p>
            <a:pPr marL="628650" lvl="1" indent="-171450">
              <a:buFontTx/>
              <a:buChar char="-"/>
            </a:pPr>
            <a:r>
              <a:rPr lang="en-US" dirty="0" smtClean="0"/>
              <a:t>7 outcomes areas (education #4)</a:t>
            </a:r>
            <a:r>
              <a:rPr lang="en-US" baseline="0" dirty="0" smtClean="0"/>
              <a:t> with linkages / synergies</a:t>
            </a:r>
          </a:p>
          <a:p>
            <a:pPr marL="628650" lvl="1" indent="-171450">
              <a:buFontTx/>
              <a:buChar char="-"/>
            </a:pPr>
            <a:r>
              <a:rPr lang="en-US" baseline="0" dirty="0" smtClean="0"/>
              <a:t>Each SP outcome areas contributes on its own to reducing inequities + collectively, even greater result through synergies</a:t>
            </a:r>
          </a:p>
          <a:p>
            <a:pPr marL="628650" lvl="1" indent="-171450">
              <a:buFontTx/>
              <a:buChar char="-"/>
            </a:pPr>
            <a:r>
              <a:rPr lang="en-US" baseline="0" dirty="0" smtClean="0"/>
              <a:t>Each SP has its own </a:t>
            </a:r>
            <a:r>
              <a:rPr lang="en-US" baseline="0" dirty="0" err="1" smtClean="0"/>
              <a:t>ToC</a:t>
            </a:r>
            <a:endParaRPr lang="en-US" baseline="0" dirty="0" smtClean="0"/>
          </a:p>
          <a:p>
            <a:pPr marL="628650" lvl="1" indent="-171450">
              <a:buFontTx/>
              <a:buChar char="-"/>
            </a:pPr>
            <a:r>
              <a:rPr lang="en-GB" sz="1200" kern="1200" dirty="0" smtClean="0">
                <a:solidFill>
                  <a:schemeClr val="tx1"/>
                </a:solidFill>
                <a:effectLst/>
                <a:latin typeface="+mn-lt"/>
                <a:ea typeface="+mn-ea"/>
                <a:cs typeface="+mn-cs"/>
              </a:rPr>
              <a:t>SP results framework has impact, outcome and output results, and each with indicator, baseline and target.   </a:t>
            </a:r>
            <a:endParaRPr lang="en-US" baseline="0" dirty="0" smtClean="0"/>
          </a:p>
          <a:p>
            <a:pPr marL="171450" lvl="0" indent="-171450">
              <a:buFontTx/>
              <a:buChar char="-"/>
            </a:pPr>
            <a:r>
              <a:rPr lang="en-US" dirty="0" smtClean="0"/>
              <a:t>SDGs:</a:t>
            </a:r>
          </a:p>
          <a:p>
            <a:pPr marL="628650" lvl="1" indent="-171450">
              <a:buFontTx/>
              <a:buChar char="-"/>
            </a:pPr>
            <a:r>
              <a:rPr lang="en-GB" sz="1200" kern="1200" dirty="0" smtClean="0">
                <a:solidFill>
                  <a:schemeClr val="tx1"/>
                </a:solidFill>
                <a:effectLst/>
                <a:latin typeface="+mn-lt"/>
                <a:ea typeface="+mn-ea"/>
                <a:cs typeface="+mn-cs"/>
              </a:rPr>
              <a:t>Equitable results for all children, ‘leave no one behind’ Perhaps the most fundamental lesson of the MDGs was that, due to their focus on national averages and global aggregates, they failed to account for stagnating progress or – in some cases – growing inequalities among income and social groups and along gender lines. </a:t>
            </a:r>
            <a:endParaRPr lang="en-US" dirty="0" smtClean="0"/>
          </a:p>
          <a:p>
            <a:pPr marL="628650" lvl="1" indent="-171450">
              <a:buFontTx/>
              <a:buChar char="-"/>
            </a:pPr>
            <a:endParaRPr lang="en-US" dirty="0" smtClean="0"/>
          </a:p>
          <a:p>
            <a:pPr marL="171450" lvl="0" indent="-171450">
              <a:buFontTx/>
              <a:buChar char="-"/>
            </a:pPr>
            <a:r>
              <a:rPr lang="en-US" dirty="0" smtClean="0"/>
              <a:t>Humanitarian</a:t>
            </a:r>
            <a:r>
              <a:rPr lang="en-US" baseline="0" dirty="0" smtClean="0"/>
              <a:t> Imperatives:</a:t>
            </a:r>
          </a:p>
          <a:p>
            <a:pPr marL="628650" lvl="1" indent="-171450">
              <a:buFontTx/>
              <a:buChar char="-"/>
            </a:pPr>
            <a:r>
              <a:rPr lang="en-US" dirty="0" smtClean="0"/>
              <a:t>As heard this morning, </a:t>
            </a:r>
            <a:r>
              <a:rPr lang="en-GB" sz="1200" kern="1200" dirty="0" smtClean="0">
                <a:solidFill>
                  <a:schemeClr val="tx1"/>
                </a:solidFill>
                <a:effectLst/>
                <a:latin typeface="+mn-lt"/>
                <a:ea typeface="+mn-ea"/>
                <a:cs typeface="+mn-cs"/>
              </a:rPr>
              <a:t>Shocks, including disasters and violent conflict are a threat to development</a:t>
            </a:r>
          </a:p>
          <a:p>
            <a:pPr marL="628650" lvl="1" indent="-171450">
              <a:buFontTx/>
              <a:buChar char="-"/>
            </a:pPr>
            <a:r>
              <a:rPr lang="en-GB" sz="1200" kern="1200" dirty="0" smtClean="0">
                <a:solidFill>
                  <a:schemeClr val="tx1"/>
                </a:solidFill>
                <a:effectLst/>
                <a:latin typeface="+mn-lt"/>
                <a:ea typeface="+mn-ea"/>
                <a:cs typeface="+mn-cs"/>
              </a:rPr>
              <a:t>Building resilient and sustainable societies means addressing existing and future risks in development planning and budgeting. </a:t>
            </a:r>
          </a:p>
          <a:p>
            <a:pPr marL="171450" lvl="0" indent="-171450">
              <a:buFontTx/>
              <a:buChar char="-"/>
            </a:pPr>
            <a:endParaRPr lang="en-GB" kern="1200" dirty="0" smtClean="0">
              <a:solidFill>
                <a:schemeClr val="tx1"/>
              </a:solidFill>
              <a:effectLst/>
              <a:latin typeface="+mn-lt"/>
              <a:ea typeface="+mn-ea"/>
              <a:cs typeface="+mn-cs"/>
            </a:endParaRPr>
          </a:p>
          <a:p>
            <a:pPr marL="171450" lvl="0" indent="-171450">
              <a:buFontTx/>
              <a:buChar char="-"/>
            </a:pPr>
            <a:r>
              <a:rPr lang="en-GB" kern="1200" dirty="0" smtClean="0">
                <a:solidFill>
                  <a:schemeClr val="tx1"/>
                </a:solidFill>
                <a:effectLst/>
                <a:latin typeface="+mn-lt"/>
                <a:ea typeface="+mn-ea"/>
                <a:cs typeface="+mn-cs"/>
              </a:rPr>
              <a:t>Reporting on results / transparency</a:t>
            </a:r>
          </a:p>
          <a:p>
            <a:pPr marL="628650" lvl="1" indent="-171450">
              <a:buFontTx/>
              <a:buChar char="-"/>
            </a:pPr>
            <a:r>
              <a:rPr lang="en-GB" sz="1200" kern="1200" dirty="0" smtClean="0">
                <a:solidFill>
                  <a:schemeClr val="tx1"/>
                </a:solidFill>
                <a:effectLst/>
                <a:latin typeface="+mn-lt"/>
                <a:ea typeface="+mn-ea"/>
                <a:cs typeface="+mn-cs"/>
              </a:rPr>
              <a:t>Accountability communication to the outside world on how and where UNICEF uses resources to leverage and achieve results for children.  </a:t>
            </a:r>
            <a:endParaRPr lang="en-US" sz="1200" kern="1200" dirty="0" smtClean="0">
              <a:solidFill>
                <a:schemeClr val="tx1"/>
              </a:solidFill>
              <a:effectLst/>
              <a:latin typeface="+mn-lt"/>
              <a:ea typeface="+mn-ea"/>
              <a:cs typeface="+mn-cs"/>
            </a:endParaRPr>
          </a:p>
          <a:p>
            <a:pPr marL="628650" lvl="1" indent="-171450">
              <a:buFontTx/>
              <a:buChar char="-"/>
            </a:pPr>
            <a:r>
              <a:rPr lang="en-GB" sz="1200" kern="1200" dirty="0" smtClean="0">
                <a:solidFill>
                  <a:schemeClr val="tx1"/>
                </a:solidFill>
                <a:effectLst/>
                <a:latin typeface="+mn-lt"/>
                <a:ea typeface="+mn-ea"/>
                <a:cs typeface="+mn-cs"/>
              </a:rPr>
              <a:t>Enhance UNICEF’s visibility among key stakeholders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171450" lvl="0" indent="-171450">
              <a:buFontTx/>
              <a:buChar char="-"/>
            </a:pPr>
            <a:r>
              <a:rPr lang="en-US" sz="1200" kern="1200" dirty="0" smtClean="0">
                <a:solidFill>
                  <a:schemeClr val="tx1"/>
                </a:solidFill>
                <a:effectLst/>
                <a:latin typeface="+mn-lt"/>
                <a:ea typeface="+mn-ea"/>
                <a:cs typeface="+mn-cs"/>
              </a:rPr>
              <a:t>Funding</a:t>
            </a:r>
            <a:r>
              <a:rPr lang="en-US" sz="1200" kern="1200" baseline="0" dirty="0" smtClean="0">
                <a:solidFill>
                  <a:schemeClr val="tx1"/>
                </a:solidFill>
                <a:effectLst/>
                <a:latin typeface="+mn-lt"/>
                <a:ea typeface="+mn-ea"/>
                <a:cs typeface="+mn-cs"/>
              </a:rPr>
              <a:t> and Donors: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kern="1200" dirty="0" smtClean="0">
                <a:solidFill>
                  <a:schemeClr val="tx1"/>
                </a:solidFill>
                <a:effectLst/>
                <a:latin typeface="+mn-lt"/>
                <a:ea typeface="+mn-ea"/>
                <a:cs typeface="+mn-cs"/>
              </a:rPr>
              <a:t>Improve UNICEF’s ability to leverage results and resources for children as donors are increasingly including transparency, and in particular IATI compliance as part of their assessment criteria of potential aid recipients.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C4F3281-3907-4CB3-99D0-7C3EB1A17FF8}" type="slidenum">
              <a:rPr lang="en-US" smtClean="0"/>
              <a:t>8</a:t>
            </a:fld>
            <a:endParaRPr lang="en-US"/>
          </a:p>
        </p:txBody>
      </p:sp>
    </p:spTree>
    <p:extLst>
      <p:ext uri="{BB962C8B-B14F-4D97-AF65-F5344CB8AC3E}">
        <p14:creationId xmlns:p14="http://schemas.microsoft.com/office/powerpoint/2010/main" val="4025092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Equity focus:</a:t>
            </a:r>
          </a:p>
          <a:p>
            <a:pPr marL="628650" lvl="1" indent="-171450">
              <a:buFontTx/>
              <a:buChar char="-"/>
            </a:pPr>
            <a:r>
              <a:rPr lang="en-US" dirty="0" smtClean="0"/>
              <a:t>Reaching</a:t>
            </a:r>
            <a:r>
              <a:rPr lang="en-US" baseline="0" dirty="0" smtClean="0"/>
              <a:t> the most deprived and vulnerable</a:t>
            </a:r>
          </a:p>
          <a:p>
            <a:pPr marL="628650" lvl="1" indent="-171450">
              <a:buFontTx/>
              <a:buChar char="-"/>
            </a:pPr>
            <a:r>
              <a:rPr lang="en-US" dirty="0" smtClean="0"/>
              <a:t>Differentiation</a:t>
            </a:r>
            <a:r>
              <a:rPr lang="en-US" baseline="0" dirty="0" smtClean="0"/>
              <a:t> with equality</a:t>
            </a:r>
          </a:p>
          <a:p>
            <a:pPr marL="171450" lvl="0" indent="-171450">
              <a:buFontTx/>
              <a:buChar char="-"/>
            </a:pPr>
            <a:r>
              <a:rPr lang="en-US" dirty="0" smtClean="0"/>
              <a:t>MTSP:</a:t>
            </a:r>
          </a:p>
          <a:p>
            <a:pPr marL="628650" lvl="1" indent="-171450">
              <a:buFontTx/>
              <a:buChar char="-"/>
            </a:pPr>
            <a:r>
              <a:rPr lang="en-US" dirty="0" smtClean="0"/>
              <a:t>7 outcomes areas (education #4)</a:t>
            </a:r>
            <a:r>
              <a:rPr lang="en-US" baseline="0" dirty="0" smtClean="0"/>
              <a:t> with linkages / synergies</a:t>
            </a:r>
          </a:p>
          <a:p>
            <a:pPr marL="628650" lvl="1" indent="-171450">
              <a:buFontTx/>
              <a:buChar char="-"/>
            </a:pPr>
            <a:r>
              <a:rPr lang="en-US" baseline="0" dirty="0" smtClean="0"/>
              <a:t>Each SP outcome areas contributes on its own to reducing inequities + collectively, even greater result through synergies</a:t>
            </a:r>
          </a:p>
          <a:p>
            <a:pPr marL="628650" lvl="1" indent="-171450">
              <a:buFontTx/>
              <a:buChar char="-"/>
            </a:pPr>
            <a:r>
              <a:rPr lang="en-US" baseline="0" dirty="0" smtClean="0"/>
              <a:t>Each SP has its own </a:t>
            </a:r>
            <a:r>
              <a:rPr lang="en-US" baseline="0" dirty="0" err="1" smtClean="0"/>
              <a:t>ToC</a:t>
            </a:r>
            <a:endParaRPr lang="en-US" baseline="0" dirty="0" smtClean="0"/>
          </a:p>
          <a:p>
            <a:pPr marL="628650" lvl="1" indent="-171450">
              <a:buFontTx/>
              <a:buChar char="-"/>
            </a:pPr>
            <a:r>
              <a:rPr lang="en-GB" sz="1200" kern="1200" dirty="0" smtClean="0">
                <a:solidFill>
                  <a:schemeClr val="tx1"/>
                </a:solidFill>
                <a:effectLst/>
                <a:latin typeface="+mn-lt"/>
                <a:ea typeface="+mn-ea"/>
                <a:cs typeface="+mn-cs"/>
              </a:rPr>
              <a:t>SP results framework has impact, outcome and output results, and each with indicator, baseline and target.   </a:t>
            </a:r>
            <a:endParaRPr lang="en-US" baseline="0" dirty="0" smtClean="0"/>
          </a:p>
          <a:p>
            <a:pPr marL="171450" lvl="0" indent="-171450">
              <a:buFontTx/>
              <a:buChar char="-"/>
            </a:pPr>
            <a:r>
              <a:rPr lang="en-US" dirty="0" smtClean="0"/>
              <a:t>SDGs:</a:t>
            </a:r>
          </a:p>
          <a:p>
            <a:pPr marL="628650" lvl="1" indent="-171450">
              <a:buFontTx/>
              <a:buChar char="-"/>
            </a:pPr>
            <a:r>
              <a:rPr lang="en-GB" sz="1200" kern="1200" dirty="0" smtClean="0">
                <a:solidFill>
                  <a:schemeClr val="tx1"/>
                </a:solidFill>
                <a:effectLst/>
                <a:latin typeface="+mn-lt"/>
                <a:ea typeface="+mn-ea"/>
                <a:cs typeface="+mn-cs"/>
              </a:rPr>
              <a:t>Equitable results for all children, ‘leave no one behind’ Perhaps the most fundamental lesson of the MDGs was that, due to their focus on national averages and global aggregates, they failed to account for stagnating progress or – in some cases – growing inequalities among income and social groups and along gender lines. </a:t>
            </a:r>
            <a:endParaRPr lang="en-US" dirty="0" smtClean="0"/>
          </a:p>
          <a:p>
            <a:pPr marL="628650" lvl="1" indent="-171450">
              <a:buFontTx/>
              <a:buChar char="-"/>
            </a:pPr>
            <a:endParaRPr lang="en-US" dirty="0" smtClean="0"/>
          </a:p>
          <a:p>
            <a:pPr marL="171450" lvl="0" indent="-171450">
              <a:buFontTx/>
              <a:buChar char="-"/>
            </a:pPr>
            <a:r>
              <a:rPr lang="en-US" dirty="0" smtClean="0"/>
              <a:t>Humanitarian</a:t>
            </a:r>
            <a:r>
              <a:rPr lang="en-US" baseline="0" dirty="0" smtClean="0"/>
              <a:t> Imperatives:</a:t>
            </a:r>
          </a:p>
          <a:p>
            <a:pPr marL="628650" lvl="1" indent="-171450">
              <a:buFontTx/>
              <a:buChar char="-"/>
            </a:pPr>
            <a:r>
              <a:rPr lang="en-US" dirty="0" smtClean="0"/>
              <a:t>As heard this morning, </a:t>
            </a:r>
            <a:r>
              <a:rPr lang="en-GB" sz="1200" kern="1200" dirty="0" smtClean="0">
                <a:solidFill>
                  <a:schemeClr val="tx1"/>
                </a:solidFill>
                <a:effectLst/>
                <a:latin typeface="+mn-lt"/>
                <a:ea typeface="+mn-ea"/>
                <a:cs typeface="+mn-cs"/>
              </a:rPr>
              <a:t>Shocks, including disasters and violent conflict are a threat to development</a:t>
            </a:r>
          </a:p>
          <a:p>
            <a:pPr marL="628650" lvl="1" indent="-171450">
              <a:buFontTx/>
              <a:buChar char="-"/>
            </a:pPr>
            <a:r>
              <a:rPr lang="en-GB" sz="1200" kern="1200" dirty="0" smtClean="0">
                <a:solidFill>
                  <a:schemeClr val="tx1"/>
                </a:solidFill>
                <a:effectLst/>
                <a:latin typeface="+mn-lt"/>
                <a:ea typeface="+mn-ea"/>
                <a:cs typeface="+mn-cs"/>
              </a:rPr>
              <a:t>Building resilient and sustainable societies means addressing existing and future risks in development planning and budgeting. </a:t>
            </a:r>
          </a:p>
          <a:p>
            <a:pPr marL="171450" lvl="0" indent="-171450">
              <a:buFontTx/>
              <a:buChar char="-"/>
            </a:pPr>
            <a:endParaRPr lang="en-GB" kern="1200" dirty="0" smtClean="0">
              <a:solidFill>
                <a:schemeClr val="tx1"/>
              </a:solidFill>
              <a:effectLst/>
              <a:latin typeface="+mn-lt"/>
              <a:ea typeface="+mn-ea"/>
              <a:cs typeface="+mn-cs"/>
            </a:endParaRPr>
          </a:p>
          <a:p>
            <a:pPr marL="171450" lvl="0" indent="-171450">
              <a:buFontTx/>
              <a:buChar char="-"/>
            </a:pPr>
            <a:r>
              <a:rPr lang="en-GB" kern="1200" dirty="0" smtClean="0">
                <a:solidFill>
                  <a:schemeClr val="tx1"/>
                </a:solidFill>
                <a:effectLst/>
                <a:latin typeface="+mn-lt"/>
                <a:ea typeface="+mn-ea"/>
                <a:cs typeface="+mn-cs"/>
              </a:rPr>
              <a:t>Reporting on results / transparency</a:t>
            </a:r>
          </a:p>
          <a:p>
            <a:pPr marL="628650" lvl="1" indent="-171450">
              <a:buFontTx/>
              <a:buChar char="-"/>
            </a:pPr>
            <a:r>
              <a:rPr lang="en-GB" sz="1200" kern="1200" dirty="0" smtClean="0">
                <a:solidFill>
                  <a:schemeClr val="tx1"/>
                </a:solidFill>
                <a:effectLst/>
                <a:latin typeface="+mn-lt"/>
                <a:ea typeface="+mn-ea"/>
                <a:cs typeface="+mn-cs"/>
              </a:rPr>
              <a:t>Accountability communication to the outside world on how and where UNICEF uses resources to leverage and achieve results for children.  </a:t>
            </a:r>
            <a:endParaRPr lang="en-US" sz="1200" kern="1200" dirty="0" smtClean="0">
              <a:solidFill>
                <a:schemeClr val="tx1"/>
              </a:solidFill>
              <a:effectLst/>
              <a:latin typeface="+mn-lt"/>
              <a:ea typeface="+mn-ea"/>
              <a:cs typeface="+mn-cs"/>
            </a:endParaRPr>
          </a:p>
          <a:p>
            <a:pPr marL="628650" lvl="1" indent="-171450">
              <a:buFontTx/>
              <a:buChar char="-"/>
            </a:pPr>
            <a:r>
              <a:rPr lang="en-GB" sz="1200" kern="1200" dirty="0" smtClean="0">
                <a:solidFill>
                  <a:schemeClr val="tx1"/>
                </a:solidFill>
                <a:effectLst/>
                <a:latin typeface="+mn-lt"/>
                <a:ea typeface="+mn-ea"/>
                <a:cs typeface="+mn-cs"/>
              </a:rPr>
              <a:t>Enhance UNICEF’s visibility among key stakeholders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171450" lvl="0" indent="-171450">
              <a:buFontTx/>
              <a:buChar char="-"/>
            </a:pPr>
            <a:r>
              <a:rPr lang="en-US" sz="1200" kern="1200" dirty="0" smtClean="0">
                <a:solidFill>
                  <a:schemeClr val="tx1"/>
                </a:solidFill>
                <a:effectLst/>
                <a:latin typeface="+mn-lt"/>
                <a:ea typeface="+mn-ea"/>
                <a:cs typeface="+mn-cs"/>
              </a:rPr>
              <a:t>Funding</a:t>
            </a:r>
            <a:r>
              <a:rPr lang="en-US" sz="1200" kern="1200" baseline="0" dirty="0" smtClean="0">
                <a:solidFill>
                  <a:schemeClr val="tx1"/>
                </a:solidFill>
                <a:effectLst/>
                <a:latin typeface="+mn-lt"/>
                <a:ea typeface="+mn-ea"/>
                <a:cs typeface="+mn-cs"/>
              </a:rPr>
              <a:t> and Donors: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kern="1200" dirty="0" smtClean="0">
                <a:solidFill>
                  <a:schemeClr val="tx1"/>
                </a:solidFill>
                <a:effectLst/>
                <a:latin typeface="+mn-lt"/>
                <a:ea typeface="+mn-ea"/>
                <a:cs typeface="+mn-cs"/>
              </a:rPr>
              <a:t>Improve UNICEF’s ability to leverage results and resources for children as donors are increasingly including transparency, and in particular IATI compliance as part of their assessment criteria of potential aid recipients.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C4F3281-3907-4CB3-99D0-7C3EB1A17FF8}" type="slidenum">
              <a:rPr lang="en-US" smtClean="0"/>
              <a:t>9</a:t>
            </a:fld>
            <a:endParaRPr lang="en-US"/>
          </a:p>
        </p:txBody>
      </p:sp>
    </p:spTree>
    <p:extLst>
      <p:ext uri="{BB962C8B-B14F-4D97-AF65-F5344CB8AC3E}">
        <p14:creationId xmlns:p14="http://schemas.microsoft.com/office/powerpoint/2010/main" val="82571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Equity focus:</a:t>
            </a:r>
          </a:p>
          <a:p>
            <a:pPr marL="628650" lvl="1" indent="-171450">
              <a:buFontTx/>
              <a:buChar char="-"/>
            </a:pPr>
            <a:r>
              <a:rPr lang="en-US" dirty="0" smtClean="0"/>
              <a:t>Reaching</a:t>
            </a:r>
            <a:r>
              <a:rPr lang="en-US" baseline="0" dirty="0" smtClean="0"/>
              <a:t> the most deprived and vulnerable</a:t>
            </a:r>
          </a:p>
          <a:p>
            <a:pPr marL="628650" lvl="1" indent="-171450">
              <a:buFontTx/>
              <a:buChar char="-"/>
            </a:pPr>
            <a:r>
              <a:rPr lang="en-US" dirty="0" smtClean="0"/>
              <a:t>Differentiation</a:t>
            </a:r>
            <a:r>
              <a:rPr lang="en-US" baseline="0" dirty="0" smtClean="0"/>
              <a:t> with equality</a:t>
            </a:r>
          </a:p>
          <a:p>
            <a:pPr marL="171450" lvl="0" indent="-171450">
              <a:buFontTx/>
              <a:buChar char="-"/>
            </a:pPr>
            <a:r>
              <a:rPr lang="en-US" dirty="0" smtClean="0"/>
              <a:t>MTSP:</a:t>
            </a:r>
          </a:p>
          <a:p>
            <a:pPr marL="628650" lvl="1" indent="-171450">
              <a:buFontTx/>
              <a:buChar char="-"/>
            </a:pPr>
            <a:r>
              <a:rPr lang="en-US" dirty="0" smtClean="0"/>
              <a:t>7 outcomes areas (education #4)</a:t>
            </a:r>
            <a:r>
              <a:rPr lang="en-US" baseline="0" dirty="0" smtClean="0"/>
              <a:t> with linkages / synergies</a:t>
            </a:r>
          </a:p>
          <a:p>
            <a:pPr marL="628650" lvl="1" indent="-171450">
              <a:buFontTx/>
              <a:buChar char="-"/>
            </a:pPr>
            <a:r>
              <a:rPr lang="en-US" baseline="0" dirty="0" smtClean="0"/>
              <a:t>Each SP outcome areas contributes on its own to reducing inequities + collectively, even greater result through synergies</a:t>
            </a:r>
          </a:p>
          <a:p>
            <a:pPr marL="628650" lvl="1" indent="-171450">
              <a:buFontTx/>
              <a:buChar char="-"/>
            </a:pPr>
            <a:r>
              <a:rPr lang="en-US" baseline="0" dirty="0" smtClean="0"/>
              <a:t>Each SP has its own </a:t>
            </a:r>
            <a:r>
              <a:rPr lang="en-US" baseline="0" dirty="0" err="1" smtClean="0"/>
              <a:t>ToC</a:t>
            </a:r>
            <a:endParaRPr lang="en-US" baseline="0" dirty="0" smtClean="0"/>
          </a:p>
          <a:p>
            <a:pPr marL="628650" lvl="1" indent="-171450">
              <a:buFontTx/>
              <a:buChar char="-"/>
            </a:pPr>
            <a:r>
              <a:rPr lang="en-GB" sz="1200" kern="1200" dirty="0" smtClean="0">
                <a:solidFill>
                  <a:schemeClr val="tx1"/>
                </a:solidFill>
                <a:effectLst/>
                <a:latin typeface="+mn-lt"/>
                <a:ea typeface="+mn-ea"/>
                <a:cs typeface="+mn-cs"/>
              </a:rPr>
              <a:t>SP results framework has impact, outcome and output results, and each with indicator, baseline and target.   </a:t>
            </a:r>
            <a:endParaRPr lang="en-US" baseline="0" dirty="0" smtClean="0"/>
          </a:p>
          <a:p>
            <a:pPr marL="171450" lvl="0" indent="-171450">
              <a:buFontTx/>
              <a:buChar char="-"/>
            </a:pPr>
            <a:r>
              <a:rPr lang="en-US" dirty="0" smtClean="0"/>
              <a:t>SDGs:</a:t>
            </a:r>
          </a:p>
          <a:p>
            <a:pPr marL="628650" lvl="1" indent="-171450">
              <a:buFontTx/>
              <a:buChar char="-"/>
            </a:pPr>
            <a:r>
              <a:rPr lang="en-GB" sz="1200" kern="1200" dirty="0" smtClean="0">
                <a:solidFill>
                  <a:schemeClr val="tx1"/>
                </a:solidFill>
                <a:effectLst/>
                <a:latin typeface="+mn-lt"/>
                <a:ea typeface="+mn-ea"/>
                <a:cs typeface="+mn-cs"/>
              </a:rPr>
              <a:t>Equitable results for all children, ‘leave no one behind’ Perhaps the most fundamental lesson of the MDGs was that, due to their focus on national averages and global aggregates, they failed to account for stagnating progress or – in some cases – growing inequalities among income and social groups and along gender lines. </a:t>
            </a:r>
            <a:endParaRPr lang="en-US" dirty="0" smtClean="0"/>
          </a:p>
          <a:p>
            <a:pPr marL="628650" lvl="1" indent="-171450">
              <a:buFontTx/>
              <a:buChar char="-"/>
            </a:pPr>
            <a:endParaRPr lang="en-US" dirty="0" smtClean="0"/>
          </a:p>
          <a:p>
            <a:pPr marL="171450" lvl="0" indent="-171450">
              <a:buFontTx/>
              <a:buChar char="-"/>
            </a:pPr>
            <a:r>
              <a:rPr lang="en-US" dirty="0" smtClean="0"/>
              <a:t>Humanitarian</a:t>
            </a:r>
            <a:r>
              <a:rPr lang="en-US" baseline="0" dirty="0" smtClean="0"/>
              <a:t> Imperatives:</a:t>
            </a:r>
          </a:p>
          <a:p>
            <a:pPr marL="628650" lvl="1" indent="-171450">
              <a:buFontTx/>
              <a:buChar char="-"/>
            </a:pPr>
            <a:r>
              <a:rPr lang="en-US" dirty="0" smtClean="0"/>
              <a:t>As heard this morning, </a:t>
            </a:r>
            <a:r>
              <a:rPr lang="en-GB" sz="1200" kern="1200" dirty="0" smtClean="0">
                <a:solidFill>
                  <a:schemeClr val="tx1"/>
                </a:solidFill>
                <a:effectLst/>
                <a:latin typeface="+mn-lt"/>
                <a:ea typeface="+mn-ea"/>
                <a:cs typeface="+mn-cs"/>
              </a:rPr>
              <a:t>Shocks, including disasters and violent conflict are a threat to development</a:t>
            </a:r>
          </a:p>
          <a:p>
            <a:pPr marL="628650" lvl="1" indent="-171450">
              <a:buFontTx/>
              <a:buChar char="-"/>
            </a:pPr>
            <a:r>
              <a:rPr lang="en-GB" sz="1200" kern="1200" dirty="0" smtClean="0">
                <a:solidFill>
                  <a:schemeClr val="tx1"/>
                </a:solidFill>
                <a:effectLst/>
                <a:latin typeface="+mn-lt"/>
                <a:ea typeface="+mn-ea"/>
                <a:cs typeface="+mn-cs"/>
              </a:rPr>
              <a:t>Building resilient and sustainable societies means addressing existing and future risks in development planning and budgeting. </a:t>
            </a:r>
          </a:p>
          <a:p>
            <a:pPr marL="171450" lvl="0" indent="-171450">
              <a:buFontTx/>
              <a:buChar char="-"/>
            </a:pPr>
            <a:endParaRPr lang="en-GB" kern="1200" dirty="0" smtClean="0">
              <a:solidFill>
                <a:schemeClr val="tx1"/>
              </a:solidFill>
              <a:effectLst/>
              <a:latin typeface="+mn-lt"/>
              <a:ea typeface="+mn-ea"/>
              <a:cs typeface="+mn-cs"/>
            </a:endParaRPr>
          </a:p>
          <a:p>
            <a:pPr marL="171450" lvl="0" indent="-171450">
              <a:buFontTx/>
              <a:buChar char="-"/>
            </a:pPr>
            <a:r>
              <a:rPr lang="en-GB" kern="1200" dirty="0" smtClean="0">
                <a:solidFill>
                  <a:schemeClr val="tx1"/>
                </a:solidFill>
                <a:effectLst/>
                <a:latin typeface="+mn-lt"/>
                <a:ea typeface="+mn-ea"/>
                <a:cs typeface="+mn-cs"/>
              </a:rPr>
              <a:t>Reporting on results / transparency</a:t>
            </a:r>
          </a:p>
          <a:p>
            <a:pPr marL="628650" lvl="1" indent="-171450">
              <a:buFontTx/>
              <a:buChar char="-"/>
            </a:pPr>
            <a:r>
              <a:rPr lang="en-GB" sz="1200" kern="1200" dirty="0" smtClean="0">
                <a:solidFill>
                  <a:schemeClr val="tx1"/>
                </a:solidFill>
                <a:effectLst/>
                <a:latin typeface="+mn-lt"/>
                <a:ea typeface="+mn-ea"/>
                <a:cs typeface="+mn-cs"/>
              </a:rPr>
              <a:t>Accountability communication to the outside world on how and where UNICEF uses resources to leverage and achieve results for children.  </a:t>
            </a:r>
            <a:endParaRPr lang="en-US" sz="1200" kern="1200" dirty="0" smtClean="0">
              <a:solidFill>
                <a:schemeClr val="tx1"/>
              </a:solidFill>
              <a:effectLst/>
              <a:latin typeface="+mn-lt"/>
              <a:ea typeface="+mn-ea"/>
              <a:cs typeface="+mn-cs"/>
            </a:endParaRPr>
          </a:p>
          <a:p>
            <a:pPr marL="628650" lvl="1" indent="-171450">
              <a:buFontTx/>
              <a:buChar char="-"/>
            </a:pPr>
            <a:r>
              <a:rPr lang="en-GB" sz="1200" kern="1200" dirty="0" smtClean="0">
                <a:solidFill>
                  <a:schemeClr val="tx1"/>
                </a:solidFill>
                <a:effectLst/>
                <a:latin typeface="+mn-lt"/>
                <a:ea typeface="+mn-ea"/>
                <a:cs typeface="+mn-cs"/>
              </a:rPr>
              <a:t>Enhance UNICEF’s visibility among key stakeholders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171450" lvl="0" indent="-171450">
              <a:buFontTx/>
              <a:buChar char="-"/>
            </a:pPr>
            <a:r>
              <a:rPr lang="en-US" sz="1200" kern="1200" dirty="0" smtClean="0">
                <a:solidFill>
                  <a:schemeClr val="tx1"/>
                </a:solidFill>
                <a:effectLst/>
                <a:latin typeface="+mn-lt"/>
                <a:ea typeface="+mn-ea"/>
                <a:cs typeface="+mn-cs"/>
              </a:rPr>
              <a:t>Funding</a:t>
            </a:r>
            <a:r>
              <a:rPr lang="en-US" sz="1200" kern="1200" baseline="0" dirty="0" smtClean="0">
                <a:solidFill>
                  <a:schemeClr val="tx1"/>
                </a:solidFill>
                <a:effectLst/>
                <a:latin typeface="+mn-lt"/>
                <a:ea typeface="+mn-ea"/>
                <a:cs typeface="+mn-cs"/>
              </a:rPr>
              <a:t> and Donors: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kern="1200" dirty="0" smtClean="0">
                <a:solidFill>
                  <a:schemeClr val="tx1"/>
                </a:solidFill>
                <a:effectLst/>
                <a:latin typeface="+mn-lt"/>
                <a:ea typeface="+mn-ea"/>
                <a:cs typeface="+mn-cs"/>
              </a:rPr>
              <a:t>Improve UNICEF’s ability to leverage results and resources for children as donors are increasingly including transparency, and in particular IATI compliance as part of their assessment criteria of potential aid recipients.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C4F3281-3907-4CB3-99D0-7C3EB1A17FF8}" type="slidenum">
              <a:rPr lang="en-US" smtClean="0"/>
              <a:t>10</a:t>
            </a:fld>
            <a:endParaRPr lang="en-US"/>
          </a:p>
        </p:txBody>
      </p:sp>
    </p:spTree>
    <p:extLst>
      <p:ext uri="{BB962C8B-B14F-4D97-AF65-F5344CB8AC3E}">
        <p14:creationId xmlns:p14="http://schemas.microsoft.com/office/powerpoint/2010/main" val="3225251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0" i="0" dirty="0" smtClean="0">
                <a:solidFill>
                  <a:schemeClr val="accent1"/>
                </a:solidFill>
              </a:rPr>
              <a:t>RBM has often focused on the R of the approach. </a:t>
            </a:r>
          </a:p>
          <a:p>
            <a:endParaRPr lang="en-US" sz="1600" b="1" i="1" dirty="0" smtClean="0">
              <a:solidFill>
                <a:schemeClr val="accent1"/>
              </a:solidFill>
            </a:endParaRPr>
          </a:p>
          <a:p>
            <a:r>
              <a:rPr lang="en-US" sz="1600" b="1" i="1" dirty="0" smtClean="0">
                <a:solidFill>
                  <a:schemeClr val="accent1"/>
                </a:solidFill>
              </a:rPr>
              <a:t>The </a:t>
            </a:r>
            <a:r>
              <a:rPr lang="en-US" sz="1600" b="1" i="1" u="sng" dirty="0" smtClean="0">
                <a:solidFill>
                  <a:schemeClr val="accent1"/>
                </a:solidFill>
              </a:rPr>
              <a:t>M</a:t>
            </a:r>
            <a:r>
              <a:rPr lang="en-US" sz="1600" b="1" i="1" dirty="0" smtClean="0">
                <a:solidFill>
                  <a:schemeClr val="accent1"/>
                </a:solidFill>
              </a:rPr>
              <a:t> : </a:t>
            </a:r>
            <a:r>
              <a:rPr lang="en-US" sz="1600" b="1" i="1" u="sng" dirty="0" smtClean="0">
                <a:solidFill>
                  <a:schemeClr val="accent1"/>
                </a:solidFill>
              </a:rPr>
              <a:t>Management </a:t>
            </a:r>
            <a:r>
              <a:rPr lang="en-US" sz="1600" b="1" i="1" dirty="0" smtClean="0">
                <a:solidFill>
                  <a:schemeClr val="accent1"/>
                </a:solidFill>
              </a:rPr>
              <a:t>in RBM is the key:</a:t>
            </a:r>
            <a:r>
              <a:rPr lang="en-US" sz="1600" i="1" dirty="0" smtClean="0">
                <a:solidFill>
                  <a:schemeClr val="accent1"/>
                </a:solidFill>
              </a:rPr>
              <a:t> </a:t>
            </a:r>
            <a:r>
              <a:rPr lang="en-US" sz="1200" dirty="0" smtClean="0"/>
              <a:t>The active pursuit of desired results, monitoring performance, and adjusting actions as needed to continually strengthen achievement of results is essential. </a:t>
            </a:r>
          </a:p>
          <a:p>
            <a:r>
              <a:rPr lang="en-US" sz="1200" dirty="0" smtClean="0"/>
              <a:t>As a management framework RBM:</a:t>
            </a:r>
          </a:p>
          <a:p>
            <a:pPr marL="285750" indent="-285750" eaLnBrk="1" hangingPunct="1">
              <a:spcAft>
                <a:spcPts val="1800"/>
              </a:spcAft>
              <a:buClr>
                <a:srgbClr val="005395"/>
              </a:buClr>
              <a:buFont typeface="Wingdings" panose="05000000000000000000" pitchFamily="2" charset="2"/>
              <a:buChar char="Ø"/>
            </a:pPr>
            <a:r>
              <a:rPr lang="en-CA" altLang="fr-FR" sz="1200" dirty="0" smtClean="0"/>
              <a:t>provides a </a:t>
            </a:r>
            <a:r>
              <a:rPr lang="en-CA" altLang="fr-FR" sz="1200" b="1" dirty="0" smtClean="0"/>
              <a:t>coherent framework</a:t>
            </a:r>
            <a:r>
              <a:rPr lang="en-CA" altLang="fr-FR" sz="1200" dirty="0" smtClean="0"/>
              <a:t>.</a:t>
            </a:r>
            <a:endParaRPr lang="en-CA" altLang="fr-FR" sz="1200" b="1" dirty="0" smtClean="0"/>
          </a:p>
          <a:p>
            <a:pPr marL="285750" indent="-285750" eaLnBrk="1" hangingPunct="1">
              <a:spcAft>
                <a:spcPts val="1800"/>
              </a:spcAft>
              <a:buClr>
                <a:srgbClr val="005395"/>
              </a:buClr>
              <a:buFont typeface="Wingdings" panose="05000000000000000000" pitchFamily="2" charset="2"/>
              <a:buChar char="Ø"/>
            </a:pPr>
            <a:r>
              <a:rPr lang="en-CA" altLang="fr-FR" sz="1200" b="1" dirty="0" smtClean="0"/>
              <a:t>emphasizes results </a:t>
            </a:r>
            <a:r>
              <a:rPr lang="en-CA" altLang="fr-FR" sz="1200" dirty="0" smtClean="0"/>
              <a:t>throughout the </a:t>
            </a:r>
            <a:r>
              <a:rPr lang="en-CA" altLang="fr-FR" sz="1200" b="1" dirty="0" smtClean="0"/>
              <a:t>planning</a:t>
            </a:r>
            <a:r>
              <a:rPr lang="en-CA" altLang="fr-FR" sz="1200" dirty="0" smtClean="0"/>
              <a:t>,</a:t>
            </a:r>
            <a:r>
              <a:rPr lang="en-CA" altLang="fr-FR" sz="1200" b="1" dirty="0" smtClean="0"/>
              <a:t> implementation</a:t>
            </a:r>
            <a:r>
              <a:rPr lang="en-CA" altLang="fr-FR" sz="1200" dirty="0" smtClean="0"/>
              <a:t>,</a:t>
            </a:r>
            <a:r>
              <a:rPr lang="en-CA" altLang="fr-FR" sz="1200" b="1" dirty="0" smtClean="0"/>
              <a:t> monitoring</a:t>
            </a:r>
            <a:r>
              <a:rPr lang="en-CA" altLang="fr-FR" sz="1200" dirty="0" smtClean="0"/>
              <a:t>,</a:t>
            </a:r>
            <a:r>
              <a:rPr lang="en-CA" altLang="fr-FR" sz="1200" b="1" dirty="0" smtClean="0"/>
              <a:t> reporting </a:t>
            </a:r>
            <a:r>
              <a:rPr lang="en-CA" altLang="fr-FR" sz="1200" dirty="0" smtClean="0"/>
              <a:t>and</a:t>
            </a:r>
            <a:r>
              <a:rPr lang="en-CA" altLang="fr-FR" sz="1200" b="1" dirty="0" smtClean="0"/>
              <a:t> learning</a:t>
            </a:r>
            <a:r>
              <a:rPr lang="en-CA" altLang="fr-FR" sz="1200" dirty="0" smtClean="0"/>
              <a:t> stages of management.</a:t>
            </a:r>
          </a:p>
          <a:p>
            <a:pPr marL="285750" indent="-285750" eaLnBrk="1" hangingPunct="1">
              <a:spcAft>
                <a:spcPts val="1800"/>
              </a:spcAft>
              <a:buClr>
                <a:srgbClr val="005395"/>
              </a:buClr>
              <a:buFont typeface="Wingdings" panose="05000000000000000000" pitchFamily="2" charset="2"/>
              <a:buChar char="Ø"/>
            </a:pPr>
            <a:r>
              <a:rPr lang="en-GB" altLang="fr-FR" sz="1200" dirty="0" smtClean="0"/>
              <a:t>ensures that </a:t>
            </a:r>
            <a:r>
              <a:rPr lang="en-GB" altLang="fr-FR" sz="1200" b="1" dirty="0" smtClean="0"/>
              <a:t>processes</a:t>
            </a:r>
            <a:r>
              <a:rPr lang="en-GB" altLang="fr-FR" sz="1200" dirty="0" smtClean="0"/>
              <a:t>,</a:t>
            </a:r>
            <a:r>
              <a:rPr lang="en-GB" altLang="fr-FR" sz="1200" b="1" dirty="0" smtClean="0"/>
              <a:t> products </a:t>
            </a:r>
            <a:r>
              <a:rPr lang="en-GB" altLang="fr-FR" sz="1200" dirty="0" smtClean="0"/>
              <a:t>and</a:t>
            </a:r>
            <a:r>
              <a:rPr lang="en-GB" altLang="fr-FR" sz="1200" b="1" dirty="0" smtClean="0"/>
              <a:t> services </a:t>
            </a:r>
            <a:r>
              <a:rPr lang="en-GB" altLang="fr-FR" sz="1200" dirty="0" smtClean="0"/>
              <a:t>achieve desired results</a:t>
            </a:r>
            <a:r>
              <a:rPr lang="en-CA" altLang="fr-FR" sz="1200" dirty="0" smtClean="0"/>
              <a:t>.</a:t>
            </a:r>
          </a:p>
          <a:p>
            <a:pPr marL="285750" indent="-285750" eaLnBrk="1" hangingPunct="1">
              <a:spcAft>
                <a:spcPts val="3600"/>
              </a:spcAft>
              <a:buClr>
                <a:srgbClr val="005395"/>
              </a:buClr>
              <a:buFont typeface="Wingdings" panose="05000000000000000000" pitchFamily="2" charset="2"/>
              <a:buChar char="Ø"/>
            </a:pPr>
            <a:r>
              <a:rPr lang="en-CA" altLang="fr-FR" sz="1200" dirty="0" smtClean="0"/>
              <a:t>ensures that interventions reflect the </a:t>
            </a:r>
            <a:r>
              <a:rPr lang="en-CA" altLang="fr-FR" sz="1200" b="1" dirty="0" smtClean="0"/>
              <a:t>needs</a:t>
            </a:r>
            <a:r>
              <a:rPr lang="en-CA" altLang="fr-FR" sz="1200" dirty="0" smtClean="0"/>
              <a:t>,</a:t>
            </a:r>
            <a:r>
              <a:rPr lang="en-CA" altLang="fr-FR" sz="1200" b="1" dirty="0" smtClean="0"/>
              <a:t> priorities</a:t>
            </a:r>
            <a:r>
              <a:rPr lang="en-CA" altLang="fr-FR" sz="1200" dirty="0" smtClean="0"/>
              <a:t> and</a:t>
            </a:r>
            <a:r>
              <a:rPr lang="en-CA" altLang="fr-FR" sz="1200" b="1" dirty="0" smtClean="0"/>
              <a:t> visions of stakeholders</a:t>
            </a:r>
            <a:r>
              <a:rPr lang="en-CA" altLang="fr-FR" sz="1200" dirty="0" smtClean="0"/>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RBM applies from the individual all the way to </a:t>
            </a:r>
            <a:r>
              <a:rPr lang="en-US" dirty="0" err="1" smtClean="0"/>
              <a:t>organisational</a:t>
            </a:r>
            <a:r>
              <a:rPr lang="en-US" dirty="0" smtClean="0"/>
              <a:t> performance</a:t>
            </a:r>
            <a:r>
              <a:rPr lang="en-US" baseline="0" dirty="0" smtClean="0"/>
              <a:t> and dependencies across the entire system. A culture shift on RBM needs to be felt across the entire spectrum. The commitment to results must be in evidence across all levels.</a:t>
            </a:r>
            <a:endParaRPr lang="en-US" dirty="0" smtClean="0"/>
          </a:p>
          <a:p>
            <a:endParaRPr lang="en-U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Focus is on a holistic application of RBM, from individual performance,</a:t>
            </a:r>
            <a:r>
              <a:rPr lang="en-US" baseline="0" dirty="0" smtClean="0"/>
              <a:t> all the way to how that impacts </a:t>
            </a:r>
            <a:r>
              <a:rPr lang="en-US" baseline="0" dirty="0" err="1" smtClean="0"/>
              <a:t>organisation</a:t>
            </a:r>
            <a:r>
              <a:rPr lang="en-US" baseline="0" dirty="0" smtClean="0"/>
              <a:t> performance. How do we ensure that RBM permeates the entire </a:t>
            </a:r>
            <a:r>
              <a:rPr lang="en-US" baseline="0" dirty="0" err="1" smtClean="0"/>
              <a:t>organisation</a:t>
            </a:r>
            <a:endParaRPr lang="en-US" dirty="0" smtClean="0"/>
          </a:p>
          <a:p>
            <a:endParaRPr lang="en-US" dirty="0" smtClean="0"/>
          </a:p>
          <a:p>
            <a:r>
              <a:rPr lang="en-US" b="1" u="sng" dirty="0" smtClean="0"/>
              <a:t>Individual level</a:t>
            </a:r>
          </a:p>
          <a:p>
            <a:r>
              <a:rPr lang="en-US" dirty="0" smtClean="0"/>
              <a:t>With a focus on management, RBM should</a:t>
            </a:r>
            <a:r>
              <a:rPr lang="en-US" baseline="0" dirty="0" smtClean="0"/>
              <a:t> drive individual performance through a consideration of tasks and the competencies needed to accomplish them and ensure that contribution is being made to broader section and office goals. At this level a focus on roles and responsibilities is critical, necessary for meeting accountabilities in managing for results.</a:t>
            </a:r>
          </a:p>
          <a:p>
            <a:endParaRPr lang="en-US" baseline="0" dirty="0" smtClean="0"/>
          </a:p>
          <a:p>
            <a:r>
              <a:rPr lang="en-US" b="1" u="sng" baseline="0" dirty="0" smtClean="0"/>
              <a:t>Programme or Section level</a:t>
            </a:r>
          </a:p>
          <a:p>
            <a:r>
              <a:rPr lang="en-US" b="0" u="none" baseline="0" dirty="0" smtClean="0"/>
              <a:t>Performance should be measured in terms of how business is conducted, considering how the appropriate mix of strategies is leading to the achievement of outcomes. At the section level, RBM implies making sure that focus remains on the most efficient and effective means of achieving section objectives. The emphasis is on how processes, people and partners are managed to meet programme and section objectives.</a:t>
            </a:r>
          </a:p>
          <a:p>
            <a:endParaRPr lang="en-US" b="0" u="none" baseline="0" dirty="0" smtClean="0"/>
          </a:p>
          <a:p>
            <a:r>
              <a:rPr lang="en-US" b="1" u="sng" baseline="0" dirty="0" smtClean="0"/>
              <a:t>Country office level</a:t>
            </a:r>
          </a:p>
          <a:p>
            <a:r>
              <a:rPr lang="en-US" b="0" u="none" baseline="0" dirty="0" smtClean="0"/>
              <a:t>The offices adoption and ownership of RBM will be in evidence through its performance as measured using management indicators, giving an idea of how well practices and processes reflect RBM principles and concepts.</a:t>
            </a:r>
          </a:p>
          <a:p>
            <a:endParaRPr lang="en-US" b="0" u="none" baseline="0" dirty="0" smtClean="0"/>
          </a:p>
          <a:p>
            <a:r>
              <a:rPr lang="en-US" b="1" u="sng" baseline="0" dirty="0" err="1" smtClean="0"/>
              <a:t>Organisation</a:t>
            </a:r>
            <a:r>
              <a:rPr lang="en-US" b="1" u="sng" baseline="0" dirty="0" smtClean="0"/>
              <a:t> level</a:t>
            </a:r>
          </a:p>
          <a:p>
            <a:r>
              <a:rPr lang="en-US" b="0" u="none" baseline="0" dirty="0" smtClean="0"/>
              <a:t>RBM in support of </a:t>
            </a:r>
            <a:r>
              <a:rPr lang="en-US" b="0" u="none" baseline="0" dirty="0" err="1" smtClean="0"/>
              <a:t>organisational</a:t>
            </a:r>
            <a:r>
              <a:rPr lang="en-US" b="0" u="none" baseline="0" dirty="0" smtClean="0"/>
              <a:t> performance must be in evidence in the systems and constantly used to articulate the </a:t>
            </a:r>
            <a:r>
              <a:rPr lang="en-US" b="0" u="none" baseline="0" dirty="0" err="1" smtClean="0"/>
              <a:t>organisations</a:t>
            </a:r>
            <a:r>
              <a:rPr lang="en-US" b="0" u="none" baseline="0" dirty="0" smtClean="0"/>
              <a:t> value-proposition.</a:t>
            </a:r>
          </a:p>
          <a:p>
            <a:endParaRPr lang="en-US" dirty="0"/>
          </a:p>
        </p:txBody>
      </p:sp>
      <p:sp>
        <p:nvSpPr>
          <p:cNvPr id="4" name="Slide Number Placeholder 3"/>
          <p:cNvSpPr>
            <a:spLocks noGrp="1"/>
          </p:cNvSpPr>
          <p:nvPr>
            <p:ph type="sldNum" sz="quarter" idx="10"/>
          </p:nvPr>
        </p:nvSpPr>
        <p:spPr/>
        <p:txBody>
          <a:bodyPr/>
          <a:lstStyle/>
          <a:p>
            <a:fld id="{5C4F3281-3907-4CB3-99D0-7C3EB1A17FF8}" type="slidenum">
              <a:rPr lang="en-US" smtClean="0"/>
              <a:t>11</a:t>
            </a:fld>
            <a:endParaRPr lang="en-US"/>
          </a:p>
        </p:txBody>
      </p:sp>
    </p:spTree>
    <p:extLst>
      <p:ext uri="{BB962C8B-B14F-4D97-AF65-F5344CB8AC3E}">
        <p14:creationId xmlns:p14="http://schemas.microsoft.com/office/powerpoint/2010/main" val="995132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Equity focus:</a:t>
            </a:r>
          </a:p>
          <a:p>
            <a:pPr marL="628650" lvl="1" indent="-171450">
              <a:buFontTx/>
              <a:buChar char="-"/>
            </a:pPr>
            <a:r>
              <a:rPr lang="en-US" dirty="0" smtClean="0"/>
              <a:t>Reaching</a:t>
            </a:r>
            <a:r>
              <a:rPr lang="en-US" baseline="0" dirty="0" smtClean="0"/>
              <a:t> the most deprived and vulnerable</a:t>
            </a:r>
          </a:p>
          <a:p>
            <a:pPr marL="628650" lvl="1" indent="-171450">
              <a:buFontTx/>
              <a:buChar char="-"/>
            </a:pPr>
            <a:r>
              <a:rPr lang="en-US" dirty="0" smtClean="0"/>
              <a:t>Differentiation</a:t>
            </a:r>
            <a:r>
              <a:rPr lang="en-US" baseline="0" dirty="0" smtClean="0"/>
              <a:t> with equality</a:t>
            </a:r>
          </a:p>
          <a:p>
            <a:pPr marL="171450" lvl="0" indent="-171450">
              <a:buFontTx/>
              <a:buChar char="-"/>
            </a:pPr>
            <a:r>
              <a:rPr lang="en-US" dirty="0" smtClean="0"/>
              <a:t>MTSP:</a:t>
            </a:r>
          </a:p>
          <a:p>
            <a:pPr marL="628650" lvl="1" indent="-171450">
              <a:buFontTx/>
              <a:buChar char="-"/>
            </a:pPr>
            <a:r>
              <a:rPr lang="en-US" dirty="0" smtClean="0"/>
              <a:t>7 outcomes areas (education #4)</a:t>
            </a:r>
            <a:r>
              <a:rPr lang="en-US" baseline="0" dirty="0" smtClean="0"/>
              <a:t> with linkages / synergies</a:t>
            </a:r>
          </a:p>
          <a:p>
            <a:pPr marL="628650" lvl="1" indent="-171450">
              <a:buFontTx/>
              <a:buChar char="-"/>
            </a:pPr>
            <a:r>
              <a:rPr lang="en-US" baseline="0" dirty="0" smtClean="0"/>
              <a:t>Each SP outcome areas contributes on its own to reducing inequities + collectively, even greater result through synergies</a:t>
            </a:r>
          </a:p>
          <a:p>
            <a:pPr marL="628650" lvl="1" indent="-171450">
              <a:buFontTx/>
              <a:buChar char="-"/>
            </a:pPr>
            <a:r>
              <a:rPr lang="en-US" baseline="0" dirty="0" smtClean="0"/>
              <a:t>Each SP has its own </a:t>
            </a:r>
            <a:r>
              <a:rPr lang="en-US" baseline="0" dirty="0" err="1" smtClean="0"/>
              <a:t>ToC</a:t>
            </a:r>
            <a:endParaRPr lang="en-US" baseline="0" dirty="0" smtClean="0"/>
          </a:p>
          <a:p>
            <a:pPr marL="628650" lvl="1" indent="-171450">
              <a:buFontTx/>
              <a:buChar char="-"/>
            </a:pPr>
            <a:r>
              <a:rPr lang="en-GB" sz="1200" kern="1200" dirty="0" smtClean="0">
                <a:solidFill>
                  <a:schemeClr val="tx1"/>
                </a:solidFill>
                <a:effectLst/>
                <a:latin typeface="+mn-lt"/>
                <a:ea typeface="+mn-ea"/>
                <a:cs typeface="+mn-cs"/>
              </a:rPr>
              <a:t>SP results framework has impact, outcome and output results, and each with indicator, baseline and target.   </a:t>
            </a:r>
            <a:endParaRPr lang="en-US" baseline="0" dirty="0" smtClean="0"/>
          </a:p>
          <a:p>
            <a:pPr marL="171450" lvl="0" indent="-171450">
              <a:buFontTx/>
              <a:buChar char="-"/>
            </a:pPr>
            <a:r>
              <a:rPr lang="en-US" dirty="0" smtClean="0"/>
              <a:t>SDGs:</a:t>
            </a:r>
          </a:p>
          <a:p>
            <a:pPr marL="628650" lvl="1" indent="-171450">
              <a:buFontTx/>
              <a:buChar char="-"/>
            </a:pPr>
            <a:r>
              <a:rPr lang="en-GB" sz="1200" kern="1200" dirty="0" smtClean="0">
                <a:solidFill>
                  <a:schemeClr val="tx1"/>
                </a:solidFill>
                <a:effectLst/>
                <a:latin typeface="+mn-lt"/>
                <a:ea typeface="+mn-ea"/>
                <a:cs typeface="+mn-cs"/>
              </a:rPr>
              <a:t>Equitable results for all children, ‘leave no one behind’ Perhaps the most fundamental lesson of the MDGs was that, due to their focus on national averages and global aggregates, they failed to account for stagnating progress or – in some cases – growing inequalities among income and social groups and along gender lines. </a:t>
            </a:r>
            <a:endParaRPr lang="en-US" dirty="0" smtClean="0"/>
          </a:p>
          <a:p>
            <a:pPr marL="628650" lvl="1" indent="-171450">
              <a:buFontTx/>
              <a:buChar char="-"/>
            </a:pPr>
            <a:endParaRPr lang="en-US" dirty="0" smtClean="0"/>
          </a:p>
          <a:p>
            <a:pPr marL="171450" lvl="0" indent="-171450">
              <a:buFontTx/>
              <a:buChar char="-"/>
            </a:pPr>
            <a:r>
              <a:rPr lang="en-US" dirty="0" smtClean="0"/>
              <a:t>Humanitarian</a:t>
            </a:r>
            <a:r>
              <a:rPr lang="en-US" baseline="0" dirty="0" smtClean="0"/>
              <a:t> Imperatives:</a:t>
            </a:r>
          </a:p>
          <a:p>
            <a:pPr marL="628650" lvl="1" indent="-171450">
              <a:buFontTx/>
              <a:buChar char="-"/>
            </a:pPr>
            <a:r>
              <a:rPr lang="en-US" dirty="0" smtClean="0"/>
              <a:t>As heard this morning, </a:t>
            </a:r>
            <a:r>
              <a:rPr lang="en-GB" sz="1200" kern="1200" dirty="0" smtClean="0">
                <a:solidFill>
                  <a:schemeClr val="tx1"/>
                </a:solidFill>
                <a:effectLst/>
                <a:latin typeface="+mn-lt"/>
                <a:ea typeface="+mn-ea"/>
                <a:cs typeface="+mn-cs"/>
              </a:rPr>
              <a:t>Shocks, including disasters and violent conflict are a threat to development</a:t>
            </a:r>
          </a:p>
          <a:p>
            <a:pPr marL="628650" lvl="1" indent="-171450">
              <a:buFontTx/>
              <a:buChar char="-"/>
            </a:pPr>
            <a:r>
              <a:rPr lang="en-GB" sz="1200" kern="1200" dirty="0" smtClean="0">
                <a:solidFill>
                  <a:schemeClr val="tx1"/>
                </a:solidFill>
                <a:effectLst/>
                <a:latin typeface="+mn-lt"/>
                <a:ea typeface="+mn-ea"/>
                <a:cs typeface="+mn-cs"/>
              </a:rPr>
              <a:t>Building resilient and sustainable societies means addressing existing and future risks in development planning and budgeting. </a:t>
            </a:r>
          </a:p>
          <a:p>
            <a:pPr marL="171450" lvl="0" indent="-171450">
              <a:buFontTx/>
              <a:buChar char="-"/>
            </a:pPr>
            <a:endParaRPr lang="en-GB" kern="1200" dirty="0" smtClean="0">
              <a:solidFill>
                <a:schemeClr val="tx1"/>
              </a:solidFill>
              <a:effectLst/>
              <a:latin typeface="+mn-lt"/>
              <a:ea typeface="+mn-ea"/>
              <a:cs typeface="+mn-cs"/>
            </a:endParaRPr>
          </a:p>
          <a:p>
            <a:pPr marL="171450" lvl="0" indent="-171450">
              <a:buFontTx/>
              <a:buChar char="-"/>
            </a:pPr>
            <a:r>
              <a:rPr lang="en-GB" kern="1200" dirty="0" smtClean="0">
                <a:solidFill>
                  <a:schemeClr val="tx1"/>
                </a:solidFill>
                <a:effectLst/>
                <a:latin typeface="+mn-lt"/>
                <a:ea typeface="+mn-ea"/>
                <a:cs typeface="+mn-cs"/>
              </a:rPr>
              <a:t>Reporting on results / transparency</a:t>
            </a:r>
          </a:p>
          <a:p>
            <a:pPr marL="628650" lvl="1" indent="-171450">
              <a:buFontTx/>
              <a:buChar char="-"/>
            </a:pPr>
            <a:r>
              <a:rPr lang="en-GB" sz="1200" kern="1200" dirty="0" smtClean="0">
                <a:solidFill>
                  <a:schemeClr val="tx1"/>
                </a:solidFill>
                <a:effectLst/>
                <a:latin typeface="+mn-lt"/>
                <a:ea typeface="+mn-ea"/>
                <a:cs typeface="+mn-cs"/>
              </a:rPr>
              <a:t>Accountability communication to the outside world on how and where UNICEF uses resources to leverage and achieve results for children.  </a:t>
            </a:r>
            <a:endParaRPr lang="en-US" sz="1200" kern="1200" dirty="0" smtClean="0">
              <a:solidFill>
                <a:schemeClr val="tx1"/>
              </a:solidFill>
              <a:effectLst/>
              <a:latin typeface="+mn-lt"/>
              <a:ea typeface="+mn-ea"/>
              <a:cs typeface="+mn-cs"/>
            </a:endParaRPr>
          </a:p>
          <a:p>
            <a:pPr marL="628650" lvl="1" indent="-171450">
              <a:buFontTx/>
              <a:buChar char="-"/>
            </a:pPr>
            <a:r>
              <a:rPr lang="en-GB" sz="1200" kern="1200" dirty="0" smtClean="0">
                <a:solidFill>
                  <a:schemeClr val="tx1"/>
                </a:solidFill>
                <a:effectLst/>
                <a:latin typeface="+mn-lt"/>
                <a:ea typeface="+mn-ea"/>
                <a:cs typeface="+mn-cs"/>
              </a:rPr>
              <a:t>Enhance UNICEF’s visibility among key stakeholders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171450" lvl="0" indent="-171450">
              <a:buFontTx/>
              <a:buChar char="-"/>
            </a:pPr>
            <a:r>
              <a:rPr lang="en-US" sz="1200" kern="1200" dirty="0" smtClean="0">
                <a:solidFill>
                  <a:schemeClr val="tx1"/>
                </a:solidFill>
                <a:effectLst/>
                <a:latin typeface="+mn-lt"/>
                <a:ea typeface="+mn-ea"/>
                <a:cs typeface="+mn-cs"/>
              </a:rPr>
              <a:t>Funding</a:t>
            </a:r>
            <a:r>
              <a:rPr lang="en-US" sz="1200" kern="1200" baseline="0" dirty="0" smtClean="0">
                <a:solidFill>
                  <a:schemeClr val="tx1"/>
                </a:solidFill>
                <a:effectLst/>
                <a:latin typeface="+mn-lt"/>
                <a:ea typeface="+mn-ea"/>
                <a:cs typeface="+mn-cs"/>
              </a:rPr>
              <a:t> and Donors: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kern="1200" dirty="0" smtClean="0">
                <a:solidFill>
                  <a:schemeClr val="tx1"/>
                </a:solidFill>
                <a:effectLst/>
                <a:latin typeface="+mn-lt"/>
                <a:ea typeface="+mn-ea"/>
                <a:cs typeface="+mn-cs"/>
              </a:rPr>
              <a:t>Improve UNICEF’s ability to leverage results and resources for children as donors are increasingly including transparency, and in particular IATI compliance as part of their assessment criteria of potential aid recipients.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C4F3281-3907-4CB3-99D0-7C3EB1A17FF8}" type="slidenum">
              <a:rPr lang="en-US" smtClean="0"/>
              <a:t>12</a:t>
            </a:fld>
            <a:endParaRPr lang="en-US"/>
          </a:p>
        </p:txBody>
      </p:sp>
    </p:spTree>
    <p:extLst>
      <p:ext uri="{BB962C8B-B14F-4D97-AF65-F5344CB8AC3E}">
        <p14:creationId xmlns:p14="http://schemas.microsoft.com/office/powerpoint/2010/main" val="21994564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Equity focus:</a:t>
            </a:r>
          </a:p>
          <a:p>
            <a:pPr marL="628650" lvl="1" indent="-171450">
              <a:buFontTx/>
              <a:buChar char="-"/>
            </a:pPr>
            <a:r>
              <a:rPr lang="en-US" dirty="0" smtClean="0"/>
              <a:t>Reaching</a:t>
            </a:r>
            <a:r>
              <a:rPr lang="en-US" baseline="0" dirty="0" smtClean="0"/>
              <a:t> the most deprived and vulnerable</a:t>
            </a:r>
          </a:p>
          <a:p>
            <a:pPr marL="628650" lvl="1" indent="-171450">
              <a:buFontTx/>
              <a:buChar char="-"/>
            </a:pPr>
            <a:r>
              <a:rPr lang="en-US" dirty="0" smtClean="0"/>
              <a:t>Differentiation</a:t>
            </a:r>
            <a:r>
              <a:rPr lang="en-US" baseline="0" dirty="0" smtClean="0"/>
              <a:t> with equality</a:t>
            </a:r>
          </a:p>
          <a:p>
            <a:pPr marL="171450" lvl="0" indent="-171450">
              <a:buFontTx/>
              <a:buChar char="-"/>
            </a:pPr>
            <a:r>
              <a:rPr lang="en-US" dirty="0" smtClean="0"/>
              <a:t>MTSP:</a:t>
            </a:r>
          </a:p>
          <a:p>
            <a:pPr marL="628650" lvl="1" indent="-171450">
              <a:buFontTx/>
              <a:buChar char="-"/>
            </a:pPr>
            <a:r>
              <a:rPr lang="en-US" dirty="0" smtClean="0"/>
              <a:t>7 outcomes areas (education #4)</a:t>
            </a:r>
            <a:r>
              <a:rPr lang="en-US" baseline="0" dirty="0" smtClean="0"/>
              <a:t> with linkages / synergies</a:t>
            </a:r>
          </a:p>
          <a:p>
            <a:pPr marL="628650" lvl="1" indent="-171450">
              <a:buFontTx/>
              <a:buChar char="-"/>
            </a:pPr>
            <a:r>
              <a:rPr lang="en-US" baseline="0" dirty="0" smtClean="0"/>
              <a:t>Each SP outcome areas contributes on its own to reducing inequities + collectively, even greater result through synergies</a:t>
            </a:r>
          </a:p>
          <a:p>
            <a:pPr marL="628650" lvl="1" indent="-171450">
              <a:buFontTx/>
              <a:buChar char="-"/>
            </a:pPr>
            <a:r>
              <a:rPr lang="en-US" baseline="0" dirty="0" smtClean="0"/>
              <a:t>Each SP has its own </a:t>
            </a:r>
            <a:r>
              <a:rPr lang="en-US" baseline="0" dirty="0" err="1" smtClean="0"/>
              <a:t>ToC</a:t>
            </a:r>
            <a:endParaRPr lang="en-US" baseline="0" dirty="0" smtClean="0"/>
          </a:p>
          <a:p>
            <a:pPr marL="628650" lvl="1" indent="-171450">
              <a:buFontTx/>
              <a:buChar char="-"/>
            </a:pPr>
            <a:r>
              <a:rPr lang="en-GB" sz="1200" kern="1200" dirty="0" smtClean="0">
                <a:solidFill>
                  <a:schemeClr val="tx1"/>
                </a:solidFill>
                <a:effectLst/>
                <a:latin typeface="+mn-lt"/>
                <a:ea typeface="+mn-ea"/>
                <a:cs typeface="+mn-cs"/>
              </a:rPr>
              <a:t>SP results framework has impact, outcome and output results, and each with indicator, baseline and target.   </a:t>
            </a:r>
            <a:endParaRPr lang="en-US" baseline="0" dirty="0" smtClean="0"/>
          </a:p>
          <a:p>
            <a:pPr marL="171450" lvl="0" indent="-171450">
              <a:buFontTx/>
              <a:buChar char="-"/>
            </a:pPr>
            <a:r>
              <a:rPr lang="en-US" dirty="0" smtClean="0"/>
              <a:t>SDGs:</a:t>
            </a:r>
          </a:p>
          <a:p>
            <a:pPr marL="628650" lvl="1" indent="-171450">
              <a:buFontTx/>
              <a:buChar char="-"/>
            </a:pPr>
            <a:r>
              <a:rPr lang="en-GB" sz="1200" kern="1200" dirty="0" smtClean="0">
                <a:solidFill>
                  <a:schemeClr val="tx1"/>
                </a:solidFill>
                <a:effectLst/>
                <a:latin typeface="+mn-lt"/>
                <a:ea typeface="+mn-ea"/>
                <a:cs typeface="+mn-cs"/>
              </a:rPr>
              <a:t>Equitable results for all children, ‘leave no one behind’ Perhaps the most fundamental lesson of the MDGs was that, due to their focus on national averages and global aggregates, they failed to account for stagnating progress or – in some cases – growing inequalities among income and social groups and along gender lines. </a:t>
            </a:r>
            <a:endParaRPr lang="en-US" dirty="0" smtClean="0"/>
          </a:p>
          <a:p>
            <a:pPr marL="628650" lvl="1" indent="-171450">
              <a:buFontTx/>
              <a:buChar char="-"/>
            </a:pPr>
            <a:endParaRPr lang="en-US" dirty="0" smtClean="0"/>
          </a:p>
          <a:p>
            <a:pPr marL="171450" lvl="0" indent="-171450">
              <a:buFontTx/>
              <a:buChar char="-"/>
            </a:pPr>
            <a:r>
              <a:rPr lang="en-US" dirty="0" smtClean="0"/>
              <a:t>Humanitarian</a:t>
            </a:r>
            <a:r>
              <a:rPr lang="en-US" baseline="0" dirty="0" smtClean="0"/>
              <a:t> Imperatives:</a:t>
            </a:r>
          </a:p>
          <a:p>
            <a:pPr marL="628650" lvl="1" indent="-171450">
              <a:buFontTx/>
              <a:buChar char="-"/>
            </a:pPr>
            <a:r>
              <a:rPr lang="en-US" dirty="0" smtClean="0"/>
              <a:t>As heard this morning, </a:t>
            </a:r>
            <a:r>
              <a:rPr lang="en-GB" sz="1200" kern="1200" dirty="0" smtClean="0">
                <a:solidFill>
                  <a:schemeClr val="tx1"/>
                </a:solidFill>
                <a:effectLst/>
                <a:latin typeface="+mn-lt"/>
                <a:ea typeface="+mn-ea"/>
                <a:cs typeface="+mn-cs"/>
              </a:rPr>
              <a:t>Shocks, including disasters and violent conflict are a threat to development</a:t>
            </a:r>
          </a:p>
          <a:p>
            <a:pPr marL="628650" lvl="1" indent="-171450">
              <a:buFontTx/>
              <a:buChar char="-"/>
            </a:pPr>
            <a:r>
              <a:rPr lang="en-GB" sz="1200" kern="1200" dirty="0" smtClean="0">
                <a:solidFill>
                  <a:schemeClr val="tx1"/>
                </a:solidFill>
                <a:effectLst/>
                <a:latin typeface="+mn-lt"/>
                <a:ea typeface="+mn-ea"/>
                <a:cs typeface="+mn-cs"/>
              </a:rPr>
              <a:t>Building resilient and sustainable societies means addressing existing and future risks in development planning and budgeting. </a:t>
            </a:r>
          </a:p>
          <a:p>
            <a:pPr marL="171450" lvl="0" indent="-171450">
              <a:buFontTx/>
              <a:buChar char="-"/>
            </a:pPr>
            <a:endParaRPr lang="en-GB" kern="1200" dirty="0" smtClean="0">
              <a:solidFill>
                <a:schemeClr val="tx1"/>
              </a:solidFill>
              <a:effectLst/>
              <a:latin typeface="+mn-lt"/>
              <a:ea typeface="+mn-ea"/>
              <a:cs typeface="+mn-cs"/>
            </a:endParaRPr>
          </a:p>
          <a:p>
            <a:pPr marL="171450" lvl="0" indent="-171450">
              <a:buFontTx/>
              <a:buChar char="-"/>
            </a:pPr>
            <a:r>
              <a:rPr lang="en-GB" kern="1200" dirty="0" smtClean="0">
                <a:solidFill>
                  <a:schemeClr val="tx1"/>
                </a:solidFill>
                <a:effectLst/>
                <a:latin typeface="+mn-lt"/>
                <a:ea typeface="+mn-ea"/>
                <a:cs typeface="+mn-cs"/>
              </a:rPr>
              <a:t>Reporting on results / transparency</a:t>
            </a:r>
          </a:p>
          <a:p>
            <a:pPr marL="628650" lvl="1" indent="-171450">
              <a:buFontTx/>
              <a:buChar char="-"/>
            </a:pPr>
            <a:r>
              <a:rPr lang="en-GB" sz="1200" kern="1200" dirty="0" smtClean="0">
                <a:solidFill>
                  <a:schemeClr val="tx1"/>
                </a:solidFill>
                <a:effectLst/>
                <a:latin typeface="+mn-lt"/>
                <a:ea typeface="+mn-ea"/>
                <a:cs typeface="+mn-cs"/>
              </a:rPr>
              <a:t>Accountability communication to the outside world on how and where UNICEF uses resources to leverage and achieve results for children.  </a:t>
            </a:r>
            <a:endParaRPr lang="en-US" sz="1200" kern="1200" dirty="0" smtClean="0">
              <a:solidFill>
                <a:schemeClr val="tx1"/>
              </a:solidFill>
              <a:effectLst/>
              <a:latin typeface="+mn-lt"/>
              <a:ea typeface="+mn-ea"/>
              <a:cs typeface="+mn-cs"/>
            </a:endParaRPr>
          </a:p>
          <a:p>
            <a:pPr marL="628650" lvl="1" indent="-171450">
              <a:buFontTx/>
              <a:buChar char="-"/>
            </a:pPr>
            <a:r>
              <a:rPr lang="en-GB" sz="1200" kern="1200" dirty="0" smtClean="0">
                <a:solidFill>
                  <a:schemeClr val="tx1"/>
                </a:solidFill>
                <a:effectLst/>
                <a:latin typeface="+mn-lt"/>
                <a:ea typeface="+mn-ea"/>
                <a:cs typeface="+mn-cs"/>
              </a:rPr>
              <a:t>Enhance UNICEF’s visibility among key stakeholders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171450" lvl="0" indent="-171450">
              <a:buFontTx/>
              <a:buChar char="-"/>
            </a:pPr>
            <a:r>
              <a:rPr lang="en-US" sz="1200" kern="1200" dirty="0" smtClean="0">
                <a:solidFill>
                  <a:schemeClr val="tx1"/>
                </a:solidFill>
                <a:effectLst/>
                <a:latin typeface="+mn-lt"/>
                <a:ea typeface="+mn-ea"/>
                <a:cs typeface="+mn-cs"/>
              </a:rPr>
              <a:t>Funding</a:t>
            </a:r>
            <a:r>
              <a:rPr lang="en-US" sz="1200" kern="1200" baseline="0" dirty="0" smtClean="0">
                <a:solidFill>
                  <a:schemeClr val="tx1"/>
                </a:solidFill>
                <a:effectLst/>
                <a:latin typeface="+mn-lt"/>
                <a:ea typeface="+mn-ea"/>
                <a:cs typeface="+mn-cs"/>
              </a:rPr>
              <a:t> and Donors: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kern="1200" dirty="0" smtClean="0">
                <a:solidFill>
                  <a:schemeClr val="tx1"/>
                </a:solidFill>
                <a:effectLst/>
                <a:latin typeface="+mn-lt"/>
                <a:ea typeface="+mn-ea"/>
                <a:cs typeface="+mn-cs"/>
              </a:rPr>
              <a:t>Improve UNICEF’s ability to leverage results and resources for children as donors are increasingly including transparency, and in particular IATI compliance as part of their assessment criteria of potential aid recipients.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C4F3281-3907-4CB3-99D0-7C3EB1A17FF8}" type="slidenum">
              <a:rPr lang="en-US" smtClean="0"/>
              <a:t>14</a:t>
            </a:fld>
            <a:endParaRPr lang="en-US"/>
          </a:p>
        </p:txBody>
      </p:sp>
    </p:spTree>
    <p:extLst>
      <p:ext uri="{BB962C8B-B14F-4D97-AF65-F5344CB8AC3E}">
        <p14:creationId xmlns:p14="http://schemas.microsoft.com/office/powerpoint/2010/main" val="1036612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Causality</a:t>
            </a:r>
            <a:r>
              <a:rPr lang="en-US" baseline="0" dirty="0" smtClean="0"/>
              <a:t> enables us to </a:t>
            </a:r>
            <a:r>
              <a:rPr lang="en-US" baseline="0" dirty="0" err="1" smtClean="0"/>
              <a:t>analyse</a:t>
            </a:r>
            <a:r>
              <a:rPr lang="en-US" baseline="0" dirty="0" smtClean="0"/>
              <a:t> and explore </a:t>
            </a:r>
            <a:r>
              <a:rPr lang="en-US" b="1" baseline="0" dirty="0" smtClean="0"/>
              <a:t>who</a:t>
            </a:r>
            <a:r>
              <a:rPr lang="en-US" baseline="0" dirty="0" smtClean="0"/>
              <a:t> is most affected by a problem, </a:t>
            </a:r>
            <a:r>
              <a:rPr lang="en-US" b="1" baseline="0" dirty="0" smtClean="0"/>
              <a:t>how widespread </a:t>
            </a:r>
            <a:r>
              <a:rPr lang="en-US" baseline="0" dirty="0" smtClean="0"/>
              <a:t>the problem is and </a:t>
            </a:r>
            <a:r>
              <a:rPr lang="en-US" b="1" baseline="0" dirty="0" smtClean="0"/>
              <a:t>why that is happening.</a:t>
            </a:r>
            <a:endParaRPr lang="en-US" b="1" dirty="0" smtClean="0"/>
          </a:p>
          <a:p>
            <a:endParaRPr lang="en-US" dirty="0" smtClean="0"/>
          </a:p>
          <a:p>
            <a:r>
              <a:rPr lang="en-US" dirty="0" smtClean="0"/>
              <a:t>A causal analysis allows for different streams of a problem to be examined in-depth. Causes are not linear, but are often a complex interaction of multiple streams that reinforce each other. More immediate causes are often easier to address, while more structural causes are more difficult and often longer-term, but tend to provide more sustainable solutions and results. </a:t>
            </a:r>
          </a:p>
          <a:p>
            <a:endParaRPr lang="en-US" dirty="0"/>
          </a:p>
        </p:txBody>
      </p:sp>
      <p:sp>
        <p:nvSpPr>
          <p:cNvPr id="4" name="Slide Number Placeholder 3"/>
          <p:cNvSpPr>
            <a:spLocks noGrp="1"/>
          </p:cNvSpPr>
          <p:nvPr>
            <p:ph type="sldNum" sz="quarter" idx="10"/>
          </p:nvPr>
        </p:nvSpPr>
        <p:spPr/>
        <p:txBody>
          <a:bodyPr/>
          <a:lstStyle/>
          <a:p>
            <a:fld id="{5C4F3281-3907-4CB3-99D0-7C3EB1A17FF8}" type="slidenum">
              <a:rPr lang="en-US" smtClean="0"/>
              <a:t>16</a:t>
            </a:fld>
            <a:endParaRPr lang="en-US"/>
          </a:p>
        </p:txBody>
      </p:sp>
    </p:spTree>
    <p:extLst>
      <p:ext uri="{BB962C8B-B14F-4D97-AF65-F5344CB8AC3E}">
        <p14:creationId xmlns:p14="http://schemas.microsoft.com/office/powerpoint/2010/main" val="20250300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Equity focus:</a:t>
            </a:r>
          </a:p>
          <a:p>
            <a:pPr marL="628650" lvl="1" indent="-171450">
              <a:buFontTx/>
              <a:buChar char="-"/>
            </a:pPr>
            <a:r>
              <a:rPr lang="en-US" dirty="0" smtClean="0"/>
              <a:t>Reaching</a:t>
            </a:r>
            <a:r>
              <a:rPr lang="en-US" baseline="0" dirty="0" smtClean="0"/>
              <a:t> the most deprived and vulnerable</a:t>
            </a:r>
          </a:p>
          <a:p>
            <a:pPr marL="628650" lvl="1" indent="-171450">
              <a:buFontTx/>
              <a:buChar char="-"/>
            </a:pPr>
            <a:r>
              <a:rPr lang="en-US" dirty="0" smtClean="0"/>
              <a:t>Differentiation</a:t>
            </a:r>
            <a:r>
              <a:rPr lang="en-US" baseline="0" dirty="0" smtClean="0"/>
              <a:t> with equality</a:t>
            </a:r>
          </a:p>
          <a:p>
            <a:pPr marL="171450" lvl="0" indent="-171450">
              <a:buFontTx/>
              <a:buChar char="-"/>
            </a:pPr>
            <a:r>
              <a:rPr lang="en-US" dirty="0" smtClean="0"/>
              <a:t>MTSP:</a:t>
            </a:r>
          </a:p>
          <a:p>
            <a:pPr marL="628650" lvl="1" indent="-171450">
              <a:buFontTx/>
              <a:buChar char="-"/>
            </a:pPr>
            <a:r>
              <a:rPr lang="en-US" dirty="0" smtClean="0"/>
              <a:t>7 outcomes areas (education #4)</a:t>
            </a:r>
            <a:r>
              <a:rPr lang="en-US" baseline="0" dirty="0" smtClean="0"/>
              <a:t> with linkages / synergies</a:t>
            </a:r>
          </a:p>
          <a:p>
            <a:pPr marL="628650" lvl="1" indent="-171450">
              <a:buFontTx/>
              <a:buChar char="-"/>
            </a:pPr>
            <a:r>
              <a:rPr lang="en-US" baseline="0" dirty="0" smtClean="0"/>
              <a:t>Each SP outcome areas contributes on its own to reducing inequities + collectively, even greater result through synergies</a:t>
            </a:r>
          </a:p>
          <a:p>
            <a:pPr marL="628650" lvl="1" indent="-171450">
              <a:buFontTx/>
              <a:buChar char="-"/>
            </a:pPr>
            <a:r>
              <a:rPr lang="en-US" baseline="0" dirty="0" smtClean="0"/>
              <a:t>Each SP has its own </a:t>
            </a:r>
            <a:r>
              <a:rPr lang="en-US" baseline="0" dirty="0" err="1" smtClean="0"/>
              <a:t>ToC</a:t>
            </a:r>
            <a:endParaRPr lang="en-US" baseline="0" dirty="0" smtClean="0"/>
          </a:p>
          <a:p>
            <a:pPr marL="628650" lvl="1" indent="-171450">
              <a:buFontTx/>
              <a:buChar char="-"/>
            </a:pPr>
            <a:r>
              <a:rPr lang="en-GB" sz="1200" kern="1200" dirty="0" smtClean="0">
                <a:solidFill>
                  <a:schemeClr val="tx1"/>
                </a:solidFill>
                <a:effectLst/>
                <a:latin typeface="+mn-lt"/>
                <a:ea typeface="+mn-ea"/>
                <a:cs typeface="+mn-cs"/>
              </a:rPr>
              <a:t>SP results framework has impact, outcome and output results, and each with indicator, baseline and target.   </a:t>
            </a:r>
            <a:endParaRPr lang="en-US" baseline="0" dirty="0" smtClean="0"/>
          </a:p>
          <a:p>
            <a:pPr marL="171450" lvl="0" indent="-171450">
              <a:buFontTx/>
              <a:buChar char="-"/>
            </a:pPr>
            <a:r>
              <a:rPr lang="en-US" dirty="0" smtClean="0"/>
              <a:t>SDGs:</a:t>
            </a:r>
          </a:p>
          <a:p>
            <a:pPr marL="628650" lvl="1" indent="-171450">
              <a:buFontTx/>
              <a:buChar char="-"/>
            </a:pPr>
            <a:r>
              <a:rPr lang="en-GB" sz="1200" kern="1200" dirty="0" smtClean="0">
                <a:solidFill>
                  <a:schemeClr val="tx1"/>
                </a:solidFill>
                <a:effectLst/>
                <a:latin typeface="+mn-lt"/>
                <a:ea typeface="+mn-ea"/>
                <a:cs typeface="+mn-cs"/>
              </a:rPr>
              <a:t>Equitable results for all children, ‘leave no one behind’ Perhaps the most fundamental lesson of the MDGs was that, due to their focus on national averages and global aggregates, they failed to account for stagnating progress or – in some cases – growing inequalities among income and social groups and along gender lines. </a:t>
            </a:r>
            <a:endParaRPr lang="en-US" dirty="0" smtClean="0"/>
          </a:p>
          <a:p>
            <a:pPr marL="628650" lvl="1" indent="-171450">
              <a:buFontTx/>
              <a:buChar char="-"/>
            </a:pPr>
            <a:endParaRPr lang="en-US" dirty="0" smtClean="0"/>
          </a:p>
          <a:p>
            <a:pPr marL="171450" lvl="0" indent="-171450">
              <a:buFontTx/>
              <a:buChar char="-"/>
            </a:pPr>
            <a:r>
              <a:rPr lang="en-US" dirty="0" smtClean="0"/>
              <a:t>Humanitarian</a:t>
            </a:r>
            <a:r>
              <a:rPr lang="en-US" baseline="0" dirty="0" smtClean="0"/>
              <a:t> Imperatives:</a:t>
            </a:r>
          </a:p>
          <a:p>
            <a:pPr marL="628650" lvl="1" indent="-171450">
              <a:buFontTx/>
              <a:buChar char="-"/>
            </a:pPr>
            <a:r>
              <a:rPr lang="en-US" dirty="0" smtClean="0"/>
              <a:t>As heard this morning, </a:t>
            </a:r>
            <a:r>
              <a:rPr lang="en-GB" sz="1200" kern="1200" dirty="0" smtClean="0">
                <a:solidFill>
                  <a:schemeClr val="tx1"/>
                </a:solidFill>
                <a:effectLst/>
                <a:latin typeface="+mn-lt"/>
                <a:ea typeface="+mn-ea"/>
                <a:cs typeface="+mn-cs"/>
              </a:rPr>
              <a:t>Shocks, including disasters and violent conflict are a threat to development</a:t>
            </a:r>
          </a:p>
          <a:p>
            <a:pPr marL="628650" lvl="1" indent="-171450">
              <a:buFontTx/>
              <a:buChar char="-"/>
            </a:pPr>
            <a:r>
              <a:rPr lang="en-GB" sz="1200" kern="1200" dirty="0" smtClean="0">
                <a:solidFill>
                  <a:schemeClr val="tx1"/>
                </a:solidFill>
                <a:effectLst/>
                <a:latin typeface="+mn-lt"/>
                <a:ea typeface="+mn-ea"/>
                <a:cs typeface="+mn-cs"/>
              </a:rPr>
              <a:t>Building resilient and sustainable societies means addressing existing and future risks in development planning and budgeting. </a:t>
            </a:r>
          </a:p>
          <a:p>
            <a:pPr marL="171450" lvl="0" indent="-171450">
              <a:buFontTx/>
              <a:buChar char="-"/>
            </a:pPr>
            <a:endParaRPr lang="en-GB" kern="1200" dirty="0" smtClean="0">
              <a:solidFill>
                <a:schemeClr val="tx1"/>
              </a:solidFill>
              <a:effectLst/>
              <a:latin typeface="+mn-lt"/>
              <a:ea typeface="+mn-ea"/>
              <a:cs typeface="+mn-cs"/>
            </a:endParaRPr>
          </a:p>
          <a:p>
            <a:pPr marL="171450" lvl="0" indent="-171450">
              <a:buFontTx/>
              <a:buChar char="-"/>
            </a:pPr>
            <a:r>
              <a:rPr lang="en-GB" kern="1200" dirty="0" smtClean="0">
                <a:solidFill>
                  <a:schemeClr val="tx1"/>
                </a:solidFill>
                <a:effectLst/>
                <a:latin typeface="+mn-lt"/>
                <a:ea typeface="+mn-ea"/>
                <a:cs typeface="+mn-cs"/>
              </a:rPr>
              <a:t>Reporting on results / transparency</a:t>
            </a:r>
          </a:p>
          <a:p>
            <a:pPr marL="628650" lvl="1" indent="-171450">
              <a:buFontTx/>
              <a:buChar char="-"/>
            </a:pPr>
            <a:r>
              <a:rPr lang="en-GB" sz="1200" kern="1200" dirty="0" smtClean="0">
                <a:solidFill>
                  <a:schemeClr val="tx1"/>
                </a:solidFill>
                <a:effectLst/>
                <a:latin typeface="+mn-lt"/>
                <a:ea typeface="+mn-ea"/>
                <a:cs typeface="+mn-cs"/>
              </a:rPr>
              <a:t>Accountability communication to the outside world on how and where UNICEF uses resources to leverage and achieve results for children.  </a:t>
            </a:r>
            <a:endParaRPr lang="en-US" sz="1200" kern="1200" dirty="0" smtClean="0">
              <a:solidFill>
                <a:schemeClr val="tx1"/>
              </a:solidFill>
              <a:effectLst/>
              <a:latin typeface="+mn-lt"/>
              <a:ea typeface="+mn-ea"/>
              <a:cs typeface="+mn-cs"/>
            </a:endParaRPr>
          </a:p>
          <a:p>
            <a:pPr marL="628650" lvl="1" indent="-171450">
              <a:buFontTx/>
              <a:buChar char="-"/>
            </a:pPr>
            <a:r>
              <a:rPr lang="en-GB" sz="1200" kern="1200" dirty="0" smtClean="0">
                <a:solidFill>
                  <a:schemeClr val="tx1"/>
                </a:solidFill>
                <a:effectLst/>
                <a:latin typeface="+mn-lt"/>
                <a:ea typeface="+mn-ea"/>
                <a:cs typeface="+mn-cs"/>
              </a:rPr>
              <a:t>Enhance UNICEF’s visibility among key stakeholders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171450" lvl="0" indent="-171450">
              <a:buFontTx/>
              <a:buChar char="-"/>
            </a:pPr>
            <a:r>
              <a:rPr lang="en-US" sz="1200" kern="1200" dirty="0" smtClean="0">
                <a:solidFill>
                  <a:schemeClr val="tx1"/>
                </a:solidFill>
                <a:effectLst/>
                <a:latin typeface="+mn-lt"/>
                <a:ea typeface="+mn-ea"/>
                <a:cs typeface="+mn-cs"/>
              </a:rPr>
              <a:t>Funding</a:t>
            </a:r>
            <a:r>
              <a:rPr lang="en-US" sz="1200" kern="1200" baseline="0" dirty="0" smtClean="0">
                <a:solidFill>
                  <a:schemeClr val="tx1"/>
                </a:solidFill>
                <a:effectLst/>
                <a:latin typeface="+mn-lt"/>
                <a:ea typeface="+mn-ea"/>
                <a:cs typeface="+mn-cs"/>
              </a:rPr>
              <a:t> and Donors: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kern="1200" dirty="0" smtClean="0">
                <a:solidFill>
                  <a:schemeClr val="tx1"/>
                </a:solidFill>
                <a:effectLst/>
                <a:latin typeface="+mn-lt"/>
                <a:ea typeface="+mn-ea"/>
                <a:cs typeface="+mn-cs"/>
              </a:rPr>
              <a:t>Improve UNICEF’s ability to leverage results and resources for children as donors are increasingly including transparency, and in particular IATI compliance as part of their assessment criteria of potential aid recipients.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C4F3281-3907-4CB3-99D0-7C3EB1A17FF8}" type="slidenum">
              <a:rPr lang="en-US" smtClean="0"/>
              <a:t>19</a:t>
            </a:fld>
            <a:endParaRPr lang="en-US"/>
          </a:p>
        </p:txBody>
      </p:sp>
    </p:spTree>
    <p:extLst>
      <p:ext uri="{BB962C8B-B14F-4D97-AF65-F5344CB8AC3E}">
        <p14:creationId xmlns:p14="http://schemas.microsoft.com/office/powerpoint/2010/main" val="26740218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Causality</a:t>
            </a:r>
            <a:r>
              <a:rPr lang="en-US" baseline="0" dirty="0" smtClean="0"/>
              <a:t> enables us to </a:t>
            </a:r>
            <a:r>
              <a:rPr lang="en-US" baseline="0" dirty="0" err="1" smtClean="0"/>
              <a:t>analyse</a:t>
            </a:r>
            <a:r>
              <a:rPr lang="en-US" baseline="0" dirty="0" smtClean="0"/>
              <a:t> and explore </a:t>
            </a:r>
            <a:r>
              <a:rPr lang="en-US" b="1" baseline="0" dirty="0" smtClean="0"/>
              <a:t>who</a:t>
            </a:r>
            <a:r>
              <a:rPr lang="en-US" baseline="0" dirty="0" smtClean="0"/>
              <a:t> is most affected by a problem, </a:t>
            </a:r>
            <a:r>
              <a:rPr lang="en-US" b="1" baseline="0" dirty="0" smtClean="0"/>
              <a:t>how widespread </a:t>
            </a:r>
            <a:r>
              <a:rPr lang="en-US" baseline="0" dirty="0" smtClean="0"/>
              <a:t>the problem is and </a:t>
            </a:r>
            <a:r>
              <a:rPr lang="en-US" b="1" baseline="0" dirty="0" smtClean="0"/>
              <a:t>why that is happening.</a:t>
            </a:r>
            <a:endParaRPr lang="en-US" b="1" dirty="0" smtClean="0"/>
          </a:p>
          <a:p>
            <a:endParaRPr lang="en-US" dirty="0" smtClean="0"/>
          </a:p>
          <a:p>
            <a:r>
              <a:rPr lang="en-US" dirty="0" smtClean="0"/>
              <a:t>A causal analysis allows for different streams of a problem to be examined in-depth. Causes are not linear, but are often a complex interaction of multiple streams that reinforce each other. More immediate causes are often easier to address, while more structural causes are more difficult and often longer-term, but tend to provide more sustainable solutions and results. </a:t>
            </a:r>
          </a:p>
          <a:p>
            <a:endParaRPr lang="en-US" dirty="0"/>
          </a:p>
        </p:txBody>
      </p:sp>
      <p:sp>
        <p:nvSpPr>
          <p:cNvPr id="4" name="Slide Number Placeholder 3"/>
          <p:cNvSpPr>
            <a:spLocks noGrp="1"/>
          </p:cNvSpPr>
          <p:nvPr>
            <p:ph type="sldNum" sz="quarter" idx="10"/>
          </p:nvPr>
        </p:nvSpPr>
        <p:spPr/>
        <p:txBody>
          <a:bodyPr/>
          <a:lstStyle/>
          <a:p>
            <a:fld id="{5C4F3281-3907-4CB3-99D0-7C3EB1A17FF8}" type="slidenum">
              <a:rPr lang="en-US" smtClean="0"/>
              <a:t>21</a:t>
            </a:fld>
            <a:endParaRPr lang="en-US"/>
          </a:p>
        </p:txBody>
      </p:sp>
    </p:spTree>
    <p:extLst>
      <p:ext uri="{BB962C8B-B14F-4D97-AF65-F5344CB8AC3E}">
        <p14:creationId xmlns:p14="http://schemas.microsoft.com/office/powerpoint/2010/main" val="13106714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Causality</a:t>
            </a:r>
            <a:r>
              <a:rPr lang="en-US" baseline="0" dirty="0" smtClean="0"/>
              <a:t> enables us to </a:t>
            </a:r>
            <a:r>
              <a:rPr lang="en-US" baseline="0" dirty="0" err="1" smtClean="0"/>
              <a:t>analyse</a:t>
            </a:r>
            <a:r>
              <a:rPr lang="en-US" baseline="0" dirty="0" smtClean="0"/>
              <a:t> and explore </a:t>
            </a:r>
            <a:r>
              <a:rPr lang="en-US" b="1" baseline="0" dirty="0" smtClean="0"/>
              <a:t>who</a:t>
            </a:r>
            <a:r>
              <a:rPr lang="en-US" baseline="0" dirty="0" smtClean="0"/>
              <a:t> is most affected by a problem, </a:t>
            </a:r>
            <a:r>
              <a:rPr lang="en-US" b="1" baseline="0" dirty="0" smtClean="0"/>
              <a:t>how widespread </a:t>
            </a:r>
            <a:r>
              <a:rPr lang="en-US" baseline="0" dirty="0" smtClean="0"/>
              <a:t>the problem is and </a:t>
            </a:r>
            <a:r>
              <a:rPr lang="en-US" b="1" baseline="0" dirty="0" smtClean="0"/>
              <a:t>why that is happening.</a:t>
            </a:r>
            <a:endParaRPr lang="en-US" b="1" dirty="0" smtClean="0"/>
          </a:p>
          <a:p>
            <a:endParaRPr lang="en-US" dirty="0" smtClean="0"/>
          </a:p>
          <a:p>
            <a:r>
              <a:rPr lang="en-US" dirty="0" smtClean="0"/>
              <a:t>A causal analysis allows for different streams of a problem to be examined in-depth. Causes are not linear, but are often a complex interaction of multiple streams that reinforce each other. More immediate causes are often easier to address, while more structural causes are more difficult and often longer-term, but tend to provide more sustainable solutions and results. </a:t>
            </a:r>
          </a:p>
          <a:p>
            <a:endParaRPr lang="en-US" dirty="0"/>
          </a:p>
        </p:txBody>
      </p:sp>
      <p:sp>
        <p:nvSpPr>
          <p:cNvPr id="4" name="Slide Number Placeholder 3"/>
          <p:cNvSpPr>
            <a:spLocks noGrp="1"/>
          </p:cNvSpPr>
          <p:nvPr>
            <p:ph type="sldNum" sz="quarter" idx="10"/>
          </p:nvPr>
        </p:nvSpPr>
        <p:spPr/>
        <p:txBody>
          <a:bodyPr/>
          <a:lstStyle/>
          <a:p>
            <a:fld id="{5C4F3281-3907-4CB3-99D0-7C3EB1A17FF8}" type="slidenum">
              <a:rPr lang="en-US" smtClean="0"/>
              <a:t>22</a:t>
            </a:fld>
            <a:endParaRPr lang="en-US"/>
          </a:p>
        </p:txBody>
      </p:sp>
    </p:spTree>
    <p:extLst>
      <p:ext uri="{BB962C8B-B14F-4D97-AF65-F5344CB8AC3E}">
        <p14:creationId xmlns:p14="http://schemas.microsoft.com/office/powerpoint/2010/main" val="41846436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Equity focus:</a:t>
            </a:r>
          </a:p>
          <a:p>
            <a:pPr marL="628650" lvl="1" indent="-171450">
              <a:buFontTx/>
              <a:buChar char="-"/>
            </a:pPr>
            <a:r>
              <a:rPr lang="en-US" dirty="0" smtClean="0"/>
              <a:t>Reaching</a:t>
            </a:r>
            <a:r>
              <a:rPr lang="en-US" baseline="0" dirty="0" smtClean="0"/>
              <a:t> the most deprived and vulnerable</a:t>
            </a:r>
          </a:p>
          <a:p>
            <a:pPr marL="628650" lvl="1" indent="-171450">
              <a:buFontTx/>
              <a:buChar char="-"/>
            </a:pPr>
            <a:r>
              <a:rPr lang="en-US" dirty="0" smtClean="0"/>
              <a:t>Differentiation</a:t>
            </a:r>
            <a:r>
              <a:rPr lang="en-US" baseline="0" dirty="0" smtClean="0"/>
              <a:t> with equality</a:t>
            </a:r>
          </a:p>
          <a:p>
            <a:pPr marL="171450" lvl="0" indent="-171450">
              <a:buFontTx/>
              <a:buChar char="-"/>
            </a:pPr>
            <a:r>
              <a:rPr lang="en-US" dirty="0" smtClean="0"/>
              <a:t>MTSP:</a:t>
            </a:r>
          </a:p>
          <a:p>
            <a:pPr marL="628650" lvl="1" indent="-171450">
              <a:buFontTx/>
              <a:buChar char="-"/>
            </a:pPr>
            <a:r>
              <a:rPr lang="en-US" dirty="0" smtClean="0"/>
              <a:t>7 outcomes areas (education #4)</a:t>
            </a:r>
            <a:r>
              <a:rPr lang="en-US" baseline="0" dirty="0" smtClean="0"/>
              <a:t> with linkages / synergies</a:t>
            </a:r>
          </a:p>
          <a:p>
            <a:pPr marL="628650" lvl="1" indent="-171450">
              <a:buFontTx/>
              <a:buChar char="-"/>
            </a:pPr>
            <a:r>
              <a:rPr lang="en-US" baseline="0" dirty="0" smtClean="0"/>
              <a:t>Each SP outcome areas contributes on its own to reducing inequities + collectively, even greater result through synergies</a:t>
            </a:r>
          </a:p>
          <a:p>
            <a:pPr marL="628650" lvl="1" indent="-171450">
              <a:buFontTx/>
              <a:buChar char="-"/>
            </a:pPr>
            <a:r>
              <a:rPr lang="en-US" baseline="0" dirty="0" smtClean="0"/>
              <a:t>Each SP has its own </a:t>
            </a:r>
            <a:r>
              <a:rPr lang="en-US" baseline="0" dirty="0" err="1" smtClean="0"/>
              <a:t>ToC</a:t>
            </a:r>
            <a:endParaRPr lang="en-US" baseline="0" dirty="0" smtClean="0"/>
          </a:p>
          <a:p>
            <a:pPr marL="628650" lvl="1" indent="-171450">
              <a:buFontTx/>
              <a:buChar char="-"/>
            </a:pPr>
            <a:r>
              <a:rPr lang="en-GB" sz="1200" kern="1200" dirty="0" smtClean="0">
                <a:solidFill>
                  <a:schemeClr val="tx1"/>
                </a:solidFill>
                <a:effectLst/>
                <a:latin typeface="+mn-lt"/>
                <a:ea typeface="+mn-ea"/>
                <a:cs typeface="+mn-cs"/>
              </a:rPr>
              <a:t>SP results framework has impact, outcome and output results, and each with indicator, baseline and target.   </a:t>
            </a:r>
            <a:endParaRPr lang="en-US" baseline="0" dirty="0" smtClean="0"/>
          </a:p>
          <a:p>
            <a:pPr marL="171450" lvl="0" indent="-171450">
              <a:buFontTx/>
              <a:buChar char="-"/>
            </a:pPr>
            <a:r>
              <a:rPr lang="en-US" dirty="0" smtClean="0"/>
              <a:t>SDGs:</a:t>
            </a:r>
          </a:p>
          <a:p>
            <a:pPr marL="628650" lvl="1" indent="-171450">
              <a:buFontTx/>
              <a:buChar char="-"/>
            </a:pPr>
            <a:r>
              <a:rPr lang="en-GB" sz="1200" kern="1200" dirty="0" smtClean="0">
                <a:solidFill>
                  <a:schemeClr val="tx1"/>
                </a:solidFill>
                <a:effectLst/>
                <a:latin typeface="+mn-lt"/>
                <a:ea typeface="+mn-ea"/>
                <a:cs typeface="+mn-cs"/>
              </a:rPr>
              <a:t>Equitable results for all children, ‘leave no one behind’ Perhaps the most fundamental lesson of the MDGs was that, due to their focus on national averages and global aggregates, they failed to account for stagnating progress or – in some cases – growing inequalities among income and social groups and along gender lines. </a:t>
            </a:r>
            <a:endParaRPr lang="en-US" dirty="0" smtClean="0"/>
          </a:p>
          <a:p>
            <a:pPr marL="628650" lvl="1" indent="-171450">
              <a:buFontTx/>
              <a:buChar char="-"/>
            </a:pPr>
            <a:endParaRPr lang="en-US" dirty="0" smtClean="0"/>
          </a:p>
          <a:p>
            <a:pPr marL="171450" lvl="0" indent="-171450">
              <a:buFontTx/>
              <a:buChar char="-"/>
            </a:pPr>
            <a:r>
              <a:rPr lang="en-US" dirty="0" smtClean="0"/>
              <a:t>Humanitarian</a:t>
            </a:r>
            <a:r>
              <a:rPr lang="en-US" baseline="0" dirty="0" smtClean="0"/>
              <a:t> Imperatives:</a:t>
            </a:r>
          </a:p>
          <a:p>
            <a:pPr marL="628650" lvl="1" indent="-171450">
              <a:buFontTx/>
              <a:buChar char="-"/>
            </a:pPr>
            <a:r>
              <a:rPr lang="en-US" dirty="0" smtClean="0"/>
              <a:t>As heard this morning, </a:t>
            </a:r>
            <a:r>
              <a:rPr lang="en-GB" sz="1200" kern="1200" dirty="0" smtClean="0">
                <a:solidFill>
                  <a:schemeClr val="tx1"/>
                </a:solidFill>
                <a:effectLst/>
                <a:latin typeface="+mn-lt"/>
                <a:ea typeface="+mn-ea"/>
                <a:cs typeface="+mn-cs"/>
              </a:rPr>
              <a:t>Shocks, including disasters and violent conflict are a threat to development</a:t>
            </a:r>
          </a:p>
          <a:p>
            <a:pPr marL="628650" lvl="1" indent="-171450">
              <a:buFontTx/>
              <a:buChar char="-"/>
            </a:pPr>
            <a:r>
              <a:rPr lang="en-GB" sz="1200" kern="1200" dirty="0" smtClean="0">
                <a:solidFill>
                  <a:schemeClr val="tx1"/>
                </a:solidFill>
                <a:effectLst/>
                <a:latin typeface="+mn-lt"/>
                <a:ea typeface="+mn-ea"/>
                <a:cs typeface="+mn-cs"/>
              </a:rPr>
              <a:t>Building resilient and sustainable societies means addressing existing and future risks in development planning and budgeting. </a:t>
            </a:r>
          </a:p>
          <a:p>
            <a:pPr marL="171450" lvl="0" indent="-171450">
              <a:buFontTx/>
              <a:buChar char="-"/>
            </a:pPr>
            <a:endParaRPr lang="en-GB" kern="1200" dirty="0" smtClean="0">
              <a:solidFill>
                <a:schemeClr val="tx1"/>
              </a:solidFill>
              <a:effectLst/>
              <a:latin typeface="+mn-lt"/>
              <a:ea typeface="+mn-ea"/>
              <a:cs typeface="+mn-cs"/>
            </a:endParaRPr>
          </a:p>
          <a:p>
            <a:pPr marL="171450" lvl="0" indent="-171450">
              <a:buFontTx/>
              <a:buChar char="-"/>
            </a:pPr>
            <a:r>
              <a:rPr lang="en-GB" kern="1200" dirty="0" smtClean="0">
                <a:solidFill>
                  <a:schemeClr val="tx1"/>
                </a:solidFill>
                <a:effectLst/>
                <a:latin typeface="+mn-lt"/>
                <a:ea typeface="+mn-ea"/>
                <a:cs typeface="+mn-cs"/>
              </a:rPr>
              <a:t>Reporting on results / transparency</a:t>
            </a:r>
          </a:p>
          <a:p>
            <a:pPr marL="628650" lvl="1" indent="-171450">
              <a:buFontTx/>
              <a:buChar char="-"/>
            </a:pPr>
            <a:r>
              <a:rPr lang="en-GB" sz="1200" kern="1200" dirty="0" smtClean="0">
                <a:solidFill>
                  <a:schemeClr val="tx1"/>
                </a:solidFill>
                <a:effectLst/>
                <a:latin typeface="+mn-lt"/>
                <a:ea typeface="+mn-ea"/>
                <a:cs typeface="+mn-cs"/>
              </a:rPr>
              <a:t>Accountability communication to the outside world on how and where UNICEF uses resources to leverage and achieve results for children.  </a:t>
            </a:r>
            <a:endParaRPr lang="en-US" sz="1200" kern="1200" dirty="0" smtClean="0">
              <a:solidFill>
                <a:schemeClr val="tx1"/>
              </a:solidFill>
              <a:effectLst/>
              <a:latin typeface="+mn-lt"/>
              <a:ea typeface="+mn-ea"/>
              <a:cs typeface="+mn-cs"/>
            </a:endParaRPr>
          </a:p>
          <a:p>
            <a:pPr marL="628650" lvl="1" indent="-171450">
              <a:buFontTx/>
              <a:buChar char="-"/>
            </a:pPr>
            <a:r>
              <a:rPr lang="en-GB" sz="1200" kern="1200" dirty="0" smtClean="0">
                <a:solidFill>
                  <a:schemeClr val="tx1"/>
                </a:solidFill>
                <a:effectLst/>
                <a:latin typeface="+mn-lt"/>
                <a:ea typeface="+mn-ea"/>
                <a:cs typeface="+mn-cs"/>
              </a:rPr>
              <a:t>Enhance UNICEF’s visibility among key stakeholders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171450" lvl="0" indent="-171450">
              <a:buFontTx/>
              <a:buChar char="-"/>
            </a:pPr>
            <a:r>
              <a:rPr lang="en-US" sz="1200" kern="1200" dirty="0" smtClean="0">
                <a:solidFill>
                  <a:schemeClr val="tx1"/>
                </a:solidFill>
                <a:effectLst/>
                <a:latin typeface="+mn-lt"/>
                <a:ea typeface="+mn-ea"/>
                <a:cs typeface="+mn-cs"/>
              </a:rPr>
              <a:t>Funding</a:t>
            </a:r>
            <a:r>
              <a:rPr lang="en-US" sz="1200" kern="1200" baseline="0" dirty="0" smtClean="0">
                <a:solidFill>
                  <a:schemeClr val="tx1"/>
                </a:solidFill>
                <a:effectLst/>
                <a:latin typeface="+mn-lt"/>
                <a:ea typeface="+mn-ea"/>
                <a:cs typeface="+mn-cs"/>
              </a:rPr>
              <a:t> and Donors: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kern="1200" dirty="0" smtClean="0">
                <a:solidFill>
                  <a:schemeClr val="tx1"/>
                </a:solidFill>
                <a:effectLst/>
                <a:latin typeface="+mn-lt"/>
                <a:ea typeface="+mn-ea"/>
                <a:cs typeface="+mn-cs"/>
              </a:rPr>
              <a:t>Improve UNICEF’s ability to leverage results and resources for children as donors are increasingly including transparency, and in particular IATI compliance as part of their assessment criteria of potential aid recipients.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C4F3281-3907-4CB3-99D0-7C3EB1A17FF8}" type="slidenum">
              <a:rPr lang="en-US" smtClean="0"/>
              <a:t>24</a:t>
            </a:fld>
            <a:endParaRPr lang="en-US"/>
          </a:p>
        </p:txBody>
      </p:sp>
    </p:spTree>
    <p:extLst>
      <p:ext uri="{BB962C8B-B14F-4D97-AF65-F5344CB8AC3E}">
        <p14:creationId xmlns:p14="http://schemas.microsoft.com/office/powerpoint/2010/main" val="746959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ct val="0"/>
              </a:spcBef>
              <a:spcAft>
                <a:spcPts val="0"/>
              </a:spcAft>
              <a:buClrTx/>
              <a:buSzTx/>
              <a:buFontTx/>
              <a:buNone/>
              <a:tabLst/>
              <a:defRPr/>
            </a:pPr>
            <a:r>
              <a:rPr lang="en-US" sz="1200" dirty="0" smtClean="0"/>
              <a:t>If a problem is caused by three conditions, addressing only one or two conditions will not ensure that the problem will be solved. </a:t>
            </a:r>
            <a:endParaRPr lang="en-GB" dirty="0" smtClean="0">
              <a:latin typeface="Arial" pitchFamily="34" charset="0"/>
              <a:cs typeface="Arial" pitchFamily="34" charset="0"/>
            </a:endParaRPr>
          </a:p>
          <a:p>
            <a:pPr eaLnBrk="1" hangingPunct="1">
              <a:spcBef>
                <a:spcPct val="0"/>
              </a:spcBef>
            </a:pPr>
            <a:r>
              <a:rPr lang="en-GB" dirty="0" smtClean="0">
                <a:latin typeface="Arial" pitchFamily="34" charset="0"/>
                <a:cs typeface="Arial" pitchFamily="34" charset="0"/>
              </a:rPr>
              <a:t>For many years, UNICEF invested in training TBAs (traditional</a:t>
            </a:r>
            <a:r>
              <a:rPr lang="en-GB" baseline="0" dirty="0" smtClean="0">
                <a:latin typeface="Arial" pitchFamily="34" charset="0"/>
                <a:cs typeface="Arial" pitchFamily="34" charset="0"/>
              </a:rPr>
              <a:t> birth attendant)</a:t>
            </a:r>
            <a:r>
              <a:rPr lang="en-GB" dirty="0" smtClean="0">
                <a:latin typeface="Arial" pitchFamily="34" charset="0"/>
                <a:cs typeface="Arial" pitchFamily="34" charset="0"/>
              </a:rPr>
              <a:t>, however without any significant reduction in maternal deaths or child death during birth. </a:t>
            </a:r>
          </a:p>
          <a:p>
            <a:pPr eaLnBrk="1" hangingPunct="1">
              <a:spcBef>
                <a:spcPct val="0"/>
              </a:spcBef>
            </a:pPr>
            <a:endParaRPr lang="en-GB" dirty="0" smtClean="0">
              <a:latin typeface="Arial" pitchFamily="34" charset="0"/>
              <a:cs typeface="Arial" pitchFamily="34" charset="0"/>
            </a:endParaRPr>
          </a:p>
          <a:p>
            <a:pPr eaLnBrk="1" hangingPunct="1">
              <a:spcBef>
                <a:spcPct val="0"/>
              </a:spcBef>
            </a:pPr>
            <a:r>
              <a:rPr lang="en-GB" dirty="0" smtClean="0">
                <a:latin typeface="Arial" pitchFamily="34" charset="0"/>
                <a:cs typeface="Arial" pitchFamily="34" charset="0"/>
              </a:rPr>
              <a:t>Why? </a:t>
            </a:r>
          </a:p>
          <a:p>
            <a:pPr eaLnBrk="1" hangingPunct="1">
              <a:spcBef>
                <a:spcPct val="0"/>
              </a:spcBef>
            </a:pPr>
            <a:endParaRPr lang="en-GB" dirty="0" smtClean="0">
              <a:latin typeface="Arial" pitchFamily="34" charset="0"/>
              <a:cs typeface="Arial" pitchFamily="34" charset="0"/>
            </a:endParaRPr>
          </a:p>
          <a:p>
            <a:pPr eaLnBrk="1" hangingPunct="1">
              <a:spcBef>
                <a:spcPct val="0"/>
              </a:spcBef>
            </a:pPr>
            <a:r>
              <a:rPr lang="en-GB" dirty="0" smtClean="0">
                <a:latin typeface="Arial" pitchFamily="34" charset="0"/>
                <a:cs typeface="Arial" pitchFamily="34" charset="0"/>
              </a:rPr>
              <a:t>Because the lack of knowledge or skills was just one factor that contributed to maternal death. Any obstetric emergency needs to be dealt with by a doctor in a sufficiently equipped health facility. Therefore, without rapid access to those facilities and without skilled doctors being available, the training of TBAs did little to reduce MMR.</a:t>
            </a:r>
          </a:p>
          <a:p>
            <a:pPr eaLnBrk="1" hangingPunct="1">
              <a:spcBef>
                <a:spcPct val="0"/>
              </a:spcBef>
            </a:pPr>
            <a:endParaRPr lang="en-GB" sz="2800" dirty="0" smtClean="0">
              <a:latin typeface="Arial" pitchFamily="34" charset="0"/>
              <a:cs typeface="Arial" pitchFamily="34" charset="0"/>
            </a:endParaRPr>
          </a:p>
          <a:p>
            <a:pPr eaLnBrk="1" hangingPunct="1">
              <a:spcBef>
                <a:spcPct val="0"/>
              </a:spcBef>
            </a:pPr>
            <a:r>
              <a:rPr lang="en-GB" dirty="0" smtClean="0">
                <a:latin typeface="Arial" pitchFamily="34" charset="0"/>
                <a:cs typeface="Arial" pitchFamily="34" charset="0"/>
              </a:rPr>
              <a:t>Most programmes meant to increase girls enrolment and completion over the last dozens of years worked only with the Ministry of Education, trying to improve the school system. The programmes did not consider, for instance, the value that families and communities attach to girls education (i.e. very little value), or the lack of job opportunities for educated girls. If more girls were to complete education, these other issues need to be addressed as well.</a:t>
            </a:r>
          </a:p>
          <a:p>
            <a:endParaRPr lang="en-US" dirty="0"/>
          </a:p>
        </p:txBody>
      </p:sp>
      <p:sp>
        <p:nvSpPr>
          <p:cNvPr id="4" name="Slide Number Placeholder 3"/>
          <p:cNvSpPr>
            <a:spLocks noGrp="1"/>
          </p:cNvSpPr>
          <p:nvPr>
            <p:ph type="sldNum" sz="quarter" idx="10"/>
          </p:nvPr>
        </p:nvSpPr>
        <p:spPr/>
        <p:txBody>
          <a:bodyPr/>
          <a:lstStyle/>
          <a:p>
            <a:fld id="{5C4F3281-3907-4CB3-99D0-7C3EB1A17FF8}" type="slidenum">
              <a:rPr lang="en-US" smtClean="0"/>
              <a:t>27</a:t>
            </a:fld>
            <a:endParaRPr lang="en-US"/>
          </a:p>
        </p:txBody>
      </p:sp>
    </p:spTree>
    <p:extLst>
      <p:ext uri="{BB962C8B-B14F-4D97-AF65-F5344CB8AC3E}">
        <p14:creationId xmlns:p14="http://schemas.microsoft.com/office/powerpoint/2010/main" val="2437897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Equity focus:</a:t>
            </a:r>
          </a:p>
          <a:p>
            <a:pPr marL="628650" lvl="1" indent="-171450">
              <a:buFontTx/>
              <a:buChar char="-"/>
            </a:pPr>
            <a:r>
              <a:rPr lang="en-US" dirty="0" smtClean="0"/>
              <a:t>Reaching</a:t>
            </a:r>
            <a:r>
              <a:rPr lang="en-US" baseline="0" dirty="0" smtClean="0"/>
              <a:t> the most deprived and vulnerable</a:t>
            </a:r>
          </a:p>
          <a:p>
            <a:pPr marL="628650" lvl="1" indent="-171450">
              <a:buFontTx/>
              <a:buChar char="-"/>
            </a:pPr>
            <a:r>
              <a:rPr lang="en-US" dirty="0" smtClean="0"/>
              <a:t>Differentiation</a:t>
            </a:r>
            <a:r>
              <a:rPr lang="en-US" baseline="0" dirty="0" smtClean="0"/>
              <a:t> with equality</a:t>
            </a:r>
          </a:p>
          <a:p>
            <a:pPr marL="171450" lvl="0" indent="-171450">
              <a:buFontTx/>
              <a:buChar char="-"/>
            </a:pPr>
            <a:r>
              <a:rPr lang="en-US" dirty="0" smtClean="0"/>
              <a:t>MTSP:</a:t>
            </a:r>
          </a:p>
          <a:p>
            <a:pPr marL="628650" lvl="1" indent="-171450">
              <a:buFontTx/>
              <a:buChar char="-"/>
            </a:pPr>
            <a:r>
              <a:rPr lang="en-US" dirty="0" smtClean="0"/>
              <a:t>7 outcomes areas (education #4)</a:t>
            </a:r>
            <a:r>
              <a:rPr lang="en-US" baseline="0" dirty="0" smtClean="0"/>
              <a:t> with linkages / synergies</a:t>
            </a:r>
          </a:p>
          <a:p>
            <a:pPr marL="628650" lvl="1" indent="-171450">
              <a:buFontTx/>
              <a:buChar char="-"/>
            </a:pPr>
            <a:r>
              <a:rPr lang="en-US" baseline="0" dirty="0" smtClean="0"/>
              <a:t>Each SP outcome areas contributes on its own to reducing inequities + collectively, even greater result through synergies</a:t>
            </a:r>
          </a:p>
          <a:p>
            <a:pPr marL="628650" lvl="1" indent="-171450">
              <a:buFontTx/>
              <a:buChar char="-"/>
            </a:pPr>
            <a:r>
              <a:rPr lang="en-US" baseline="0" dirty="0" smtClean="0"/>
              <a:t>Each SP has its own </a:t>
            </a:r>
            <a:r>
              <a:rPr lang="en-US" baseline="0" dirty="0" err="1" smtClean="0"/>
              <a:t>ToC</a:t>
            </a:r>
            <a:endParaRPr lang="en-US" baseline="0" dirty="0" smtClean="0"/>
          </a:p>
          <a:p>
            <a:pPr marL="628650" lvl="1" indent="-171450">
              <a:buFontTx/>
              <a:buChar char="-"/>
            </a:pPr>
            <a:r>
              <a:rPr lang="en-GB" sz="1200" kern="1200" dirty="0" smtClean="0">
                <a:solidFill>
                  <a:schemeClr val="tx1"/>
                </a:solidFill>
                <a:effectLst/>
                <a:latin typeface="+mn-lt"/>
                <a:ea typeface="+mn-ea"/>
                <a:cs typeface="+mn-cs"/>
              </a:rPr>
              <a:t>SP results framework has impact, outcome and output results, and each with indicator, baseline and target.   </a:t>
            </a:r>
            <a:endParaRPr lang="en-US" baseline="0" dirty="0" smtClean="0"/>
          </a:p>
          <a:p>
            <a:pPr marL="171450" lvl="0" indent="-171450">
              <a:buFontTx/>
              <a:buChar char="-"/>
            </a:pPr>
            <a:r>
              <a:rPr lang="en-US" dirty="0" smtClean="0"/>
              <a:t>SDGs:</a:t>
            </a:r>
          </a:p>
          <a:p>
            <a:pPr marL="628650" lvl="1" indent="-171450">
              <a:buFontTx/>
              <a:buChar char="-"/>
            </a:pPr>
            <a:r>
              <a:rPr lang="en-GB" sz="1200" kern="1200" dirty="0" smtClean="0">
                <a:solidFill>
                  <a:schemeClr val="tx1"/>
                </a:solidFill>
                <a:effectLst/>
                <a:latin typeface="+mn-lt"/>
                <a:ea typeface="+mn-ea"/>
                <a:cs typeface="+mn-cs"/>
              </a:rPr>
              <a:t>Equitable results for all children, ‘leave no one behind’ Perhaps the most fundamental lesson of the MDGs was that, due to their focus on national averages and global aggregates, they failed to account for stagnating progress or – in some cases – growing inequalities among income and social groups and along gender lines. </a:t>
            </a:r>
            <a:endParaRPr lang="en-US" dirty="0" smtClean="0"/>
          </a:p>
          <a:p>
            <a:pPr marL="628650" lvl="1" indent="-171450">
              <a:buFontTx/>
              <a:buChar char="-"/>
            </a:pPr>
            <a:endParaRPr lang="en-US" dirty="0" smtClean="0"/>
          </a:p>
          <a:p>
            <a:pPr marL="171450" lvl="0" indent="-171450">
              <a:buFontTx/>
              <a:buChar char="-"/>
            </a:pPr>
            <a:r>
              <a:rPr lang="en-US" dirty="0" smtClean="0"/>
              <a:t>Humanitarian</a:t>
            </a:r>
            <a:r>
              <a:rPr lang="en-US" baseline="0" dirty="0" smtClean="0"/>
              <a:t> Imperatives:</a:t>
            </a:r>
          </a:p>
          <a:p>
            <a:pPr marL="628650" lvl="1" indent="-171450">
              <a:buFontTx/>
              <a:buChar char="-"/>
            </a:pPr>
            <a:r>
              <a:rPr lang="en-US" dirty="0" smtClean="0"/>
              <a:t>As heard this morning, </a:t>
            </a:r>
            <a:r>
              <a:rPr lang="en-GB" sz="1200" kern="1200" dirty="0" smtClean="0">
                <a:solidFill>
                  <a:schemeClr val="tx1"/>
                </a:solidFill>
                <a:effectLst/>
                <a:latin typeface="+mn-lt"/>
                <a:ea typeface="+mn-ea"/>
                <a:cs typeface="+mn-cs"/>
              </a:rPr>
              <a:t>Shocks, including disasters and violent conflict are a threat to development</a:t>
            </a:r>
          </a:p>
          <a:p>
            <a:pPr marL="628650" lvl="1" indent="-171450">
              <a:buFontTx/>
              <a:buChar char="-"/>
            </a:pPr>
            <a:r>
              <a:rPr lang="en-GB" sz="1200" kern="1200" dirty="0" smtClean="0">
                <a:solidFill>
                  <a:schemeClr val="tx1"/>
                </a:solidFill>
                <a:effectLst/>
                <a:latin typeface="+mn-lt"/>
                <a:ea typeface="+mn-ea"/>
                <a:cs typeface="+mn-cs"/>
              </a:rPr>
              <a:t>Building resilient and sustainable societies means addressing existing and future risks in development planning and budgeting. </a:t>
            </a:r>
          </a:p>
          <a:p>
            <a:pPr marL="171450" lvl="0" indent="-171450">
              <a:buFontTx/>
              <a:buChar char="-"/>
            </a:pPr>
            <a:endParaRPr lang="en-GB" kern="1200" dirty="0" smtClean="0">
              <a:solidFill>
                <a:schemeClr val="tx1"/>
              </a:solidFill>
              <a:effectLst/>
              <a:latin typeface="+mn-lt"/>
              <a:ea typeface="+mn-ea"/>
              <a:cs typeface="+mn-cs"/>
            </a:endParaRPr>
          </a:p>
          <a:p>
            <a:pPr marL="171450" lvl="0" indent="-171450">
              <a:buFontTx/>
              <a:buChar char="-"/>
            </a:pPr>
            <a:r>
              <a:rPr lang="en-GB" kern="1200" dirty="0" smtClean="0">
                <a:solidFill>
                  <a:schemeClr val="tx1"/>
                </a:solidFill>
                <a:effectLst/>
                <a:latin typeface="+mn-lt"/>
                <a:ea typeface="+mn-ea"/>
                <a:cs typeface="+mn-cs"/>
              </a:rPr>
              <a:t>Reporting on results / transparency</a:t>
            </a:r>
          </a:p>
          <a:p>
            <a:pPr marL="628650" lvl="1" indent="-171450">
              <a:buFontTx/>
              <a:buChar char="-"/>
            </a:pPr>
            <a:r>
              <a:rPr lang="en-GB" sz="1200" kern="1200" dirty="0" smtClean="0">
                <a:solidFill>
                  <a:schemeClr val="tx1"/>
                </a:solidFill>
                <a:effectLst/>
                <a:latin typeface="+mn-lt"/>
                <a:ea typeface="+mn-ea"/>
                <a:cs typeface="+mn-cs"/>
              </a:rPr>
              <a:t>Accountability communication to the outside world on how and where UNICEF uses resources to leverage and achieve results for children.  </a:t>
            </a:r>
            <a:endParaRPr lang="en-US" sz="1200" kern="1200" dirty="0" smtClean="0">
              <a:solidFill>
                <a:schemeClr val="tx1"/>
              </a:solidFill>
              <a:effectLst/>
              <a:latin typeface="+mn-lt"/>
              <a:ea typeface="+mn-ea"/>
              <a:cs typeface="+mn-cs"/>
            </a:endParaRPr>
          </a:p>
          <a:p>
            <a:pPr marL="628650" lvl="1" indent="-171450">
              <a:buFontTx/>
              <a:buChar char="-"/>
            </a:pPr>
            <a:r>
              <a:rPr lang="en-GB" sz="1200" kern="1200" dirty="0" smtClean="0">
                <a:solidFill>
                  <a:schemeClr val="tx1"/>
                </a:solidFill>
                <a:effectLst/>
                <a:latin typeface="+mn-lt"/>
                <a:ea typeface="+mn-ea"/>
                <a:cs typeface="+mn-cs"/>
              </a:rPr>
              <a:t>Enhance UNICEF’s visibility among key stakeholders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171450" lvl="0" indent="-171450">
              <a:buFontTx/>
              <a:buChar char="-"/>
            </a:pPr>
            <a:r>
              <a:rPr lang="en-US" sz="1200" kern="1200" dirty="0" smtClean="0">
                <a:solidFill>
                  <a:schemeClr val="tx1"/>
                </a:solidFill>
                <a:effectLst/>
                <a:latin typeface="+mn-lt"/>
                <a:ea typeface="+mn-ea"/>
                <a:cs typeface="+mn-cs"/>
              </a:rPr>
              <a:t>Funding</a:t>
            </a:r>
            <a:r>
              <a:rPr lang="en-US" sz="1200" kern="1200" baseline="0" dirty="0" smtClean="0">
                <a:solidFill>
                  <a:schemeClr val="tx1"/>
                </a:solidFill>
                <a:effectLst/>
                <a:latin typeface="+mn-lt"/>
                <a:ea typeface="+mn-ea"/>
                <a:cs typeface="+mn-cs"/>
              </a:rPr>
              <a:t> and Donors: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kern="1200" dirty="0" smtClean="0">
                <a:solidFill>
                  <a:schemeClr val="tx1"/>
                </a:solidFill>
                <a:effectLst/>
                <a:latin typeface="+mn-lt"/>
                <a:ea typeface="+mn-ea"/>
                <a:cs typeface="+mn-cs"/>
              </a:rPr>
              <a:t>Improve UNICEF’s ability to leverage results and resources for children as donors are increasingly including transparency, and in particular IATI compliance as part of their assessment criteria of potential aid recipients.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C4F3281-3907-4CB3-99D0-7C3EB1A17FF8}" type="slidenum">
              <a:rPr lang="en-US" smtClean="0"/>
              <a:t>31</a:t>
            </a:fld>
            <a:endParaRPr lang="en-US"/>
          </a:p>
        </p:txBody>
      </p:sp>
    </p:spTree>
    <p:extLst>
      <p:ext uri="{BB962C8B-B14F-4D97-AF65-F5344CB8AC3E}">
        <p14:creationId xmlns:p14="http://schemas.microsoft.com/office/powerpoint/2010/main" val="40420418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ct val="0"/>
              </a:spcBef>
              <a:spcAft>
                <a:spcPts val="0"/>
              </a:spcAft>
              <a:buClrTx/>
              <a:buSzTx/>
              <a:buFontTx/>
              <a:buNone/>
              <a:tabLst/>
              <a:defRPr/>
            </a:pPr>
            <a:r>
              <a:rPr lang="en-US" sz="1200" dirty="0" smtClean="0"/>
              <a:t>If a problem is caused by three conditions, addressing only one or two conditions will not ensure that the problem will be solved. </a:t>
            </a:r>
            <a:endParaRPr lang="en-GB" dirty="0" smtClean="0">
              <a:latin typeface="Arial" pitchFamily="34" charset="0"/>
              <a:cs typeface="Arial" pitchFamily="34" charset="0"/>
            </a:endParaRPr>
          </a:p>
          <a:p>
            <a:pPr eaLnBrk="1" hangingPunct="1">
              <a:spcBef>
                <a:spcPct val="0"/>
              </a:spcBef>
            </a:pPr>
            <a:r>
              <a:rPr lang="en-GB" dirty="0" smtClean="0">
                <a:latin typeface="Arial" pitchFamily="34" charset="0"/>
                <a:cs typeface="Arial" pitchFamily="34" charset="0"/>
              </a:rPr>
              <a:t>For many years, UNICEF invested in training TBAs (traditional</a:t>
            </a:r>
            <a:r>
              <a:rPr lang="en-GB" baseline="0" dirty="0" smtClean="0">
                <a:latin typeface="Arial" pitchFamily="34" charset="0"/>
                <a:cs typeface="Arial" pitchFamily="34" charset="0"/>
              </a:rPr>
              <a:t> birth attendant)</a:t>
            </a:r>
            <a:r>
              <a:rPr lang="en-GB" dirty="0" smtClean="0">
                <a:latin typeface="Arial" pitchFamily="34" charset="0"/>
                <a:cs typeface="Arial" pitchFamily="34" charset="0"/>
              </a:rPr>
              <a:t>, however without any significant reduction in maternal deaths or child death during birth. </a:t>
            </a:r>
          </a:p>
          <a:p>
            <a:pPr eaLnBrk="1" hangingPunct="1">
              <a:spcBef>
                <a:spcPct val="0"/>
              </a:spcBef>
            </a:pPr>
            <a:endParaRPr lang="en-GB" dirty="0" smtClean="0">
              <a:latin typeface="Arial" pitchFamily="34" charset="0"/>
              <a:cs typeface="Arial" pitchFamily="34" charset="0"/>
            </a:endParaRPr>
          </a:p>
          <a:p>
            <a:pPr eaLnBrk="1" hangingPunct="1">
              <a:spcBef>
                <a:spcPct val="0"/>
              </a:spcBef>
            </a:pPr>
            <a:r>
              <a:rPr lang="en-GB" dirty="0" smtClean="0">
                <a:latin typeface="Arial" pitchFamily="34" charset="0"/>
                <a:cs typeface="Arial" pitchFamily="34" charset="0"/>
              </a:rPr>
              <a:t>Why? </a:t>
            </a:r>
          </a:p>
          <a:p>
            <a:pPr eaLnBrk="1" hangingPunct="1">
              <a:spcBef>
                <a:spcPct val="0"/>
              </a:spcBef>
            </a:pPr>
            <a:endParaRPr lang="en-GB" dirty="0" smtClean="0">
              <a:latin typeface="Arial" pitchFamily="34" charset="0"/>
              <a:cs typeface="Arial" pitchFamily="34" charset="0"/>
            </a:endParaRPr>
          </a:p>
          <a:p>
            <a:pPr eaLnBrk="1" hangingPunct="1">
              <a:spcBef>
                <a:spcPct val="0"/>
              </a:spcBef>
            </a:pPr>
            <a:r>
              <a:rPr lang="en-GB" dirty="0" smtClean="0">
                <a:latin typeface="Arial" pitchFamily="34" charset="0"/>
                <a:cs typeface="Arial" pitchFamily="34" charset="0"/>
              </a:rPr>
              <a:t>Because the lack of knowledge or skills was just one factor that contributed to maternal death. Any obstetric emergency needs to be dealt with by a doctor in a sufficiently equipped health facility. Therefore, without rapid access to those facilities and without skilled doctors being available, the training of TBAs did little to reduce MMR.</a:t>
            </a:r>
          </a:p>
          <a:p>
            <a:pPr eaLnBrk="1" hangingPunct="1">
              <a:spcBef>
                <a:spcPct val="0"/>
              </a:spcBef>
            </a:pPr>
            <a:endParaRPr lang="en-GB" sz="2800" dirty="0" smtClean="0">
              <a:latin typeface="Arial" pitchFamily="34" charset="0"/>
              <a:cs typeface="Arial" pitchFamily="34" charset="0"/>
            </a:endParaRPr>
          </a:p>
          <a:p>
            <a:pPr eaLnBrk="1" hangingPunct="1">
              <a:spcBef>
                <a:spcPct val="0"/>
              </a:spcBef>
            </a:pPr>
            <a:r>
              <a:rPr lang="en-GB" dirty="0" smtClean="0">
                <a:latin typeface="Arial" pitchFamily="34" charset="0"/>
                <a:cs typeface="Arial" pitchFamily="34" charset="0"/>
              </a:rPr>
              <a:t>Most programmes meant to increase girls enrolment and completion over the last dozens of years worked only with the Ministry of Education, trying to improve the school system. The programmes did not consider, for instance, the value that families and communities attach to girls education (i.e. very little value), or the lack of job opportunities for educated girls. If more girls were to complete education, these other issues need to be addressed as well.</a:t>
            </a:r>
          </a:p>
          <a:p>
            <a:endParaRPr lang="en-US" dirty="0"/>
          </a:p>
        </p:txBody>
      </p:sp>
      <p:sp>
        <p:nvSpPr>
          <p:cNvPr id="4" name="Slide Number Placeholder 3"/>
          <p:cNvSpPr>
            <a:spLocks noGrp="1"/>
          </p:cNvSpPr>
          <p:nvPr>
            <p:ph type="sldNum" sz="quarter" idx="10"/>
          </p:nvPr>
        </p:nvSpPr>
        <p:spPr/>
        <p:txBody>
          <a:bodyPr/>
          <a:lstStyle/>
          <a:p>
            <a:fld id="{5C4F3281-3907-4CB3-99D0-7C3EB1A17FF8}" type="slidenum">
              <a:rPr lang="en-US" smtClean="0"/>
              <a:t>35</a:t>
            </a:fld>
            <a:endParaRPr lang="en-US"/>
          </a:p>
        </p:txBody>
      </p:sp>
    </p:spTree>
    <p:extLst>
      <p:ext uri="{BB962C8B-B14F-4D97-AF65-F5344CB8AC3E}">
        <p14:creationId xmlns:p14="http://schemas.microsoft.com/office/powerpoint/2010/main" val="25160627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ct val="0"/>
              </a:spcBef>
              <a:spcAft>
                <a:spcPts val="0"/>
              </a:spcAft>
              <a:buClrTx/>
              <a:buSzTx/>
              <a:buFontTx/>
              <a:buNone/>
              <a:tabLst/>
              <a:defRPr/>
            </a:pPr>
            <a:r>
              <a:rPr lang="en-US" sz="1200" dirty="0" smtClean="0"/>
              <a:t>If a problem is caused by three conditions, addressing only one or two conditions will not ensure that the problem will be solved. </a:t>
            </a:r>
            <a:endParaRPr lang="en-GB" dirty="0" smtClean="0">
              <a:latin typeface="Arial" pitchFamily="34" charset="0"/>
              <a:cs typeface="Arial" pitchFamily="34" charset="0"/>
            </a:endParaRPr>
          </a:p>
          <a:p>
            <a:pPr eaLnBrk="1" hangingPunct="1">
              <a:spcBef>
                <a:spcPct val="0"/>
              </a:spcBef>
            </a:pPr>
            <a:r>
              <a:rPr lang="en-GB" dirty="0" smtClean="0">
                <a:latin typeface="Arial" pitchFamily="34" charset="0"/>
                <a:cs typeface="Arial" pitchFamily="34" charset="0"/>
              </a:rPr>
              <a:t>For many years, UNICEF invested in training TBAs (traditional</a:t>
            </a:r>
            <a:r>
              <a:rPr lang="en-GB" baseline="0" dirty="0" smtClean="0">
                <a:latin typeface="Arial" pitchFamily="34" charset="0"/>
                <a:cs typeface="Arial" pitchFamily="34" charset="0"/>
              </a:rPr>
              <a:t> birth attendant)</a:t>
            </a:r>
            <a:r>
              <a:rPr lang="en-GB" dirty="0" smtClean="0">
                <a:latin typeface="Arial" pitchFamily="34" charset="0"/>
                <a:cs typeface="Arial" pitchFamily="34" charset="0"/>
              </a:rPr>
              <a:t>, however without any significant reduction in maternal deaths or child death during birth. </a:t>
            </a:r>
          </a:p>
          <a:p>
            <a:pPr eaLnBrk="1" hangingPunct="1">
              <a:spcBef>
                <a:spcPct val="0"/>
              </a:spcBef>
            </a:pPr>
            <a:endParaRPr lang="en-GB" dirty="0" smtClean="0">
              <a:latin typeface="Arial" pitchFamily="34" charset="0"/>
              <a:cs typeface="Arial" pitchFamily="34" charset="0"/>
            </a:endParaRPr>
          </a:p>
          <a:p>
            <a:pPr eaLnBrk="1" hangingPunct="1">
              <a:spcBef>
                <a:spcPct val="0"/>
              </a:spcBef>
            </a:pPr>
            <a:r>
              <a:rPr lang="en-GB" dirty="0" smtClean="0">
                <a:latin typeface="Arial" pitchFamily="34" charset="0"/>
                <a:cs typeface="Arial" pitchFamily="34" charset="0"/>
              </a:rPr>
              <a:t>Why? </a:t>
            </a:r>
          </a:p>
          <a:p>
            <a:pPr eaLnBrk="1" hangingPunct="1">
              <a:spcBef>
                <a:spcPct val="0"/>
              </a:spcBef>
            </a:pPr>
            <a:endParaRPr lang="en-GB" dirty="0" smtClean="0">
              <a:latin typeface="Arial" pitchFamily="34" charset="0"/>
              <a:cs typeface="Arial" pitchFamily="34" charset="0"/>
            </a:endParaRPr>
          </a:p>
          <a:p>
            <a:pPr eaLnBrk="1" hangingPunct="1">
              <a:spcBef>
                <a:spcPct val="0"/>
              </a:spcBef>
            </a:pPr>
            <a:r>
              <a:rPr lang="en-GB" dirty="0" smtClean="0">
                <a:latin typeface="Arial" pitchFamily="34" charset="0"/>
                <a:cs typeface="Arial" pitchFamily="34" charset="0"/>
              </a:rPr>
              <a:t>Because the lack of knowledge or skills was just one factor that contributed to maternal death. Any obstetric emergency needs to be dealt with by a doctor in a sufficiently equipped health facility. Therefore, without rapid access to those facilities and without skilled doctors being available, the training of TBAs did little to reduce MMR.</a:t>
            </a:r>
          </a:p>
          <a:p>
            <a:pPr eaLnBrk="1" hangingPunct="1">
              <a:spcBef>
                <a:spcPct val="0"/>
              </a:spcBef>
            </a:pPr>
            <a:endParaRPr lang="en-GB" sz="2800" dirty="0" smtClean="0">
              <a:latin typeface="Arial" pitchFamily="34" charset="0"/>
              <a:cs typeface="Arial" pitchFamily="34" charset="0"/>
            </a:endParaRPr>
          </a:p>
          <a:p>
            <a:pPr eaLnBrk="1" hangingPunct="1">
              <a:spcBef>
                <a:spcPct val="0"/>
              </a:spcBef>
            </a:pPr>
            <a:r>
              <a:rPr lang="en-GB" dirty="0" smtClean="0">
                <a:latin typeface="Arial" pitchFamily="34" charset="0"/>
                <a:cs typeface="Arial" pitchFamily="34" charset="0"/>
              </a:rPr>
              <a:t>Most programmes meant to increase girls enrolment and completion over the last dozens of years worked only with the Ministry of Education, trying to improve the school system. The programmes did not consider, for instance, the value that families and communities attach to girls education (i.e. very little value), or the lack of job opportunities for educated girls. If more girls were to complete education, these other issues need to be addressed as well.</a:t>
            </a:r>
          </a:p>
          <a:p>
            <a:endParaRPr lang="en-US" dirty="0"/>
          </a:p>
        </p:txBody>
      </p:sp>
      <p:sp>
        <p:nvSpPr>
          <p:cNvPr id="4" name="Slide Number Placeholder 3"/>
          <p:cNvSpPr>
            <a:spLocks noGrp="1"/>
          </p:cNvSpPr>
          <p:nvPr>
            <p:ph type="sldNum" sz="quarter" idx="10"/>
          </p:nvPr>
        </p:nvSpPr>
        <p:spPr/>
        <p:txBody>
          <a:bodyPr/>
          <a:lstStyle/>
          <a:p>
            <a:fld id="{5C4F3281-3907-4CB3-99D0-7C3EB1A17FF8}" type="slidenum">
              <a:rPr lang="en-US" smtClean="0"/>
              <a:t>36</a:t>
            </a:fld>
            <a:endParaRPr lang="en-US"/>
          </a:p>
        </p:txBody>
      </p:sp>
    </p:spTree>
    <p:extLst>
      <p:ext uri="{BB962C8B-B14F-4D97-AF65-F5344CB8AC3E}">
        <p14:creationId xmlns:p14="http://schemas.microsoft.com/office/powerpoint/2010/main" val="24181152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buFont typeface="Wingdings" panose="05000000000000000000" pitchFamily="2" charset="2"/>
              <a:buChar char="§"/>
            </a:pPr>
            <a:r>
              <a:rPr lang="en-US" dirty="0" smtClean="0"/>
              <a:t>UNICEF cannot address all deprivations.  It has to focus its interventions on a few priority areas</a:t>
            </a:r>
          </a:p>
          <a:p>
            <a:pPr fontAlgn="base">
              <a:buFont typeface="Wingdings" panose="05000000000000000000" pitchFamily="2" charset="2"/>
              <a:buChar char="§"/>
            </a:pPr>
            <a:r>
              <a:rPr lang="en-US" dirty="0" smtClean="0"/>
              <a:t>Central to prioritization is the notion of UNICEF’s </a:t>
            </a:r>
            <a:r>
              <a:rPr lang="en-US" b="1" dirty="0" smtClean="0"/>
              <a:t>comparative advantage </a:t>
            </a:r>
            <a:r>
              <a:rPr lang="en-US" dirty="0" smtClean="0"/>
              <a:t>having the mandate, resources and capacity to act effectively</a:t>
            </a:r>
          </a:p>
          <a:p>
            <a:pPr fontAlgn="base">
              <a:buFont typeface="Wingdings" panose="05000000000000000000" pitchFamily="2" charset="2"/>
              <a:buChar char="§"/>
            </a:pPr>
            <a:r>
              <a:rPr lang="en-US" dirty="0" smtClean="0"/>
              <a:t>Five </a:t>
            </a:r>
            <a:r>
              <a:rPr lang="en-US" b="1" dirty="0" smtClean="0"/>
              <a:t>key filters</a:t>
            </a:r>
            <a:r>
              <a:rPr lang="en-US" dirty="0" smtClean="0"/>
              <a:t> can support prioritization and selection of programme areas that UNICEF should address in a CPD</a:t>
            </a:r>
          </a:p>
          <a:p>
            <a:pPr fontAlgn="base">
              <a:buFont typeface="Wingdings" panose="05000000000000000000" pitchFamily="2" charset="2"/>
              <a:buChar char="§"/>
            </a:pPr>
            <a:r>
              <a:rPr lang="en-US" dirty="0" smtClean="0"/>
              <a:t>A “</a:t>
            </a:r>
            <a:r>
              <a:rPr lang="en-US" b="1" dirty="0" smtClean="0"/>
              <a:t>prioritization funnel</a:t>
            </a:r>
            <a:r>
              <a:rPr lang="en-US" dirty="0" smtClean="0"/>
              <a:t>” helps guide consideration of the mutually reinforcing criteria or filters to choose and select projects and programmes, including their strategies.</a:t>
            </a:r>
          </a:p>
          <a:p>
            <a:endParaRPr lang="en-US" dirty="0"/>
          </a:p>
        </p:txBody>
      </p:sp>
      <p:sp>
        <p:nvSpPr>
          <p:cNvPr id="4" name="Slide Number Placeholder 3"/>
          <p:cNvSpPr>
            <a:spLocks noGrp="1"/>
          </p:cNvSpPr>
          <p:nvPr>
            <p:ph type="sldNum" sz="quarter" idx="10"/>
          </p:nvPr>
        </p:nvSpPr>
        <p:spPr/>
        <p:txBody>
          <a:bodyPr/>
          <a:lstStyle/>
          <a:p>
            <a:fld id="{5C4F3281-3907-4CB3-99D0-7C3EB1A17FF8}" type="slidenum">
              <a:rPr lang="en-US" smtClean="0"/>
              <a:t>37</a:t>
            </a:fld>
            <a:endParaRPr lang="en-US"/>
          </a:p>
        </p:txBody>
      </p:sp>
    </p:spTree>
    <p:extLst>
      <p:ext uri="{BB962C8B-B14F-4D97-AF65-F5344CB8AC3E}">
        <p14:creationId xmlns:p14="http://schemas.microsoft.com/office/powerpoint/2010/main" val="1841053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ct val="0"/>
              </a:spcBef>
              <a:spcAft>
                <a:spcPts val="0"/>
              </a:spcAft>
              <a:buClrTx/>
              <a:buSzTx/>
              <a:buFontTx/>
              <a:buNone/>
              <a:tabLst/>
              <a:defRPr/>
            </a:pPr>
            <a:r>
              <a:rPr lang="en-US" sz="1200" dirty="0" smtClean="0"/>
              <a:t>If a problem is caused by three conditions, addressing only one or two conditions will not ensure that the problem will be solved. </a:t>
            </a:r>
            <a:endParaRPr lang="en-GB" dirty="0" smtClean="0">
              <a:latin typeface="Arial" pitchFamily="34" charset="0"/>
              <a:cs typeface="Arial" pitchFamily="34" charset="0"/>
            </a:endParaRPr>
          </a:p>
          <a:p>
            <a:pPr eaLnBrk="1" hangingPunct="1">
              <a:spcBef>
                <a:spcPct val="0"/>
              </a:spcBef>
            </a:pPr>
            <a:r>
              <a:rPr lang="en-GB" dirty="0" smtClean="0">
                <a:latin typeface="Arial" pitchFamily="34" charset="0"/>
                <a:cs typeface="Arial" pitchFamily="34" charset="0"/>
              </a:rPr>
              <a:t>For many years, UNICEF invested in training TBAs (traditional</a:t>
            </a:r>
            <a:r>
              <a:rPr lang="en-GB" baseline="0" dirty="0" smtClean="0">
                <a:latin typeface="Arial" pitchFamily="34" charset="0"/>
                <a:cs typeface="Arial" pitchFamily="34" charset="0"/>
              </a:rPr>
              <a:t> birth attendant)</a:t>
            </a:r>
            <a:r>
              <a:rPr lang="en-GB" dirty="0" smtClean="0">
                <a:latin typeface="Arial" pitchFamily="34" charset="0"/>
                <a:cs typeface="Arial" pitchFamily="34" charset="0"/>
              </a:rPr>
              <a:t>, however without any significant reduction in maternal deaths or child death during birth. </a:t>
            </a:r>
          </a:p>
          <a:p>
            <a:pPr eaLnBrk="1" hangingPunct="1">
              <a:spcBef>
                <a:spcPct val="0"/>
              </a:spcBef>
            </a:pPr>
            <a:endParaRPr lang="en-GB" dirty="0" smtClean="0">
              <a:latin typeface="Arial" pitchFamily="34" charset="0"/>
              <a:cs typeface="Arial" pitchFamily="34" charset="0"/>
            </a:endParaRPr>
          </a:p>
          <a:p>
            <a:pPr eaLnBrk="1" hangingPunct="1">
              <a:spcBef>
                <a:spcPct val="0"/>
              </a:spcBef>
            </a:pPr>
            <a:r>
              <a:rPr lang="en-GB" dirty="0" smtClean="0">
                <a:latin typeface="Arial" pitchFamily="34" charset="0"/>
                <a:cs typeface="Arial" pitchFamily="34" charset="0"/>
              </a:rPr>
              <a:t>Why? </a:t>
            </a:r>
          </a:p>
          <a:p>
            <a:pPr eaLnBrk="1" hangingPunct="1">
              <a:spcBef>
                <a:spcPct val="0"/>
              </a:spcBef>
            </a:pPr>
            <a:endParaRPr lang="en-GB" dirty="0" smtClean="0">
              <a:latin typeface="Arial" pitchFamily="34" charset="0"/>
              <a:cs typeface="Arial" pitchFamily="34" charset="0"/>
            </a:endParaRPr>
          </a:p>
          <a:p>
            <a:pPr eaLnBrk="1" hangingPunct="1">
              <a:spcBef>
                <a:spcPct val="0"/>
              </a:spcBef>
            </a:pPr>
            <a:r>
              <a:rPr lang="en-GB" dirty="0" smtClean="0">
                <a:latin typeface="Arial" pitchFamily="34" charset="0"/>
                <a:cs typeface="Arial" pitchFamily="34" charset="0"/>
              </a:rPr>
              <a:t>Because the lack of knowledge or skills was just one factor that contributed to maternal death. Any obstetric emergency needs to be dealt with by a doctor in a sufficiently equipped health facility. Therefore, without rapid access to those facilities and without skilled doctors being available, the training of TBAs did little to reduce MMR.</a:t>
            </a:r>
          </a:p>
          <a:p>
            <a:pPr eaLnBrk="1" hangingPunct="1">
              <a:spcBef>
                <a:spcPct val="0"/>
              </a:spcBef>
            </a:pPr>
            <a:endParaRPr lang="en-GB" sz="2800" dirty="0" smtClean="0">
              <a:latin typeface="Arial" pitchFamily="34" charset="0"/>
              <a:cs typeface="Arial" pitchFamily="34" charset="0"/>
            </a:endParaRPr>
          </a:p>
          <a:p>
            <a:pPr eaLnBrk="1" hangingPunct="1">
              <a:spcBef>
                <a:spcPct val="0"/>
              </a:spcBef>
            </a:pPr>
            <a:r>
              <a:rPr lang="en-GB" dirty="0" smtClean="0">
                <a:latin typeface="Arial" pitchFamily="34" charset="0"/>
                <a:cs typeface="Arial" pitchFamily="34" charset="0"/>
              </a:rPr>
              <a:t>Most programmes meant to increase girls enrolment and completion over the last dozens of years worked only with the Ministry of Education, trying to improve the school system. The programmes did not consider, for instance, the value that families and communities attach to girls education (i.e. very little value), or the lack of job opportunities for educated girls. If more girls were to complete education, these other issues need to be addressed as well.</a:t>
            </a:r>
          </a:p>
          <a:p>
            <a:endParaRPr lang="en-US" dirty="0"/>
          </a:p>
        </p:txBody>
      </p:sp>
      <p:sp>
        <p:nvSpPr>
          <p:cNvPr id="4" name="Slide Number Placeholder 3"/>
          <p:cNvSpPr>
            <a:spLocks noGrp="1"/>
          </p:cNvSpPr>
          <p:nvPr>
            <p:ph type="sldNum" sz="quarter" idx="10"/>
          </p:nvPr>
        </p:nvSpPr>
        <p:spPr/>
        <p:txBody>
          <a:bodyPr/>
          <a:lstStyle/>
          <a:p>
            <a:fld id="{5C4F3281-3907-4CB3-99D0-7C3EB1A17FF8}" type="slidenum">
              <a:rPr lang="en-US" smtClean="0"/>
              <a:t>38</a:t>
            </a:fld>
            <a:endParaRPr lang="en-US"/>
          </a:p>
        </p:txBody>
      </p:sp>
    </p:spTree>
    <p:extLst>
      <p:ext uri="{BB962C8B-B14F-4D97-AF65-F5344CB8AC3E}">
        <p14:creationId xmlns:p14="http://schemas.microsoft.com/office/powerpoint/2010/main" val="9834393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Equity focus:</a:t>
            </a:r>
          </a:p>
          <a:p>
            <a:pPr marL="628650" lvl="1" indent="-171450">
              <a:buFontTx/>
              <a:buChar char="-"/>
            </a:pPr>
            <a:r>
              <a:rPr lang="en-US" dirty="0" smtClean="0"/>
              <a:t>Reaching</a:t>
            </a:r>
            <a:r>
              <a:rPr lang="en-US" baseline="0" dirty="0" smtClean="0"/>
              <a:t> the most deprived and vulnerable</a:t>
            </a:r>
          </a:p>
          <a:p>
            <a:pPr marL="628650" lvl="1" indent="-171450">
              <a:buFontTx/>
              <a:buChar char="-"/>
            </a:pPr>
            <a:r>
              <a:rPr lang="en-US" dirty="0" smtClean="0"/>
              <a:t>Differentiation</a:t>
            </a:r>
            <a:r>
              <a:rPr lang="en-US" baseline="0" dirty="0" smtClean="0"/>
              <a:t> with equality</a:t>
            </a:r>
          </a:p>
          <a:p>
            <a:pPr marL="171450" lvl="0" indent="-171450">
              <a:buFontTx/>
              <a:buChar char="-"/>
            </a:pPr>
            <a:r>
              <a:rPr lang="en-US" dirty="0" smtClean="0"/>
              <a:t>MTSP:</a:t>
            </a:r>
          </a:p>
          <a:p>
            <a:pPr marL="628650" lvl="1" indent="-171450">
              <a:buFontTx/>
              <a:buChar char="-"/>
            </a:pPr>
            <a:r>
              <a:rPr lang="en-US" dirty="0" smtClean="0"/>
              <a:t>7 outcomes areas (education #4)</a:t>
            </a:r>
            <a:r>
              <a:rPr lang="en-US" baseline="0" dirty="0" smtClean="0"/>
              <a:t> with linkages / synergies</a:t>
            </a:r>
          </a:p>
          <a:p>
            <a:pPr marL="628650" lvl="1" indent="-171450">
              <a:buFontTx/>
              <a:buChar char="-"/>
            </a:pPr>
            <a:r>
              <a:rPr lang="en-US" baseline="0" dirty="0" smtClean="0"/>
              <a:t>Each SP outcome areas contributes on its own to reducing inequities + collectively, even greater result through synergies</a:t>
            </a:r>
          </a:p>
          <a:p>
            <a:pPr marL="628650" lvl="1" indent="-171450">
              <a:buFontTx/>
              <a:buChar char="-"/>
            </a:pPr>
            <a:r>
              <a:rPr lang="en-US" baseline="0" dirty="0" smtClean="0"/>
              <a:t>Each SP has its own </a:t>
            </a:r>
            <a:r>
              <a:rPr lang="en-US" baseline="0" dirty="0" err="1" smtClean="0"/>
              <a:t>ToC</a:t>
            </a:r>
            <a:endParaRPr lang="en-US" baseline="0" dirty="0" smtClean="0"/>
          </a:p>
          <a:p>
            <a:pPr marL="628650" lvl="1" indent="-171450">
              <a:buFontTx/>
              <a:buChar char="-"/>
            </a:pPr>
            <a:r>
              <a:rPr lang="en-GB" sz="1200" kern="1200" dirty="0" smtClean="0">
                <a:solidFill>
                  <a:schemeClr val="tx1"/>
                </a:solidFill>
                <a:effectLst/>
                <a:latin typeface="+mn-lt"/>
                <a:ea typeface="+mn-ea"/>
                <a:cs typeface="+mn-cs"/>
              </a:rPr>
              <a:t>SP results framework has impact, outcome and output results, and each with indicator, baseline and target.   </a:t>
            </a:r>
            <a:endParaRPr lang="en-US" baseline="0" dirty="0" smtClean="0"/>
          </a:p>
          <a:p>
            <a:pPr marL="171450" lvl="0" indent="-171450">
              <a:buFontTx/>
              <a:buChar char="-"/>
            </a:pPr>
            <a:r>
              <a:rPr lang="en-US" dirty="0" smtClean="0"/>
              <a:t>SDGs:</a:t>
            </a:r>
          </a:p>
          <a:p>
            <a:pPr marL="628650" lvl="1" indent="-171450">
              <a:buFontTx/>
              <a:buChar char="-"/>
            </a:pPr>
            <a:r>
              <a:rPr lang="en-GB" sz="1200" kern="1200" dirty="0" smtClean="0">
                <a:solidFill>
                  <a:schemeClr val="tx1"/>
                </a:solidFill>
                <a:effectLst/>
                <a:latin typeface="+mn-lt"/>
                <a:ea typeface="+mn-ea"/>
                <a:cs typeface="+mn-cs"/>
              </a:rPr>
              <a:t>Equitable results for all children, ‘leave no one behind’ Perhaps the most fundamental lesson of the MDGs was that, due to their focus on national averages and global aggregates, they failed to account for stagnating progress or – in some cases – growing inequalities among income and social groups and along gender lines. </a:t>
            </a:r>
            <a:endParaRPr lang="en-US" dirty="0" smtClean="0"/>
          </a:p>
          <a:p>
            <a:pPr marL="628650" lvl="1" indent="-171450">
              <a:buFontTx/>
              <a:buChar char="-"/>
            </a:pPr>
            <a:endParaRPr lang="en-US" dirty="0" smtClean="0"/>
          </a:p>
          <a:p>
            <a:pPr marL="171450" lvl="0" indent="-171450">
              <a:buFontTx/>
              <a:buChar char="-"/>
            </a:pPr>
            <a:r>
              <a:rPr lang="en-US" dirty="0" smtClean="0"/>
              <a:t>Humanitarian</a:t>
            </a:r>
            <a:r>
              <a:rPr lang="en-US" baseline="0" dirty="0" smtClean="0"/>
              <a:t> Imperatives:</a:t>
            </a:r>
          </a:p>
          <a:p>
            <a:pPr marL="628650" lvl="1" indent="-171450">
              <a:buFontTx/>
              <a:buChar char="-"/>
            </a:pPr>
            <a:r>
              <a:rPr lang="en-US" dirty="0" smtClean="0"/>
              <a:t>As heard this morning, </a:t>
            </a:r>
            <a:r>
              <a:rPr lang="en-GB" sz="1200" kern="1200" dirty="0" smtClean="0">
                <a:solidFill>
                  <a:schemeClr val="tx1"/>
                </a:solidFill>
                <a:effectLst/>
                <a:latin typeface="+mn-lt"/>
                <a:ea typeface="+mn-ea"/>
                <a:cs typeface="+mn-cs"/>
              </a:rPr>
              <a:t>Shocks, including disasters and violent conflict are a threat to development</a:t>
            </a:r>
          </a:p>
          <a:p>
            <a:pPr marL="628650" lvl="1" indent="-171450">
              <a:buFontTx/>
              <a:buChar char="-"/>
            </a:pPr>
            <a:r>
              <a:rPr lang="en-GB" sz="1200" kern="1200" dirty="0" smtClean="0">
                <a:solidFill>
                  <a:schemeClr val="tx1"/>
                </a:solidFill>
                <a:effectLst/>
                <a:latin typeface="+mn-lt"/>
                <a:ea typeface="+mn-ea"/>
                <a:cs typeface="+mn-cs"/>
              </a:rPr>
              <a:t>Building resilient and sustainable societies means addressing existing and future risks in development planning and budgeting. </a:t>
            </a:r>
          </a:p>
          <a:p>
            <a:pPr marL="171450" lvl="0" indent="-171450">
              <a:buFontTx/>
              <a:buChar char="-"/>
            </a:pPr>
            <a:endParaRPr lang="en-GB" kern="1200" dirty="0" smtClean="0">
              <a:solidFill>
                <a:schemeClr val="tx1"/>
              </a:solidFill>
              <a:effectLst/>
              <a:latin typeface="+mn-lt"/>
              <a:ea typeface="+mn-ea"/>
              <a:cs typeface="+mn-cs"/>
            </a:endParaRPr>
          </a:p>
          <a:p>
            <a:pPr marL="171450" lvl="0" indent="-171450">
              <a:buFontTx/>
              <a:buChar char="-"/>
            </a:pPr>
            <a:r>
              <a:rPr lang="en-GB" kern="1200" dirty="0" smtClean="0">
                <a:solidFill>
                  <a:schemeClr val="tx1"/>
                </a:solidFill>
                <a:effectLst/>
                <a:latin typeface="+mn-lt"/>
                <a:ea typeface="+mn-ea"/>
                <a:cs typeface="+mn-cs"/>
              </a:rPr>
              <a:t>Reporting on results / transparency</a:t>
            </a:r>
          </a:p>
          <a:p>
            <a:pPr marL="628650" lvl="1" indent="-171450">
              <a:buFontTx/>
              <a:buChar char="-"/>
            </a:pPr>
            <a:r>
              <a:rPr lang="en-GB" sz="1200" kern="1200" dirty="0" smtClean="0">
                <a:solidFill>
                  <a:schemeClr val="tx1"/>
                </a:solidFill>
                <a:effectLst/>
                <a:latin typeface="+mn-lt"/>
                <a:ea typeface="+mn-ea"/>
                <a:cs typeface="+mn-cs"/>
              </a:rPr>
              <a:t>Accountability communication to the outside world on how and where UNICEF uses resources to leverage and achieve results for children.  </a:t>
            </a:r>
            <a:endParaRPr lang="en-US" sz="1200" kern="1200" dirty="0" smtClean="0">
              <a:solidFill>
                <a:schemeClr val="tx1"/>
              </a:solidFill>
              <a:effectLst/>
              <a:latin typeface="+mn-lt"/>
              <a:ea typeface="+mn-ea"/>
              <a:cs typeface="+mn-cs"/>
            </a:endParaRPr>
          </a:p>
          <a:p>
            <a:pPr marL="628650" lvl="1" indent="-171450">
              <a:buFontTx/>
              <a:buChar char="-"/>
            </a:pPr>
            <a:r>
              <a:rPr lang="en-GB" sz="1200" kern="1200" dirty="0" smtClean="0">
                <a:solidFill>
                  <a:schemeClr val="tx1"/>
                </a:solidFill>
                <a:effectLst/>
                <a:latin typeface="+mn-lt"/>
                <a:ea typeface="+mn-ea"/>
                <a:cs typeface="+mn-cs"/>
              </a:rPr>
              <a:t>Enhance UNICEF’s visibility among key stakeholders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171450" lvl="0" indent="-171450">
              <a:buFontTx/>
              <a:buChar char="-"/>
            </a:pPr>
            <a:r>
              <a:rPr lang="en-US" sz="1200" kern="1200" dirty="0" smtClean="0">
                <a:solidFill>
                  <a:schemeClr val="tx1"/>
                </a:solidFill>
                <a:effectLst/>
                <a:latin typeface="+mn-lt"/>
                <a:ea typeface="+mn-ea"/>
                <a:cs typeface="+mn-cs"/>
              </a:rPr>
              <a:t>Funding</a:t>
            </a:r>
            <a:r>
              <a:rPr lang="en-US" sz="1200" kern="1200" baseline="0" dirty="0" smtClean="0">
                <a:solidFill>
                  <a:schemeClr val="tx1"/>
                </a:solidFill>
                <a:effectLst/>
                <a:latin typeface="+mn-lt"/>
                <a:ea typeface="+mn-ea"/>
                <a:cs typeface="+mn-cs"/>
              </a:rPr>
              <a:t> and Donors: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kern="1200" dirty="0" smtClean="0">
                <a:solidFill>
                  <a:schemeClr val="tx1"/>
                </a:solidFill>
                <a:effectLst/>
                <a:latin typeface="+mn-lt"/>
                <a:ea typeface="+mn-ea"/>
                <a:cs typeface="+mn-cs"/>
              </a:rPr>
              <a:t>Improve UNICEF’s ability to leverage results and resources for children as donors are increasingly including transparency, and in particular IATI compliance as part of their assessment criteria of potential aid recipients.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C4F3281-3907-4CB3-99D0-7C3EB1A17FF8}" type="slidenum">
              <a:rPr lang="en-US" smtClean="0"/>
              <a:t>40</a:t>
            </a:fld>
            <a:endParaRPr lang="en-US"/>
          </a:p>
        </p:txBody>
      </p:sp>
    </p:spTree>
    <p:extLst>
      <p:ext uri="{BB962C8B-B14F-4D97-AF65-F5344CB8AC3E}">
        <p14:creationId xmlns:p14="http://schemas.microsoft.com/office/powerpoint/2010/main" val="27653743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Equity focus:</a:t>
            </a:r>
          </a:p>
          <a:p>
            <a:pPr marL="628650" lvl="1" indent="-171450">
              <a:buFontTx/>
              <a:buChar char="-"/>
            </a:pPr>
            <a:r>
              <a:rPr lang="en-US" dirty="0" smtClean="0"/>
              <a:t>Reaching</a:t>
            </a:r>
            <a:r>
              <a:rPr lang="en-US" baseline="0" dirty="0" smtClean="0"/>
              <a:t> the most deprived and vulnerable</a:t>
            </a:r>
          </a:p>
          <a:p>
            <a:pPr marL="628650" lvl="1" indent="-171450">
              <a:buFontTx/>
              <a:buChar char="-"/>
            </a:pPr>
            <a:r>
              <a:rPr lang="en-US" dirty="0" smtClean="0"/>
              <a:t>Differentiation</a:t>
            </a:r>
            <a:r>
              <a:rPr lang="en-US" baseline="0" dirty="0" smtClean="0"/>
              <a:t> with equality</a:t>
            </a:r>
          </a:p>
          <a:p>
            <a:pPr marL="171450" lvl="0" indent="-171450">
              <a:buFontTx/>
              <a:buChar char="-"/>
            </a:pPr>
            <a:r>
              <a:rPr lang="en-US" dirty="0" smtClean="0"/>
              <a:t>MTSP:</a:t>
            </a:r>
          </a:p>
          <a:p>
            <a:pPr marL="628650" lvl="1" indent="-171450">
              <a:buFontTx/>
              <a:buChar char="-"/>
            </a:pPr>
            <a:r>
              <a:rPr lang="en-US" dirty="0" smtClean="0"/>
              <a:t>7 outcomes areas (education #4)</a:t>
            </a:r>
            <a:r>
              <a:rPr lang="en-US" baseline="0" dirty="0" smtClean="0"/>
              <a:t> with linkages / synergies</a:t>
            </a:r>
          </a:p>
          <a:p>
            <a:pPr marL="628650" lvl="1" indent="-171450">
              <a:buFontTx/>
              <a:buChar char="-"/>
            </a:pPr>
            <a:r>
              <a:rPr lang="en-US" baseline="0" dirty="0" smtClean="0"/>
              <a:t>Each SP outcome areas contributes on its own to reducing inequities + collectively, even greater result through synergies</a:t>
            </a:r>
          </a:p>
          <a:p>
            <a:pPr marL="628650" lvl="1" indent="-171450">
              <a:buFontTx/>
              <a:buChar char="-"/>
            </a:pPr>
            <a:r>
              <a:rPr lang="en-US" baseline="0" dirty="0" smtClean="0"/>
              <a:t>Each SP has its own </a:t>
            </a:r>
            <a:r>
              <a:rPr lang="en-US" baseline="0" dirty="0" err="1" smtClean="0"/>
              <a:t>ToC</a:t>
            </a:r>
            <a:endParaRPr lang="en-US" baseline="0" dirty="0" smtClean="0"/>
          </a:p>
          <a:p>
            <a:pPr marL="628650" lvl="1" indent="-171450">
              <a:buFontTx/>
              <a:buChar char="-"/>
            </a:pPr>
            <a:r>
              <a:rPr lang="en-GB" sz="1200" kern="1200" dirty="0" smtClean="0">
                <a:solidFill>
                  <a:schemeClr val="tx1"/>
                </a:solidFill>
                <a:effectLst/>
                <a:latin typeface="+mn-lt"/>
                <a:ea typeface="+mn-ea"/>
                <a:cs typeface="+mn-cs"/>
              </a:rPr>
              <a:t>SP results framework has impact, outcome and output results, and each with indicator, baseline and target.   </a:t>
            </a:r>
            <a:endParaRPr lang="en-US" baseline="0" dirty="0" smtClean="0"/>
          </a:p>
          <a:p>
            <a:pPr marL="171450" lvl="0" indent="-171450">
              <a:buFontTx/>
              <a:buChar char="-"/>
            </a:pPr>
            <a:r>
              <a:rPr lang="en-US" dirty="0" smtClean="0"/>
              <a:t>SDGs:</a:t>
            </a:r>
          </a:p>
          <a:p>
            <a:pPr marL="628650" lvl="1" indent="-171450">
              <a:buFontTx/>
              <a:buChar char="-"/>
            </a:pPr>
            <a:r>
              <a:rPr lang="en-GB" sz="1200" kern="1200" dirty="0" smtClean="0">
                <a:solidFill>
                  <a:schemeClr val="tx1"/>
                </a:solidFill>
                <a:effectLst/>
                <a:latin typeface="+mn-lt"/>
                <a:ea typeface="+mn-ea"/>
                <a:cs typeface="+mn-cs"/>
              </a:rPr>
              <a:t>Equitable results for all children, ‘leave no one behind’ Perhaps the most fundamental lesson of the MDGs was that, due to their focus on national averages and global aggregates, they failed to account for stagnating progress or – in some cases – growing inequalities among income and social groups and along gender lines. </a:t>
            </a:r>
            <a:endParaRPr lang="en-US" dirty="0" smtClean="0"/>
          </a:p>
          <a:p>
            <a:pPr marL="628650" lvl="1" indent="-171450">
              <a:buFontTx/>
              <a:buChar char="-"/>
            </a:pPr>
            <a:endParaRPr lang="en-US" dirty="0" smtClean="0"/>
          </a:p>
          <a:p>
            <a:pPr marL="171450" lvl="0" indent="-171450">
              <a:buFontTx/>
              <a:buChar char="-"/>
            </a:pPr>
            <a:r>
              <a:rPr lang="en-US" dirty="0" smtClean="0"/>
              <a:t>Humanitarian</a:t>
            </a:r>
            <a:r>
              <a:rPr lang="en-US" baseline="0" dirty="0" smtClean="0"/>
              <a:t> Imperatives:</a:t>
            </a:r>
          </a:p>
          <a:p>
            <a:pPr marL="628650" lvl="1" indent="-171450">
              <a:buFontTx/>
              <a:buChar char="-"/>
            </a:pPr>
            <a:r>
              <a:rPr lang="en-US" dirty="0" smtClean="0"/>
              <a:t>As heard this morning, </a:t>
            </a:r>
            <a:r>
              <a:rPr lang="en-GB" sz="1200" kern="1200" dirty="0" smtClean="0">
                <a:solidFill>
                  <a:schemeClr val="tx1"/>
                </a:solidFill>
                <a:effectLst/>
                <a:latin typeface="+mn-lt"/>
                <a:ea typeface="+mn-ea"/>
                <a:cs typeface="+mn-cs"/>
              </a:rPr>
              <a:t>Shocks, including disasters and violent conflict are a threat to development</a:t>
            </a:r>
          </a:p>
          <a:p>
            <a:pPr marL="628650" lvl="1" indent="-171450">
              <a:buFontTx/>
              <a:buChar char="-"/>
            </a:pPr>
            <a:r>
              <a:rPr lang="en-GB" sz="1200" kern="1200" dirty="0" smtClean="0">
                <a:solidFill>
                  <a:schemeClr val="tx1"/>
                </a:solidFill>
                <a:effectLst/>
                <a:latin typeface="+mn-lt"/>
                <a:ea typeface="+mn-ea"/>
                <a:cs typeface="+mn-cs"/>
              </a:rPr>
              <a:t>Building resilient and sustainable societies means addressing existing and future risks in development planning and budgeting. </a:t>
            </a:r>
          </a:p>
          <a:p>
            <a:pPr marL="171450" lvl="0" indent="-171450">
              <a:buFontTx/>
              <a:buChar char="-"/>
            </a:pPr>
            <a:endParaRPr lang="en-GB" kern="1200" dirty="0" smtClean="0">
              <a:solidFill>
                <a:schemeClr val="tx1"/>
              </a:solidFill>
              <a:effectLst/>
              <a:latin typeface="+mn-lt"/>
              <a:ea typeface="+mn-ea"/>
              <a:cs typeface="+mn-cs"/>
            </a:endParaRPr>
          </a:p>
          <a:p>
            <a:pPr marL="171450" lvl="0" indent="-171450">
              <a:buFontTx/>
              <a:buChar char="-"/>
            </a:pPr>
            <a:r>
              <a:rPr lang="en-GB" kern="1200" dirty="0" smtClean="0">
                <a:solidFill>
                  <a:schemeClr val="tx1"/>
                </a:solidFill>
                <a:effectLst/>
                <a:latin typeface="+mn-lt"/>
                <a:ea typeface="+mn-ea"/>
                <a:cs typeface="+mn-cs"/>
              </a:rPr>
              <a:t>Reporting on results / transparency</a:t>
            </a:r>
          </a:p>
          <a:p>
            <a:pPr marL="628650" lvl="1" indent="-171450">
              <a:buFontTx/>
              <a:buChar char="-"/>
            </a:pPr>
            <a:r>
              <a:rPr lang="en-GB" sz="1200" kern="1200" dirty="0" smtClean="0">
                <a:solidFill>
                  <a:schemeClr val="tx1"/>
                </a:solidFill>
                <a:effectLst/>
                <a:latin typeface="+mn-lt"/>
                <a:ea typeface="+mn-ea"/>
                <a:cs typeface="+mn-cs"/>
              </a:rPr>
              <a:t>Accountability communication to the outside world on how and where UNICEF uses resources to leverage and achieve results for children.  </a:t>
            </a:r>
            <a:endParaRPr lang="en-US" sz="1200" kern="1200" dirty="0" smtClean="0">
              <a:solidFill>
                <a:schemeClr val="tx1"/>
              </a:solidFill>
              <a:effectLst/>
              <a:latin typeface="+mn-lt"/>
              <a:ea typeface="+mn-ea"/>
              <a:cs typeface="+mn-cs"/>
            </a:endParaRPr>
          </a:p>
          <a:p>
            <a:pPr marL="628650" lvl="1" indent="-171450">
              <a:buFontTx/>
              <a:buChar char="-"/>
            </a:pPr>
            <a:r>
              <a:rPr lang="en-GB" sz="1200" kern="1200" dirty="0" smtClean="0">
                <a:solidFill>
                  <a:schemeClr val="tx1"/>
                </a:solidFill>
                <a:effectLst/>
                <a:latin typeface="+mn-lt"/>
                <a:ea typeface="+mn-ea"/>
                <a:cs typeface="+mn-cs"/>
              </a:rPr>
              <a:t>Enhance UNICEF’s visibility among key stakeholders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171450" lvl="0" indent="-171450">
              <a:buFontTx/>
              <a:buChar char="-"/>
            </a:pPr>
            <a:r>
              <a:rPr lang="en-US" sz="1200" kern="1200" dirty="0" smtClean="0">
                <a:solidFill>
                  <a:schemeClr val="tx1"/>
                </a:solidFill>
                <a:effectLst/>
                <a:latin typeface="+mn-lt"/>
                <a:ea typeface="+mn-ea"/>
                <a:cs typeface="+mn-cs"/>
              </a:rPr>
              <a:t>Funding</a:t>
            </a:r>
            <a:r>
              <a:rPr lang="en-US" sz="1200" kern="1200" baseline="0" dirty="0" smtClean="0">
                <a:solidFill>
                  <a:schemeClr val="tx1"/>
                </a:solidFill>
                <a:effectLst/>
                <a:latin typeface="+mn-lt"/>
                <a:ea typeface="+mn-ea"/>
                <a:cs typeface="+mn-cs"/>
              </a:rPr>
              <a:t> and Donors: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kern="1200" dirty="0" smtClean="0">
                <a:solidFill>
                  <a:schemeClr val="tx1"/>
                </a:solidFill>
                <a:effectLst/>
                <a:latin typeface="+mn-lt"/>
                <a:ea typeface="+mn-ea"/>
                <a:cs typeface="+mn-cs"/>
              </a:rPr>
              <a:t>Improve UNICEF’s ability to leverage results and resources for children as donors are increasingly including transparency, and in particular IATI compliance as part of their assessment criteria of potential aid recipients.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C4F3281-3907-4CB3-99D0-7C3EB1A17FF8}" type="slidenum">
              <a:rPr lang="en-US" smtClean="0"/>
              <a:t>47</a:t>
            </a:fld>
            <a:endParaRPr lang="en-US"/>
          </a:p>
        </p:txBody>
      </p:sp>
    </p:spTree>
    <p:extLst>
      <p:ext uri="{BB962C8B-B14F-4D97-AF65-F5344CB8AC3E}">
        <p14:creationId xmlns:p14="http://schemas.microsoft.com/office/powerpoint/2010/main" val="24775438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Example:</a:t>
            </a:r>
          </a:p>
          <a:p>
            <a:r>
              <a:rPr lang="en-US" dirty="0" smtClean="0"/>
              <a:t>Number of children registered</a:t>
            </a:r>
            <a:r>
              <a:rPr lang="en-US" baseline="0" dirty="0" smtClean="0"/>
              <a:t> increased by 25% by 2019</a:t>
            </a:r>
            <a:endParaRPr lang="en-US" dirty="0" smtClean="0"/>
          </a:p>
        </p:txBody>
      </p:sp>
      <p:sp>
        <p:nvSpPr>
          <p:cNvPr id="4" name="Slide Number Placeholder 3"/>
          <p:cNvSpPr>
            <a:spLocks noGrp="1"/>
          </p:cNvSpPr>
          <p:nvPr>
            <p:ph type="sldNum" sz="quarter" idx="10"/>
          </p:nvPr>
        </p:nvSpPr>
        <p:spPr/>
        <p:txBody>
          <a:bodyPr/>
          <a:lstStyle/>
          <a:p>
            <a:fld id="{5C4F3281-3907-4CB3-99D0-7C3EB1A17FF8}" type="slidenum">
              <a:rPr lang="en-US" smtClean="0"/>
              <a:t>51</a:t>
            </a:fld>
            <a:endParaRPr lang="en-US"/>
          </a:p>
        </p:txBody>
      </p:sp>
    </p:spTree>
    <p:extLst>
      <p:ext uri="{BB962C8B-B14F-4D97-AF65-F5344CB8AC3E}">
        <p14:creationId xmlns:p14="http://schemas.microsoft.com/office/powerpoint/2010/main" val="23672710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ts val="0"/>
              </a:spcBef>
              <a:spcAft>
                <a:spcPts val="800"/>
              </a:spcAft>
              <a:buFont typeface="Wingdings" pitchFamily="2" charset="2"/>
              <a:buChar char="ü"/>
            </a:pPr>
            <a:endParaRPr lang="en-US" altLang="ko-KR" sz="1200" dirty="0" smtClean="0">
              <a:ea typeface="Gulim" pitchFamily="50" charset="-127"/>
            </a:endParaRPr>
          </a:p>
          <a:p>
            <a:pPr eaLnBrk="1" hangingPunct="1">
              <a:spcBef>
                <a:spcPts val="0"/>
              </a:spcBef>
              <a:spcAft>
                <a:spcPts val="800"/>
              </a:spcAft>
              <a:buFont typeface="Wingdings" pitchFamily="2" charset="2"/>
              <a:buChar char="ü"/>
            </a:pPr>
            <a:r>
              <a:rPr lang="en-US" altLang="ko-KR" sz="1200" dirty="0" smtClean="0">
                <a:ea typeface="Gulim" pitchFamily="50" charset="-127"/>
              </a:rPr>
              <a:t>Outcomes and Impact entail shared accountability</a:t>
            </a:r>
          </a:p>
          <a:p>
            <a:pPr eaLnBrk="1" hangingPunct="1">
              <a:spcBef>
                <a:spcPts val="0"/>
              </a:spcBef>
              <a:spcAft>
                <a:spcPts val="800"/>
              </a:spcAft>
              <a:buFont typeface="Wingdings" pitchFamily="2" charset="2"/>
              <a:buChar char="ü"/>
            </a:pPr>
            <a:r>
              <a:rPr lang="en-US" altLang="ko-KR" sz="1200" dirty="0" smtClean="0">
                <a:ea typeface="Gulim" pitchFamily="50" charset="-127"/>
              </a:rPr>
              <a:t>Supports the achievement of national priorities or results</a:t>
            </a:r>
            <a:endParaRPr lang="en-US" altLang="ko-KR" sz="1400" dirty="0" smtClean="0">
              <a:ea typeface="Gulim" pitchFamily="50" charset="-127"/>
            </a:endParaRPr>
          </a:p>
          <a:p>
            <a:r>
              <a:rPr lang="en-US" altLang="ko-KR" sz="1200" dirty="0" smtClean="0">
                <a:ea typeface="Gulim" pitchFamily="50" charset="-127"/>
              </a:rPr>
              <a:t>Notable pitfall:</a:t>
            </a:r>
            <a:r>
              <a:rPr lang="en-US" altLang="ko-KR" sz="1200" baseline="0" dirty="0" smtClean="0">
                <a:ea typeface="Gulim" pitchFamily="50" charset="-127"/>
              </a:rPr>
              <a:t> </a:t>
            </a:r>
            <a:r>
              <a:rPr lang="en-US" altLang="ko-KR" sz="1200" dirty="0" smtClean="0">
                <a:ea typeface="Gulim" pitchFamily="50" charset="-127"/>
              </a:rPr>
              <a:t>Result statement not combined with strategy</a:t>
            </a:r>
          </a:p>
          <a:p>
            <a:endParaRPr lang="en-US" sz="1200" dirty="0" smtClean="0">
              <a:ea typeface="+mn-ea"/>
            </a:endParaRPr>
          </a:p>
          <a:p>
            <a:r>
              <a:rPr lang="en-US" sz="1200" dirty="0" smtClean="0">
                <a:ea typeface="+mn-ea"/>
              </a:rPr>
              <a:t>SMART should not be used as a straight jacket – considerable judgement</a:t>
            </a:r>
            <a:r>
              <a:rPr lang="en-US" sz="1200" baseline="0" dirty="0" smtClean="0">
                <a:ea typeface="+mn-ea"/>
              </a:rPr>
              <a:t> needs to be used in formulating good results statements. At the end of the day, the vertical logic and knowledge of how others are contributing along the results chain will determine to a large extent its strength.</a:t>
            </a:r>
            <a:endParaRPr lang="en-US" sz="1200" dirty="0" smtClean="0">
              <a:ea typeface="Gulim" pitchFamily="50" charset="-127"/>
            </a:endParaRPr>
          </a:p>
          <a:p>
            <a:endParaRPr lang="en-US" dirty="0"/>
          </a:p>
        </p:txBody>
      </p:sp>
      <p:sp>
        <p:nvSpPr>
          <p:cNvPr id="4" name="Slide Number Placeholder 3"/>
          <p:cNvSpPr>
            <a:spLocks noGrp="1"/>
          </p:cNvSpPr>
          <p:nvPr>
            <p:ph type="sldNum" sz="quarter" idx="10"/>
          </p:nvPr>
        </p:nvSpPr>
        <p:spPr/>
        <p:txBody>
          <a:bodyPr/>
          <a:lstStyle/>
          <a:p>
            <a:fld id="{5C4F3281-3907-4CB3-99D0-7C3EB1A17FF8}" type="slidenum">
              <a:rPr lang="en-US" smtClean="0"/>
              <a:t>52</a:t>
            </a:fld>
            <a:endParaRPr lang="en-US"/>
          </a:p>
        </p:txBody>
      </p:sp>
    </p:spTree>
    <p:extLst>
      <p:ext uri="{BB962C8B-B14F-4D97-AF65-F5344CB8AC3E}">
        <p14:creationId xmlns:p14="http://schemas.microsoft.com/office/powerpoint/2010/main" val="11746498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 results-based management</a:t>
            </a:r>
            <a:r>
              <a:rPr lang="en-US" baseline="0" dirty="0" smtClean="0"/>
              <a:t> is about change, worth being precise about for whom and where this change occurs. In human rights language – being specific about the subject of change (duty bearers or rights holders).</a:t>
            </a:r>
            <a:endParaRPr lang="en-US" dirty="0" smtClean="0"/>
          </a:p>
          <a:p>
            <a:endParaRPr lang="en-US" dirty="0"/>
          </a:p>
        </p:txBody>
      </p:sp>
      <p:sp>
        <p:nvSpPr>
          <p:cNvPr id="4" name="Slide Number Placeholder 3"/>
          <p:cNvSpPr>
            <a:spLocks noGrp="1"/>
          </p:cNvSpPr>
          <p:nvPr>
            <p:ph type="sldNum" sz="quarter" idx="10"/>
          </p:nvPr>
        </p:nvSpPr>
        <p:spPr/>
        <p:txBody>
          <a:bodyPr/>
          <a:lstStyle/>
          <a:p>
            <a:fld id="{5C4F3281-3907-4CB3-99D0-7C3EB1A17FF8}" type="slidenum">
              <a:rPr lang="en-US" smtClean="0"/>
              <a:t>53</a:t>
            </a:fld>
            <a:endParaRPr lang="en-US"/>
          </a:p>
        </p:txBody>
      </p:sp>
    </p:spTree>
    <p:extLst>
      <p:ext uri="{BB962C8B-B14F-4D97-AF65-F5344CB8AC3E}">
        <p14:creationId xmlns:p14="http://schemas.microsoft.com/office/powerpoint/2010/main" val="18518498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GB" sz="1200" dirty="0" smtClean="0">
                <a:latin typeface="Arial" pitchFamily="34" charset="0"/>
                <a:cs typeface="Arial" pitchFamily="34" charset="0"/>
              </a:rPr>
              <a:t>Following up from the development of the </a:t>
            </a:r>
            <a:r>
              <a:rPr lang="en-GB" sz="1200" dirty="0" err="1" smtClean="0">
                <a:latin typeface="Arial" pitchFamily="34" charset="0"/>
                <a:cs typeface="Arial" pitchFamily="34" charset="0"/>
              </a:rPr>
              <a:t>ToC</a:t>
            </a:r>
            <a:endParaRPr lang="en-GB" sz="1200" dirty="0" smtClean="0">
              <a:latin typeface="Arial" pitchFamily="34" charset="0"/>
              <a:cs typeface="Arial" pitchFamily="34" charset="0"/>
            </a:endParaRPr>
          </a:p>
          <a:p>
            <a:pPr marL="0" marR="0" indent="0" algn="l" defTabSz="457200" rtl="0" eaLnBrk="1" fontAlgn="auto" latinLnBrk="0" hangingPunct="1">
              <a:lnSpc>
                <a:spcPct val="80000"/>
              </a:lnSpc>
              <a:spcBef>
                <a:spcPts val="0"/>
              </a:spcBef>
              <a:spcAft>
                <a:spcPts val="0"/>
              </a:spcAft>
              <a:buClrTx/>
              <a:buSzTx/>
              <a:buFontTx/>
              <a:buNone/>
              <a:tabLst/>
              <a:defRPr/>
            </a:pPr>
            <a:endParaRPr lang="en-GB" sz="1200" dirty="0" smtClean="0">
              <a:latin typeface="Arial" pitchFamily="34" charset="0"/>
              <a:cs typeface="Arial" pitchFamily="34" charset="0"/>
            </a:endParaRPr>
          </a:p>
          <a:p>
            <a:pPr marL="0" marR="0" indent="0" algn="l" defTabSz="457200" rtl="0" eaLnBrk="1" fontAlgn="auto" latinLnBrk="0" hangingPunct="1">
              <a:lnSpc>
                <a:spcPct val="80000"/>
              </a:lnSpc>
              <a:spcBef>
                <a:spcPts val="0"/>
              </a:spcBef>
              <a:spcAft>
                <a:spcPts val="0"/>
              </a:spcAft>
              <a:buClrTx/>
              <a:buSzTx/>
              <a:buFontTx/>
              <a:buNone/>
              <a:tabLst/>
              <a:defRPr/>
            </a:pPr>
            <a:r>
              <a:rPr lang="en-GB" sz="1200" dirty="0" smtClean="0">
                <a:latin typeface="Arial" pitchFamily="34" charset="0"/>
                <a:cs typeface="Arial" pitchFamily="34" charset="0"/>
              </a:rPr>
              <a:t>Developing a chain of results is an </a:t>
            </a:r>
            <a:r>
              <a:rPr lang="en-GB" sz="1200" b="1" dirty="0" smtClean="0">
                <a:latin typeface="Arial" pitchFamily="34" charset="0"/>
                <a:cs typeface="Arial" pitchFamily="34" charset="0"/>
              </a:rPr>
              <a:t>iterative process</a:t>
            </a:r>
            <a:r>
              <a:rPr lang="en-GB" sz="1200" dirty="0" smtClean="0">
                <a:latin typeface="Arial" pitchFamily="34" charset="0"/>
                <a:cs typeface="Arial" pitchFamily="34" charset="0"/>
              </a:rPr>
              <a:t> of checking the </a:t>
            </a:r>
            <a:r>
              <a:rPr lang="en-GB" sz="1200" b="1" i="1" dirty="0" smtClean="0">
                <a:latin typeface="Arial" pitchFamily="34" charset="0"/>
                <a:cs typeface="Arial" pitchFamily="34" charset="0"/>
              </a:rPr>
              <a:t>“if, then”</a:t>
            </a:r>
            <a:r>
              <a:rPr lang="en-GB" sz="1200" dirty="0" smtClean="0">
                <a:latin typeface="Arial" pitchFamily="34" charset="0"/>
                <a:cs typeface="Arial" pitchFamily="34" charset="0"/>
              </a:rPr>
              <a:t> logic, reviewing and improving on the results statements at the various levels of the results chain. Each level in the chain of results should </a:t>
            </a:r>
            <a:r>
              <a:rPr lang="en-GB" sz="1200" b="1" dirty="0" smtClean="0">
                <a:latin typeface="Arial" pitchFamily="34" charset="0"/>
                <a:cs typeface="Arial" pitchFamily="34" charset="0"/>
              </a:rPr>
              <a:t>include all the results that are both sufficient and necessary to achieve the next level of results considering underlying assumptions, internal and external risks in the particular context</a:t>
            </a:r>
            <a:r>
              <a:rPr lang="en-GB" sz="1200" dirty="0" smtClean="0">
                <a:latin typeface="Arial" pitchFamily="34" charset="0"/>
                <a:cs typeface="Arial" pitchFamily="34" charset="0"/>
              </a:rPr>
              <a:t>. The way to determine if the necessary and sufficient results have been identified is to refer to evidence of what works.  Such evidence is available in research and evaluation or from the experience of the stakeholders who are developing the chain of results. If there are gaps in the chain, they should be filled. </a:t>
            </a:r>
          </a:p>
          <a:p>
            <a:pPr marL="0" marR="0" indent="0" algn="l" defTabSz="457200" rtl="0" eaLnBrk="1" fontAlgn="auto" latinLnBrk="0" hangingPunct="1">
              <a:lnSpc>
                <a:spcPct val="80000"/>
              </a:lnSpc>
              <a:spcBef>
                <a:spcPts val="0"/>
              </a:spcBef>
              <a:spcAft>
                <a:spcPts val="0"/>
              </a:spcAft>
              <a:buClrTx/>
              <a:buSzTx/>
              <a:buFontTx/>
              <a:buNone/>
              <a:tabLst/>
              <a:defRPr/>
            </a:pPr>
            <a:endParaRPr lang="en-US" altLang="ko-KR" sz="1200" dirty="0" smtClean="0">
              <a:latin typeface="Arial" pitchFamily="34" charset="0"/>
              <a:ea typeface="굴림" pitchFamily="50" charset="-127"/>
              <a:cs typeface="Arial" pitchFamily="34" charset="0"/>
            </a:endParaRPr>
          </a:p>
          <a:p>
            <a:pPr marL="0" marR="0" indent="0" algn="l" defTabSz="457200" rtl="0" eaLnBrk="1" fontAlgn="auto" latinLnBrk="0" hangingPunct="1">
              <a:lnSpc>
                <a:spcPct val="80000"/>
              </a:lnSpc>
              <a:spcBef>
                <a:spcPts val="0"/>
              </a:spcBef>
              <a:spcAft>
                <a:spcPts val="0"/>
              </a:spcAft>
              <a:buClrTx/>
              <a:buSzTx/>
              <a:buFontTx/>
              <a:buNone/>
              <a:tabLst/>
              <a:defRPr/>
            </a:pPr>
            <a:r>
              <a:rPr lang="en-US" altLang="ko-KR" sz="1200" dirty="0" smtClean="0">
                <a:latin typeface="Arial" pitchFamily="34" charset="0"/>
                <a:ea typeface="굴림" pitchFamily="50" charset="-127"/>
                <a:cs typeface="Arial" pitchFamily="34" charset="0"/>
              </a:rPr>
              <a:t>It is important to understand the “cause and effect”,  </a:t>
            </a:r>
            <a:r>
              <a:rPr lang="en-US" altLang="ko-KR" sz="1200" b="1" dirty="0" smtClean="0">
                <a:latin typeface="Arial" pitchFamily="34" charset="0"/>
                <a:ea typeface="굴림" pitchFamily="50" charset="-127"/>
                <a:cs typeface="Arial" pitchFamily="34" charset="0"/>
              </a:rPr>
              <a:t>“if, then”,</a:t>
            </a:r>
            <a:r>
              <a:rPr lang="en-US" altLang="ko-KR" sz="1200" dirty="0" smtClean="0">
                <a:latin typeface="Arial" pitchFamily="34" charset="0"/>
                <a:ea typeface="굴림" pitchFamily="50" charset="-127"/>
                <a:cs typeface="Arial" pitchFamily="34" charset="0"/>
              </a:rPr>
              <a:t> reasoning behind the results-chain. The results chain includes an impact statement as a response to the manifestation of the development issue, challenge, problem.  It shows that  </a:t>
            </a:r>
            <a:r>
              <a:rPr lang="en-US" altLang="ko-KR" sz="1200" b="1" dirty="0" smtClean="0">
                <a:latin typeface="Arial" pitchFamily="34" charset="0"/>
                <a:ea typeface="굴림" pitchFamily="50" charset="-127"/>
                <a:cs typeface="Arial" pitchFamily="34" charset="0"/>
              </a:rPr>
              <a:t>if</a:t>
            </a:r>
            <a:r>
              <a:rPr lang="en-US" altLang="ko-KR" sz="1200" dirty="0" smtClean="0">
                <a:latin typeface="Arial" pitchFamily="34" charset="0"/>
                <a:ea typeface="굴림" pitchFamily="50" charset="-127"/>
                <a:cs typeface="Arial" pitchFamily="34" charset="0"/>
              </a:rPr>
              <a:t> such an impact (the fourth level of results) is to be achieved </a:t>
            </a:r>
            <a:r>
              <a:rPr lang="en-US" altLang="ko-KR" sz="1200" b="1" dirty="0" smtClean="0">
                <a:latin typeface="Arial" pitchFamily="34" charset="0"/>
                <a:ea typeface="굴림" pitchFamily="50" charset="-127"/>
                <a:cs typeface="Arial" pitchFamily="34" charset="0"/>
              </a:rPr>
              <a:t>then</a:t>
            </a:r>
            <a:r>
              <a:rPr lang="en-US" altLang="ko-KR" sz="1200" dirty="0" smtClean="0">
                <a:latin typeface="Arial" pitchFamily="34" charset="0"/>
                <a:ea typeface="굴림" pitchFamily="50" charset="-127"/>
                <a:cs typeface="Arial" pitchFamily="34" charset="0"/>
              </a:rPr>
              <a:t> certain previous results are needed, and </a:t>
            </a:r>
            <a:r>
              <a:rPr lang="en-US" altLang="ko-KR" sz="1200" b="1" dirty="0" smtClean="0">
                <a:latin typeface="Arial" pitchFamily="34" charset="0"/>
                <a:ea typeface="굴림" pitchFamily="50" charset="-127"/>
                <a:cs typeface="Arial" pitchFamily="34" charset="0"/>
              </a:rPr>
              <a:t>if</a:t>
            </a:r>
            <a:r>
              <a:rPr lang="en-US" altLang="ko-KR" sz="1200" dirty="0" smtClean="0">
                <a:latin typeface="Arial" pitchFamily="34" charset="0"/>
                <a:ea typeface="굴림" pitchFamily="50" charset="-127"/>
                <a:cs typeface="Arial" pitchFamily="34" charset="0"/>
              </a:rPr>
              <a:t> these third level results are to be attained, </a:t>
            </a:r>
            <a:r>
              <a:rPr lang="en-US" altLang="ko-KR" sz="1200" b="1" dirty="0" smtClean="0">
                <a:latin typeface="Arial" pitchFamily="34" charset="0"/>
                <a:ea typeface="굴림" pitchFamily="50" charset="-127"/>
                <a:cs typeface="Arial" pitchFamily="34" charset="0"/>
              </a:rPr>
              <a:t>then</a:t>
            </a:r>
            <a:r>
              <a:rPr lang="en-US" altLang="ko-KR" sz="1200" dirty="0" smtClean="0">
                <a:latin typeface="Arial" pitchFamily="34" charset="0"/>
                <a:ea typeface="굴림" pitchFamily="50" charset="-127"/>
                <a:cs typeface="Arial" pitchFamily="34" charset="0"/>
              </a:rPr>
              <a:t> another set of  previous second level results are necessary. This type of reasoning is useful to uncover a continuum of results from the highest to the lowest order that are all required to achieve the desired impact.</a:t>
            </a:r>
          </a:p>
          <a:p>
            <a:pPr marL="0" marR="0" indent="0" algn="l" defTabSz="457200" rtl="0" eaLnBrk="1" fontAlgn="auto" latinLnBrk="0" hangingPunct="1">
              <a:lnSpc>
                <a:spcPct val="80000"/>
              </a:lnSpc>
              <a:spcBef>
                <a:spcPts val="0"/>
              </a:spcBef>
              <a:spcAft>
                <a:spcPts val="0"/>
              </a:spcAft>
              <a:buClrTx/>
              <a:buSzTx/>
              <a:buFontTx/>
              <a:buNone/>
              <a:tabLst/>
              <a:defRPr/>
            </a:pPr>
            <a:endParaRPr lang="en-US" altLang="ko-KR" sz="1200" dirty="0" smtClean="0">
              <a:latin typeface="Arial" pitchFamily="34" charset="0"/>
              <a:ea typeface="굴림" pitchFamily="50" charset="-127"/>
              <a:cs typeface="Arial" pitchFamily="34" charset="0"/>
            </a:endParaRPr>
          </a:p>
          <a:p>
            <a:pPr marL="0" marR="0" indent="0" algn="l" defTabSz="457200" rtl="0" eaLnBrk="1" fontAlgn="auto" latinLnBrk="0" hangingPunct="1">
              <a:lnSpc>
                <a:spcPct val="80000"/>
              </a:lnSpc>
              <a:spcBef>
                <a:spcPts val="0"/>
              </a:spcBef>
              <a:spcAft>
                <a:spcPts val="0"/>
              </a:spcAft>
              <a:buClrTx/>
              <a:buSzTx/>
              <a:buFontTx/>
              <a:buNone/>
              <a:tabLst/>
              <a:defRPr/>
            </a:pPr>
            <a:r>
              <a:rPr lang="en-US" altLang="ko-KR" sz="1200" dirty="0" smtClean="0">
                <a:latin typeface="Arial" pitchFamily="34" charset="0"/>
                <a:ea typeface="굴림" pitchFamily="50" charset="-127"/>
                <a:cs typeface="Arial" pitchFamily="34" charset="0"/>
              </a:rPr>
              <a:t>The </a:t>
            </a:r>
            <a:r>
              <a:rPr lang="en-US" altLang="ko-KR" sz="1200" b="1" dirty="0" smtClean="0">
                <a:latin typeface="Arial" pitchFamily="34" charset="0"/>
                <a:ea typeface="굴림" pitchFamily="50" charset="-127"/>
                <a:cs typeface="Arial" pitchFamily="34" charset="0"/>
              </a:rPr>
              <a:t>reverse logic</a:t>
            </a:r>
            <a:r>
              <a:rPr lang="en-US" altLang="ko-KR" sz="1200" dirty="0" smtClean="0">
                <a:latin typeface="Arial" pitchFamily="34" charset="0"/>
                <a:ea typeface="굴림" pitchFamily="50" charset="-127"/>
                <a:cs typeface="Arial" pitchFamily="34" charset="0"/>
              </a:rPr>
              <a:t> can also be applied to verify whether a programme is on the right track i.e. if certain inputs are provided and activities implemented, will they lead to the expected results? Will the first level expected results together contribute to the second and third levels of expected results? Will all these results eventually have the desired impact?</a:t>
            </a:r>
          </a:p>
          <a:p>
            <a:endParaRPr lang="en-US" dirty="0"/>
          </a:p>
        </p:txBody>
      </p:sp>
      <p:sp>
        <p:nvSpPr>
          <p:cNvPr id="4" name="Slide Number Placeholder 3"/>
          <p:cNvSpPr>
            <a:spLocks noGrp="1"/>
          </p:cNvSpPr>
          <p:nvPr>
            <p:ph type="sldNum" sz="quarter" idx="10"/>
          </p:nvPr>
        </p:nvSpPr>
        <p:spPr/>
        <p:txBody>
          <a:bodyPr/>
          <a:lstStyle/>
          <a:p>
            <a:fld id="{5C4F3281-3907-4CB3-99D0-7C3EB1A17FF8}" type="slidenum">
              <a:rPr lang="en-US" smtClean="0"/>
              <a:t>55</a:t>
            </a:fld>
            <a:endParaRPr lang="en-US"/>
          </a:p>
        </p:txBody>
      </p:sp>
    </p:spTree>
    <p:extLst>
      <p:ext uri="{BB962C8B-B14F-4D97-AF65-F5344CB8AC3E}">
        <p14:creationId xmlns:p14="http://schemas.microsoft.com/office/powerpoint/2010/main" val="6670737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Frequently</a:t>
            </a:r>
            <a:r>
              <a:rPr lang="en-US" baseline="0" dirty="0" smtClean="0"/>
              <a:t> referred to as the Monitoring and Evaluation Framework – is used to systematically plan the collection of relevant information for monitoring, learning and reporting. The framework helps track the achievement of results.</a:t>
            </a:r>
          </a:p>
          <a:p>
            <a:endParaRPr lang="en-US" dirty="0"/>
          </a:p>
        </p:txBody>
      </p:sp>
      <p:sp>
        <p:nvSpPr>
          <p:cNvPr id="4" name="Slide Number Placeholder 3"/>
          <p:cNvSpPr>
            <a:spLocks noGrp="1"/>
          </p:cNvSpPr>
          <p:nvPr>
            <p:ph type="sldNum" sz="quarter" idx="10"/>
          </p:nvPr>
        </p:nvSpPr>
        <p:spPr/>
        <p:txBody>
          <a:bodyPr/>
          <a:lstStyle/>
          <a:p>
            <a:fld id="{5C4F3281-3907-4CB3-99D0-7C3EB1A17FF8}" type="slidenum">
              <a:rPr lang="en-US" smtClean="0"/>
              <a:t>59</a:t>
            </a:fld>
            <a:endParaRPr lang="en-US"/>
          </a:p>
        </p:txBody>
      </p:sp>
    </p:spTree>
    <p:extLst>
      <p:ext uri="{BB962C8B-B14F-4D97-AF65-F5344CB8AC3E}">
        <p14:creationId xmlns:p14="http://schemas.microsoft.com/office/powerpoint/2010/main" val="28155414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Equity focus:</a:t>
            </a:r>
          </a:p>
          <a:p>
            <a:pPr marL="628650" lvl="1" indent="-171450">
              <a:buFontTx/>
              <a:buChar char="-"/>
            </a:pPr>
            <a:r>
              <a:rPr lang="en-US" dirty="0" smtClean="0"/>
              <a:t>Reaching</a:t>
            </a:r>
            <a:r>
              <a:rPr lang="en-US" baseline="0" dirty="0" smtClean="0"/>
              <a:t> the most deprived and vulnerable</a:t>
            </a:r>
          </a:p>
          <a:p>
            <a:pPr marL="628650" lvl="1" indent="-171450">
              <a:buFontTx/>
              <a:buChar char="-"/>
            </a:pPr>
            <a:r>
              <a:rPr lang="en-US" dirty="0" smtClean="0"/>
              <a:t>Differentiation</a:t>
            </a:r>
            <a:r>
              <a:rPr lang="en-US" baseline="0" dirty="0" smtClean="0"/>
              <a:t> with equality</a:t>
            </a:r>
          </a:p>
          <a:p>
            <a:pPr marL="171450" lvl="0" indent="-171450">
              <a:buFontTx/>
              <a:buChar char="-"/>
            </a:pPr>
            <a:r>
              <a:rPr lang="en-US" dirty="0" smtClean="0"/>
              <a:t>MTSP:</a:t>
            </a:r>
          </a:p>
          <a:p>
            <a:pPr marL="628650" lvl="1" indent="-171450">
              <a:buFontTx/>
              <a:buChar char="-"/>
            </a:pPr>
            <a:r>
              <a:rPr lang="en-US" dirty="0" smtClean="0"/>
              <a:t>7 outcomes areas (education #4)</a:t>
            </a:r>
            <a:r>
              <a:rPr lang="en-US" baseline="0" dirty="0" smtClean="0"/>
              <a:t> with linkages / synergies</a:t>
            </a:r>
          </a:p>
          <a:p>
            <a:pPr marL="628650" lvl="1" indent="-171450">
              <a:buFontTx/>
              <a:buChar char="-"/>
            </a:pPr>
            <a:r>
              <a:rPr lang="en-US" baseline="0" dirty="0" smtClean="0"/>
              <a:t>Each SP outcome areas contributes on its own to reducing inequities + collectively, even greater result through synergies</a:t>
            </a:r>
          </a:p>
          <a:p>
            <a:pPr marL="628650" lvl="1" indent="-171450">
              <a:buFontTx/>
              <a:buChar char="-"/>
            </a:pPr>
            <a:r>
              <a:rPr lang="en-US" baseline="0" dirty="0" smtClean="0"/>
              <a:t>Each SP has its own </a:t>
            </a:r>
            <a:r>
              <a:rPr lang="en-US" baseline="0" dirty="0" err="1" smtClean="0"/>
              <a:t>ToC</a:t>
            </a:r>
            <a:endParaRPr lang="en-US" baseline="0" dirty="0" smtClean="0"/>
          </a:p>
          <a:p>
            <a:pPr marL="628650" lvl="1" indent="-171450">
              <a:buFontTx/>
              <a:buChar char="-"/>
            </a:pPr>
            <a:r>
              <a:rPr lang="en-GB" sz="1200" kern="1200" dirty="0" smtClean="0">
                <a:solidFill>
                  <a:schemeClr val="tx1"/>
                </a:solidFill>
                <a:effectLst/>
                <a:latin typeface="+mn-lt"/>
                <a:ea typeface="+mn-ea"/>
                <a:cs typeface="+mn-cs"/>
              </a:rPr>
              <a:t>SP results framework has impact, outcome and output results, and each with indicator, baseline and target.   </a:t>
            </a:r>
            <a:endParaRPr lang="en-US" baseline="0" dirty="0" smtClean="0"/>
          </a:p>
          <a:p>
            <a:pPr marL="171450" lvl="0" indent="-171450">
              <a:buFontTx/>
              <a:buChar char="-"/>
            </a:pPr>
            <a:r>
              <a:rPr lang="en-US" dirty="0" smtClean="0"/>
              <a:t>SDGs:</a:t>
            </a:r>
          </a:p>
          <a:p>
            <a:pPr marL="628650" lvl="1" indent="-171450">
              <a:buFontTx/>
              <a:buChar char="-"/>
            </a:pPr>
            <a:r>
              <a:rPr lang="en-GB" sz="1200" kern="1200" dirty="0" smtClean="0">
                <a:solidFill>
                  <a:schemeClr val="tx1"/>
                </a:solidFill>
                <a:effectLst/>
                <a:latin typeface="+mn-lt"/>
                <a:ea typeface="+mn-ea"/>
                <a:cs typeface="+mn-cs"/>
              </a:rPr>
              <a:t>Equitable results for all children, ‘leave no one behind’ Perhaps the most fundamental lesson of the MDGs was that, due to their focus on national averages and global aggregates, they failed to account for stagnating progress or – in some cases – growing inequalities among income and social groups and along gender lines. </a:t>
            </a:r>
            <a:endParaRPr lang="en-US" dirty="0" smtClean="0"/>
          </a:p>
          <a:p>
            <a:pPr marL="628650" lvl="1" indent="-171450">
              <a:buFontTx/>
              <a:buChar char="-"/>
            </a:pPr>
            <a:endParaRPr lang="en-US" dirty="0" smtClean="0"/>
          </a:p>
          <a:p>
            <a:pPr marL="171450" lvl="0" indent="-171450">
              <a:buFontTx/>
              <a:buChar char="-"/>
            </a:pPr>
            <a:r>
              <a:rPr lang="en-US" dirty="0" smtClean="0"/>
              <a:t>Humanitarian</a:t>
            </a:r>
            <a:r>
              <a:rPr lang="en-US" baseline="0" dirty="0" smtClean="0"/>
              <a:t> Imperatives:</a:t>
            </a:r>
          </a:p>
          <a:p>
            <a:pPr marL="628650" lvl="1" indent="-171450">
              <a:buFontTx/>
              <a:buChar char="-"/>
            </a:pPr>
            <a:r>
              <a:rPr lang="en-US" dirty="0" smtClean="0"/>
              <a:t>As heard this morning, </a:t>
            </a:r>
            <a:r>
              <a:rPr lang="en-GB" sz="1200" kern="1200" dirty="0" smtClean="0">
                <a:solidFill>
                  <a:schemeClr val="tx1"/>
                </a:solidFill>
                <a:effectLst/>
                <a:latin typeface="+mn-lt"/>
                <a:ea typeface="+mn-ea"/>
                <a:cs typeface="+mn-cs"/>
              </a:rPr>
              <a:t>Shocks, including disasters and violent conflict are a threat to development</a:t>
            </a:r>
          </a:p>
          <a:p>
            <a:pPr marL="628650" lvl="1" indent="-171450">
              <a:buFontTx/>
              <a:buChar char="-"/>
            </a:pPr>
            <a:r>
              <a:rPr lang="en-GB" sz="1200" kern="1200" dirty="0" smtClean="0">
                <a:solidFill>
                  <a:schemeClr val="tx1"/>
                </a:solidFill>
                <a:effectLst/>
                <a:latin typeface="+mn-lt"/>
                <a:ea typeface="+mn-ea"/>
                <a:cs typeface="+mn-cs"/>
              </a:rPr>
              <a:t>Building resilient and sustainable societies means addressing existing and future risks in development planning and budgeting. </a:t>
            </a:r>
          </a:p>
          <a:p>
            <a:pPr marL="171450" lvl="0" indent="-171450">
              <a:buFontTx/>
              <a:buChar char="-"/>
            </a:pPr>
            <a:endParaRPr lang="en-GB" kern="1200" dirty="0" smtClean="0">
              <a:solidFill>
                <a:schemeClr val="tx1"/>
              </a:solidFill>
              <a:effectLst/>
              <a:latin typeface="+mn-lt"/>
              <a:ea typeface="+mn-ea"/>
              <a:cs typeface="+mn-cs"/>
            </a:endParaRPr>
          </a:p>
          <a:p>
            <a:pPr marL="171450" lvl="0" indent="-171450">
              <a:buFontTx/>
              <a:buChar char="-"/>
            </a:pPr>
            <a:r>
              <a:rPr lang="en-GB" kern="1200" dirty="0" smtClean="0">
                <a:solidFill>
                  <a:schemeClr val="tx1"/>
                </a:solidFill>
                <a:effectLst/>
                <a:latin typeface="+mn-lt"/>
                <a:ea typeface="+mn-ea"/>
                <a:cs typeface="+mn-cs"/>
              </a:rPr>
              <a:t>Reporting on results / transparency</a:t>
            </a:r>
          </a:p>
          <a:p>
            <a:pPr marL="628650" lvl="1" indent="-171450">
              <a:buFontTx/>
              <a:buChar char="-"/>
            </a:pPr>
            <a:r>
              <a:rPr lang="en-GB" sz="1200" kern="1200" dirty="0" smtClean="0">
                <a:solidFill>
                  <a:schemeClr val="tx1"/>
                </a:solidFill>
                <a:effectLst/>
                <a:latin typeface="+mn-lt"/>
                <a:ea typeface="+mn-ea"/>
                <a:cs typeface="+mn-cs"/>
              </a:rPr>
              <a:t>Accountability communication to the outside world on how and where UNICEF uses resources to leverage and achieve results for children.  </a:t>
            </a:r>
            <a:endParaRPr lang="en-US" sz="1200" kern="1200" dirty="0" smtClean="0">
              <a:solidFill>
                <a:schemeClr val="tx1"/>
              </a:solidFill>
              <a:effectLst/>
              <a:latin typeface="+mn-lt"/>
              <a:ea typeface="+mn-ea"/>
              <a:cs typeface="+mn-cs"/>
            </a:endParaRPr>
          </a:p>
          <a:p>
            <a:pPr marL="628650" lvl="1" indent="-171450">
              <a:buFontTx/>
              <a:buChar char="-"/>
            </a:pPr>
            <a:r>
              <a:rPr lang="en-GB" sz="1200" kern="1200" dirty="0" smtClean="0">
                <a:solidFill>
                  <a:schemeClr val="tx1"/>
                </a:solidFill>
                <a:effectLst/>
                <a:latin typeface="+mn-lt"/>
                <a:ea typeface="+mn-ea"/>
                <a:cs typeface="+mn-cs"/>
              </a:rPr>
              <a:t>Enhance UNICEF’s visibility among key stakeholders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171450" lvl="0" indent="-171450">
              <a:buFontTx/>
              <a:buChar char="-"/>
            </a:pPr>
            <a:r>
              <a:rPr lang="en-US" sz="1200" kern="1200" dirty="0" smtClean="0">
                <a:solidFill>
                  <a:schemeClr val="tx1"/>
                </a:solidFill>
                <a:effectLst/>
                <a:latin typeface="+mn-lt"/>
                <a:ea typeface="+mn-ea"/>
                <a:cs typeface="+mn-cs"/>
              </a:rPr>
              <a:t>Funding</a:t>
            </a:r>
            <a:r>
              <a:rPr lang="en-US" sz="1200" kern="1200" baseline="0" dirty="0" smtClean="0">
                <a:solidFill>
                  <a:schemeClr val="tx1"/>
                </a:solidFill>
                <a:effectLst/>
                <a:latin typeface="+mn-lt"/>
                <a:ea typeface="+mn-ea"/>
                <a:cs typeface="+mn-cs"/>
              </a:rPr>
              <a:t> and Donors: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kern="1200" dirty="0" smtClean="0">
                <a:solidFill>
                  <a:schemeClr val="tx1"/>
                </a:solidFill>
                <a:effectLst/>
                <a:latin typeface="+mn-lt"/>
                <a:ea typeface="+mn-ea"/>
                <a:cs typeface="+mn-cs"/>
              </a:rPr>
              <a:t>Improve UNICEF’s ability to leverage results and resources for children as donors are increasingly including transparency, and in particular IATI compliance as part of their assessment criteria of potential aid recipients.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C4F3281-3907-4CB3-99D0-7C3EB1A17FF8}" type="slidenum">
              <a:rPr lang="en-US" smtClean="0"/>
              <a:t>61</a:t>
            </a:fld>
            <a:endParaRPr lang="en-US"/>
          </a:p>
        </p:txBody>
      </p:sp>
    </p:spTree>
    <p:extLst>
      <p:ext uri="{BB962C8B-B14F-4D97-AF65-F5344CB8AC3E}">
        <p14:creationId xmlns:p14="http://schemas.microsoft.com/office/powerpoint/2010/main" val="31071878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Equity focus:</a:t>
            </a:r>
          </a:p>
          <a:p>
            <a:pPr marL="628650" lvl="1" indent="-171450">
              <a:buFontTx/>
              <a:buChar char="-"/>
            </a:pPr>
            <a:r>
              <a:rPr lang="en-US" dirty="0" smtClean="0"/>
              <a:t>Reaching</a:t>
            </a:r>
            <a:r>
              <a:rPr lang="en-US" baseline="0" dirty="0" smtClean="0"/>
              <a:t> the most deprived and vulnerable</a:t>
            </a:r>
          </a:p>
          <a:p>
            <a:pPr marL="628650" lvl="1" indent="-171450">
              <a:buFontTx/>
              <a:buChar char="-"/>
            </a:pPr>
            <a:r>
              <a:rPr lang="en-US" dirty="0" smtClean="0"/>
              <a:t>Differentiation</a:t>
            </a:r>
            <a:r>
              <a:rPr lang="en-US" baseline="0" dirty="0" smtClean="0"/>
              <a:t> with equality</a:t>
            </a:r>
          </a:p>
          <a:p>
            <a:pPr marL="171450" lvl="0" indent="-171450">
              <a:buFontTx/>
              <a:buChar char="-"/>
            </a:pPr>
            <a:r>
              <a:rPr lang="en-US" dirty="0" smtClean="0"/>
              <a:t>MTSP:</a:t>
            </a:r>
          </a:p>
          <a:p>
            <a:pPr marL="628650" lvl="1" indent="-171450">
              <a:buFontTx/>
              <a:buChar char="-"/>
            </a:pPr>
            <a:r>
              <a:rPr lang="en-US" dirty="0" smtClean="0"/>
              <a:t>7 outcomes areas (education #4)</a:t>
            </a:r>
            <a:r>
              <a:rPr lang="en-US" baseline="0" dirty="0" smtClean="0"/>
              <a:t> with linkages / synergies</a:t>
            </a:r>
          </a:p>
          <a:p>
            <a:pPr marL="628650" lvl="1" indent="-171450">
              <a:buFontTx/>
              <a:buChar char="-"/>
            </a:pPr>
            <a:r>
              <a:rPr lang="en-US" baseline="0" dirty="0" smtClean="0"/>
              <a:t>Each SP outcome areas contributes on its own to reducing inequities + collectively, even greater result through synergies</a:t>
            </a:r>
          </a:p>
          <a:p>
            <a:pPr marL="628650" lvl="1" indent="-171450">
              <a:buFontTx/>
              <a:buChar char="-"/>
            </a:pPr>
            <a:r>
              <a:rPr lang="en-US" baseline="0" dirty="0" smtClean="0"/>
              <a:t>Each SP has its own </a:t>
            </a:r>
            <a:r>
              <a:rPr lang="en-US" baseline="0" dirty="0" err="1" smtClean="0"/>
              <a:t>ToC</a:t>
            </a:r>
            <a:endParaRPr lang="en-US" baseline="0" dirty="0" smtClean="0"/>
          </a:p>
          <a:p>
            <a:pPr marL="628650" lvl="1" indent="-171450">
              <a:buFontTx/>
              <a:buChar char="-"/>
            </a:pPr>
            <a:r>
              <a:rPr lang="en-GB" sz="1200" kern="1200" dirty="0" smtClean="0">
                <a:solidFill>
                  <a:schemeClr val="tx1"/>
                </a:solidFill>
                <a:effectLst/>
                <a:latin typeface="+mn-lt"/>
                <a:ea typeface="+mn-ea"/>
                <a:cs typeface="+mn-cs"/>
              </a:rPr>
              <a:t>SP results framework has impact, outcome and output results, and each with indicator, baseline and target.   </a:t>
            </a:r>
            <a:endParaRPr lang="en-US" baseline="0" dirty="0" smtClean="0"/>
          </a:p>
          <a:p>
            <a:pPr marL="171450" lvl="0" indent="-171450">
              <a:buFontTx/>
              <a:buChar char="-"/>
            </a:pPr>
            <a:r>
              <a:rPr lang="en-US" dirty="0" smtClean="0"/>
              <a:t>SDGs:</a:t>
            </a:r>
          </a:p>
          <a:p>
            <a:pPr marL="628650" lvl="1" indent="-171450">
              <a:buFontTx/>
              <a:buChar char="-"/>
            </a:pPr>
            <a:r>
              <a:rPr lang="en-GB" sz="1200" kern="1200" dirty="0" smtClean="0">
                <a:solidFill>
                  <a:schemeClr val="tx1"/>
                </a:solidFill>
                <a:effectLst/>
                <a:latin typeface="+mn-lt"/>
                <a:ea typeface="+mn-ea"/>
                <a:cs typeface="+mn-cs"/>
              </a:rPr>
              <a:t>Equitable results for all children, ‘leave no one behind’ Perhaps the most fundamental lesson of the MDGs was that, due to their focus on national averages and global aggregates, they failed to account for stagnating progress or – in some cases – growing inequalities among income and social groups and along gender lines. </a:t>
            </a:r>
            <a:endParaRPr lang="en-US" dirty="0" smtClean="0"/>
          </a:p>
          <a:p>
            <a:pPr marL="628650" lvl="1" indent="-171450">
              <a:buFontTx/>
              <a:buChar char="-"/>
            </a:pPr>
            <a:endParaRPr lang="en-US" dirty="0" smtClean="0"/>
          </a:p>
          <a:p>
            <a:pPr marL="171450" lvl="0" indent="-171450">
              <a:buFontTx/>
              <a:buChar char="-"/>
            </a:pPr>
            <a:r>
              <a:rPr lang="en-US" dirty="0" smtClean="0"/>
              <a:t>Humanitarian</a:t>
            </a:r>
            <a:r>
              <a:rPr lang="en-US" baseline="0" dirty="0" smtClean="0"/>
              <a:t> Imperatives:</a:t>
            </a:r>
          </a:p>
          <a:p>
            <a:pPr marL="628650" lvl="1" indent="-171450">
              <a:buFontTx/>
              <a:buChar char="-"/>
            </a:pPr>
            <a:r>
              <a:rPr lang="en-US" dirty="0" smtClean="0"/>
              <a:t>As heard this morning, </a:t>
            </a:r>
            <a:r>
              <a:rPr lang="en-GB" sz="1200" kern="1200" dirty="0" smtClean="0">
                <a:solidFill>
                  <a:schemeClr val="tx1"/>
                </a:solidFill>
                <a:effectLst/>
                <a:latin typeface="+mn-lt"/>
                <a:ea typeface="+mn-ea"/>
                <a:cs typeface="+mn-cs"/>
              </a:rPr>
              <a:t>Shocks, including disasters and violent conflict are a threat to development</a:t>
            </a:r>
          </a:p>
          <a:p>
            <a:pPr marL="628650" lvl="1" indent="-171450">
              <a:buFontTx/>
              <a:buChar char="-"/>
            </a:pPr>
            <a:r>
              <a:rPr lang="en-GB" sz="1200" kern="1200" dirty="0" smtClean="0">
                <a:solidFill>
                  <a:schemeClr val="tx1"/>
                </a:solidFill>
                <a:effectLst/>
                <a:latin typeface="+mn-lt"/>
                <a:ea typeface="+mn-ea"/>
                <a:cs typeface="+mn-cs"/>
              </a:rPr>
              <a:t>Building resilient and sustainable societies means addressing existing and future risks in development planning and budgeting. </a:t>
            </a:r>
          </a:p>
          <a:p>
            <a:pPr marL="171450" lvl="0" indent="-171450">
              <a:buFontTx/>
              <a:buChar char="-"/>
            </a:pPr>
            <a:endParaRPr lang="en-GB" kern="1200" dirty="0" smtClean="0">
              <a:solidFill>
                <a:schemeClr val="tx1"/>
              </a:solidFill>
              <a:effectLst/>
              <a:latin typeface="+mn-lt"/>
              <a:ea typeface="+mn-ea"/>
              <a:cs typeface="+mn-cs"/>
            </a:endParaRPr>
          </a:p>
          <a:p>
            <a:pPr marL="171450" lvl="0" indent="-171450">
              <a:buFontTx/>
              <a:buChar char="-"/>
            </a:pPr>
            <a:r>
              <a:rPr lang="en-GB" kern="1200" dirty="0" smtClean="0">
                <a:solidFill>
                  <a:schemeClr val="tx1"/>
                </a:solidFill>
                <a:effectLst/>
                <a:latin typeface="+mn-lt"/>
                <a:ea typeface="+mn-ea"/>
                <a:cs typeface="+mn-cs"/>
              </a:rPr>
              <a:t>Reporting on results / transparency</a:t>
            </a:r>
          </a:p>
          <a:p>
            <a:pPr marL="628650" lvl="1" indent="-171450">
              <a:buFontTx/>
              <a:buChar char="-"/>
            </a:pPr>
            <a:r>
              <a:rPr lang="en-GB" sz="1200" kern="1200" dirty="0" smtClean="0">
                <a:solidFill>
                  <a:schemeClr val="tx1"/>
                </a:solidFill>
                <a:effectLst/>
                <a:latin typeface="+mn-lt"/>
                <a:ea typeface="+mn-ea"/>
                <a:cs typeface="+mn-cs"/>
              </a:rPr>
              <a:t>Accountability communication to the outside world on how and where UNICEF uses resources to leverage and achieve results for children.  </a:t>
            </a:r>
            <a:endParaRPr lang="en-US" sz="1200" kern="1200" dirty="0" smtClean="0">
              <a:solidFill>
                <a:schemeClr val="tx1"/>
              </a:solidFill>
              <a:effectLst/>
              <a:latin typeface="+mn-lt"/>
              <a:ea typeface="+mn-ea"/>
              <a:cs typeface="+mn-cs"/>
            </a:endParaRPr>
          </a:p>
          <a:p>
            <a:pPr marL="628650" lvl="1" indent="-171450">
              <a:buFontTx/>
              <a:buChar char="-"/>
            </a:pPr>
            <a:r>
              <a:rPr lang="en-GB" sz="1200" kern="1200" dirty="0" smtClean="0">
                <a:solidFill>
                  <a:schemeClr val="tx1"/>
                </a:solidFill>
                <a:effectLst/>
                <a:latin typeface="+mn-lt"/>
                <a:ea typeface="+mn-ea"/>
                <a:cs typeface="+mn-cs"/>
              </a:rPr>
              <a:t>Enhance UNICEF’s visibility among key stakeholders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171450" lvl="0" indent="-171450">
              <a:buFontTx/>
              <a:buChar char="-"/>
            </a:pPr>
            <a:r>
              <a:rPr lang="en-US" sz="1200" kern="1200" dirty="0" smtClean="0">
                <a:solidFill>
                  <a:schemeClr val="tx1"/>
                </a:solidFill>
                <a:effectLst/>
                <a:latin typeface="+mn-lt"/>
                <a:ea typeface="+mn-ea"/>
                <a:cs typeface="+mn-cs"/>
              </a:rPr>
              <a:t>Funding</a:t>
            </a:r>
            <a:r>
              <a:rPr lang="en-US" sz="1200" kern="1200" baseline="0" dirty="0" smtClean="0">
                <a:solidFill>
                  <a:schemeClr val="tx1"/>
                </a:solidFill>
                <a:effectLst/>
                <a:latin typeface="+mn-lt"/>
                <a:ea typeface="+mn-ea"/>
                <a:cs typeface="+mn-cs"/>
              </a:rPr>
              <a:t> and Donors: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kern="1200" dirty="0" smtClean="0">
                <a:solidFill>
                  <a:schemeClr val="tx1"/>
                </a:solidFill>
                <a:effectLst/>
                <a:latin typeface="+mn-lt"/>
                <a:ea typeface="+mn-ea"/>
                <a:cs typeface="+mn-cs"/>
              </a:rPr>
              <a:t>Improve UNICEF’s ability to leverage results and resources for children as donors are increasingly including transparency, and in particular IATI compliance as part of their assessment criteria of potential aid recipients.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C4F3281-3907-4CB3-99D0-7C3EB1A17FF8}" type="slidenum">
              <a:rPr lang="en-US" smtClean="0"/>
              <a:t>71</a:t>
            </a:fld>
            <a:endParaRPr lang="en-US"/>
          </a:p>
        </p:txBody>
      </p:sp>
    </p:spTree>
    <p:extLst>
      <p:ext uri="{BB962C8B-B14F-4D97-AF65-F5344CB8AC3E}">
        <p14:creationId xmlns:p14="http://schemas.microsoft.com/office/powerpoint/2010/main" val="26999893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 are a number of UNICEF/UN specific</a:t>
            </a:r>
            <a:r>
              <a:rPr lang="en-US" baseline="0" dirty="0" smtClean="0"/>
              <a:t> monitoring </a:t>
            </a:r>
            <a:r>
              <a:rPr lang="en-US" dirty="0" smtClean="0"/>
              <a:t>frameworks </a:t>
            </a:r>
            <a:r>
              <a:rPr lang="en-US" baseline="0" dirty="0" smtClean="0"/>
              <a:t>including </a:t>
            </a:r>
            <a:r>
              <a:rPr lang="en-US" baseline="0" dirty="0" err="1" smtClean="0"/>
              <a:t>MoRES</a:t>
            </a:r>
            <a:r>
              <a:rPr lang="en-US" baseline="0" dirty="0" smtClean="0"/>
              <a:t> and HACT.</a:t>
            </a:r>
          </a:p>
          <a:p>
            <a:endParaRPr lang="en-US" baseline="0" dirty="0" smtClean="0"/>
          </a:p>
          <a:p>
            <a:r>
              <a:rPr lang="en-US" baseline="0" dirty="0" smtClean="0"/>
              <a:t>Level 2 of </a:t>
            </a:r>
            <a:r>
              <a:rPr lang="en-US" baseline="0" dirty="0" err="1" smtClean="0"/>
              <a:t>MoRES</a:t>
            </a:r>
            <a:r>
              <a:rPr lang="en-US" baseline="0" dirty="0" smtClean="0"/>
              <a:t> is the same as Implementation monitoring. It looks at inputs, activities and outputs (although in </a:t>
            </a:r>
            <a:r>
              <a:rPr lang="en-US" baseline="0" dirty="0" err="1" smtClean="0"/>
              <a:t>MoRES</a:t>
            </a:r>
            <a:r>
              <a:rPr lang="en-US" baseline="0" dirty="0" smtClean="0"/>
              <a:t> this is analyzed from a bottleneck and barriers perspective).  It is also the same as Programmatic Visits  as defined in the HACT Framework</a:t>
            </a:r>
          </a:p>
          <a:p>
            <a:endParaRPr lang="en-US" baseline="0" dirty="0" smtClean="0"/>
          </a:p>
          <a:p>
            <a:r>
              <a:rPr lang="en-US" baseline="0" dirty="0" smtClean="0"/>
              <a:t>Level 3 of </a:t>
            </a:r>
            <a:r>
              <a:rPr lang="en-US" baseline="0" dirty="0" err="1" smtClean="0"/>
              <a:t>MoRES</a:t>
            </a:r>
            <a:r>
              <a:rPr lang="en-US" baseline="0" dirty="0" smtClean="0"/>
              <a:t> is these same as Results Monitoring. It looks at outputs and outcomes. In </a:t>
            </a:r>
            <a:r>
              <a:rPr lang="en-US" baseline="0" dirty="0" err="1" smtClean="0"/>
              <a:t>MoRES</a:t>
            </a:r>
            <a:r>
              <a:rPr lang="en-US" baseline="0" dirty="0" smtClean="0"/>
              <a:t>, the output level analysis is from the perspective of barriers and bottlenecks. For example, absence of a health clinic (result at output level) could be a bottleneck to achieving high level results at outcome level (E.g. delivery at health facility)</a:t>
            </a:r>
          </a:p>
          <a:p>
            <a:endParaRPr lang="en-US" baseline="0" smtClean="0"/>
          </a:p>
          <a:p>
            <a:endParaRPr lang="en-US"/>
          </a:p>
        </p:txBody>
      </p:sp>
      <p:sp>
        <p:nvSpPr>
          <p:cNvPr id="4" name="Slide Number Placeholder 3"/>
          <p:cNvSpPr>
            <a:spLocks noGrp="1"/>
          </p:cNvSpPr>
          <p:nvPr>
            <p:ph type="sldNum" sz="quarter" idx="10"/>
          </p:nvPr>
        </p:nvSpPr>
        <p:spPr/>
        <p:txBody>
          <a:bodyPr/>
          <a:lstStyle/>
          <a:p>
            <a:fld id="{5C4F3281-3907-4CB3-99D0-7C3EB1A17FF8}" type="slidenum">
              <a:rPr lang="en-US" smtClean="0"/>
              <a:t>76</a:t>
            </a:fld>
            <a:endParaRPr lang="en-US"/>
          </a:p>
        </p:txBody>
      </p:sp>
    </p:spTree>
    <p:extLst>
      <p:ext uri="{BB962C8B-B14F-4D97-AF65-F5344CB8AC3E}">
        <p14:creationId xmlns:p14="http://schemas.microsoft.com/office/powerpoint/2010/main" val="21597255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dirty="0" smtClean="0"/>
          </a:p>
          <a:p>
            <a:pPr marL="0" marR="0" lvl="0" indent="0" algn="l" defTabSz="457200" rtl="0" eaLnBrk="1" fontAlgn="auto" latinLnBrk="0" hangingPunct="1">
              <a:lnSpc>
                <a:spcPct val="100000"/>
              </a:lnSpc>
              <a:spcBef>
                <a:spcPts val="600"/>
              </a:spcBef>
              <a:spcAft>
                <a:spcPts val="600"/>
              </a:spcAft>
              <a:buClrTx/>
              <a:buSzTx/>
              <a:buFont typeface="Arial"/>
              <a:buNone/>
              <a:tabLst/>
              <a:defRPr/>
            </a:pPr>
            <a:r>
              <a:rPr kumimoji="0" lang="en-US" sz="1200" b="1" i="0" u="none" strike="noStrike" kern="1200" cap="none" spc="0" normalizeH="0" baseline="0" noProof="0" dirty="0" smtClean="0">
                <a:ln>
                  <a:noFill/>
                </a:ln>
                <a:solidFill>
                  <a:prstClr val="black"/>
                </a:solidFill>
                <a:effectLst/>
                <a:uLnTx/>
                <a:uFillTx/>
                <a:latin typeface="+mn-lt"/>
                <a:ea typeface="+mn-ea"/>
                <a:cs typeface="+mn-cs"/>
              </a:rPr>
              <a:t>Implementation monitoring</a:t>
            </a:r>
            <a:r>
              <a:rPr kumimoji="0" lang="en-US" sz="1200" b="0" i="0" u="none" strike="noStrike" kern="1200" cap="none" spc="0" normalizeH="0" baseline="0" noProof="0" dirty="0" smtClean="0">
                <a:ln>
                  <a:noFill/>
                </a:ln>
                <a:solidFill>
                  <a:prstClr val="black"/>
                </a:solidFill>
                <a:effectLst/>
                <a:uLnTx/>
                <a:uFillTx/>
                <a:latin typeface="+mn-lt"/>
                <a:ea typeface="+mn-ea"/>
                <a:cs typeface="+mn-cs"/>
              </a:rPr>
              <a:t>: continuous or periodic oversight of the implementation of an activity to establish the extent to which inputs, work schedules, other required actions and targeted processes are proceeding according to plan. </a:t>
            </a:r>
          </a:p>
          <a:p>
            <a:pPr marL="0" marR="0" lvl="0" indent="0" algn="l" defTabSz="457200" rtl="0" eaLnBrk="1" fontAlgn="auto" latinLnBrk="0" hangingPunct="1">
              <a:lnSpc>
                <a:spcPct val="100000"/>
              </a:lnSpc>
              <a:spcBef>
                <a:spcPts val="600"/>
              </a:spcBef>
              <a:spcAft>
                <a:spcPts val="600"/>
              </a:spcAft>
              <a:buClrTx/>
              <a:buSzTx/>
              <a:buFont typeface="Arial"/>
              <a:buNone/>
              <a:tabLst/>
              <a:defRPr/>
            </a:pPr>
            <a:endParaRPr kumimoji="0" lang="en-US" sz="1200" b="0" i="0" u="none" strike="noStrike" kern="1200" cap="none" spc="0" normalizeH="0" baseline="0" noProof="0" dirty="0" smtClean="0">
              <a:ln>
                <a:noFill/>
              </a:ln>
              <a:solidFill>
                <a:prstClr val="black"/>
              </a:solidFill>
              <a:effectLst/>
              <a:uLnTx/>
              <a:uFillTx/>
              <a:latin typeface="+mn-lt"/>
              <a:ea typeface="+mn-ea"/>
              <a:cs typeface="+mn-cs"/>
            </a:endParaRPr>
          </a:p>
          <a:p>
            <a:pPr marL="0" marR="0" lvl="0" indent="0" algn="l" defTabSz="457200" rtl="0" eaLnBrk="1" fontAlgn="auto" latinLnBrk="0" hangingPunct="1">
              <a:lnSpc>
                <a:spcPct val="100000"/>
              </a:lnSpc>
              <a:spcBef>
                <a:spcPts val="600"/>
              </a:spcBef>
              <a:spcAft>
                <a:spcPts val="600"/>
              </a:spcAft>
              <a:buClrTx/>
              <a:buSzTx/>
              <a:buFont typeface="Arial"/>
              <a:buNone/>
              <a:tabLst/>
              <a:defRPr/>
            </a:pPr>
            <a:endParaRPr kumimoji="0" lang="en-US" sz="1200" b="0" i="0" u="none" strike="noStrike" kern="1200" cap="none" spc="0" normalizeH="0" baseline="0" noProof="0" dirty="0" smtClean="0">
              <a:ln>
                <a:noFill/>
              </a:ln>
              <a:solidFill>
                <a:prstClr val="black"/>
              </a:solidFill>
              <a:effectLst/>
              <a:uLnTx/>
              <a:uFillTx/>
              <a:latin typeface="+mn-lt"/>
              <a:ea typeface="+mn-ea"/>
              <a:cs typeface="+mn-cs"/>
            </a:endParaRPr>
          </a:p>
          <a:p>
            <a:pPr marL="0" marR="0" lvl="0" indent="0" algn="l" defTabSz="457200" rtl="0" eaLnBrk="1" fontAlgn="auto" latinLnBrk="0" hangingPunct="1">
              <a:lnSpc>
                <a:spcPct val="100000"/>
              </a:lnSpc>
              <a:spcBef>
                <a:spcPts val="600"/>
              </a:spcBef>
              <a:spcAft>
                <a:spcPts val="600"/>
              </a:spcAft>
              <a:buClrTx/>
              <a:buSzTx/>
              <a:buFont typeface="Arial"/>
              <a:buNone/>
              <a:tabLst/>
              <a:defRPr/>
            </a:pPr>
            <a:r>
              <a:rPr kumimoji="0" lang="en-US" sz="1200" b="1" i="0" u="none" strike="noStrike" kern="1200" cap="none" spc="0" normalizeH="0" baseline="0" noProof="0" dirty="0" smtClean="0">
                <a:ln>
                  <a:noFill/>
                </a:ln>
                <a:solidFill>
                  <a:prstClr val="black"/>
                </a:solidFill>
                <a:effectLst/>
                <a:uLnTx/>
                <a:uFillTx/>
                <a:latin typeface="+mn-lt"/>
                <a:ea typeface="+mn-ea"/>
                <a:cs typeface="+mn-cs"/>
              </a:rPr>
              <a:t>Results monitoring</a:t>
            </a:r>
            <a:r>
              <a:rPr kumimoji="0" lang="en-US" sz="1200" b="0" i="0" u="none" strike="noStrike" kern="1200" cap="none" spc="0" normalizeH="0" baseline="0" noProof="0" dirty="0" smtClean="0">
                <a:ln>
                  <a:noFill/>
                </a:ln>
                <a:solidFill>
                  <a:prstClr val="black"/>
                </a:solidFill>
                <a:effectLst/>
                <a:uLnTx/>
                <a:uFillTx/>
                <a:latin typeface="+mn-lt"/>
                <a:ea typeface="+mn-ea"/>
                <a:cs typeface="+mn-cs"/>
              </a:rPr>
              <a:t>: A continuous process of data gathering, analysis to measure and report on  results at periodic intervals, and utilizing the data in programme management and decision-making. Results monitoring provides information to assess progress in reduction of bottlenecks that impede achievement of results.</a:t>
            </a:r>
          </a:p>
          <a:p>
            <a:pPr marL="0" marR="0" lvl="0" indent="0" algn="l" defTabSz="457200" rtl="0" eaLnBrk="1" fontAlgn="auto" latinLnBrk="0" hangingPunct="1">
              <a:lnSpc>
                <a:spcPct val="100000"/>
              </a:lnSpc>
              <a:spcBef>
                <a:spcPts val="600"/>
              </a:spcBef>
              <a:spcAft>
                <a:spcPts val="600"/>
              </a:spcAft>
              <a:buClrTx/>
              <a:buSzTx/>
              <a:buFont typeface="Arial"/>
              <a:buNone/>
              <a:tabLst/>
              <a:defRPr/>
            </a:pPr>
            <a:endParaRPr kumimoji="0" lang="en-US" sz="1200" b="0" i="0" u="none" strike="noStrike" kern="1200" cap="none" spc="0" normalizeH="0" baseline="0" noProof="0" dirty="0" smtClean="0">
              <a:ln>
                <a:noFill/>
              </a:ln>
              <a:solidFill>
                <a:prstClr val="black"/>
              </a:solidFill>
              <a:effectLst/>
              <a:uLnTx/>
              <a:uFillTx/>
              <a:latin typeface="+mn-lt"/>
              <a:ea typeface="+mn-ea"/>
              <a:cs typeface="+mn-cs"/>
            </a:endParaRPr>
          </a:p>
          <a:p>
            <a:endParaRPr lang="en-US" sz="800" kern="1200" dirty="0" smtClean="0">
              <a:solidFill>
                <a:schemeClr val="tx1"/>
              </a:solidFill>
              <a:effectLst/>
              <a:latin typeface="+mn-lt"/>
              <a:ea typeface="+mn-ea"/>
              <a:cs typeface="+mn-cs"/>
            </a:endParaRPr>
          </a:p>
          <a:p>
            <a:r>
              <a:rPr lang="en-US" sz="800" b="1" kern="1200" dirty="0" smtClean="0">
                <a:solidFill>
                  <a:schemeClr val="tx1"/>
                </a:solidFill>
                <a:effectLst/>
                <a:latin typeface="+mn-lt"/>
                <a:ea typeface="+mn-ea"/>
                <a:cs typeface="+mn-cs"/>
              </a:rPr>
              <a:t>Situation Monitoring</a:t>
            </a:r>
            <a:r>
              <a:rPr lang="en-US" sz="800" kern="1200" dirty="0" smtClean="0">
                <a:solidFill>
                  <a:schemeClr val="tx1"/>
                </a:solidFill>
                <a:effectLst/>
                <a:latin typeface="+mn-lt"/>
                <a:ea typeface="+mn-ea"/>
                <a:cs typeface="+mn-cs"/>
              </a:rPr>
              <a:t>: Monitoring is the systematic tracking of a condition or set of conditions, such as the situation of children and women. Situation monitoring measures change or lack of change in a condition or a set of conditions. Monitoring the situation of children and women and development goals such as the Sustainable Development Goals (SDGs) is necessary when trying to draw conclusions about the impact of programmes or policies.</a:t>
            </a:r>
          </a:p>
          <a:p>
            <a:endParaRPr lang="en-US" sz="8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C4F3281-3907-4CB3-99D0-7C3EB1A17FF8}" type="slidenum">
              <a:rPr lang="en-US" smtClean="0"/>
              <a:t>77</a:t>
            </a:fld>
            <a:endParaRPr lang="en-US"/>
          </a:p>
        </p:txBody>
      </p:sp>
    </p:spTree>
    <p:extLst>
      <p:ext uri="{BB962C8B-B14F-4D97-AF65-F5344CB8AC3E}">
        <p14:creationId xmlns:p14="http://schemas.microsoft.com/office/powerpoint/2010/main" val="24000408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Equity focus:</a:t>
            </a:r>
          </a:p>
          <a:p>
            <a:pPr marL="628650" lvl="1" indent="-171450">
              <a:buFontTx/>
              <a:buChar char="-"/>
            </a:pPr>
            <a:r>
              <a:rPr lang="en-US" dirty="0" smtClean="0"/>
              <a:t>Reaching</a:t>
            </a:r>
            <a:r>
              <a:rPr lang="en-US" baseline="0" dirty="0" smtClean="0"/>
              <a:t> the most deprived and vulnerable</a:t>
            </a:r>
          </a:p>
          <a:p>
            <a:pPr marL="628650" lvl="1" indent="-171450">
              <a:buFontTx/>
              <a:buChar char="-"/>
            </a:pPr>
            <a:r>
              <a:rPr lang="en-US" dirty="0" smtClean="0"/>
              <a:t>Differentiation</a:t>
            </a:r>
            <a:r>
              <a:rPr lang="en-US" baseline="0" dirty="0" smtClean="0"/>
              <a:t> with equality</a:t>
            </a:r>
          </a:p>
          <a:p>
            <a:pPr marL="171450" lvl="0" indent="-171450">
              <a:buFontTx/>
              <a:buChar char="-"/>
            </a:pPr>
            <a:r>
              <a:rPr lang="en-US" dirty="0" smtClean="0"/>
              <a:t>MTSP:</a:t>
            </a:r>
          </a:p>
          <a:p>
            <a:pPr marL="628650" lvl="1" indent="-171450">
              <a:buFontTx/>
              <a:buChar char="-"/>
            </a:pPr>
            <a:r>
              <a:rPr lang="en-US" dirty="0" smtClean="0"/>
              <a:t>7 outcomes areas (education #4)</a:t>
            </a:r>
            <a:r>
              <a:rPr lang="en-US" baseline="0" dirty="0" smtClean="0"/>
              <a:t> with linkages / synergies</a:t>
            </a:r>
          </a:p>
          <a:p>
            <a:pPr marL="628650" lvl="1" indent="-171450">
              <a:buFontTx/>
              <a:buChar char="-"/>
            </a:pPr>
            <a:r>
              <a:rPr lang="en-US" baseline="0" dirty="0" smtClean="0"/>
              <a:t>Each SP outcome areas contributes on its own to reducing inequities + collectively, even greater result through synergies</a:t>
            </a:r>
          </a:p>
          <a:p>
            <a:pPr marL="628650" lvl="1" indent="-171450">
              <a:buFontTx/>
              <a:buChar char="-"/>
            </a:pPr>
            <a:r>
              <a:rPr lang="en-US" baseline="0" dirty="0" smtClean="0"/>
              <a:t>Each SP has its own </a:t>
            </a:r>
            <a:r>
              <a:rPr lang="en-US" baseline="0" dirty="0" err="1" smtClean="0"/>
              <a:t>ToC</a:t>
            </a:r>
            <a:endParaRPr lang="en-US" baseline="0" dirty="0" smtClean="0"/>
          </a:p>
          <a:p>
            <a:pPr marL="628650" lvl="1" indent="-171450">
              <a:buFontTx/>
              <a:buChar char="-"/>
            </a:pPr>
            <a:r>
              <a:rPr lang="en-GB" sz="1200" kern="1200" dirty="0" smtClean="0">
                <a:solidFill>
                  <a:schemeClr val="tx1"/>
                </a:solidFill>
                <a:effectLst/>
                <a:latin typeface="+mn-lt"/>
                <a:ea typeface="+mn-ea"/>
                <a:cs typeface="+mn-cs"/>
              </a:rPr>
              <a:t>SP results framework has impact, outcome and output results, and each with indicator, baseline and target.   </a:t>
            </a:r>
            <a:endParaRPr lang="en-US" baseline="0" dirty="0" smtClean="0"/>
          </a:p>
          <a:p>
            <a:pPr marL="171450" lvl="0" indent="-171450">
              <a:buFontTx/>
              <a:buChar char="-"/>
            </a:pPr>
            <a:r>
              <a:rPr lang="en-US" dirty="0" smtClean="0"/>
              <a:t>SDGs:</a:t>
            </a:r>
          </a:p>
          <a:p>
            <a:pPr marL="628650" lvl="1" indent="-171450">
              <a:buFontTx/>
              <a:buChar char="-"/>
            </a:pPr>
            <a:r>
              <a:rPr lang="en-GB" sz="1200" kern="1200" dirty="0" smtClean="0">
                <a:solidFill>
                  <a:schemeClr val="tx1"/>
                </a:solidFill>
                <a:effectLst/>
                <a:latin typeface="+mn-lt"/>
                <a:ea typeface="+mn-ea"/>
                <a:cs typeface="+mn-cs"/>
              </a:rPr>
              <a:t>Equitable results for all children, ‘leave no one behind’ Perhaps the most fundamental lesson of the MDGs was that, due to their focus on national averages and global aggregates, they failed to account for stagnating progress or – in some cases – growing inequalities among income and social groups and along gender lines. </a:t>
            </a:r>
            <a:endParaRPr lang="en-US" dirty="0" smtClean="0"/>
          </a:p>
          <a:p>
            <a:pPr marL="628650" lvl="1" indent="-171450">
              <a:buFontTx/>
              <a:buChar char="-"/>
            </a:pPr>
            <a:endParaRPr lang="en-US" dirty="0" smtClean="0"/>
          </a:p>
          <a:p>
            <a:pPr marL="171450" lvl="0" indent="-171450">
              <a:buFontTx/>
              <a:buChar char="-"/>
            </a:pPr>
            <a:r>
              <a:rPr lang="en-US" dirty="0" smtClean="0"/>
              <a:t>Humanitarian</a:t>
            </a:r>
            <a:r>
              <a:rPr lang="en-US" baseline="0" dirty="0" smtClean="0"/>
              <a:t> Imperatives:</a:t>
            </a:r>
          </a:p>
          <a:p>
            <a:pPr marL="628650" lvl="1" indent="-171450">
              <a:buFontTx/>
              <a:buChar char="-"/>
            </a:pPr>
            <a:r>
              <a:rPr lang="en-US" dirty="0" smtClean="0"/>
              <a:t>As heard this morning, </a:t>
            </a:r>
            <a:r>
              <a:rPr lang="en-GB" sz="1200" kern="1200" dirty="0" smtClean="0">
                <a:solidFill>
                  <a:schemeClr val="tx1"/>
                </a:solidFill>
                <a:effectLst/>
                <a:latin typeface="+mn-lt"/>
                <a:ea typeface="+mn-ea"/>
                <a:cs typeface="+mn-cs"/>
              </a:rPr>
              <a:t>Shocks, including disasters and violent conflict are a threat to development</a:t>
            </a:r>
          </a:p>
          <a:p>
            <a:pPr marL="628650" lvl="1" indent="-171450">
              <a:buFontTx/>
              <a:buChar char="-"/>
            </a:pPr>
            <a:r>
              <a:rPr lang="en-GB" sz="1200" kern="1200" dirty="0" smtClean="0">
                <a:solidFill>
                  <a:schemeClr val="tx1"/>
                </a:solidFill>
                <a:effectLst/>
                <a:latin typeface="+mn-lt"/>
                <a:ea typeface="+mn-ea"/>
                <a:cs typeface="+mn-cs"/>
              </a:rPr>
              <a:t>Building resilient and sustainable societies means addressing existing and future risks in development planning and budgeting. </a:t>
            </a:r>
          </a:p>
          <a:p>
            <a:pPr marL="171450" lvl="0" indent="-171450">
              <a:buFontTx/>
              <a:buChar char="-"/>
            </a:pPr>
            <a:endParaRPr lang="en-GB" kern="1200" dirty="0" smtClean="0">
              <a:solidFill>
                <a:schemeClr val="tx1"/>
              </a:solidFill>
              <a:effectLst/>
              <a:latin typeface="+mn-lt"/>
              <a:ea typeface="+mn-ea"/>
              <a:cs typeface="+mn-cs"/>
            </a:endParaRPr>
          </a:p>
          <a:p>
            <a:pPr marL="171450" lvl="0" indent="-171450">
              <a:buFontTx/>
              <a:buChar char="-"/>
            </a:pPr>
            <a:r>
              <a:rPr lang="en-GB" kern="1200" dirty="0" smtClean="0">
                <a:solidFill>
                  <a:schemeClr val="tx1"/>
                </a:solidFill>
                <a:effectLst/>
                <a:latin typeface="+mn-lt"/>
                <a:ea typeface="+mn-ea"/>
                <a:cs typeface="+mn-cs"/>
              </a:rPr>
              <a:t>Reporting on results / transparency</a:t>
            </a:r>
          </a:p>
          <a:p>
            <a:pPr marL="628650" lvl="1" indent="-171450">
              <a:buFontTx/>
              <a:buChar char="-"/>
            </a:pPr>
            <a:r>
              <a:rPr lang="en-GB" sz="1200" kern="1200" dirty="0" smtClean="0">
                <a:solidFill>
                  <a:schemeClr val="tx1"/>
                </a:solidFill>
                <a:effectLst/>
                <a:latin typeface="+mn-lt"/>
                <a:ea typeface="+mn-ea"/>
                <a:cs typeface="+mn-cs"/>
              </a:rPr>
              <a:t>Accountability communication to the outside world on how and where UNICEF uses resources to leverage and achieve results for children.  </a:t>
            </a:r>
            <a:endParaRPr lang="en-US" sz="1200" kern="1200" dirty="0" smtClean="0">
              <a:solidFill>
                <a:schemeClr val="tx1"/>
              </a:solidFill>
              <a:effectLst/>
              <a:latin typeface="+mn-lt"/>
              <a:ea typeface="+mn-ea"/>
              <a:cs typeface="+mn-cs"/>
            </a:endParaRPr>
          </a:p>
          <a:p>
            <a:pPr marL="628650" lvl="1" indent="-171450">
              <a:buFontTx/>
              <a:buChar char="-"/>
            </a:pPr>
            <a:r>
              <a:rPr lang="en-GB" sz="1200" kern="1200" dirty="0" smtClean="0">
                <a:solidFill>
                  <a:schemeClr val="tx1"/>
                </a:solidFill>
                <a:effectLst/>
                <a:latin typeface="+mn-lt"/>
                <a:ea typeface="+mn-ea"/>
                <a:cs typeface="+mn-cs"/>
              </a:rPr>
              <a:t>Enhance UNICEF’s visibility among key stakeholders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171450" lvl="0" indent="-171450">
              <a:buFontTx/>
              <a:buChar char="-"/>
            </a:pPr>
            <a:r>
              <a:rPr lang="en-US" sz="1200" kern="1200" dirty="0" smtClean="0">
                <a:solidFill>
                  <a:schemeClr val="tx1"/>
                </a:solidFill>
                <a:effectLst/>
                <a:latin typeface="+mn-lt"/>
                <a:ea typeface="+mn-ea"/>
                <a:cs typeface="+mn-cs"/>
              </a:rPr>
              <a:t>Funding</a:t>
            </a:r>
            <a:r>
              <a:rPr lang="en-US" sz="1200" kern="1200" baseline="0" dirty="0" smtClean="0">
                <a:solidFill>
                  <a:schemeClr val="tx1"/>
                </a:solidFill>
                <a:effectLst/>
                <a:latin typeface="+mn-lt"/>
                <a:ea typeface="+mn-ea"/>
                <a:cs typeface="+mn-cs"/>
              </a:rPr>
              <a:t> and Donors: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kern="1200" dirty="0" smtClean="0">
                <a:solidFill>
                  <a:schemeClr val="tx1"/>
                </a:solidFill>
                <a:effectLst/>
                <a:latin typeface="+mn-lt"/>
                <a:ea typeface="+mn-ea"/>
                <a:cs typeface="+mn-cs"/>
              </a:rPr>
              <a:t>Improve UNICEF’s ability to leverage results and resources for children as donors are increasingly including transparency, and in particular IATI compliance as part of their assessment criteria of potential aid recipients.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C4F3281-3907-4CB3-99D0-7C3EB1A17FF8}" type="slidenum">
              <a:rPr lang="en-US" smtClean="0"/>
              <a:t>82</a:t>
            </a:fld>
            <a:endParaRPr lang="en-US"/>
          </a:p>
        </p:txBody>
      </p:sp>
    </p:spTree>
    <p:extLst>
      <p:ext uri="{BB962C8B-B14F-4D97-AF65-F5344CB8AC3E}">
        <p14:creationId xmlns:p14="http://schemas.microsoft.com/office/powerpoint/2010/main" val="29331690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Equity focus:</a:t>
            </a:r>
          </a:p>
          <a:p>
            <a:pPr marL="628650" lvl="1" indent="-171450">
              <a:buFontTx/>
              <a:buChar char="-"/>
            </a:pPr>
            <a:r>
              <a:rPr lang="en-US" dirty="0" smtClean="0"/>
              <a:t>Reaching</a:t>
            </a:r>
            <a:r>
              <a:rPr lang="en-US" baseline="0" dirty="0" smtClean="0"/>
              <a:t> the most deprived and vulnerable</a:t>
            </a:r>
          </a:p>
          <a:p>
            <a:pPr marL="628650" lvl="1" indent="-171450">
              <a:buFontTx/>
              <a:buChar char="-"/>
            </a:pPr>
            <a:r>
              <a:rPr lang="en-US" dirty="0" smtClean="0"/>
              <a:t>Differentiation</a:t>
            </a:r>
            <a:r>
              <a:rPr lang="en-US" baseline="0" dirty="0" smtClean="0"/>
              <a:t> with equality</a:t>
            </a:r>
          </a:p>
          <a:p>
            <a:pPr marL="171450" lvl="0" indent="-171450">
              <a:buFontTx/>
              <a:buChar char="-"/>
            </a:pPr>
            <a:r>
              <a:rPr lang="en-US" dirty="0" smtClean="0"/>
              <a:t>MTSP:</a:t>
            </a:r>
          </a:p>
          <a:p>
            <a:pPr marL="628650" lvl="1" indent="-171450">
              <a:buFontTx/>
              <a:buChar char="-"/>
            </a:pPr>
            <a:r>
              <a:rPr lang="en-US" dirty="0" smtClean="0"/>
              <a:t>7 outcomes areas (education #4)</a:t>
            </a:r>
            <a:r>
              <a:rPr lang="en-US" baseline="0" dirty="0" smtClean="0"/>
              <a:t> with linkages / synergies</a:t>
            </a:r>
          </a:p>
          <a:p>
            <a:pPr marL="628650" lvl="1" indent="-171450">
              <a:buFontTx/>
              <a:buChar char="-"/>
            </a:pPr>
            <a:r>
              <a:rPr lang="en-US" baseline="0" dirty="0" smtClean="0"/>
              <a:t>Each SP outcome areas contributes on its own to reducing inequities + collectively, even greater result through synergies</a:t>
            </a:r>
          </a:p>
          <a:p>
            <a:pPr marL="628650" lvl="1" indent="-171450">
              <a:buFontTx/>
              <a:buChar char="-"/>
            </a:pPr>
            <a:r>
              <a:rPr lang="en-US" baseline="0" dirty="0" smtClean="0"/>
              <a:t>Each SP has its own </a:t>
            </a:r>
            <a:r>
              <a:rPr lang="en-US" baseline="0" dirty="0" err="1" smtClean="0"/>
              <a:t>ToC</a:t>
            </a:r>
            <a:endParaRPr lang="en-US" baseline="0" dirty="0" smtClean="0"/>
          </a:p>
          <a:p>
            <a:pPr marL="628650" lvl="1" indent="-171450">
              <a:buFontTx/>
              <a:buChar char="-"/>
            </a:pPr>
            <a:r>
              <a:rPr lang="en-GB" sz="1200" kern="1200" dirty="0" smtClean="0">
                <a:solidFill>
                  <a:schemeClr val="tx1"/>
                </a:solidFill>
                <a:effectLst/>
                <a:latin typeface="+mn-lt"/>
                <a:ea typeface="+mn-ea"/>
                <a:cs typeface="+mn-cs"/>
              </a:rPr>
              <a:t>SP results framework has impact, outcome and output results, and each with indicator, baseline and target.   </a:t>
            </a:r>
            <a:endParaRPr lang="en-US" baseline="0" dirty="0" smtClean="0"/>
          </a:p>
          <a:p>
            <a:pPr marL="171450" lvl="0" indent="-171450">
              <a:buFontTx/>
              <a:buChar char="-"/>
            </a:pPr>
            <a:r>
              <a:rPr lang="en-US" dirty="0" smtClean="0"/>
              <a:t>SDGs:</a:t>
            </a:r>
          </a:p>
          <a:p>
            <a:pPr marL="628650" lvl="1" indent="-171450">
              <a:buFontTx/>
              <a:buChar char="-"/>
            </a:pPr>
            <a:r>
              <a:rPr lang="en-GB" sz="1200" kern="1200" dirty="0" smtClean="0">
                <a:solidFill>
                  <a:schemeClr val="tx1"/>
                </a:solidFill>
                <a:effectLst/>
                <a:latin typeface="+mn-lt"/>
                <a:ea typeface="+mn-ea"/>
                <a:cs typeface="+mn-cs"/>
              </a:rPr>
              <a:t>Equitable results for all children, ‘leave no one behind’ Perhaps the most fundamental lesson of the MDGs was that, due to their focus on national averages and global aggregates, they failed to account for stagnating progress or – in some cases – growing inequalities among income and social groups and along gender lines. </a:t>
            </a:r>
            <a:endParaRPr lang="en-US" dirty="0" smtClean="0"/>
          </a:p>
          <a:p>
            <a:pPr marL="628650" lvl="1" indent="-171450">
              <a:buFontTx/>
              <a:buChar char="-"/>
            </a:pPr>
            <a:endParaRPr lang="en-US" dirty="0" smtClean="0"/>
          </a:p>
          <a:p>
            <a:pPr marL="171450" lvl="0" indent="-171450">
              <a:buFontTx/>
              <a:buChar char="-"/>
            </a:pPr>
            <a:r>
              <a:rPr lang="en-US" dirty="0" smtClean="0"/>
              <a:t>Humanitarian</a:t>
            </a:r>
            <a:r>
              <a:rPr lang="en-US" baseline="0" dirty="0" smtClean="0"/>
              <a:t> Imperatives:</a:t>
            </a:r>
          </a:p>
          <a:p>
            <a:pPr marL="628650" lvl="1" indent="-171450">
              <a:buFontTx/>
              <a:buChar char="-"/>
            </a:pPr>
            <a:r>
              <a:rPr lang="en-US" dirty="0" smtClean="0"/>
              <a:t>As heard this morning, </a:t>
            </a:r>
            <a:r>
              <a:rPr lang="en-GB" sz="1200" kern="1200" dirty="0" smtClean="0">
                <a:solidFill>
                  <a:schemeClr val="tx1"/>
                </a:solidFill>
                <a:effectLst/>
                <a:latin typeface="+mn-lt"/>
                <a:ea typeface="+mn-ea"/>
                <a:cs typeface="+mn-cs"/>
              </a:rPr>
              <a:t>Shocks, including disasters and violent conflict are a threat to development</a:t>
            </a:r>
          </a:p>
          <a:p>
            <a:pPr marL="628650" lvl="1" indent="-171450">
              <a:buFontTx/>
              <a:buChar char="-"/>
            </a:pPr>
            <a:r>
              <a:rPr lang="en-GB" sz="1200" kern="1200" dirty="0" smtClean="0">
                <a:solidFill>
                  <a:schemeClr val="tx1"/>
                </a:solidFill>
                <a:effectLst/>
                <a:latin typeface="+mn-lt"/>
                <a:ea typeface="+mn-ea"/>
                <a:cs typeface="+mn-cs"/>
              </a:rPr>
              <a:t>Building resilient and sustainable societies means addressing existing and future risks in development planning and budgeting. </a:t>
            </a:r>
          </a:p>
          <a:p>
            <a:pPr marL="171450" lvl="0" indent="-171450">
              <a:buFontTx/>
              <a:buChar char="-"/>
            </a:pPr>
            <a:endParaRPr lang="en-GB" kern="1200" dirty="0" smtClean="0">
              <a:solidFill>
                <a:schemeClr val="tx1"/>
              </a:solidFill>
              <a:effectLst/>
              <a:latin typeface="+mn-lt"/>
              <a:ea typeface="+mn-ea"/>
              <a:cs typeface="+mn-cs"/>
            </a:endParaRPr>
          </a:p>
          <a:p>
            <a:pPr marL="171450" lvl="0" indent="-171450">
              <a:buFontTx/>
              <a:buChar char="-"/>
            </a:pPr>
            <a:r>
              <a:rPr lang="en-GB" kern="1200" dirty="0" smtClean="0">
                <a:solidFill>
                  <a:schemeClr val="tx1"/>
                </a:solidFill>
                <a:effectLst/>
                <a:latin typeface="+mn-lt"/>
                <a:ea typeface="+mn-ea"/>
                <a:cs typeface="+mn-cs"/>
              </a:rPr>
              <a:t>Reporting on results / transparency</a:t>
            </a:r>
          </a:p>
          <a:p>
            <a:pPr marL="628650" lvl="1" indent="-171450">
              <a:buFontTx/>
              <a:buChar char="-"/>
            </a:pPr>
            <a:r>
              <a:rPr lang="en-GB" sz="1200" kern="1200" dirty="0" smtClean="0">
                <a:solidFill>
                  <a:schemeClr val="tx1"/>
                </a:solidFill>
                <a:effectLst/>
                <a:latin typeface="+mn-lt"/>
                <a:ea typeface="+mn-ea"/>
                <a:cs typeface="+mn-cs"/>
              </a:rPr>
              <a:t>Accountability communication to the outside world on how and where UNICEF uses resources to leverage and achieve results for children.  </a:t>
            </a:r>
            <a:endParaRPr lang="en-US" sz="1200" kern="1200" dirty="0" smtClean="0">
              <a:solidFill>
                <a:schemeClr val="tx1"/>
              </a:solidFill>
              <a:effectLst/>
              <a:latin typeface="+mn-lt"/>
              <a:ea typeface="+mn-ea"/>
              <a:cs typeface="+mn-cs"/>
            </a:endParaRPr>
          </a:p>
          <a:p>
            <a:pPr marL="628650" lvl="1" indent="-171450">
              <a:buFontTx/>
              <a:buChar char="-"/>
            </a:pPr>
            <a:r>
              <a:rPr lang="en-GB" sz="1200" kern="1200" dirty="0" smtClean="0">
                <a:solidFill>
                  <a:schemeClr val="tx1"/>
                </a:solidFill>
                <a:effectLst/>
                <a:latin typeface="+mn-lt"/>
                <a:ea typeface="+mn-ea"/>
                <a:cs typeface="+mn-cs"/>
              </a:rPr>
              <a:t>Enhance UNICEF’s visibility among key stakeholders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171450" lvl="0" indent="-171450">
              <a:buFontTx/>
              <a:buChar char="-"/>
            </a:pPr>
            <a:r>
              <a:rPr lang="en-US" sz="1200" kern="1200" dirty="0" smtClean="0">
                <a:solidFill>
                  <a:schemeClr val="tx1"/>
                </a:solidFill>
                <a:effectLst/>
                <a:latin typeface="+mn-lt"/>
                <a:ea typeface="+mn-ea"/>
                <a:cs typeface="+mn-cs"/>
              </a:rPr>
              <a:t>Funding</a:t>
            </a:r>
            <a:r>
              <a:rPr lang="en-US" sz="1200" kern="1200" baseline="0" dirty="0" smtClean="0">
                <a:solidFill>
                  <a:schemeClr val="tx1"/>
                </a:solidFill>
                <a:effectLst/>
                <a:latin typeface="+mn-lt"/>
                <a:ea typeface="+mn-ea"/>
                <a:cs typeface="+mn-cs"/>
              </a:rPr>
              <a:t> and Donors: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kern="1200" dirty="0" smtClean="0">
                <a:solidFill>
                  <a:schemeClr val="tx1"/>
                </a:solidFill>
                <a:effectLst/>
                <a:latin typeface="+mn-lt"/>
                <a:ea typeface="+mn-ea"/>
                <a:cs typeface="+mn-cs"/>
              </a:rPr>
              <a:t>Improve UNICEF’s ability to leverage results and resources for children as donors are increasingly including transparency, and in particular IATI compliance as part of their assessment criteria of potential aid recipients.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C4F3281-3907-4CB3-99D0-7C3EB1A17FF8}" type="slidenum">
              <a:rPr lang="en-US" smtClean="0"/>
              <a:t>89</a:t>
            </a:fld>
            <a:endParaRPr lang="en-US"/>
          </a:p>
        </p:txBody>
      </p:sp>
    </p:spTree>
    <p:extLst>
      <p:ext uri="{BB962C8B-B14F-4D97-AF65-F5344CB8AC3E}">
        <p14:creationId xmlns:p14="http://schemas.microsoft.com/office/powerpoint/2010/main" val="5865572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Equity focus:</a:t>
            </a:r>
          </a:p>
          <a:p>
            <a:pPr marL="628650" lvl="1" indent="-171450">
              <a:buFontTx/>
              <a:buChar char="-"/>
            </a:pPr>
            <a:r>
              <a:rPr lang="en-US" dirty="0" smtClean="0"/>
              <a:t>Reaching</a:t>
            </a:r>
            <a:r>
              <a:rPr lang="en-US" baseline="0" dirty="0" smtClean="0"/>
              <a:t> the most deprived and vulnerable</a:t>
            </a:r>
          </a:p>
          <a:p>
            <a:pPr marL="628650" lvl="1" indent="-171450">
              <a:buFontTx/>
              <a:buChar char="-"/>
            </a:pPr>
            <a:r>
              <a:rPr lang="en-US" dirty="0" smtClean="0"/>
              <a:t>Differentiation</a:t>
            </a:r>
            <a:r>
              <a:rPr lang="en-US" baseline="0" dirty="0" smtClean="0"/>
              <a:t> with equality</a:t>
            </a:r>
          </a:p>
          <a:p>
            <a:pPr marL="171450" lvl="0" indent="-171450">
              <a:buFontTx/>
              <a:buChar char="-"/>
            </a:pPr>
            <a:r>
              <a:rPr lang="en-US" dirty="0" smtClean="0"/>
              <a:t>MTSP:</a:t>
            </a:r>
          </a:p>
          <a:p>
            <a:pPr marL="628650" lvl="1" indent="-171450">
              <a:buFontTx/>
              <a:buChar char="-"/>
            </a:pPr>
            <a:r>
              <a:rPr lang="en-US" dirty="0" smtClean="0"/>
              <a:t>7 outcomes areas (education #4)</a:t>
            </a:r>
            <a:r>
              <a:rPr lang="en-US" baseline="0" dirty="0" smtClean="0"/>
              <a:t> with linkages / synergies</a:t>
            </a:r>
          </a:p>
          <a:p>
            <a:pPr marL="628650" lvl="1" indent="-171450">
              <a:buFontTx/>
              <a:buChar char="-"/>
            </a:pPr>
            <a:r>
              <a:rPr lang="en-US" baseline="0" dirty="0" smtClean="0"/>
              <a:t>Each SP outcome areas contributes on its own to reducing inequities + collectively, even greater result through synergies</a:t>
            </a:r>
          </a:p>
          <a:p>
            <a:pPr marL="628650" lvl="1" indent="-171450">
              <a:buFontTx/>
              <a:buChar char="-"/>
            </a:pPr>
            <a:r>
              <a:rPr lang="en-US" baseline="0" dirty="0" smtClean="0"/>
              <a:t>Each SP has its own </a:t>
            </a:r>
            <a:r>
              <a:rPr lang="en-US" baseline="0" dirty="0" err="1" smtClean="0"/>
              <a:t>ToC</a:t>
            </a:r>
            <a:endParaRPr lang="en-US" baseline="0" dirty="0" smtClean="0"/>
          </a:p>
          <a:p>
            <a:pPr marL="628650" lvl="1" indent="-171450">
              <a:buFontTx/>
              <a:buChar char="-"/>
            </a:pPr>
            <a:r>
              <a:rPr lang="en-GB" sz="1200" kern="1200" dirty="0" smtClean="0">
                <a:solidFill>
                  <a:schemeClr val="tx1"/>
                </a:solidFill>
                <a:effectLst/>
                <a:latin typeface="+mn-lt"/>
                <a:ea typeface="+mn-ea"/>
                <a:cs typeface="+mn-cs"/>
              </a:rPr>
              <a:t>SP results framework has impact, outcome and output results, and each with indicator, baseline and target.   </a:t>
            </a:r>
            <a:endParaRPr lang="en-US" baseline="0" dirty="0" smtClean="0"/>
          </a:p>
          <a:p>
            <a:pPr marL="171450" lvl="0" indent="-171450">
              <a:buFontTx/>
              <a:buChar char="-"/>
            </a:pPr>
            <a:r>
              <a:rPr lang="en-US" dirty="0" smtClean="0"/>
              <a:t>SDGs:</a:t>
            </a:r>
          </a:p>
          <a:p>
            <a:pPr marL="628650" lvl="1" indent="-171450">
              <a:buFontTx/>
              <a:buChar char="-"/>
            </a:pPr>
            <a:r>
              <a:rPr lang="en-GB" sz="1200" kern="1200" dirty="0" smtClean="0">
                <a:solidFill>
                  <a:schemeClr val="tx1"/>
                </a:solidFill>
                <a:effectLst/>
                <a:latin typeface="+mn-lt"/>
                <a:ea typeface="+mn-ea"/>
                <a:cs typeface="+mn-cs"/>
              </a:rPr>
              <a:t>Equitable results for all children, ‘leave no one behind’ Perhaps the most fundamental lesson of the MDGs was that, due to their focus on national averages and global aggregates, they failed to account for stagnating progress or – in some cases – growing inequalities among income and social groups and along gender lines. </a:t>
            </a:r>
            <a:endParaRPr lang="en-US" dirty="0" smtClean="0"/>
          </a:p>
          <a:p>
            <a:pPr marL="628650" lvl="1" indent="-171450">
              <a:buFontTx/>
              <a:buChar char="-"/>
            </a:pPr>
            <a:endParaRPr lang="en-US" dirty="0" smtClean="0"/>
          </a:p>
          <a:p>
            <a:pPr marL="171450" lvl="0" indent="-171450">
              <a:buFontTx/>
              <a:buChar char="-"/>
            </a:pPr>
            <a:r>
              <a:rPr lang="en-US" dirty="0" smtClean="0"/>
              <a:t>Humanitarian</a:t>
            </a:r>
            <a:r>
              <a:rPr lang="en-US" baseline="0" dirty="0" smtClean="0"/>
              <a:t> Imperatives:</a:t>
            </a:r>
          </a:p>
          <a:p>
            <a:pPr marL="628650" lvl="1" indent="-171450">
              <a:buFontTx/>
              <a:buChar char="-"/>
            </a:pPr>
            <a:r>
              <a:rPr lang="en-US" dirty="0" smtClean="0"/>
              <a:t>As heard this morning, </a:t>
            </a:r>
            <a:r>
              <a:rPr lang="en-GB" sz="1200" kern="1200" dirty="0" smtClean="0">
                <a:solidFill>
                  <a:schemeClr val="tx1"/>
                </a:solidFill>
                <a:effectLst/>
                <a:latin typeface="+mn-lt"/>
                <a:ea typeface="+mn-ea"/>
                <a:cs typeface="+mn-cs"/>
              </a:rPr>
              <a:t>Shocks, including disasters and violent conflict are a threat to development</a:t>
            </a:r>
          </a:p>
          <a:p>
            <a:pPr marL="628650" lvl="1" indent="-171450">
              <a:buFontTx/>
              <a:buChar char="-"/>
            </a:pPr>
            <a:r>
              <a:rPr lang="en-GB" sz="1200" kern="1200" dirty="0" smtClean="0">
                <a:solidFill>
                  <a:schemeClr val="tx1"/>
                </a:solidFill>
                <a:effectLst/>
                <a:latin typeface="+mn-lt"/>
                <a:ea typeface="+mn-ea"/>
                <a:cs typeface="+mn-cs"/>
              </a:rPr>
              <a:t>Building resilient and sustainable societies means addressing existing and future risks in development planning and budgeting. </a:t>
            </a:r>
          </a:p>
          <a:p>
            <a:pPr marL="171450" lvl="0" indent="-171450">
              <a:buFontTx/>
              <a:buChar char="-"/>
            </a:pPr>
            <a:endParaRPr lang="en-GB" kern="1200" dirty="0" smtClean="0">
              <a:solidFill>
                <a:schemeClr val="tx1"/>
              </a:solidFill>
              <a:effectLst/>
              <a:latin typeface="+mn-lt"/>
              <a:ea typeface="+mn-ea"/>
              <a:cs typeface="+mn-cs"/>
            </a:endParaRPr>
          </a:p>
          <a:p>
            <a:pPr marL="171450" lvl="0" indent="-171450">
              <a:buFontTx/>
              <a:buChar char="-"/>
            </a:pPr>
            <a:r>
              <a:rPr lang="en-GB" kern="1200" dirty="0" smtClean="0">
                <a:solidFill>
                  <a:schemeClr val="tx1"/>
                </a:solidFill>
                <a:effectLst/>
                <a:latin typeface="+mn-lt"/>
                <a:ea typeface="+mn-ea"/>
                <a:cs typeface="+mn-cs"/>
              </a:rPr>
              <a:t>Reporting on results / transparency</a:t>
            </a:r>
          </a:p>
          <a:p>
            <a:pPr marL="628650" lvl="1" indent="-171450">
              <a:buFontTx/>
              <a:buChar char="-"/>
            </a:pPr>
            <a:r>
              <a:rPr lang="en-GB" sz="1200" kern="1200" dirty="0" smtClean="0">
                <a:solidFill>
                  <a:schemeClr val="tx1"/>
                </a:solidFill>
                <a:effectLst/>
                <a:latin typeface="+mn-lt"/>
                <a:ea typeface="+mn-ea"/>
                <a:cs typeface="+mn-cs"/>
              </a:rPr>
              <a:t>Accountability communication to the outside world on how and where UNICEF uses resources to leverage and achieve results for children.  </a:t>
            </a:r>
            <a:endParaRPr lang="en-US" sz="1200" kern="1200" dirty="0" smtClean="0">
              <a:solidFill>
                <a:schemeClr val="tx1"/>
              </a:solidFill>
              <a:effectLst/>
              <a:latin typeface="+mn-lt"/>
              <a:ea typeface="+mn-ea"/>
              <a:cs typeface="+mn-cs"/>
            </a:endParaRPr>
          </a:p>
          <a:p>
            <a:pPr marL="628650" lvl="1" indent="-171450">
              <a:buFontTx/>
              <a:buChar char="-"/>
            </a:pPr>
            <a:r>
              <a:rPr lang="en-GB" sz="1200" kern="1200" dirty="0" smtClean="0">
                <a:solidFill>
                  <a:schemeClr val="tx1"/>
                </a:solidFill>
                <a:effectLst/>
                <a:latin typeface="+mn-lt"/>
                <a:ea typeface="+mn-ea"/>
                <a:cs typeface="+mn-cs"/>
              </a:rPr>
              <a:t>Enhance UNICEF’s visibility among key stakeholders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171450" lvl="0" indent="-171450">
              <a:buFontTx/>
              <a:buChar char="-"/>
            </a:pPr>
            <a:r>
              <a:rPr lang="en-US" sz="1200" kern="1200" dirty="0" smtClean="0">
                <a:solidFill>
                  <a:schemeClr val="tx1"/>
                </a:solidFill>
                <a:effectLst/>
                <a:latin typeface="+mn-lt"/>
                <a:ea typeface="+mn-ea"/>
                <a:cs typeface="+mn-cs"/>
              </a:rPr>
              <a:t>Funding</a:t>
            </a:r>
            <a:r>
              <a:rPr lang="en-US" sz="1200" kern="1200" baseline="0" dirty="0" smtClean="0">
                <a:solidFill>
                  <a:schemeClr val="tx1"/>
                </a:solidFill>
                <a:effectLst/>
                <a:latin typeface="+mn-lt"/>
                <a:ea typeface="+mn-ea"/>
                <a:cs typeface="+mn-cs"/>
              </a:rPr>
              <a:t> and Donors: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200" kern="1200" dirty="0" smtClean="0">
                <a:solidFill>
                  <a:schemeClr val="tx1"/>
                </a:solidFill>
                <a:effectLst/>
                <a:latin typeface="+mn-lt"/>
                <a:ea typeface="+mn-ea"/>
                <a:cs typeface="+mn-cs"/>
              </a:rPr>
              <a:t>Improve UNICEF’s ability to leverage results and resources for children as donors are increasingly including transparency, and in particular IATI compliance as part of their assessment criteria of potential aid recipients.</a:t>
            </a: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a:p>
            <a:pPr marL="628650" lvl="1" indent="-171450">
              <a:buFontTx/>
              <a:buChar char="-"/>
            </a:pPr>
            <a:endParaRPr lang="en-US"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C4F3281-3907-4CB3-99D0-7C3EB1A17FF8}" type="slidenum">
              <a:rPr lang="en-US" smtClean="0"/>
              <a:t>99</a:t>
            </a:fld>
            <a:endParaRPr lang="en-US"/>
          </a:p>
        </p:txBody>
      </p:sp>
    </p:spTree>
    <p:extLst>
      <p:ext uri="{BB962C8B-B14F-4D97-AF65-F5344CB8AC3E}">
        <p14:creationId xmlns:p14="http://schemas.microsoft.com/office/powerpoint/2010/main" val="23728068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8769CB7-590E-4FBB-B2B7-094351F91F79}" type="datetimeFigureOut">
              <a:rPr lang="en-US" smtClean="0"/>
              <a:t>6/29/2016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94850C-84DE-4B0F-989D-662FD5B81146}" type="slidenum">
              <a:rPr lang="en-US" smtClean="0"/>
              <a:t>‹#›</a:t>
            </a:fld>
            <a:endParaRPr lang="en-US"/>
          </a:p>
        </p:txBody>
      </p:sp>
    </p:spTree>
    <p:extLst>
      <p:ext uri="{BB962C8B-B14F-4D97-AF65-F5344CB8AC3E}">
        <p14:creationId xmlns:p14="http://schemas.microsoft.com/office/powerpoint/2010/main" val="1175735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769CB7-590E-4FBB-B2B7-094351F91F79}" type="datetimeFigureOut">
              <a:rPr lang="en-US" smtClean="0"/>
              <a:t>6/29/2016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94850C-84DE-4B0F-989D-662FD5B81146}" type="slidenum">
              <a:rPr lang="en-US" smtClean="0"/>
              <a:t>‹#›</a:t>
            </a:fld>
            <a:endParaRPr lang="en-US"/>
          </a:p>
        </p:txBody>
      </p:sp>
    </p:spTree>
    <p:extLst>
      <p:ext uri="{BB962C8B-B14F-4D97-AF65-F5344CB8AC3E}">
        <p14:creationId xmlns:p14="http://schemas.microsoft.com/office/powerpoint/2010/main" val="1641826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8769CB7-590E-4FBB-B2B7-094351F91F79}" type="datetimeFigureOut">
              <a:rPr lang="en-US" smtClean="0"/>
              <a:t>6/29/2016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94850C-84DE-4B0F-989D-662FD5B81146}" type="slidenum">
              <a:rPr lang="en-US" smtClean="0"/>
              <a:t>‹#›</a:t>
            </a:fld>
            <a:endParaRPr lang="en-US"/>
          </a:p>
        </p:txBody>
      </p:sp>
    </p:spTree>
    <p:extLst>
      <p:ext uri="{BB962C8B-B14F-4D97-AF65-F5344CB8AC3E}">
        <p14:creationId xmlns:p14="http://schemas.microsoft.com/office/powerpoint/2010/main" val="1250581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8769CB7-590E-4FBB-B2B7-094351F91F79}" type="datetimeFigureOut">
              <a:rPr lang="en-US" smtClean="0"/>
              <a:t>6/29/2016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94850C-84DE-4B0F-989D-662FD5B81146}" type="slidenum">
              <a:rPr lang="en-US" smtClean="0"/>
              <a:t>‹#›</a:t>
            </a:fld>
            <a:endParaRPr lang="en-US"/>
          </a:p>
        </p:txBody>
      </p:sp>
    </p:spTree>
    <p:extLst>
      <p:ext uri="{BB962C8B-B14F-4D97-AF65-F5344CB8AC3E}">
        <p14:creationId xmlns:p14="http://schemas.microsoft.com/office/powerpoint/2010/main" val="3245488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8769CB7-590E-4FBB-B2B7-094351F91F79}" type="datetimeFigureOut">
              <a:rPr lang="en-US" smtClean="0"/>
              <a:t>6/29/2016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194850C-84DE-4B0F-989D-662FD5B81146}" type="slidenum">
              <a:rPr lang="en-US" smtClean="0"/>
              <a:t>‹#›</a:t>
            </a:fld>
            <a:endParaRPr lang="en-US"/>
          </a:p>
        </p:txBody>
      </p:sp>
    </p:spTree>
    <p:extLst>
      <p:ext uri="{BB962C8B-B14F-4D97-AF65-F5344CB8AC3E}">
        <p14:creationId xmlns:p14="http://schemas.microsoft.com/office/powerpoint/2010/main" val="1738589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8769CB7-590E-4FBB-B2B7-094351F91F79}" type="datetimeFigureOut">
              <a:rPr lang="en-US" smtClean="0"/>
              <a:t>6/29/2016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194850C-84DE-4B0F-989D-662FD5B81146}" type="slidenum">
              <a:rPr lang="en-US" smtClean="0"/>
              <a:t>‹#›</a:t>
            </a:fld>
            <a:endParaRPr lang="en-US"/>
          </a:p>
        </p:txBody>
      </p:sp>
    </p:spTree>
    <p:extLst>
      <p:ext uri="{BB962C8B-B14F-4D97-AF65-F5344CB8AC3E}">
        <p14:creationId xmlns:p14="http://schemas.microsoft.com/office/powerpoint/2010/main" val="1776703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769CB7-590E-4FBB-B2B7-094351F91F79}" type="datetimeFigureOut">
              <a:rPr lang="en-US" smtClean="0"/>
              <a:t>6/29/2016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194850C-84DE-4B0F-989D-662FD5B81146}" type="slidenum">
              <a:rPr lang="en-US" smtClean="0"/>
              <a:t>‹#›</a:t>
            </a:fld>
            <a:endParaRPr lang="en-US"/>
          </a:p>
        </p:txBody>
      </p:sp>
    </p:spTree>
    <p:extLst>
      <p:ext uri="{BB962C8B-B14F-4D97-AF65-F5344CB8AC3E}">
        <p14:creationId xmlns:p14="http://schemas.microsoft.com/office/powerpoint/2010/main" val="994193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769CB7-590E-4FBB-B2B7-094351F91F79}" type="datetimeFigureOut">
              <a:rPr lang="en-US" smtClean="0"/>
              <a:t>6/29/2016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94850C-84DE-4B0F-989D-662FD5B81146}" type="slidenum">
              <a:rPr lang="en-US" smtClean="0"/>
              <a:t>‹#›</a:t>
            </a:fld>
            <a:endParaRPr lang="en-US"/>
          </a:p>
        </p:txBody>
      </p:sp>
    </p:spTree>
    <p:extLst>
      <p:ext uri="{BB962C8B-B14F-4D97-AF65-F5344CB8AC3E}">
        <p14:creationId xmlns:p14="http://schemas.microsoft.com/office/powerpoint/2010/main" val="3541596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769CB7-590E-4FBB-B2B7-094351F91F79}" type="datetimeFigureOut">
              <a:rPr lang="en-US" smtClean="0"/>
              <a:t>6/29/2016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94850C-84DE-4B0F-989D-662FD5B81146}" type="slidenum">
              <a:rPr lang="en-US" smtClean="0"/>
              <a:t>‹#›</a:t>
            </a:fld>
            <a:endParaRPr lang="en-US"/>
          </a:p>
        </p:txBody>
      </p:sp>
    </p:spTree>
    <p:extLst>
      <p:ext uri="{BB962C8B-B14F-4D97-AF65-F5344CB8AC3E}">
        <p14:creationId xmlns:p14="http://schemas.microsoft.com/office/powerpoint/2010/main" val="441077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769CB7-590E-4FBB-B2B7-094351F91F79}" type="datetimeFigureOut">
              <a:rPr lang="en-US" smtClean="0"/>
              <a:t>6/29/2016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94850C-84DE-4B0F-989D-662FD5B81146}" type="slidenum">
              <a:rPr lang="en-US" smtClean="0"/>
              <a:t>‹#›</a:t>
            </a:fld>
            <a:endParaRPr lang="en-US"/>
          </a:p>
        </p:txBody>
      </p:sp>
    </p:spTree>
    <p:extLst>
      <p:ext uri="{BB962C8B-B14F-4D97-AF65-F5344CB8AC3E}">
        <p14:creationId xmlns:p14="http://schemas.microsoft.com/office/powerpoint/2010/main" val="6814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769CB7-590E-4FBB-B2B7-094351F91F79}" type="datetimeFigureOut">
              <a:rPr lang="en-US" smtClean="0"/>
              <a:t>6/29/2016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94850C-84DE-4B0F-989D-662FD5B81146}" type="slidenum">
              <a:rPr lang="en-US" smtClean="0"/>
              <a:t>‹#›</a:t>
            </a:fld>
            <a:endParaRPr lang="en-US"/>
          </a:p>
        </p:txBody>
      </p:sp>
    </p:spTree>
    <p:extLst>
      <p:ext uri="{BB962C8B-B14F-4D97-AF65-F5344CB8AC3E}">
        <p14:creationId xmlns:p14="http://schemas.microsoft.com/office/powerpoint/2010/main" val="647571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769CB7-590E-4FBB-B2B7-094351F91F79}" type="datetimeFigureOut">
              <a:rPr lang="en-US" smtClean="0"/>
              <a:t>6/29/2016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94850C-84DE-4B0F-989D-662FD5B81146}" type="slidenum">
              <a:rPr lang="en-US" smtClean="0"/>
              <a:t>‹#›</a:t>
            </a:fld>
            <a:endParaRPr lang="en-US"/>
          </a:p>
        </p:txBody>
      </p:sp>
    </p:spTree>
    <p:extLst>
      <p:ext uri="{BB962C8B-B14F-4D97-AF65-F5344CB8AC3E}">
        <p14:creationId xmlns:p14="http://schemas.microsoft.com/office/powerpoint/2010/main" val="28734881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7.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jpe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jpe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2.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25.jpeg"/><Relationship Id="rId7"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28.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8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8128000"/>
          </a:xfrm>
          <a:prstGeom prst="rect">
            <a:avLst/>
          </a:prstGeom>
        </p:spPr>
      </p:pic>
      <p:sp>
        <p:nvSpPr>
          <p:cNvPr id="2" name="Title 1"/>
          <p:cNvSpPr>
            <a:spLocks noGrp="1"/>
          </p:cNvSpPr>
          <p:nvPr>
            <p:ph type="ctrTitle"/>
          </p:nvPr>
        </p:nvSpPr>
        <p:spPr>
          <a:xfrm>
            <a:off x="4896853" y="120316"/>
            <a:ext cx="7295148" cy="1070810"/>
          </a:xfrm>
          <a:solidFill>
            <a:schemeClr val="bg1"/>
          </a:solidFill>
        </p:spPr>
        <p:txBody>
          <a:bodyPr anchor="ctr">
            <a:normAutofit/>
          </a:bodyPr>
          <a:lstStyle/>
          <a:p>
            <a:r>
              <a:rPr lang="en-GB" sz="2800" dirty="0" smtClean="0">
                <a:solidFill>
                  <a:schemeClr val="bg1">
                    <a:lumMod val="50000"/>
                  </a:schemeClr>
                </a:solidFill>
                <a:latin typeface="Arial" panose="020B0604020202020204" pitchFamily="34" charset="0"/>
                <a:cs typeface="Arial" panose="020B0604020202020204" pitchFamily="34" charset="0"/>
              </a:rPr>
              <a:t>ESA REGIONAL OFFICE</a:t>
            </a:r>
            <a:endParaRPr lang="en-US" sz="2800" dirty="0">
              <a:solidFill>
                <a:schemeClr val="bg1">
                  <a:lumMod val="50000"/>
                </a:schemeClr>
              </a:solidFill>
              <a:latin typeface="Arial" panose="020B0604020202020204" pitchFamily="34" charset="0"/>
              <a:cs typeface="Arial" panose="020B0604020202020204" pitchFamily="34" charset="0"/>
            </a:endParaRPr>
          </a:p>
        </p:txBody>
      </p:sp>
      <p:sp>
        <p:nvSpPr>
          <p:cNvPr id="6" name="Rectangle 5"/>
          <p:cNvSpPr/>
          <p:nvPr/>
        </p:nvSpPr>
        <p:spPr>
          <a:xfrm>
            <a:off x="0" y="5029200"/>
            <a:ext cx="12192001" cy="14999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rgbClr val="0099FF"/>
                </a:solidFill>
                <a:latin typeface="Arial" panose="020B0604020202020204" pitchFamily="34" charset="0"/>
                <a:cs typeface="Arial" panose="020B0604020202020204" pitchFamily="34" charset="0"/>
              </a:rPr>
              <a:t>Result-Based Management Training</a:t>
            </a:r>
          </a:p>
          <a:p>
            <a:pPr algn="ctr"/>
            <a:r>
              <a:rPr lang="en-US" sz="2400" dirty="0" smtClean="0">
                <a:solidFill>
                  <a:schemeClr val="bg1">
                    <a:lumMod val="75000"/>
                  </a:schemeClr>
                </a:solidFill>
                <a:latin typeface="Arial" panose="020B0604020202020204" pitchFamily="34" charset="0"/>
                <a:cs typeface="Arial" panose="020B0604020202020204" pitchFamily="34" charset="0"/>
              </a:rPr>
              <a:t>Session 1 – April 4 &amp; 5th 2016</a:t>
            </a:r>
            <a:endParaRPr lang="en-US" sz="2800" dirty="0">
              <a:solidFill>
                <a:schemeClr val="bg1">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35527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Overall objective</a:t>
            </a:r>
            <a:endParaRPr lang="en-US" sz="3600" dirty="0">
              <a:solidFill>
                <a:srgbClr val="0099FF"/>
              </a:solidFill>
              <a:latin typeface="Arial" panose="020B0604020202020204" pitchFamily="34" charset="0"/>
              <a:cs typeface="Arial" panose="020B0604020202020204" pitchFamily="34" charset="0"/>
            </a:endParaRPr>
          </a:p>
        </p:txBody>
      </p:sp>
      <p:sp>
        <p:nvSpPr>
          <p:cNvPr id="4" name="Content Placeholder 2"/>
          <p:cNvSpPr txBox="1">
            <a:spLocks/>
          </p:cNvSpPr>
          <p:nvPr/>
        </p:nvSpPr>
        <p:spPr>
          <a:xfrm>
            <a:off x="5857519" y="2827584"/>
            <a:ext cx="10148850" cy="4339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US" sz="2400" b="1" dirty="0" smtClean="0">
              <a:latin typeface="Arial" panose="020B0604020202020204" pitchFamily="34" charset="0"/>
              <a:cs typeface="Arial" panose="020B0604020202020204" pitchFamily="34" charset="0"/>
            </a:endParaRPr>
          </a:p>
          <a:p>
            <a:endParaRPr lang="en-US" sz="2400" dirty="0" smtClean="0">
              <a:latin typeface="Arial" panose="020B0604020202020204" pitchFamily="34" charset="0"/>
              <a:cs typeface="Arial" panose="020B0604020202020204" pitchFamily="34" charset="0"/>
            </a:endParaRPr>
          </a:p>
          <a:p>
            <a:endParaRPr lang="en-US" sz="2400" dirty="0" smtClean="0">
              <a:latin typeface="Arial" panose="020B0604020202020204" pitchFamily="34" charset="0"/>
              <a:cs typeface="Arial" panose="020B0604020202020204" pitchFamily="34" charset="0"/>
            </a:endParaRPr>
          </a:p>
        </p:txBody>
      </p:sp>
      <p:sp>
        <p:nvSpPr>
          <p:cNvPr id="3" name="Rectangle 2"/>
          <p:cNvSpPr/>
          <p:nvPr/>
        </p:nvSpPr>
        <p:spPr>
          <a:xfrm>
            <a:off x="3722629" y="1479546"/>
            <a:ext cx="4842992" cy="523220"/>
          </a:xfrm>
          <a:prstGeom prst="rect">
            <a:avLst/>
          </a:prstGeom>
        </p:spPr>
        <p:txBody>
          <a:bodyPr wrap="none">
            <a:spAutoFit/>
          </a:bodyPr>
          <a:lstStyle/>
          <a:p>
            <a:pPr algn="ctr"/>
            <a:r>
              <a:rPr lang="en-US" sz="2800" dirty="0">
                <a:latin typeface="Arial" panose="020B0604020202020204" pitchFamily="34" charset="0"/>
                <a:cs typeface="Arial" panose="020B0604020202020204" pitchFamily="34" charset="0"/>
              </a:rPr>
              <a:t>For participants to be able to:</a:t>
            </a:r>
          </a:p>
        </p:txBody>
      </p:sp>
      <p:grpSp>
        <p:nvGrpSpPr>
          <p:cNvPr id="11" name="Group 10"/>
          <p:cNvGrpSpPr/>
          <p:nvPr/>
        </p:nvGrpSpPr>
        <p:grpSpPr>
          <a:xfrm>
            <a:off x="2648125" y="2424503"/>
            <a:ext cx="3529263" cy="4068538"/>
            <a:chOff x="538587" y="2043503"/>
            <a:chExt cx="3529263" cy="4068538"/>
          </a:xfrm>
        </p:grpSpPr>
        <p:sp>
          <p:nvSpPr>
            <p:cNvPr id="5" name="Rectangle 4"/>
            <p:cNvSpPr/>
            <p:nvPr/>
          </p:nvSpPr>
          <p:spPr>
            <a:xfrm>
              <a:off x="834422" y="3884626"/>
              <a:ext cx="3002654" cy="2227415"/>
            </a:xfrm>
            <a:prstGeom prst="rect">
              <a:avLst/>
            </a:prstGeom>
            <a:ln>
              <a:noFill/>
            </a:ln>
          </p:spPr>
          <p:txBody>
            <a:bodyPr wrap="square" anchor="t">
              <a:noAutofit/>
            </a:bodyPr>
            <a:lstStyle/>
            <a:p>
              <a:pPr algn="ctr"/>
              <a:r>
                <a:rPr lang="en-GB" sz="2000" dirty="0">
                  <a:latin typeface="Arial" panose="020B0604020202020204" pitchFamily="34" charset="0"/>
                  <a:cs typeface="Arial" panose="020B0604020202020204" pitchFamily="34" charset="0"/>
                </a:rPr>
                <a:t>Apply RBM principles </a:t>
              </a:r>
              <a:r>
                <a:rPr lang="en-US" sz="2000" dirty="0">
                  <a:latin typeface="Arial" panose="020B0604020202020204" pitchFamily="34" charset="0"/>
                  <a:cs typeface="Arial" panose="020B0604020202020204" pitchFamily="34" charset="0"/>
                </a:rPr>
                <a:t>to the design and monitoring of </a:t>
              </a:r>
              <a:r>
                <a:rPr lang="en-US" sz="2000" dirty="0" smtClean="0">
                  <a:latin typeface="Arial" panose="020B0604020202020204" pitchFamily="34" charset="0"/>
                  <a:cs typeface="Arial" panose="020B0604020202020204" pitchFamily="34" charset="0"/>
                </a:rPr>
                <a:t>programmes</a:t>
              </a:r>
              <a:r>
                <a:rPr lang="en-US" sz="2000" dirty="0">
                  <a:latin typeface="Arial" panose="020B0604020202020204" pitchFamily="34" charset="0"/>
                  <a:cs typeface="Arial" panose="020B0604020202020204" pitchFamily="34" charset="0"/>
                </a:rPr>
                <a:t>.</a:t>
              </a:r>
            </a:p>
          </p:txBody>
        </p:sp>
        <p:pic>
          <p:nvPicPr>
            <p:cNvPr id="1026" name="Picture 2" descr="http://commons.hostos.cuny.edu/techleaders/wp-content/uploads/sites/53/2014/12/apply-ic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2643" y="2236973"/>
              <a:ext cx="1606211" cy="148723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538587" y="2043503"/>
              <a:ext cx="3529263" cy="3850106"/>
            </a:xfrm>
            <a:prstGeom prst="rect">
              <a:avLst/>
            </a:prstGeom>
            <a:noFill/>
            <a:ln>
              <a:solidFill>
                <a:srgbClr val="00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p:cNvGrpSpPr/>
          <p:nvPr/>
        </p:nvGrpSpPr>
        <p:grpSpPr>
          <a:xfrm>
            <a:off x="6616032" y="2434389"/>
            <a:ext cx="3529263" cy="4058652"/>
            <a:chOff x="4236452" y="2053389"/>
            <a:chExt cx="3529263" cy="4058652"/>
          </a:xfrm>
        </p:grpSpPr>
        <p:sp>
          <p:nvSpPr>
            <p:cNvPr id="6" name="Rectangle 5"/>
            <p:cNvSpPr/>
            <p:nvPr/>
          </p:nvSpPr>
          <p:spPr>
            <a:xfrm>
              <a:off x="4537135" y="3884626"/>
              <a:ext cx="3002654" cy="2227415"/>
            </a:xfrm>
            <a:prstGeom prst="rect">
              <a:avLst/>
            </a:prstGeom>
            <a:ln>
              <a:noFill/>
            </a:ln>
          </p:spPr>
          <p:txBody>
            <a:bodyPr wrap="square" anchor="t">
              <a:noAutofit/>
            </a:bodyPr>
            <a:lstStyle/>
            <a:p>
              <a:pPr algn="ctr"/>
              <a:r>
                <a:rPr lang="en-GB" sz="2000" dirty="0">
                  <a:latin typeface="Arial" panose="020B0604020202020204" pitchFamily="34" charset="0"/>
                  <a:cs typeface="Arial" panose="020B0604020202020204" pitchFamily="34" charset="0"/>
                </a:rPr>
                <a:t>Use available RBM tools and approaches to strengthen results-oriented and equity focused </a:t>
              </a:r>
              <a:r>
                <a:rPr lang="en-GB" sz="2000" dirty="0" smtClean="0">
                  <a:latin typeface="Arial" panose="020B0604020202020204" pitchFamily="34" charset="0"/>
                  <a:cs typeface="Arial" panose="020B0604020202020204" pitchFamily="34" charset="0"/>
                </a:rPr>
                <a:t>programmes</a:t>
              </a:r>
              <a:endParaRPr lang="en-GB" sz="2000" dirty="0">
                <a:latin typeface="Arial" panose="020B0604020202020204" pitchFamily="34" charset="0"/>
                <a:cs typeface="Arial" panose="020B0604020202020204" pitchFamily="34" charset="0"/>
              </a:endParaRPr>
            </a:p>
          </p:txBody>
        </p:sp>
        <p:pic>
          <p:nvPicPr>
            <p:cNvPr id="1028" name="Picture 4" descr="https://s-media-cache-ak0.pinimg.com/564x/2b/5d/21/2b5d21752e9b782f5b97e07b2317314f.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3606" y="2537384"/>
              <a:ext cx="1071783" cy="979714"/>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4236452" y="2053389"/>
              <a:ext cx="3529263" cy="3850106"/>
            </a:xfrm>
            <a:prstGeom prst="rect">
              <a:avLst/>
            </a:prstGeom>
            <a:noFill/>
            <a:ln>
              <a:solidFill>
                <a:srgbClr val="00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423688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04801" y="1684422"/>
            <a:ext cx="5670884" cy="394635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800" dirty="0" smtClean="0">
                <a:solidFill>
                  <a:srgbClr val="0099FF"/>
                </a:solidFill>
              </a:rPr>
              <a:t>DAY 1</a:t>
            </a:r>
            <a:endParaRPr lang="en-US" sz="2800" dirty="0">
              <a:solidFill>
                <a:srgbClr val="0099FF"/>
              </a:solidFill>
            </a:endParaRPr>
          </a:p>
        </p:txBody>
      </p:sp>
      <p:sp>
        <p:nvSpPr>
          <p:cNvPr id="26" name="Rectangle 25"/>
          <p:cNvSpPr/>
          <p:nvPr/>
        </p:nvSpPr>
        <p:spPr>
          <a:xfrm>
            <a:off x="6120065" y="1684421"/>
            <a:ext cx="5670884" cy="394635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800" dirty="0" smtClean="0">
                <a:solidFill>
                  <a:srgbClr val="0099FF"/>
                </a:solidFill>
              </a:rPr>
              <a:t>DAY 2</a:t>
            </a:r>
            <a:endParaRPr lang="en-US" sz="2800" dirty="0">
              <a:solidFill>
                <a:srgbClr val="0099FF"/>
              </a:solidFill>
            </a:endParaRPr>
          </a:p>
        </p:txBody>
      </p:sp>
      <p:sp>
        <p:nvSpPr>
          <p:cNvPr id="2"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Agenda</a:t>
            </a:r>
            <a:endParaRPr lang="en-US" sz="3600" dirty="0">
              <a:solidFill>
                <a:srgbClr val="0099FF"/>
              </a:solidFill>
              <a:latin typeface="Arial" panose="020B0604020202020204" pitchFamily="34" charset="0"/>
              <a:cs typeface="Arial" panose="020B0604020202020204" pitchFamily="34" charset="0"/>
            </a:endParaRPr>
          </a:p>
        </p:txBody>
      </p:sp>
      <p:sp>
        <p:nvSpPr>
          <p:cNvPr id="7" name="Rectangle 6"/>
          <p:cNvSpPr/>
          <p:nvPr/>
        </p:nvSpPr>
        <p:spPr>
          <a:xfrm>
            <a:off x="505325" y="2566736"/>
            <a:ext cx="1684421" cy="12994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Key Drivers and Principles of RBM</a:t>
            </a:r>
            <a:endParaRPr lang="en-US" dirty="0">
              <a:latin typeface="Arial" panose="020B0604020202020204" pitchFamily="34" charset="0"/>
              <a:cs typeface="Arial" panose="020B0604020202020204" pitchFamily="34" charset="0"/>
            </a:endParaRPr>
          </a:p>
        </p:txBody>
      </p:sp>
      <p:sp>
        <p:nvSpPr>
          <p:cNvPr id="14" name="Rectangle 13"/>
          <p:cNvSpPr/>
          <p:nvPr/>
        </p:nvSpPr>
        <p:spPr>
          <a:xfrm>
            <a:off x="2326104" y="2566736"/>
            <a:ext cx="1684421" cy="12994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Problem Analysis</a:t>
            </a:r>
            <a:endParaRPr lang="en-US" dirty="0">
              <a:latin typeface="Arial" panose="020B0604020202020204" pitchFamily="34" charset="0"/>
              <a:cs typeface="Arial" panose="020B0604020202020204" pitchFamily="34" charset="0"/>
            </a:endParaRPr>
          </a:p>
        </p:txBody>
      </p:sp>
      <p:sp>
        <p:nvSpPr>
          <p:cNvPr id="15" name="Rectangle 14"/>
          <p:cNvSpPr/>
          <p:nvPr/>
        </p:nvSpPr>
        <p:spPr>
          <a:xfrm>
            <a:off x="4146883" y="2566736"/>
            <a:ext cx="1684421" cy="12994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Application of Lenses</a:t>
            </a:r>
            <a:endParaRPr lang="en-US" dirty="0">
              <a:latin typeface="Arial" panose="020B0604020202020204" pitchFamily="34" charset="0"/>
              <a:cs typeface="Arial" panose="020B0604020202020204" pitchFamily="34" charset="0"/>
            </a:endParaRPr>
          </a:p>
        </p:txBody>
      </p:sp>
      <p:sp>
        <p:nvSpPr>
          <p:cNvPr id="16" name="Rectangle 15"/>
          <p:cNvSpPr/>
          <p:nvPr/>
        </p:nvSpPr>
        <p:spPr>
          <a:xfrm>
            <a:off x="505324" y="4066672"/>
            <a:ext cx="1684421" cy="12994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Outcome Chain</a:t>
            </a:r>
            <a:endParaRPr lang="en-US" dirty="0">
              <a:latin typeface="Arial" panose="020B0604020202020204" pitchFamily="34" charset="0"/>
              <a:cs typeface="Arial" panose="020B0604020202020204" pitchFamily="34" charset="0"/>
            </a:endParaRPr>
          </a:p>
        </p:txBody>
      </p:sp>
      <p:sp>
        <p:nvSpPr>
          <p:cNvPr id="17" name="Rectangle 16"/>
          <p:cNvSpPr/>
          <p:nvPr/>
        </p:nvSpPr>
        <p:spPr>
          <a:xfrm>
            <a:off x="2334125" y="4066672"/>
            <a:ext cx="1684421" cy="12994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Prioritization</a:t>
            </a:r>
            <a:endParaRPr lang="en-US" dirty="0">
              <a:latin typeface="Arial" panose="020B0604020202020204" pitchFamily="34" charset="0"/>
              <a:cs typeface="Arial" panose="020B0604020202020204" pitchFamily="34" charset="0"/>
            </a:endParaRPr>
          </a:p>
        </p:txBody>
      </p:sp>
      <p:sp>
        <p:nvSpPr>
          <p:cNvPr id="18" name="Rectangle 17"/>
          <p:cNvSpPr/>
          <p:nvPr/>
        </p:nvSpPr>
        <p:spPr>
          <a:xfrm>
            <a:off x="4154904" y="4066672"/>
            <a:ext cx="1684421" cy="12994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Strategies, Risks and Assumptions</a:t>
            </a:r>
            <a:endParaRPr lang="en-US" dirty="0">
              <a:latin typeface="Arial" panose="020B0604020202020204" pitchFamily="34" charset="0"/>
              <a:cs typeface="Arial" panose="020B0604020202020204" pitchFamily="34" charset="0"/>
            </a:endParaRPr>
          </a:p>
        </p:txBody>
      </p:sp>
      <p:sp>
        <p:nvSpPr>
          <p:cNvPr id="19" name="Rectangle 18"/>
          <p:cNvSpPr/>
          <p:nvPr/>
        </p:nvSpPr>
        <p:spPr>
          <a:xfrm>
            <a:off x="6344651" y="2566736"/>
            <a:ext cx="1684421" cy="12994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Results Framework</a:t>
            </a:r>
            <a:endParaRPr lang="en-US" dirty="0">
              <a:latin typeface="Arial" panose="020B0604020202020204" pitchFamily="34" charset="0"/>
              <a:cs typeface="Arial" panose="020B0604020202020204" pitchFamily="34" charset="0"/>
            </a:endParaRPr>
          </a:p>
        </p:txBody>
      </p:sp>
      <p:sp>
        <p:nvSpPr>
          <p:cNvPr id="20" name="Rectangle 19"/>
          <p:cNvSpPr/>
          <p:nvPr/>
        </p:nvSpPr>
        <p:spPr>
          <a:xfrm>
            <a:off x="8165430" y="2566736"/>
            <a:ext cx="1684421" cy="12994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Group Presentations</a:t>
            </a:r>
            <a:endParaRPr lang="en-US" dirty="0">
              <a:latin typeface="Arial" panose="020B0604020202020204" pitchFamily="34" charset="0"/>
              <a:cs typeface="Arial" panose="020B0604020202020204" pitchFamily="34" charset="0"/>
            </a:endParaRPr>
          </a:p>
        </p:txBody>
      </p:sp>
      <p:sp>
        <p:nvSpPr>
          <p:cNvPr id="21" name="Rectangle 20"/>
          <p:cNvSpPr/>
          <p:nvPr/>
        </p:nvSpPr>
        <p:spPr>
          <a:xfrm>
            <a:off x="9994231" y="2566736"/>
            <a:ext cx="1684421" cy="1299410"/>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dirty="0" smtClean="0">
                <a:latin typeface="Arial" panose="020B0604020202020204" pitchFamily="34" charset="0"/>
                <a:cs typeface="Arial" panose="020B0604020202020204" pitchFamily="34" charset="0"/>
              </a:rPr>
              <a:t>Implementation</a:t>
            </a:r>
            <a:endParaRPr lang="en-US" dirty="0">
              <a:latin typeface="Arial" panose="020B0604020202020204" pitchFamily="34" charset="0"/>
              <a:cs typeface="Arial" panose="020B0604020202020204" pitchFamily="34" charset="0"/>
            </a:endParaRPr>
          </a:p>
        </p:txBody>
      </p:sp>
      <p:sp>
        <p:nvSpPr>
          <p:cNvPr id="22" name="Rectangle 21"/>
          <p:cNvSpPr/>
          <p:nvPr/>
        </p:nvSpPr>
        <p:spPr>
          <a:xfrm>
            <a:off x="6352673" y="4066672"/>
            <a:ext cx="1684421" cy="12994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Monitoring and Evaluation</a:t>
            </a:r>
            <a:endParaRPr lang="en-US" dirty="0">
              <a:latin typeface="Arial" panose="020B0604020202020204" pitchFamily="34" charset="0"/>
              <a:cs typeface="Arial" panose="020B0604020202020204" pitchFamily="34" charset="0"/>
            </a:endParaRPr>
          </a:p>
        </p:txBody>
      </p:sp>
      <p:sp>
        <p:nvSpPr>
          <p:cNvPr id="23" name="Rectangle 22"/>
          <p:cNvSpPr/>
          <p:nvPr/>
        </p:nvSpPr>
        <p:spPr>
          <a:xfrm>
            <a:off x="8173452" y="4066672"/>
            <a:ext cx="1684421" cy="12994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Results Based Budgeting</a:t>
            </a:r>
            <a:endParaRPr lang="en-US" dirty="0">
              <a:latin typeface="Arial" panose="020B0604020202020204" pitchFamily="34" charset="0"/>
              <a:cs typeface="Arial" panose="020B0604020202020204" pitchFamily="34" charset="0"/>
            </a:endParaRPr>
          </a:p>
        </p:txBody>
      </p:sp>
      <p:sp>
        <p:nvSpPr>
          <p:cNvPr id="24" name="Rectangle 23"/>
          <p:cNvSpPr/>
          <p:nvPr/>
        </p:nvSpPr>
        <p:spPr>
          <a:xfrm>
            <a:off x="9994231" y="4066672"/>
            <a:ext cx="1684421" cy="12994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Reporting</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78344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60884" y="2502568"/>
            <a:ext cx="8855242" cy="2839453"/>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860884" y="2502567"/>
            <a:ext cx="8855242" cy="2839453"/>
          </a:xfrm>
        </p:spPr>
        <p:txBody>
          <a:bodyPr vert="horz" lIns="91440" tIns="45720" rIns="91440" bIns="45720" rtlCol="0" anchor="ctr">
            <a:noAutofit/>
          </a:bodyPr>
          <a:lstStyle/>
          <a:p>
            <a:pPr algn="ctr"/>
            <a:r>
              <a:rPr lang="en-US" sz="4000" dirty="0">
                <a:solidFill>
                  <a:srgbClr val="0099FF"/>
                </a:solidFill>
                <a:latin typeface="Arial" panose="020B0604020202020204" pitchFamily="34" charset="0"/>
                <a:cs typeface="Arial" panose="020B0604020202020204" pitchFamily="34" charset="0"/>
              </a:rPr>
              <a:t>KEY DRIVERS OF RBM &amp; INTRODUCTION TO RBM </a:t>
            </a:r>
            <a:r>
              <a:rPr lang="en-US" sz="4000" dirty="0" smtClean="0">
                <a:solidFill>
                  <a:srgbClr val="0099FF"/>
                </a:solidFill>
                <a:latin typeface="Arial" panose="020B0604020202020204" pitchFamily="34" charset="0"/>
                <a:cs typeface="Arial" panose="020B0604020202020204" pitchFamily="34" charset="0"/>
              </a:rPr>
              <a:t>PRINCIPLES</a:t>
            </a:r>
            <a:endParaRPr lang="en-US" sz="2800" dirty="0">
              <a:solidFill>
                <a:schemeClr val="bg1">
                  <a:lumMod val="50000"/>
                </a:schemeClr>
              </a:solidFill>
              <a:latin typeface="Arial" panose="020B0604020202020204" pitchFamily="34" charset="0"/>
              <a:cs typeface="Arial" panose="020B0604020202020204" pitchFamily="34" charset="0"/>
            </a:endParaRPr>
          </a:p>
        </p:txBody>
      </p:sp>
      <p:sp>
        <p:nvSpPr>
          <p:cNvPr id="6" name="Rectangle 5"/>
          <p:cNvSpPr/>
          <p:nvPr/>
        </p:nvSpPr>
        <p:spPr>
          <a:xfrm>
            <a:off x="1860884" y="1612232"/>
            <a:ext cx="8855242" cy="890336"/>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bg1">
                    <a:lumMod val="65000"/>
                  </a:schemeClr>
                </a:solidFill>
                <a:latin typeface="Arial" panose="020B0604020202020204" pitchFamily="34" charset="0"/>
                <a:cs typeface="Arial" panose="020B0604020202020204" pitchFamily="34" charset="0"/>
              </a:rPr>
              <a:t>SESSION 1</a:t>
            </a:r>
            <a:endParaRPr lang="en-US" sz="2800" dirty="0">
              <a:solidFill>
                <a:schemeClr val="bg1">
                  <a:lumMod val="6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86207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Session Objectives</a:t>
            </a:r>
            <a:endParaRPr lang="en-US" sz="3600" dirty="0">
              <a:solidFill>
                <a:srgbClr val="0099FF"/>
              </a:solidFill>
              <a:latin typeface="Arial" panose="020B0604020202020204" pitchFamily="34" charset="0"/>
              <a:cs typeface="Arial" panose="020B0604020202020204" pitchFamily="34" charset="0"/>
            </a:endParaRPr>
          </a:p>
        </p:txBody>
      </p:sp>
      <p:sp>
        <p:nvSpPr>
          <p:cNvPr id="12" name="Rectangle 11"/>
          <p:cNvSpPr/>
          <p:nvPr/>
        </p:nvSpPr>
        <p:spPr>
          <a:xfrm>
            <a:off x="2751454" y="2789753"/>
            <a:ext cx="3002654" cy="1862457"/>
          </a:xfrm>
          <a:prstGeom prst="rect">
            <a:avLst/>
          </a:prstGeom>
          <a:ln>
            <a:noFill/>
          </a:ln>
        </p:spPr>
        <p:txBody>
          <a:bodyPr wrap="square" anchor="t">
            <a:noAutofit/>
          </a:bodyPr>
          <a:lstStyle/>
          <a:p>
            <a:pPr algn="ctr">
              <a:spcAft>
                <a:spcPts val="600"/>
              </a:spcAft>
            </a:pPr>
            <a:r>
              <a:rPr lang="en-US" sz="2800" dirty="0">
                <a:latin typeface="Arial" panose="020B0604020202020204" pitchFamily="34" charset="0"/>
                <a:cs typeface="Arial" panose="020B0604020202020204" pitchFamily="34" charset="0"/>
              </a:rPr>
              <a:t>Understand current drivers of RBM for UNICEF </a:t>
            </a:r>
          </a:p>
        </p:txBody>
      </p:sp>
      <p:sp>
        <p:nvSpPr>
          <p:cNvPr id="20" name="Rectangle 19"/>
          <p:cNvSpPr/>
          <p:nvPr/>
        </p:nvSpPr>
        <p:spPr>
          <a:xfrm>
            <a:off x="2455619" y="2059546"/>
            <a:ext cx="3529263" cy="2739190"/>
          </a:xfrm>
          <a:prstGeom prst="rect">
            <a:avLst/>
          </a:prstGeom>
          <a:noFill/>
          <a:ln>
            <a:solidFill>
              <a:srgbClr val="00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6686830" y="2308490"/>
            <a:ext cx="3002654" cy="2227415"/>
          </a:xfrm>
          <a:prstGeom prst="rect">
            <a:avLst/>
          </a:prstGeom>
          <a:ln>
            <a:noFill/>
          </a:ln>
        </p:spPr>
        <p:txBody>
          <a:bodyPr wrap="square" anchor="ctr">
            <a:noAutofit/>
          </a:bodyPr>
          <a:lstStyle/>
          <a:p>
            <a:pPr algn="ctr"/>
            <a:r>
              <a:rPr lang="en-GB" sz="2800" dirty="0">
                <a:latin typeface="Arial" panose="020B0604020202020204" pitchFamily="34" charset="0"/>
                <a:cs typeface="Arial" panose="020B0604020202020204" pitchFamily="34" charset="0"/>
              </a:rPr>
              <a:t>Understand the RBM principles</a:t>
            </a:r>
          </a:p>
        </p:txBody>
      </p:sp>
      <p:sp>
        <p:nvSpPr>
          <p:cNvPr id="24" name="Rectangle 23"/>
          <p:cNvSpPr/>
          <p:nvPr/>
        </p:nvSpPr>
        <p:spPr>
          <a:xfrm>
            <a:off x="6423526" y="2069432"/>
            <a:ext cx="3529263" cy="2739190"/>
          </a:xfrm>
          <a:prstGeom prst="rect">
            <a:avLst/>
          </a:prstGeom>
          <a:noFill/>
          <a:ln>
            <a:solidFill>
              <a:srgbClr val="00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11216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Starting the </a:t>
            </a:r>
            <a:r>
              <a:rPr lang="en-US" sz="3600" dirty="0">
                <a:solidFill>
                  <a:srgbClr val="0099FF"/>
                </a:solidFill>
                <a:latin typeface="Arial" panose="020B0604020202020204" pitchFamily="34" charset="0"/>
                <a:cs typeface="Arial" panose="020B0604020202020204" pitchFamily="34" charset="0"/>
              </a:rPr>
              <a:t>RBM conversation</a:t>
            </a:r>
          </a:p>
        </p:txBody>
      </p:sp>
      <p:sp>
        <p:nvSpPr>
          <p:cNvPr id="5" name="Content Placeholder 2"/>
          <p:cNvSpPr txBox="1">
            <a:spLocks/>
          </p:cNvSpPr>
          <p:nvPr/>
        </p:nvSpPr>
        <p:spPr>
          <a:xfrm>
            <a:off x="2684146" y="2336351"/>
            <a:ext cx="7399867" cy="34925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smtClean="0">
                <a:latin typeface="Arial" panose="020B0604020202020204" pitchFamily="34" charset="0"/>
                <a:cs typeface="Arial" panose="020B0604020202020204" pitchFamily="34" charset="0"/>
              </a:rPr>
              <a:t>Think about RBM in your work, then</a:t>
            </a:r>
          </a:p>
          <a:p>
            <a:endParaRPr lang="en-US" sz="2000" dirty="0" smtClean="0">
              <a:latin typeface="Arial" panose="020B0604020202020204" pitchFamily="34" charset="0"/>
              <a:cs typeface="Arial" panose="020B0604020202020204" pitchFamily="34" charset="0"/>
            </a:endParaRPr>
          </a:p>
          <a:p>
            <a:r>
              <a:rPr lang="en-US" sz="2000" b="1" dirty="0" smtClean="0">
                <a:latin typeface="Arial" panose="020B0604020202020204" pitchFamily="34" charset="0"/>
                <a:cs typeface="Arial" panose="020B0604020202020204" pitchFamily="34" charset="0"/>
              </a:rPr>
              <a:t>Identify challenges you face in the application of RBM to your work</a:t>
            </a:r>
          </a:p>
          <a:p>
            <a:endParaRPr lang="en-US" sz="2000" dirty="0" smtClean="0">
              <a:latin typeface="Arial" panose="020B0604020202020204" pitchFamily="34" charset="0"/>
              <a:cs typeface="Arial" panose="020B0604020202020204" pitchFamily="34" charset="0"/>
            </a:endParaRPr>
          </a:p>
          <a:p>
            <a:pPr marL="0" indent="0">
              <a:buNone/>
            </a:pPr>
            <a:r>
              <a:rPr lang="en-US" sz="2000" dirty="0" smtClean="0">
                <a:latin typeface="Arial" panose="020B0604020202020204" pitchFamily="34" charset="0"/>
                <a:cs typeface="Arial" panose="020B0604020202020204" pitchFamily="34" charset="0"/>
              </a:rPr>
              <a:t>Use VIPP cards (2 cards/per response / participant)</a:t>
            </a:r>
          </a:p>
          <a:p>
            <a:pPr marL="0" indent="0">
              <a:buNone/>
            </a:pPr>
            <a:r>
              <a:rPr lang="en-US" sz="2000" dirty="0" smtClean="0">
                <a:latin typeface="Arial" panose="020B0604020202020204" pitchFamily="34" charset="0"/>
                <a:cs typeface="Arial" panose="020B0604020202020204" pitchFamily="34" charset="0"/>
              </a:rPr>
              <a:t>Discuss commonalities and 3 retain cards for sharing</a:t>
            </a:r>
          </a:p>
          <a:p>
            <a:pPr marL="0" indent="0"/>
            <a:endParaRPr lang="en-US" sz="2000" dirty="0" smtClean="0">
              <a:latin typeface="Arial" panose="020B0604020202020204" pitchFamily="34" charset="0"/>
              <a:cs typeface="Arial" panose="020B0604020202020204" pitchFamily="34" charset="0"/>
            </a:endParaRPr>
          </a:p>
          <a:p>
            <a:pPr marL="0" indent="0"/>
            <a:endParaRPr lang="en-US" sz="2000" dirty="0">
              <a:latin typeface="Arial" panose="020B0604020202020204" pitchFamily="34" charset="0"/>
              <a:cs typeface="Arial" panose="020B0604020202020204" pitchFamily="34" charset="0"/>
            </a:endParaRPr>
          </a:p>
        </p:txBody>
      </p:sp>
      <p:sp>
        <p:nvSpPr>
          <p:cNvPr id="6" name="Text Placeholder 2"/>
          <p:cNvSpPr txBox="1">
            <a:spLocks/>
          </p:cNvSpPr>
          <p:nvPr/>
        </p:nvSpPr>
        <p:spPr>
          <a:xfrm>
            <a:off x="2474259" y="1408673"/>
            <a:ext cx="8153400" cy="6969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latin typeface="Arial" panose="020B0604020202020204" pitchFamily="34" charset="0"/>
                <a:cs typeface="Arial" panose="020B0604020202020204" pitchFamily="34" charset="0"/>
              </a:rPr>
              <a:t>Individual and small group discussions</a:t>
            </a:r>
            <a:endParaRPr lang="en-US" dirty="0">
              <a:latin typeface="Arial" panose="020B0604020202020204" pitchFamily="34" charset="0"/>
              <a:cs typeface="Arial" panose="020B0604020202020204" pitchFamily="34" charset="0"/>
            </a:endParaRPr>
          </a:p>
        </p:txBody>
      </p:sp>
      <p:pic>
        <p:nvPicPr>
          <p:cNvPr id="7" name="Picture 2" descr="http://cdn2.hubspot.net/hub/390757/file-1027248010-png/images/people-connect-icon.png?t=1455723441285&amp;width=2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08673"/>
            <a:ext cx="2705100" cy="22669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http://1.bp.blogspot.com/-ywKlrpnUnqo/Tc8Axuwu_mI/AAAAAAAAARY/V1EBr_BYHMs/s1600/Post-it_Yellow.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72385" y="5204058"/>
            <a:ext cx="1125071" cy="112376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http://1.bp.blogspot.com/-ywKlrpnUnqo/Tc8Axuwu_mI/AAAAAAAAARY/V1EBr_BYHMs/s1600/Post-it_Yellow.png"/>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134920" y="5490929"/>
            <a:ext cx="1125071" cy="11237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http://1.bp.blogspot.com/-ywKlrpnUnqo/Tc8Axuwu_mI/AAAAAAAAARY/V1EBr_BYHMs/s1600/Post-it_Yellow.png"/>
          <p:cNvPicPr>
            <a:picLocks noChangeAspect="1" noChangeArrowheads="1"/>
          </p:cNvPicPr>
          <p:nvPr/>
        </p:nvPicPr>
        <p:blipFill>
          <a:blip r:embed="rId4" cstate="print">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10748363" y="5275318"/>
            <a:ext cx="1125071" cy="1123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94212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Results-Based Management Cycle involves</a:t>
            </a:r>
          </a:p>
        </p:txBody>
      </p:sp>
      <p:grpSp>
        <p:nvGrpSpPr>
          <p:cNvPr id="3" name="Group 2"/>
          <p:cNvGrpSpPr/>
          <p:nvPr/>
        </p:nvGrpSpPr>
        <p:grpSpPr>
          <a:xfrm>
            <a:off x="8355106" y="1190812"/>
            <a:ext cx="3442447" cy="5096435"/>
            <a:chOff x="8355106" y="1190812"/>
            <a:chExt cx="3442447" cy="5096435"/>
          </a:xfrm>
        </p:grpSpPr>
        <p:sp>
          <p:nvSpPr>
            <p:cNvPr id="10" name="Rectangle 9"/>
            <p:cNvSpPr/>
            <p:nvPr/>
          </p:nvSpPr>
          <p:spPr>
            <a:xfrm>
              <a:off x="8355106" y="1190812"/>
              <a:ext cx="3442447" cy="48593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t>RBM Conversations</a:t>
              </a:r>
              <a:endParaRPr lang="en-US" sz="2000" dirty="0"/>
            </a:p>
          </p:txBody>
        </p:sp>
        <p:sp>
          <p:nvSpPr>
            <p:cNvPr id="12" name="Rectangle 11"/>
            <p:cNvSpPr/>
            <p:nvPr/>
          </p:nvSpPr>
          <p:spPr>
            <a:xfrm>
              <a:off x="8355106" y="1808487"/>
              <a:ext cx="3442447" cy="120565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bg1"/>
                  </a:solidFill>
                </a:rPr>
                <a:t>Quality of analysis</a:t>
              </a:r>
              <a:endParaRPr lang="en-US" sz="2000" dirty="0">
                <a:solidFill>
                  <a:schemeClr val="bg1"/>
                </a:solidFill>
              </a:endParaRPr>
            </a:p>
          </p:txBody>
        </p:sp>
        <p:sp>
          <p:nvSpPr>
            <p:cNvPr id="13" name="Rectangle 12"/>
            <p:cNvSpPr/>
            <p:nvPr/>
          </p:nvSpPr>
          <p:spPr>
            <a:xfrm>
              <a:off x="8355106" y="3135758"/>
              <a:ext cx="3442447" cy="120565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bg1"/>
                  </a:solidFill>
                </a:rPr>
                <a:t>Strategic priorities </a:t>
              </a:r>
              <a:endParaRPr lang="en-US" sz="2000" dirty="0">
                <a:solidFill>
                  <a:schemeClr val="bg1"/>
                </a:solidFill>
              </a:endParaRPr>
            </a:p>
          </p:txBody>
        </p:sp>
        <p:sp>
          <p:nvSpPr>
            <p:cNvPr id="14" name="Rectangle 13"/>
            <p:cNvSpPr/>
            <p:nvPr/>
          </p:nvSpPr>
          <p:spPr>
            <a:xfrm>
              <a:off x="8355106" y="4463029"/>
              <a:ext cx="3442447" cy="120565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accent4">
                      <a:lumMod val="50000"/>
                    </a:schemeClr>
                  </a:solidFill>
                </a:rPr>
                <a:t>Plausibility of delivering results </a:t>
              </a:r>
              <a:endParaRPr lang="en-US" sz="2000" dirty="0">
                <a:solidFill>
                  <a:schemeClr val="accent4">
                    <a:lumMod val="50000"/>
                  </a:schemeClr>
                </a:solidFill>
              </a:endParaRPr>
            </a:p>
          </p:txBody>
        </p:sp>
        <p:sp>
          <p:nvSpPr>
            <p:cNvPr id="15" name="Rectangle 14"/>
            <p:cNvSpPr/>
            <p:nvPr/>
          </p:nvSpPr>
          <p:spPr>
            <a:xfrm>
              <a:off x="8355106" y="5790300"/>
              <a:ext cx="3442447" cy="49694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bg1"/>
                  </a:solidFill>
                </a:rPr>
                <a:t>Ability to demonstrate results</a:t>
              </a:r>
              <a:endParaRPr lang="en-US" sz="2000" dirty="0">
                <a:solidFill>
                  <a:schemeClr val="bg1"/>
                </a:solidFill>
              </a:endParaRPr>
            </a:p>
          </p:txBody>
        </p:sp>
      </p:grpSp>
      <p:sp>
        <p:nvSpPr>
          <p:cNvPr id="16" name="Right Arrow 15"/>
          <p:cNvSpPr/>
          <p:nvPr/>
        </p:nvSpPr>
        <p:spPr>
          <a:xfrm>
            <a:off x="6096000" y="2883253"/>
            <a:ext cx="2045043" cy="1458158"/>
          </a:xfrm>
          <a:prstGeom prst="rightArrow">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tx1"/>
                </a:solidFill>
                <a:latin typeface="Arial" panose="020B0604020202020204" pitchFamily="34" charset="0"/>
                <a:cs typeface="Arial" panose="020B0604020202020204" pitchFamily="34" charset="0"/>
              </a:rPr>
              <a:t>Contributes to</a:t>
            </a:r>
            <a:endParaRPr lang="en-US" sz="1600" b="1" dirty="0">
              <a:solidFill>
                <a:schemeClr val="tx1"/>
              </a:solidFill>
              <a:latin typeface="Arial" panose="020B0604020202020204" pitchFamily="34" charset="0"/>
              <a:cs typeface="Arial" panose="020B0604020202020204" pitchFamily="34" charset="0"/>
            </a:endParaRPr>
          </a:p>
        </p:txBody>
      </p:sp>
      <p:graphicFrame>
        <p:nvGraphicFramePr>
          <p:cNvPr id="2" name="Diagram 1"/>
          <p:cNvGraphicFramePr/>
          <p:nvPr>
            <p:extLst>
              <p:ext uri="{D42A27DB-BD31-4B8C-83A1-F6EECF244321}">
                <p14:modId xmlns:p14="http://schemas.microsoft.com/office/powerpoint/2010/main" val="1983683513"/>
              </p:ext>
            </p:extLst>
          </p:nvPr>
        </p:nvGraphicFramePr>
        <p:xfrm>
          <a:off x="385011" y="978568"/>
          <a:ext cx="5496926" cy="56468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385691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a:solidFill>
                  <a:srgbClr val="0099FF"/>
                </a:solidFill>
                <a:latin typeface="Arial" panose="020B0604020202020204" pitchFamily="34" charset="0"/>
                <a:cs typeface="Arial" panose="020B0604020202020204" pitchFamily="34" charset="0"/>
              </a:rPr>
              <a:t>Key Drivers of Results-Based Management in UNICEF</a:t>
            </a:r>
          </a:p>
        </p:txBody>
      </p:sp>
      <p:sp>
        <p:nvSpPr>
          <p:cNvPr id="13" name="Content Placeholder 2"/>
          <p:cNvSpPr txBox="1">
            <a:spLocks/>
          </p:cNvSpPr>
          <p:nvPr/>
        </p:nvSpPr>
        <p:spPr>
          <a:xfrm>
            <a:off x="3993276" y="1819778"/>
            <a:ext cx="3675738" cy="1866900"/>
          </a:xfrm>
          <a:prstGeom prst="rect">
            <a:avLst/>
          </a:prstGeom>
          <a:ln>
            <a:noFill/>
          </a:ln>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2400" dirty="0" smtClean="0">
                <a:latin typeface="Arial" panose="020B0604020202020204" pitchFamily="34" charset="0"/>
                <a:cs typeface="Arial" panose="020B0604020202020204" pitchFamily="34" charset="0"/>
              </a:rPr>
              <a:t>The factors that</a:t>
            </a:r>
          </a:p>
          <a:p>
            <a:pPr marL="0" indent="0" algn="ctr">
              <a:buFont typeface="Arial" panose="020B0604020202020204" pitchFamily="34" charset="0"/>
              <a:buNone/>
            </a:pPr>
            <a:r>
              <a:rPr lang="en-GB" sz="2400" dirty="0" smtClean="0">
                <a:latin typeface="Arial" panose="020B0604020202020204" pitchFamily="34" charset="0"/>
                <a:cs typeface="Arial" panose="020B0604020202020204" pitchFamily="34" charset="0"/>
              </a:rPr>
              <a:t> drive and shape</a:t>
            </a:r>
          </a:p>
          <a:p>
            <a:pPr marL="0" indent="0" algn="ctr">
              <a:buFont typeface="Arial" panose="020B0604020202020204" pitchFamily="34" charset="0"/>
              <a:buNone/>
            </a:pPr>
            <a:r>
              <a:rPr lang="en-GB" sz="2400" dirty="0" smtClean="0">
                <a:latin typeface="Arial" panose="020B0604020202020204" pitchFamily="34" charset="0"/>
                <a:cs typeface="Arial" panose="020B0604020202020204" pitchFamily="34" charset="0"/>
              </a:rPr>
              <a:t> the application of RBM</a:t>
            </a:r>
          </a:p>
          <a:p>
            <a:pPr marL="0" indent="0" algn="ctr">
              <a:buFont typeface="Arial" panose="020B0604020202020204" pitchFamily="34" charset="0"/>
              <a:buNone/>
            </a:pPr>
            <a:r>
              <a:rPr lang="en-GB" sz="2400" dirty="0" smtClean="0">
                <a:latin typeface="Arial" panose="020B0604020202020204" pitchFamily="34" charset="0"/>
                <a:cs typeface="Arial" panose="020B0604020202020204" pitchFamily="34" charset="0"/>
              </a:rPr>
              <a:t> in UNICEF include:</a:t>
            </a:r>
            <a:endParaRPr lang="en-GB" sz="2000" dirty="0">
              <a:latin typeface="Arial" panose="020B0604020202020204" pitchFamily="34" charset="0"/>
              <a:cs typeface="Arial" panose="020B0604020202020204" pitchFamily="34" charset="0"/>
            </a:endParaRPr>
          </a:p>
        </p:txBody>
      </p:sp>
      <p:sp>
        <p:nvSpPr>
          <p:cNvPr id="2" name="Oval 1"/>
          <p:cNvSpPr/>
          <p:nvPr/>
        </p:nvSpPr>
        <p:spPr>
          <a:xfrm>
            <a:off x="420968" y="1234241"/>
            <a:ext cx="2149642" cy="1965158"/>
          </a:xfrm>
          <a:prstGeom prst="ellipse">
            <a:avLst/>
          </a:prstGeom>
          <a:solidFill>
            <a:srgbClr val="5A7AD6"/>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bg1"/>
                </a:solidFill>
                <a:latin typeface="Arial" panose="020B0604020202020204" pitchFamily="34" charset="0"/>
                <a:cs typeface="Arial" panose="020B0604020202020204" pitchFamily="34" charset="0"/>
              </a:rPr>
              <a:t>The equity focus</a:t>
            </a:r>
            <a:endParaRPr lang="en-US" sz="2000" dirty="0">
              <a:solidFill>
                <a:schemeClr val="bg1"/>
              </a:solidFill>
              <a:latin typeface="Arial" panose="020B0604020202020204" pitchFamily="34" charset="0"/>
              <a:cs typeface="Arial" panose="020B0604020202020204" pitchFamily="34" charset="0"/>
            </a:endParaRPr>
          </a:p>
        </p:txBody>
      </p:sp>
      <p:sp>
        <p:nvSpPr>
          <p:cNvPr id="14" name="Oval 13"/>
          <p:cNvSpPr/>
          <p:nvPr/>
        </p:nvSpPr>
        <p:spPr>
          <a:xfrm>
            <a:off x="1090680" y="3457075"/>
            <a:ext cx="2149642" cy="1965158"/>
          </a:xfrm>
          <a:prstGeom prst="ellipse">
            <a:avLst/>
          </a:prstGeom>
          <a:solidFill>
            <a:srgbClr val="FFC00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UNICEF’s Strategic Plan</a:t>
            </a:r>
          </a:p>
        </p:txBody>
      </p:sp>
      <p:sp>
        <p:nvSpPr>
          <p:cNvPr id="15" name="Oval 14"/>
          <p:cNvSpPr/>
          <p:nvPr/>
        </p:nvSpPr>
        <p:spPr>
          <a:xfrm>
            <a:off x="3569995" y="4658228"/>
            <a:ext cx="2149642" cy="1965158"/>
          </a:xfrm>
          <a:prstGeom prst="ellipse">
            <a:avLst/>
          </a:prstGeom>
          <a:solidFill>
            <a:srgbClr val="00B05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latin typeface="Arial" panose="020B0604020202020204" pitchFamily="34" charset="0"/>
                <a:cs typeface="Arial" panose="020B0604020202020204" pitchFamily="34" charset="0"/>
              </a:rPr>
              <a:t>SDGs and other global imperatives</a:t>
            </a:r>
          </a:p>
        </p:txBody>
      </p:sp>
      <p:sp>
        <p:nvSpPr>
          <p:cNvPr id="16" name="Oval 15"/>
          <p:cNvSpPr/>
          <p:nvPr/>
        </p:nvSpPr>
        <p:spPr>
          <a:xfrm>
            <a:off x="6112977" y="4658228"/>
            <a:ext cx="2149642" cy="1965158"/>
          </a:xfrm>
          <a:prstGeom prst="ellipse">
            <a:avLst/>
          </a:prstGeom>
          <a:solidFill>
            <a:schemeClr val="accent2">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2000" dirty="0">
                <a:solidFill>
                  <a:schemeClr val="tx1"/>
                </a:solidFill>
                <a:latin typeface="Arial" panose="020B0604020202020204" pitchFamily="34" charset="0"/>
                <a:cs typeface="Arial" panose="020B0604020202020204" pitchFamily="34" charset="0"/>
              </a:rPr>
              <a:t>Humanitarian imperatives</a:t>
            </a:r>
          </a:p>
        </p:txBody>
      </p:sp>
      <p:sp>
        <p:nvSpPr>
          <p:cNvPr id="18" name="Oval 17"/>
          <p:cNvSpPr/>
          <p:nvPr/>
        </p:nvSpPr>
        <p:spPr>
          <a:xfrm>
            <a:off x="8947392" y="1240256"/>
            <a:ext cx="2149642" cy="1965158"/>
          </a:xfrm>
          <a:prstGeom prst="ellipse">
            <a:avLst/>
          </a:prstGeom>
          <a:solidFill>
            <a:schemeClr val="accent6">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Funding and Donors</a:t>
            </a:r>
          </a:p>
        </p:txBody>
      </p:sp>
      <p:sp>
        <p:nvSpPr>
          <p:cNvPr id="19" name="Oval 18"/>
          <p:cNvSpPr/>
          <p:nvPr/>
        </p:nvSpPr>
        <p:spPr>
          <a:xfrm>
            <a:off x="8401960" y="3457075"/>
            <a:ext cx="2149642" cy="1965158"/>
          </a:xfrm>
          <a:prstGeom prst="ellipse">
            <a:avLst/>
          </a:prstGeom>
          <a:solidFill>
            <a:schemeClr val="bg2">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2000" dirty="0">
                <a:solidFill>
                  <a:schemeClr val="tx1"/>
                </a:solidFill>
                <a:latin typeface="Arial" panose="020B0604020202020204" pitchFamily="34" charset="0"/>
                <a:cs typeface="Arial" panose="020B0604020202020204" pitchFamily="34" charset="0"/>
              </a:rPr>
              <a:t>Reporting on results and transparency</a:t>
            </a:r>
          </a:p>
        </p:txBody>
      </p:sp>
    </p:spTree>
    <p:extLst>
      <p:ext uri="{BB962C8B-B14F-4D97-AF65-F5344CB8AC3E}">
        <p14:creationId xmlns:p14="http://schemas.microsoft.com/office/powerpoint/2010/main" val="16174921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State of RBM</a:t>
            </a:r>
            <a:endParaRPr lang="en-US" sz="3600" dirty="0">
              <a:solidFill>
                <a:srgbClr val="0099FF"/>
              </a:solidFill>
              <a:latin typeface="Arial" panose="020B0604020202020204" pitchFamily="34" charset="0"/>
              <a:cs typeface="Arial" panose="020B0604020202020204" pitchFamily="34" charset="0"/>
            </a:endParaRPr>
          </a:p>
        </p:txBody>
      </p:sp>
      <p:grpSp>
        <p:nvGrpSpPr>
          <p:cNvPr id="4" name="Group 3"/>
          <p:cNvGrpSpPr/>
          <p:nvPr/>
        </p:nvGrpSpPr>
        <p:grpSpPr>
          <a:xfrm>
            <a:off x="7468786" y="1501013"/>
            <a:ext cx="4892842" cy="4848609"/>
            <a:chOff x="10393069" y="3992018"/>
            <a:chExt cx="4892842" cy="4848609"/>
          </a:xfrm>
        </p:grpSpPr>
        <p:pic>
          <p:nvPicPr>
            <p:cNvPr id="2" name="Picture 1"/>
            <p:cNvPicPr>
              <a:picLocks noChangeAspect="1"/>
            </p:cNvPicPr>
            <p:nvPr/>
          </p:nvPicPr>
          <p:blipFill>
            <a:blip r:embed="rId3"/>
            <a:stretch>
              <a:fillRect/>
            </a:stretch>
          </p:blipFill>
          <p:spPr>
            <a:xfrm>
              <a:off x="10393069" y="3992018"/>
              <a:ext cx="4617857" cy="3927420"/>
            </a:xfrm>
            <a:prstGeom prst="rect">
              <a:avLst/>
            </a:prstGeom>
          </p:spPr>
        </p:pic>
        <p:sp>
          <p:nvSpPr>
            <p:cNvPr id="3" name="Rectangle 2"/>
            <p:cNvSpPr/>
            <p:nvPr/>
          </p:nvSpPr>
          <p:spPr>
            <a:xfrm>
              <a:off x="10393069" y="8009630"/>
              <a:ext cx="4892842" cy="830997"/>
            </a:xfrm>
            <a:prstGeom prst="rect">
              <a:avLst/>
            </a:prstGeom>
          </p:spPr>
          <p:txBody>
            <a:bodyPr wrap="square">
              <a:spAutoFit/>
            </a:bodyPr>
            <a:lstStyle/>
            <a:p>
              <a:pPr algn="ctr"/>
              <a:r>
                <a:rPr lang="en-GB" sz="2400" dirty="0">
                  <a:latin typeface="Arial" panose="020B0604020202020204" pitchFamily="34" charset="0"/>
                  <a:cs typeface="Arial" panose="020B0604020202020204" pitchFamily="34" charset="0"/>
                </a:rPr>
                <a:t>RBM issues account for 34% of all CO audit recommendations</a:t>
              </a:r>
            </a:p>
          </p:txBody>
        </p:sp>
        <p:sp>
          <p:nvSpPr>
            <p:cNvPr id="5" name="TextBox 4"/>
            <p:cNvSpPr txBox="1"/>
            <p:nvPr/>
          </p:nvSpPr>
          <p:spPr>
            <a:xfrm>
              <a:off x="12958669" y="5093553"/>
              <a:ext cx="1526269" cy="707886"/>
            </a:xfrm>
            <a:prstGeom prst="rect">
              <a:avLst/>
            </a:prstGeom>
            <a:noFill/>
          </p:spPr>
          <p:txBody>
            <a:bodyPr wrap="square" rtlCol="0">
              <a:spAutoFit/>
            </a:bodyPr>
            <a:lstStyle/>
            <a:p>
              <a:pPr algn="ctr"/>
              <a:r>
                <a:rPr lang="en-US" sz="4000" dirty="0" smtClean="0">
                  <a:solidFill>
                    <a:schemeClr val="bg1"/>
                  </a:solidFill>
                  <a:latin typeface="Arial" panose="020B0604020202020204" pitchFamily="34" charset="0"/>
                  <a:cs typeface="Arial" panose="020B0604020202020204" pitchFamily="34" charset="0"/>
                </a:rPr>
                <a:t>34%</a:t>
              </a:r>
              <a:endParaRPr lang="en-US" sz="4000" dirty="0">
                <a:solidFill>
                  <a:schemeClr val="bg1"/>
                </a:solidFill>
                <a:latin typeface="Arial" panose="020B0604020202020204" pitchFamily="34" charset="0"/>
                <a:cs typeface="Arial" panose="020B0604020202020204" pitchFamily="34" charset="0"/>
              </a:endParaRPr>
            </a:p>
          </p:txBody>
        </p:sp>
      </p:grpSp>
      <p:grpSp>
        <p:nvGrpSpPr>
          <p:cNvPr id="12" name="Group 11"/>
          <p:cNvGrpSpPr/>
          <p:nvPr/>
        </p:nvGrpSpPr>
        <p:grpSpPr>
          <a:xfrm>
            <a:off x="354207" y="1501013"/>
            <a:ext cx="4892123" cy="4300426"/>
            <a:chOff x="3364693" y="1830011"/>
            <a:chExt cx="4892123" cy="4300426"/>
          </a:xfrm>
        </p:grpSpPr>
        <p:pic>
          <p:nvPicPr>
            <p:cNvPr id="9" name="Picture 8"/>
            <p:cNvPicPr>
              <a:picLocks noChangeAspect="1"/>
            </p:cNvPicPr>
            <p:nvPr/>
          </p:nvPicPr>
          <p:blipFill>
            <a:blip r:embed="rId4"/>
            <a:stretch>
              <a:fillRect/>
            </a:stretch>
          </p:blipFill>
          <p:spPr>
            <a:xfrm>
              <a:off x="3364694" y="1830011"/>
              <a:ext cx="4878974" cy="1437924"/>
            </a:xfrm>
            <a:prstGeom prst="rect">
              <a:avLst/>
            </a:prstGeom>
          </p:spPr>
        </p:pic>
        <p:pic>
          <p:nvPicPr>
            <p:cNvPr id="10" name="Picture 9"/>
            <p:cNvPicPr>
              <a:picLocks noChangeAspect="1"/>
            </p:cNvPicPr>
            <p:nvPr/>
          </p:nvPicPr>
          <p:blipFill>
            <a:blip r:embed="rId5"/>
            <a:stretch>
              <a:fillRect/>
            </a:stretch>
          </p:blipFill>
          <p:spPr>
            <a:xfrm>
              <a:off x="3364693" y="3267934"/>
              <a:ext cx="4892123" cy="1374403"/>
            </a:xfrm>
            <a:prstGeom prst="rect">
              <a:avLst/>
            </a:prstGeom>
          </p:spPr>
        </p:pic>
        <p:pic>
          <p:nvPicPr>
            <p:cNvPr id="11" name="Picture 10"/>
            <p:cNvPicPr>
              <a:picLocks noChangeAspect="1"/>
            </p:cNvPicPr>
            <p:nvPr/>
          </p:nvPicPr>
          <p:blipFill>
            <a:blip r:embed="rId6"/>
            <a:stretch>
              <a:fillRect/>
            </a:stretch>
          </p:blipFill>
          <p:spPr>
            <a:xfrm>
              <a:off x="3364693" y="4744549"/>
              <a:ext cx="2923565" cy="1385888"/>
            </a:xfrm>
            <a:prstGeom prst="rect">
              <a:avLst/>
            </a:prstGeom>
          </p:spPr>
        </p:pic>
      </p:grpSp>
      <p:sp>
        <p:nvSpPr>
          <p:cNvPr id="13" name="Right Bracket 12"/>
          <p:cNvSpPr/>
          <p:nvPr/>
        </p:nvSpPr>
        <p:spPr>
          <a:xfrm>
            <a:off x="4881489" y="1378634"/>
            <a:ext cx="506437" cy="4577094"/>
          </a:xfrm>
          <a:prstGeom prst="rightBracket">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ectangle 13"/>
          <p:cNvSpPr/>
          <p:nvPr/>
        </p:nvSpPr>
        <p:spPr>
          <a:xfrm>
            <a:off x="5543912" y="3248217"/>
            <a:ext cx="1529241" cy="459653"/>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Arial" panose="020B0604020202020204" pitchFamily="34" charset="0"/>
                <a:cs typeface="Arial" panose="020B0604020202020204" pitchFamily="34" charset="0"/>
              </a:rPr>
              <a:t>OVERALL</a:t>
            </a:r>
            <a:endParaRPr lang="en-US" sz="1600" dirty="0">
              <a:solidFill>
                <a:schemeClr val="tx1"/>
              </a:solidFill>
              <a:latin typeface="Arial" panose="020B0604020202020204" pitchFamily="34" charset="0"/>
              <a:cs typeface="Arial" panose="020B0604020202020204" pitchFamily="34" charset="0"/>
            </a:endParaRPr>
          </a:p>
        </p:txBody>
      </p:sp>
      <p:sp>
        <p:nvSpPr>
          <p:cNvPr id="15" name="Rectangle 14"/>
          <p:cNvSpPr/>
          <p:nvPr/>
        </p:nvSpPr>
        <p:spPr>
          <a:xfrm>
            <a:off x="5543912" y="3707870"/>
            <a:ext cx="1529241" cy="459653"/>
          </a:xfrm>
          <a:prstGeom prst="rect">
            <a:avLst/>
          </a:prstGeom>
          <a:solidFill>
            <a:srgbClr val="FF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7164090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a:solidFill>
                  <a:srgbClr val="0099FF"/>
                </a:solidFill>
                <a:latin typeface="Arial" panose="020B0604020202020204" pitchFamily="34" charset="0"/>
                <a:cs typeface="Arial" panose="020B0604020202020204" pitchFamily="34" charset="0"/>
              </a:rPr>
              <a:t>QCPR resolution strong on RBM</a:t>
            </a:r>
          </a:p>
        </p:txBody>
      </p:sp>
      <p:sp>
        <p:nvSpPr>
          <p:cNvPr id="2" name="Rectangle 1"/>
          <p:cNvSpPr/>
          <p:nvPr/>
        </p:nvSpPr>
        <p:spPr>
          <a:xfrm>
            <a:off x="374913" y="1235389"/>
            <a:ext cx="8031149" cy="1026548"/>
          </a:xfrm>
          <a:prstGeom prst="rect">
            <a:avLst/>
          </a:prstGeom>
          <a:ln>
            <a:solidFill>
              <a:schemeClr val="bg1">
                <a:lumMod val="75000"/>
              </a:schemeClr>
            </a:solidFill>
          </a:ln>
        </p:spPr>
        <p:txBody>
          <a:bodyPr wrap="square" anchor="ctr">
            <a:noAutofit/>
          </a:bodyPr>
          <a:lstStyle/>
          <a:p>
            <a:r>
              <a:rPr lang="en-US" altLang="en-US" sz="2400" u="sng" dirty="0">
                <a:solidFill>
                  <a:srgbClr val="0099FF"/>
                </a:solidFill>
                <a:latin typeface="Arial" panose="020B0604020202020204" pitchFamily="34" charset="0"/>
                <a:cs typeface="Arial" panose="020B0604020202020204" pitchFamily="34" charset="0"/>
              </a:rPr>
              <a:t>Requests</a:t>
            </a:r>
            <a:r>
              <a:rPr lang="en-US" altLang="en-US" sz="2400" dirty="0">
                <a:solidFill>
                  <a:srgbClr val="0099FF"/>
                </a:solidFill>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to accelerate work to develop and sustain a results culture at all levels within the funds and programmes…..and to invest in developing capacities and competencies for results-based management; </a:t>
            </a:r>
            <a:endParaRPr lang="en-US" dirty="0"/>
          </a:p>
        </p:txBody>
      </p:sp>
      <p:sp>
        <p:nvSpPr>
          <p:cNvPr id="3" name="Rectangle 2"/>
          <p:cNvSpPr/>
          <p:nvPr/>
        </p:nvSpPr>
        <p:spPr>
          <a:xfrm>
            <a:off x="1589357" y="2483515"/>
            <a:ext cx="8403764" cy="1106906"/>
          </a:xfrm>
          <a:prstGeom prst="rect">
            <a:avLst/>
          </a:prstGeom>
          <a:ln>
            <a:solidFill>
              <a:schemeClr val="bg1">
                <a:lumMod val="75000"/>
              </a:schemeClr>
            </a:solidFill>
          </a:ln>
        </p:spPr>
        <p:txBody>
          <a:bodyPr wrap="square" anchor="ctr">
            <a:noAutofit/>
          </a:bodyPr>
          <a:lstStyle/>
          <a:p>
            <a:pPr>
              <a:spcBef>
                <a:spcPct val="0"/>
              </a:spcBef>
            </a:pPr>
            <a:r>
              <a:rPr lang="en-US" altLang="en-US" sz="2400" u="sng" dirty="0" smtClean="0">
                <a:solidFill>
                  <a:srgbClr val="0099FF"/>
                </a:solidFill>
                <a:latin typeface="Arial" panose="020B0604020202020204" pitchFamily="34" charset="0"/>
                <a:cs typeface="Arial" panose="020B0604020202020204" pitchFamily="34" charset="0"/>
              </a:rPr>
              <a:t>Implement</a:t>
            </a:r>
            <a:r>
              <a:rPr lang="en-US" altLang="en-US" sz="2400" dirty="0" smtClean="0">
                <a:solidFill>
                  <a:srgbClr val="0099FF"/>
                </a:solidFill>
                <a:latin typeface="Arial" panose="020B0604020202020204" pitchFamily="34" charset="0"/>
                <a:cs typeface="Arial" panose="020B0604020202020204" pitchFamily="34" charset="0"/>
              </a:rPr>
              <a:t> </a:t>
            </a:r>
            <a:r>
              <a:rPr lang="en-US" altLang="en-US" dirty="0" smtClean="0">
                <a:latin typeface="Arial" panose="020B0604020202020204" pitchFamily="34" charset="0"/>
                <a:cs typeface="Arial" panose="020B0604020202020204" pitchFamily="34" charset="0"/>
              </a:rPr>
              <a:t>a </a:t>
            </a:r>
            <a:r>
              <a:rPr lang="en-US" altLang="en-US" dirty="0">
                <a:latin typeface="Arial" panose="020B0604020202020204" pitchFamily="34" charset="0"/>
                <a:cs typeface="Arial" panose="020B0604020202020204" pitchFamily="34" charset="0"/>
              </a:rPr>
              <a:t>more robust, coherent and harmonized approach focused on results, which would streamline and improve the planning, monitoring, measurement and reporting on system-wide results at all levels,…. </a:t>
            </a:r>
          </a:p>
        </p:txBody>
      </p:sp>
      <p:sp>
        <p:nvSpPr>
          <p:cNvPr id="5" name="Rectangle 4"/>
          <p:cNvSpPr/>
          <p:nvPr/>
        </p:nvSpPr>
        <p:spPr>
          <a:xfrm>
            <a:off x="2700422" y="3811999"/>
            <a:ext cx="9154693" cy="1185739"/>
          </a:xfrm>
          <a:prstGeom prst="rect">
            <a:avLst/>
          </a:prstGeom>
          <a:ln>
            <a:solidFill>
              <a:schemeClr val="bg1">
                <a:lumMod val="75000"/>
              </a:schemeClr>
            </a:solidFill>
          </a:ln>
        </p:spPr>
        <p:txBody>
          <a:bodyPr wrap="square" anchor="ctr">
            <a:noAutofit/>
          </a:bodyPr>
          <a:lstStyle/>
          <a:p>
            <a:pPr>
              <a:spcBef>
                <a:spcPct val="0"/>
              </a:spcBef>
            </a:pPr>
            <a:r>
              <a:rPr lang="en-US" altLang="en-US" sz="2400" u="sng" dirty="0">
                <a:solidFill>
                  <a:srgbClr val="0099FF"/>
                </a:solidFill>
                <a:latin typeface="Arial" panose="020B0604020202020204" pitchFamily="34" charset="0"/>
                <a:cs typeface="Arial" panose="020B0604020202020204" pitchFamily="34" charset="0"/>
              </a:rPr>
              <a:t>Demonstrate complete results chains</a:t>
            </a:r>
            <a:r>
              <a:rPr lang="en-US" altLang="en-US" sz="2400" dirty="0">
                <a:solidFill>
                  <a:srgbClr val="0099FF"/>
                </a:solidFill>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that establish expected results at the output, outcome and impact levels and include measurable indicators with baselines, milestones and targets for monitoring…</a:t>
            </a:r>
          </a:p>
        </p:txBody>
      </p:sp>
      <p:sp>
        <p:nvSpPr>
          <p:cNvPr id="6" name="Rectangle 5"/>
          <p:cNvSpPr/>
          <p:nvPr/>
        </p:nvSpPr>
        <p:spPr>
          <a:xfrm>
            <a:off x="4009415" y="5232347"/>
            <a:ext cx="7845699" cy="1104285"/>
          </a:xfrm>
          <a:prstGeom prst="rect">
            <a:avLst/>
          </a:prstGeom>
          <a:ln>
            <a:solidFill>
              <a:schemeClr val="bg1">
                <a:lumMod val="75000"/>
              </a:schemeClr>
            </a:solidFill>
          </a:ln>
        </p:spPr>
        <p:txBody>
          <a:bodyPr wrap="square" anchor="ctr">
            <a:noAutofit/>
          </a:bodyPr>
          <a:lstStyle/>
          <a:p>
            <a:pPr>
              <a:spcBef>
                <a:spcPct val="0"/>
              </a:spcBef>
            </a:pPr>
            <a:r>
              <a:rPr lang="en-US" altLang="en-US" dirty="0">
                <a:latin typeface="Arial" panose="020B0604020202020204" pitchFamily="34" charset="0"/>
                <a:cs typeface="Arial" panose="020B0604020202020204" pitchFamily="34" charset="0"/>
              </a:rPr>
              <a:t>………requests the United Nations development system to ensure increased mutual accountability for results-based management and reporting at the country level; </a:t>
            </a:r>
          </a:p>
        </p:txBody>
      </p:sp>
    </p:spTree>
    <p:extLst>
      <p:ext uri="{BB962C8B-B14F-4D97-AF65-F5344CB8AC3E}">
        <p14:creationId xmlns:p14="http://schemas.microsoft.com/office/powerpoint/2010/main" val="5535572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Application of RBM in UNICEF</a:t>
            </a:r>
          </a:p>
        </p:txBody>
      </p:sp>
      <p:sp>
        <p:nvSpPr>
          <p:cNvPr id="5" name="Content Placeholder 2"/>
          <p:cNvSpPr txBox="1">
            <a:spLocks/>
          </p:cNvSpPr>
          <p:nvPr/>
        </p:nvSpPr>
        <p:spPr>
          <a:xfrm>
            <a:off x="236511" y="985584"/>
            <a:ext cx="11686784" cy="17412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0" algn="ctr">
              <a:buFont typeface="Arial" panose="020B0604020202020204" pitchFamily="34" charset="0"/>
              <a:buNone/>
            </a:pPr>
            <a:r>
              <a:rPr lang="en-US" sz="2400" dirty="0" smtClean="0">
                <a:latin typeface="Arial" panose="020B0604020202020204" pitchFamily="34" charset="0"/>
                <a:cs typeface="Arial" panose="020B0604020202020204" pitchFamily="34" charset="0"/>
              </a:rPr>
              <a:t>A </a:t>
            </a:r>
            <a:r>
              <a:rPr lang="en-US" sz="2400" b="1" dirty="0" smtClean="0">
                <a:latin typeface="Arial" panose="020B0604020202020204" pitchFamily="34" charset="0"/>
                <a:cs typeface="Arial" panose="020B0604020202020204" pitchFamily="34" charset="0"/>
              </a:rPr>
              <a:t>shared understanding and commitment </a:t>
            </a:r>
            <a:r>
              <a:rPr lang="en-US" sz="2400" dirty="0" smtClean="0">
                <a:latin typeface="Arial" panose="020B0604020202020204" pitchFamily="34" charset="0"/>
                <a:cs typeface="Arial" panose="020B0604020202020204" pitchFamily="34" charset="0"/>
              </a:rPr>
              <a:t>to results-based management approaches is an important prerequisite for success and delivery of results for women and children</a:t>
            </a:r>
            <a:endParaRPr lang="en-US" sz="2400" dirty="0">
              <a:latin typeface="Arial" panose="020B0604020202020204" pitchFamily="34" charset="0"/>
              <a:cs typeface="Arial" panose="020B0604020202020204" pitchFamily="34" charset="0"/>
            </a:endParaRPr>
          </a:p>
        </p:txBody>
      </p:sp>
      <p:sp>
        <p:nvSpPr>
          <p:cNvPr id="14" name="Freeform 13"/>
          <p:cNvSpPr/>
          <p:nvPr/>
        </p:nvSpPr>
        <p:spPr>
          <a:xfrm>
            <a:off x="6436929" y="2517374"/>
            <a:ext cx="2646930" cy="1957035"/>
          </a:xfrm>
          <a:custGeom>
            <a:avLst/>
            <a:gdLst>
              <a:gd name="connsiteX0" fmla="*/ 0 w 1957034"/>
              <a:gd name="connsiteY0" fmla="*/ 0 h 2646929"/>
              <a:gd name="connsiteX1" fmla="*/ 1630855 w 1957034"/>
              <a:gd name="connsiteY1" fmla="*/ 0 h 2646929"/>
              <a:gd name="connsiteX2" fmla="*/ 1957034 w 1957034"/>
              <a:gd name="connsiteY2" fmla="*/ 326179 h 2646929"/>
              <a:gd name="connsiteX3" fmla="*/ 1957034 w 1957034"/>
              <a:gd name="connsiteY3" fmla="*/ 2646929 h 2646929"/>
              <a:gd name="connsiteX4" fmla="*/ 0 w 1957034"/>
              <a:gd name="connsiteY4" fmla="*/ 2646929 h 2646929"/>
              <a:gd name="connsiteX5" fmla="*/ 0 w 1957034"/>
              <a:gd name="connsiteY5" fmla="*/ 0 h 2646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57034" h="2646929">
                <a:moveTo>
                  <a:pt x="0" y="2646928"/>
                </a:moveTo>
                <a:lnTo>
                  <a:pt x="0" y="441164"/>
                </a:lnTo>
                <a:cubicBezTo>
                  <a:pt x="0" y="197516"/>
                  <a:pt x="107973" y="1"/>
                  <a:pt x="241164" y="1"/>
                </a:cubicBezTo>
                <a:lnTo>
                  <a:pt x="1957034" y="1"/>
                </a:lnTo>
                <a:lnTo>
                  <a:pt x="1957034" y="2646928"/>
                </a:lnTo>
                <a:lnTo>
                  <a:pt x="0" y="2646928"/>
                </a:lnTo>
                <a:close/>
              </a:path>
            </a:pathLst>
          </a:custGeom>
          <a:solidFill>
            <a:srgbClr val="2D2D8A">
              <a:shade val="80000"/>
              <a:hueOff val="0"/>
              <a:satOff val="0"/>
              <a:lumOff val="0"/>
              <a:alphaOff val="0"/>
            </a:srgbClr>
          </a:solidFill>
          <a:ln w="25400"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170688" tIns="170689" rIns="170689" bIns="659947" numCol="1" spcCol="1270" anchor="ctr" anchorCtr="0">
            <a:noAutofit/>
          </a:bodyPr>
          <a:lstStyle/>
          <a:p>
            <a:pPr lvl="0" algn="ctr" defTabSz="1422400">
              <a:lnSpc>
                <a:spcPct val="90000"/>
              </a:lnSpc>
              <a:spcBef>
                <a:spcPct val="0"/>
              </a:spcBef>
              <a:spcAft>
                <a:spcPct val="35000"/>
              </a:spcAft>
            </a:pPr>
            <a:endParaRPr lang="en-US" sz="2400" kern="1200" dirty="0" smtClean="0">
              <a:solidFill>
                <a:srgbClr val="FFFFFF"/>
              </a:solidFill>
              <a:latin typeface="Arial"/>
              <a:ea typeface="ＭＳ Ｐゴシック"/>
              <a:cs typeface="+mn-cs"/>
            </a:endParaRPr>
          </a:p>
          <a:p>
            <a:pPr lvl="0" algn="ctr" defTabSz="1422400">
              <a:lnSpc>
                <a:spcPct val="90000"/>
              </a:lnSpc>
              <a:spcBef>
                <a:spcPct val="0"/>
              </a:spcBef>
              <a:spcAft>
                <a:spcPct val="35000"/>
              </a:spcAft>
            </a:pPr>
            <a:r>
              <a:rPr lang="en-US" sz="2400" kern="1200" dirty="0" smtClean="0">
                <a:solidFill>
                  <a:srgbClr val="FFFFFF"/>
                </a:solidFill>
                <a:latin typeface="Arial"/>
                <a:ea typeface="ＭＳ Ｐゴシック"/>
                <a:cs typeface="+mn-cs"/>
              </a:rPr>
              <a:t>Individual</a:t>
            </a:r>
          </a:p>
          <a:p>
            <a:pPr marL="0" marR="0" lvl="0" indent="0" algn="ctr" defTabSz="914400" eaLnBrk="1" fontAlgn="auto" latinLnBrk="0" hangingPunct="1">
              <a:lnSpc>
                <a:spcPct val="100000"/>
              </a:lnSpc>
              <a:spcBef>
                <a:spcPct val="0"/>
              </a:spcBef>
              <a:spcAft>
                <a:spcPts val="600"/>
              </a:spcAft>
              <a:buClrTx/>
              <a:buSzTx/>
              <a:buFontTx/>
              <a:buNone/>
              <a:tabLst/>
              <a:defRPr/>
            </a:pPr>
            <a:r>
              <a:rPr lang="en-US" sz="1600" kern="1200" dirty="0" smtClean="0">
                <a:solidFill>
                  <a:srgbClr val="FFFFFF"/>
                </a:solidFill>
                <a:latin typeface="Arial"/>
                <a:ea typeface="ＭＳ Ｐゴシック"/>
                <a:cs typeface="+mn-cs"/>
              </a:rPr>
              <a:t>Tasks</a:t>
            </a:r>
          </a:p>
          <a:p>
            <a:pPr marL="0" marR="0" lvl="0" indent="0" algn="ctr" defTabSz="914400" eaLnBrk="1" fontAlgn="auto" latinLnBrk="0" hangingPunct="1">
              <a:lnSpc>
                <a:spcPct val="100000"/>
              </a:lnSpc>
              <a:spcBef>
                <a:spcPct val="0"/>
              </a:spcBef>
              <a:spcAft>
                <a:spcPts val="600"/>
              </a:spcAft>
              <a:buClrTx/>
              <a:buSzTx/>
              <a:buFontTx/>
              <a:buNone/>
              <a:tabLst/>
              <a:defRPr/>
            </a:pPr>
            <a:r>
              <a:rPr lang="en-US" sz="1600" kern="1200" dirty="0" smtClean="0">
                <a:solidFill>
                  <a:srgbClr val="FFFFFF"/>
                </a:solidFill>
                <a:latin typeface="Arial"/>
                <a:ea typeface="ＭＳ Ｐゴシック"/>
                <a:cs typeface="+mn-cs"/>
              </a:rPr>
              <a:t>Competencies</a:t>
            </a:r>
          </a:p>
          <a:p>
            <a:pPr lvl="0" algn="ctr" defTabSz="1422400">
              <a:lnSpc>
                <a:spcPct val="90000"/>
              </a:lnSpc>
              <a:spcBef>
                <a:spcPct val="0"/>
              </a:spcBef>
              <a:spcAft>
                <a:spcPts val="600"/>
              </a:spcAft>
            </a:pPr>
            <a:r>
              <a:rPr lang="en-US" sz="1600" kern="1200" dirty="0" smtClean="0">
                <a:solidFill>
                  <a:srgbClr val="FFFFFF"/>
                </a:solidFill>
                <a:latin typeface="Arial"/>
                <a:ea typeface="ＭＳ Ｐゴシック"/>
                <a:cs typeface="+mn-cs"/>
              </a:rPr>
              <a:t>Performance</a:t>
            </a:r>
          </a:p>
          <a:p>
            <a:pPr lvl="0" algn="ctr" defTabSz="1422400">
              <a:lnSpc>
                <a:spcPct val="90000"/>
              </a:lnSpc>
              <a:spcBef>
                <a:spcPct val="0"/>
              </a:spcBef>
              <a:spcAft>
                <a:spcPct val="35000"/>
              </a:spcAft>
            </a:pPr>
            <a:endParaRPr lang="en-US" sz="1400" kern="1200" dirty="0">
              <a:solidFill>
                <a:srgbClr val="FFFFFF"/>
              </a:solidFill>
              <a:latin typeface="Arial"/>
              <a:ea typeface="ＭＳ Ｐゴシック"/>
              <a:cs typeface="+mn-cs"/>
            </a:endParaRPr>
          </a:p>
        </p:txBody>
      </p:sp>
      <p:sp>
        <p:nvSpPr>
          <p:cNvPr id="15" name="Freeform 14"/>
          <p:cNvSpPr/>
          <p:nvPr/>
        </p:nvSpPr>
        <p:spPr>
          <a:xfrm>
            <a:off x="9083859" y="2517374"/>
            <a:ext cx="2646929" cy="1957034"/>
          </a:xfrm>
          <a:custGeom>
            <a:avLst/>
            <a:gdLst>
              <a:gd name="connsiteX0" fmla="*/ 0 w 2646929"/>
              <a:gd name="connsiteY0" fmla="*/ 0 h 1957034"/>
              <a:gd name="connsiteX1" fmla="*/ 2320750 w 2646929"/>
              <a:gd name="connsiteY1" fmla="*/ 0 h 1957034"/>
              <a:gd name="connsiteX2" fmla="*/ 2646929 w 2646929"/>
              <a:gd name="connsiteY2" fmla="*/ 326179 h 1957034"/>
              <a:gd name="connsiteX3" fmla="*/ 2646929 w 2646929"/>
              <a:gd name="connsiteY3" fmla="*/ 1957034 h 1957034"/>
              <a:gd name="connsiteX4" fmla="*/ 0 w 2646929"/>
              <a:gd name="connsiteY4" fmla="*/ 1957034 h 1957034"/>
              <a:gd name="connsiteX5" fmla="*/ 0 w 2646929"/>
              <a:gd name="connsiteY5" fmla="*/ 0 h 1957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46929" h="1957034">
                <a:moveTo>
                  <a:pt x="0" y="0"/>
                </a:moveTo>
                <a:lnTo>
                  <a:pt x="2320750" y="0"/>
                </a:lnTo>
                <a:cubicBezTo>
                  <a:pt x="2500894" y="0"/>
                  <a:pt x="2646929" y="146035"/>
                  <a:pt x="2646929" y="326179"/>
                </a:cubicBezTo>
                <a:lnTo>
                  <a:pt x="2646929" y="1957034"/>
                </a:lnTo>
                <a:lnTo>
                  <a:pt x="0" y="1957034"/>
                </a:lnTo>
                <a:lnTo>
                  <a:pt x="0" y="0"/>
                </a:lnTo>
                <a:close/>
              </a:path>
            </a:pathLst>
          </a:custGeom>
          <a:solidFill>
            <a:srgbClr val="2D2D8A">
              <a:shade val="80000"/>
              <a:hueOff val="0"/>
              <a:satOff val="-11274"/>
              <a:lumOff val="11272"/>
              <a:alphaOff val="0"/>
            </a:srgbClr>
          </a:solidFill>
          <a:ln w="25400"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199136" tIns="199136" rIns="199136" bIns="688395" numCol="1" spcCol="1270" anchor="ctr" anchorCtr="0">
            <a:noAutofit/>
          </a:bodyPr>
          <a:lstStyle/>
          <a:p>
            <a:pPr lvl="0" algn="ctr" defTabSz="1244600">
              <a:lnSpc>
                <a:spcPct val="90000"/>
              </a:lnSpc>
              <a:spcBef>
                <a:spcPct val="0"/>
              </a:spcBef>
              <a:spcAft>
                <a:spcPct val="35000"/>
              </a:spcAft>
            </a:pPr>
            <a:endParaRPr lang="en-US" sz="2800" kern="1200" dirty="0" smtClean="0">
              <a:solidFill>
                <a:srgbClr val="FFFFFF"/>
              </a:solidFill>
              <a:latin typeface="Arial"/>
              <a:ea typeface="ＭＳ Ｐゴシック"/>
              <a:cs typeface="+mn-cs"/>
            </a:endParaRPr>
          </a:p>
          <a:p>
            <a:pPr lvl="0" algn="ctr" defTabSz="1244600">
              <a:lnSpc>
                <a:spcPct val="90000"/>
              </a:lnSpc>
              <a:spcBef>
                <a:spcPct val="0"/>
              </a:spcBef>
              <a:spcAft>
                <a:spcPct val="35000"/>
              </a:spcAft>
            </a:pPr>
            <a:r>
              <a:rPr lang="en-US" sz="2800" kern="1200" dirty="0" smtClean="0">
                <a:solidFill>
                  <a:srgbClr val="FFFFFF"/>
                </a:solidFill>
                <a:latin typeface="Arial"/>
                <a:ea typeface="ＭＳ Ｐゴシック"/>
                <a:cs typeface="+mn-cs"/>
              </a:rPr>
              <a:t>Programme</a:t>
            </a:r>
          </a:p>
          <a:p>
            <a:pPr lvl="0" algn="ctr" defTabSz="1244600">
              <a:lnSpc>
                <a:spcPct val="90000"/>
              </a:lnSpc>
              <a:spcBef>
                <a:spcPct val="0"/>
              </a:spcBef>
              <a:spcAft>
                <a:spcPct val="35000"/>
              </a:spcAft>
            </a:pPr>
            <a:r>
              <a:rPr lang="en-US" sz="1600" kern="1200" dirty="0" smtClean="0">
                <a:solidFill>
                  <a:srgbClr val="FFFFFF"/>
                </a:solidFill>
                <a:latin typeface="Arial"/>
                <a:ea typeface="ＭＳ Ｐゴシック"/>
                <a:cs typeface="+mn-cs"/>
              </a:rPr>
              <a:t>Strategies</a:t>
            </a:r>
          </a:p>
          <a:p>
            <a:pPr lvl="0" algn="ctr" defTabSz="1244600">
              <a:lnSpc>
                <a:spcPct val="90000"/>
              </a:lnSpc>
              <a:spcBef>
                <a:spcPct val="0"/>
              </a:spcBef>
              <a:spcAft>
                <a:spcPct val="35000"/>
              </a:spcAft>
            </a:pPr>
            <a:r>
              <a:rPr lang="en-US" sz="1600" kern="1200" dirty="0" smtClean="0">
                <a:solidFill>
                  <a:srgbClr val="FFFFFF"/>
                </a:solidFill>
                <a:latin typeface="Arial"/>
                <a:ea typeface="ＭＳ Ｐゴシック"/>
                <a:cs typeface="+mn-cs"/>
              </a:rPr>
              <a:t>Outcomes</a:t>
            </a:r>
          </a:p>
          <a:p>
            <a:pPr lvl="0" algn="ctr" defTabSz="1244600">
              <a:lnSpc>
                <a:spcPct val="90000"/>
              </a:lnSpc>
              <a:spcBef>
                <a:spcPct val="0"/>
              </a:spcBef>
              <a:spcAft>
                <a:spcPct val="35000"/>
              </a:spcAft>
            </a:pPr>
            <a:r>
              <a:rPr lang="en-US" sz="1600" kern="1200" dirty="0" smtClean="0">
                <a:solidFill>
                  <a:srgbClr val="FFFFFF"/>
                </a:solidFill>
                <a:latin typeface="Arial"/>
                <a:ea typeface="ＭＳ Ｐゴシック"/>
                <a:cs typeface="+mn-cs"/>
              </a:rPr>
              <a:t>Performance</a:t>
            </a:r>
          </a:p>
          <a:p>
            <a:pPr lvl="0" algn="ctr" defTabSz="1244600">
              <a:lnSpc>
                <a:spcPct val="90000"/>
              </a:lnSpc>
              <a:spcBef>
                <a:spcPct val="0"/>
              </a:spcBef>
              <a:spcAft>
                <a:spcPct val="35000"/>
              </a:spcAft>
            </a:pPr>
            <a:endParaRPr lang="en-US" sz="1600" kern="1200" dirty="0">
              <a:solidFill>
                <a:srgbClr val="FFFFFF"/>
              </a:solidFill>
              <a:latin typeface="Arial"/>
              <a:ea typeface="ＭＳ Ｐゴシック"/>
              <a:cs typeface="+mn-cs"/>
            </a:endParaRPr>
          </a:p>
        </p:txBody>
      </p:sp>
      <p:sp>
        <p:nvSpPr>
          <p:cNvPr id="16" name="Freeform 15"/>
          <p:cNvSpPr/>
          <p:nvPr/>
        </p:nvSpPr>
        <p:spPr>
          <a:xfrm>
            <a:off x="6436930" y="4474407"/>
            <a:ext cx="2646929" cy="1957035"/>
          </a:xfrm>
          <a:custGeom>
            <a:avLst/>
            <a:gdLst>
              <a:gd name="connsiteX0" fmla="*/ 0 w 2646929"/>
              <a:gd name="connsiteY0" fmla="*/ 0 h 1957034"/>
              <a:gd name="connsiteX1" fmla="*/ 2320750 w 2646929"/>
              <a:gd name="connsiteY1" fmla="*/ 0 h 1957034"/>
              <a:gd name="connsiteX2" fmla="*/ 2646929 w 2646929"/>
              <a:gd name="connsiteY2" fmla="*/ 326179 h 1957034"/>
              <a:gd name="connsiteX3" fmla="*/ 2646929 w 2646929"/>
              <a:gd name="connsiteY3" fmla="*/ 1957034 h 1957034"/>
              <a:gd name="connsiteX4" fmla="*/ 0 w 2646929"/>
              <a:gd name="connsiteY4" fmla="*/ 1957034 h 1957034"/>
              <a:gd name="connsiteX5" fmla="*/ 0 w 2646929"/>
              <a:gd name="connsiteY5" fmla="*/ 0 h 1957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46929" h="1957034">
                <a:moveTo>
                  <a:pt x="2646929" y="1957034"/>
                </a:moveTo>
                <a:lnTo>
                  <a:pt x="326179" y="1957034"/>
                </a:lnTo>
                <a:cubicBezTo>
                  <a:pt x="146035" y="1957034"/>
                  <a:pt x="0" y="1810999"/>
                  <a:pt x="0" y="1630855"/>
                </a:cubicBezTo>
                <a:lnTo>
                  <a:pt x="0" y="0"/>
                </a:lnTo>
                <a:lnTo>
                  <a:pt x="2646929" y="0"/>
                </a:lnTo>
                <a:lnTo>
                  <a:pt x="2646929" y="1957034"/>
                </a:lnTo>
                <a:close/>
              </a:path>
            </a:pathLst>
          </a:custGeom>
          <a:solidFill>
            <a:srgbClr val="2D2D8A">
              <a:shade val="80000"/>
              <a:hueOff val="0"/>
              <a:satOff val="-22547"/>
              <a:lumOff val="22543"/>
              <a:alphaOff val="0"/>
            </a:srgbClr>
          </a:solidFill>
          <a:ln w="25400"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170687" tIns="659948" rIns="170688" bIns="170688" numCol="1" spcCol="1270" anchor="ctr" anchorCtr="0">
            <a:noAutofit/>
          </a:bodyPr>
          <a:lstStyle/>
          <a:p>
            <a:pPr lvl="0" algn="ctr" defTabSz="1066800">
              <a:lnSpc>
                <a:spcPct val="90000"/>
              </a:lnSpc>
              <a:spcBef>
                <a:spcPct val="0"/>
              </a:spcBef>
              <a:spcAft>
                <a:spcPct val="35000"/>
              </a:spcAft>
            </a:pPr>
            <a:r>
              <a:rPr lang="en-US" sz="2400" kern="1200" dirty="0" smtClean="0">
                <a:solidFill>
                  <a:srgbClr val="FFFFFF"/>
                </a:solidFill>
                <a:latin typeface="Arial"/>
                <a:ea typeface="ＭＳ Ｐゴシック"/>
                <a:cs typeface="+mn-cs"/>
              </a:rPr>
              <a:t>Country Office</a:t>
            </a:r>
          </a:p>
          <a:p>
            <a:pPr lvl="0" algn="ctr" defTabSz="1066800">
              <a:lnSpc>
                <a:spcPct val="90000"/>
              </a:lnSpc>
              <a:spcBef>
                <a:spcPct val="0"/>
              </a:spcBef>
              <a:spcAft>
                <a:spcPct val="35000"/>
              </a:spcAft>
            </a:pPr>
            <a:r>
              <a:rPr lang="en-US" sz="1600" kern="1200" dirty="0" smtClean="0">
                <a:solidFill>
                  <a:srgbClr val="FFFFFF"/>
                </a:solidFill>
                <a:latin typeface="Arial"/>
                <a:ea typeface="ＭＳ Ｐゴシック"/>
                <a:cs typeface="+mn-cs"/>
              </a:rPr>
              <a:t>Practices</a:t>
            </a:r>
          </a:p>
          <a:p>
            <a:pPr lvl="0" algn="ctr" defTabSz="1066800">
              <a:lnSpc>
                <a:spcPct val="90000"/>
              </a:lnSpc>
              <a:spcBef>
                <a:spcPct val="0"/>
              </a:spcBef>
              <a:spcAft>
                <a:spcPct val="35000"/>
              </a:spcAft>
            </a:pPr>
            <a:r>
              <a:rPr lang="en-US" sz="1600" kern="1200" dirty="0" smtClean="0">
                <a:solidFill>
                  <a:srgbClr val="FFFFFF"/>
                </a:solidFill>
                <a:latin typeface="Arial"/>
                <a:ea typeface="ＭＳ Ｐゴシック"/>
                <a:cs typeface="+mn-cs"/>
              </a:rPr>
              <a:t>Processes</a:t>
            </a:r>
          </a:p>
          <a:p>
            <a:pPr lvl="0" algn="ctr" defTabSz="1066800">
              <a:lnSpc>
                <a:spcPct val="90000"/>
              </a:lnSpc>
              <a:spcBef>
                <a:spcPct val="0"/>
              </a:spcBef>
              <a:spcAft>
                <a:spcPct val="35000"/>
              </a:spcAft>
            </a:pPr>
            <a:r>
              <a:rPr lang="en-US" sz="1600" kern="1200" dirty="0" smtClean="0">
                <a:solidFill>
                  <a:srgbClr val="FFFFFF"/>
                </a:solidFill>
                <a:latin typeface="Arial"/>
                <a:ea typeface="ＭＳ Ｐゴシック"/>
                <a:cs typeface="+mn-cs"/>
              </a:rPr>
              <a:t>Performance</a:t>
            </a:r>
            <a:endParaRPr lang="en-US" sz="1600" kern="1200" dirty="0">
              <a:solidFill>
                <a:srgbClr val="FFFFFF"/>
              </a:solidFill>
              <a:latin typeface="Arial"/>
              <a:ea typeface="ＭＳ Ｐゴシック"/>
              <a:cs typeface="+mn-cs"/>
            </a:endParaRPr>
          </a:p>
        </p:txBody>
      </p:sp>
      <p:sp>
        <p:nvSpPr>
          <p:cNvPr id="17" name="Freeform 16"/>
          <p:cNvSpPr/>
          <p:nvPr/>
        </p:nvSpPr>
        <p:spPr>
          <a:xfrm>
            <a:off x="9083859" y="4474407"/>
            <a:ext cx="2646930" cy="1957035"/>
          </a:xfrm>
          <a:custGeom>
            <a:avLst/>
            <a:gdLst>
              <a:gd name="connsiteX0" fmla="*/ 0 w 1957034"/>
              <a:gd name="connsiteY0" fmla="*/ 0 h 2646929"/>
              <a:gd name="connsiteX1" fmla="*/ 1630855 w 1957034"/>
              <a:gd name="connsiteY1" fmla="*/ 0 h 2646929"/>
              <a:gd name="connsiteX2" fmla="*/ 1957034 w 1957034"/>
              <a:gd name="connsiteY2" fmla="*/ 326179 h 2646929"/>
              <a:gd name="connsiteX3" fmla="*/ 1957034 w 1957034"/>
              <a:gd name="connsiteY3" fmla="*/ 2646929 h 2646929"/>
              <a:gd name="connsiteX4" fmla="*/ 0 w 1957034"/>
              <a:gd name="connsiteY4" fmla="*/ 2646929 h 2646929"/>
              <a:gd name="connsiteX5" fmla="*/ 0 w 1957034"/>
              <a:gd name="connsiteY5" fmla="*/ 0 h 2646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57034" h="2646929">
                <a:moveTo>
                  <a:pt x="1957034" y="1"/>
                </a:moveTo>
                <a:lnTo>
                  <a:pt x="1957034" y="2205765"/>
                </a:lnTo>
                <a:cubicBezTo>
                  <a:pt x="1957034" y="2449413"/>
                  <a:pt x="1849061" y="2646928"/>
                  <a:pt x="1715870" y="2646928"/>
                </a:cubicBezTo>
                <a:lnTo>
                  <a:pt x="0" y="2646928"/>
                </a:lnTo>
                <a:lnTo>
                  <a:pt x="0" y="1"/>
                </a:lnTo>
                <a:lnTo>
                  <a:pt x="1957034" y="1"/>
                </a:lnTo>
                <a:close/>
              </a:path>
            </a:pathLst>
          </a:custGeom>
          <a:solidFill>
            <a:srgbClr val="2D2D8A">
              <a:shade val="80000"/>
              <a:hueOff val="0"/>
              <a:satOff val="-33821"/>
              <a:lumOff val="33815"/>
              <a:alphaOff val="0"/>
            </a:srgbClr>
          </a:solidFill>
          <a:ln w="25400"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170688" tIns="659948" rIns="170689" bIns="170688" numCol="1" spcCol="1270" anchor="ctr" anchorCtr="0">
            <a:noAutofit/>
          </a:bodyPr>
          <a:lstStyle/>
          <a:p>
            <a:pPr lvl="0" algn="ctr" defTabSz="1066800">
              <a:lnSpc>
                <a:spcPct val="90000"/>
              </a:lnSpc>
              <a:spcBef>
                <a:spcPct val="0"/>
              </a:spcBef>
              <a:spcAft>
                <a:spcPct val="35000"/>
              </a:spcAft>
            </a:pPr>
            <a:r>
              <a:rPr lang="en-US" sz="2400" kern="1200" dirty="0" smtClean="0">
                <a:solidFill>
                  <a:srgbClr val="FFFFFF"/>
                </a:solidFill>
                <a:latin typeface="Arial"/>
                <a:ea typeface="ＭＳ Ｐゴシック"/>
                <a:cs typeface="+mn-cs"/>
              </a:rPr>
              <a:t>Organisation</a:t>
            </a:r>
          </a:p>
          <a:p>
            <a:pPr lvl="0" algn="ctr" defTabSz="1066800">
              <a:lnSpc>
                <a:spcPct val="90000"/>
              </a:lnSpc>
              <a:spcBef>
                <a:spcPct val="0"/>
              </a:spcBef>
              <a:spcAft>
                <a:spcPct val="35000"/>
              </a:spcAft>
            </a:pPr>
            <a:r>
              <a:rPr lang="en-US" sz="1600" kern="1200" dirty="0" smtClean="0">
                <a:solidFill>
                  <a:srgbClr val="FFFFFF"/>
                </a:solidFill>
                <a:latin typeface="Arial"/>
                <a:ea typeface="ＭＳ Ｐゴシック"/>
                <a:cs typeface="+mn-cs"/>
              </a:rPr>
              <a:t>Systems</a:t>
            </a:r>
          </a:p>
          <a:p>
            <a:pPr lvl="0" algn="ctr" defTabSz="1066800">
              <a:lnSpc>
                <a:spcPct val="90000"/>
              </a:lnSpc>
              <a:spcBef>
                <a:spcPct val="0"/>
              </a:spcBef>
              <a:spcAft>
                <a:spcPct val="35000"/>
              </a:spcAft>
            </a:pPr>
            <a:r>
              <a:rPr lang="en-US" sz="1600" kern="1200" dirty="0" smtClean="0">
                <a:solidFill>
                  <a:srgbClr val="FFFFFF"/>
                </a:solidFill>
                <a:latin typeface="Arial"/>
                <a:ea typeface="ＭＳ Ｐゴシック"/>
                <a:cs typeface="+mn-cs"/>
              </a:rPr>
              <a:t>Value-proposition</a:t>
            </a:r>
          </a:p>
          <a:p>
            <a:pPr lvl="0" algn="ctr" defTabSz="1066800">
              <a:lnSpc>
                <a:spcPct val="90000"/>
              </a:lnSpc>
              <a:spcBef>
                <a:spcPct val="0"/>
              </a:spcBef>
              <a:spcAft>
                <a:spcPct val="35000"/>
              </a:spcAft>
            </a:pPr>
            <a:r>
              <a:rPr lang="en-US" sz="1600" kern="1200" dirty="0" smtClean="0">
                <a:solidFill>
                  <a:srgbClr val="FFFFFF"/>
                </a:solidFill>
                <a:latin typeface="Arial"/>
                <a:ea typeface="ＭＳ Ｐゴシック"/>
                <a:cs typeface="+mn-cs"/>
              </a:rPr>
              <a:t>Performance</a:t>
            </a:r>
            <a:endParaRPr lang="en-US" sz="1600" kern="1200" dirty="0">
              <a:solidFill>
                <a:srgbClr val="FFFFFF"/>
              </a:solidFill>
              <a:latin typeface="Arial"/>
              <a:ea typeface="ＭＳ Ｐゴシック"/>
              <a:cs typeface="+mn-cs"/>
            </a:endParaRPr>
          </a:p>
        </p:txBody>
      </p:sp>
      <p:sp>
        <p:nvSpPr>
          <p:cNvPr id="18" name="Freeform 17"/>
          <p:cNvSpPr/>
          <p:nvPr/>
        </p:nvSpPr>
        <p:spPr>
          <a:xfrm>
            <a:off x="8289780" y="3993516"/>
            <a:ext cx="1588157" cy="1046837"/>
          </a:xfrm>
          <a:custGeom>
            <a:avLst/>
            <a:gdLst>
              <a:gd name="connsiteX0" fmla="*/ 0 w 1588157"/>
              <a:gd name="connsiteY0" fmla="*/ 174476 h 1046837"/>
              <a:gd name="connsiteX1" fmla="*/ 174476 w 1588157"/>
              <a:gd name="connsiteY1" fmla="*/ 0 h 1046837"/>
              <a:gd name="connsiteX2" fmla="*/ 1413681 w 1588157"/>
              <a:gd name="connsiteY2" fmla="*/ 0 h 1046837"/>
              <a:gd name="connsiteX3" fmla="*/ 1588157 w 1588157"/>
              <a:gd name="connsiteY3" fmla="*/ 174476 h 1046837"/>
              <a:gd name="connsiteX4" fmla="*/ 1588157 w 1588157"/>
              <a:gd name="connsiteY4" fmla="*/ 872361 h 1046837"/>
              <a:gd name="connsiteX5" fmla="*/ 1413681 w 1588157"/>
              <a:gd name="connsiteY5" fmla="*/ 1046837 h 1046837"/>
              <a:gd name="connsiteX6" fmla="*/ 174476 w 1588157"/>
              <a:gd name="connsiteY6" fmla="*/ 1046837 h 1046837"/>
              <a:gd name="connsiteX7" fmla="*/ 0 w 1588157"/>
              <a:gd name="connsiteY7" fmla="*/ 872361 h 1046837"/>
              <a:gd name="connsiteX8" fmla="*/ 0 w 1588157"/>
              <a:gd name="connsiteY8" fmla="*/ 174476 h 1046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8157" h="1046837">
                <a:moveTo>
                  <a:pt x="0" y="174476"/>
                </a:moveTo>
                <a:cubicBezTo>
                  <a:pt x="0" y="78116"/>
                  <a:pt x="78116" y="0"/>
                  <a:pt x="174476" y="0"/>
                </a:cubicBezTo>
                <a:lnTo>
                  <a:pt x="1413681" y="0"/>
                </a:lnTo>
                <a:cubicBezTo>
                  <a:pt x="1510041" y="0"/>
                  <a:pt x="1588157" y="78116"/>
                  <a:pt x="1588157" y="174476"/>
                </a:cubicBezTo>
                <a:lnTo>
                  <a:pt x="1588157" y="872361"/>
                </a:lnTo>
                <a:cubicBezTo>
                  <a:pt x="1588157" y="968721"/>
                  <a:pt x="1510041" y="1046837"/>
                  <a:pt x="1413681" y="1046837"/>
                </a:cubicBezTo>
                <a:lnTo>
                  <a:pt x="174476" y="1046837"/>
                </a:lnTo>
                <a:cubicBezTo>
                  <a:pt x="78116" y="1046837"/>
                  <a:pt x="0" y="968721"/>
                  <a:pt x="0" y="872361"/>
                </a:cubicBezTo>
                <a:lnTo>
                  <a:pt x="0" y="174476"/>
                </a:lnTo>
                <a:close/>
              </a:path>
            </a:pathLst>
          </a:custGeom>
          <a:solidFill>
            <a:srgbClr val="2D2D8A">
              <a:tint val="40000"/>
              <a:hueOff val="0"/>
              <a:satOff val="0"/>
              <a:lumOff val="0"/>
              <a:alphaOff val="0"/>
            </a:srgbClr>
          </a:solidFill>
          <a:ln w="25400"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142542" tIns="142542" rIns="142542" bIns="142542" numCol="1" spcCol="1270" anchor="ctr" anchorCtr="0">
            <a:noAutofit/>
          </a:bodyPr>
          <a:lstStyle/>
          <a:p>
            <a:pPr lvl="0" algn="ctr" defTabSz="1422400">
              <a:lnSpc>
                <a:spcPct val="90000"/>
              </a:lnSpc>
              <a:spcBef>
                <a:spcPct val="0"/>
              </a:spcBef>
              <a:spcAft>
                <a:spcPct val="35000"/>
              </a:spcAft>
            </a:pPr>
            <a:r>
              <a:rPr lang="en-US" sz="2400" b="1" kern="1200" dirty="0" smtClean="0">
                <a:solidFill>
                  <a:srgbClr val="000000">
                    <a:hueOff val="0"/>
                    <a:satOff val="0"/>
                    <a:lumOff val="0"/>
                    <a:alphaOff val="0"/>
                  </a:srgbClr>
                </a:solidFill>
                <a:latin typeface="Arial"/>
                <a:ea typeface="ＭＳ Ｐゴシック"/>
                <a:cs typeface="+mn-cs"/>
              </a:rPr>
              <a:t>RBM</a:t>
            </a:r>
          </a:p>
          <a:p>
            <a:pPr marL="0" marR="0" lvl="0" indent="0" algn="ctr" defTabSz="914400" eaLnBrk="1" fontAlgn="auto" latinLnBrk="0" hangingPunct="1">
              <a:lnSpc>
                <a:spcPct val="100000"/>
              </a:lnSpc>
              <a:spcBef>
                <a:spcPct val="0"/>
              </a:spcBef>
              <a:spcAft>
                <a:spcPts val="0"/>
              </a:spcAft>
              <a:buClrTx/>
              <a:buSzTx/>
              <a:buFontTx/>
              <a:buNone/>
              <a:tabLst/>
              <a:defRPr/>
            </a:pPr>
            <a:r>
              <a:rPr lang="en-US" sz="1400" b="1" kern="1200" dirty="0" smtClean="0">
                <a:solidFill>
                  <a:srgbClr val="000000">
                    <a:hueOff val="0"/>
                    <a:satOff val="0"/>
                    <a:lumOff val="0"/>
                    <a:alphaOff val="0"/>
                  </a:srgbClr>
                </a:solidFill>
                <a:latin typeface="Arial"/>
                <a:ea typeface="ＭＳ Ｐゴシック"/>
                <a:cs typeface="+mn-cs"/>
              </a:rPr>
              <a:t>Culture</a:t>
            </a:r>
          </a:p>
          <a:p>
            <a:pPr marL="0" marR="0" lvl="0" indent="0" algn="ctr" defTabSz="914400" eaLnBrk="1" fontAlgn="auto" latinLnBrk="0" hangingPunct="1">
              <a:lnSpc>
                <a:spcPct val="100000"/>
              </a:lnSpc>
              <a:spcBef>
                <a:spcPct val="0"/>
              </a:spcBef>
              <a:spcAft>
                <a:spcPts val="0"/>
              </a:spcAft>
              <a:buClrTx/>
              <a:buSzTx/>
              <a:buFontTx/>
              <a:buNone/>
              <a:tabLst/>
              <a:defRPr/>
            </a:pPr>
            <a:r>
              <a:rPr lang="en-US" sz="1400" b="1" kern="1200" dirty="0" smtClean="0">
                <a:solidFill>
                  <a:srgbClr val="000000">
                    <a:hueOff val="0"/>
                    <a:satOff val="0"/>
                    <a:lumOff val="0"/>
                    <a:alphaOff val="0"/>
                  </a:srgbClr>
                </a:solidFill>
                <a:latin typeface="Arial"/>
                <a:ea typeface="ＭＳ Ｐゴシック"/>
                <a:cs typeface="+mn-cs"/>
              </a:rPr>
              <a:t>Values</a:t>
            </a:r>
          </a:p>
        </p:txBody>
      </p:sp>
      <p:sp>
        <p:nvSpPr>
          <p:cNvPr id="9" name="Freeform 8"/>
          <p:cNvSpPr/>
          <p:nvPr/>
        </p:nvSpPr>
        <p:spPr>
          <a:xfrm>
            <a:off x="1432133" y="3495892"/>
            <a:ext cx="2692149" cy="978517"/>
          </a:xfrm>
          <a:custGeom>
            <a:avLst/>
            <a:gdLst>
              <a:gd name="connsiteX0" fmla="*/ 0 w 2692149"/>
              <a:gd name="connsiteY0" fmla="*/ 978517 h 978517"/>
              <a:gd name="connsiteX1" fmla="*/ 673034 w 2692149"/>
              <a:gd name="connsiteY1" fmla="*/ 0 h 978517"/>
              <a:gd name="connsiteX2" fmla="*/ 2019115 w 2692149"/>
              <a:gd name="connsiteY2" fmla="*/ 0 h 978517"/>
              <a:gd name="connsiteX3" fmla="*/ 2692149 w 2692149"/>
              <a:gd name="connsiteY3" fmla="*/ 978517 h 978517"/>
              <a:gd name="connsiteX4" fmla="*/ 0 w 2692149"/>
              <a:gd name="connsiteY4" fmla="*/ 978517 h 978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2149" h="978517">
                <a:moveTo>
                  <a:pt x="0" y="978517"/>
                </a:moveTo>
                <a:lnTo>
                  <a:pt x="673034" y="0"/>
                </a:lnTo>
                <a:lnTo>
                  <a:pt x="2019115" y="0"/>
                </a:lnTo>
                <a:lnTo>
                  <a:pt x="2692149" y="978517"/>
                </a:lnTo>
                <a:lnTo>
                  <a:pt x="0" y="978517"/>
                </a:lnTo>
                <a:close/>
              </a:path>
            </a:pathLst>
          </a:custGeom>
          <a:solidFill>
            <a:schemeClr val="accent1">
              <a:lumMod val="60000"/>
              <a:lumOff val="40000"/>
            </a:schemeClr>
          </a:solidFill>
          <a:ln w="28575">
            <a:solidFill>
              <a:schemeClr val="bg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491446" tIns="20320" rIns="491446" bIns="20320" numCol="1" spcCol="1270" anchor="ctr" anchorCtr="0">
            <a:noAutofit/>
          </a:bodyPr>
          <a:lstStyle/>
          <a:p>
            <a:pPr lvl="0" algn="ctr" defTabSz="711200">
              <a:lnSpc>
                <a:spcPct val="90000"/>
              </a:lnSpc>
              <a:spcBef>
                <a:spcPct val="0"/>
              </a:spcBef>
              <a:spcAft>
                <a:spcPct val="35000"/>
              </a:spcAft>
            </a:pPr>
            <a:r>
              <a:rPr lang="en-US" sz="1600" b="1" kern="1200" dirty="0" smtClean="0">
                <a:solidFill>
                  <a:srgbClr val="0070C0"/>
                </a:solidFill>
                <a:latin typeface="Arial" panose="020B0604020202020204" pitchFamily="34" charset="0"/>
                <a:cs typeface="Arial" panose="020B0604020202020204" pitchFamily="34" charset="0"/>
              </a:rPr>
              <a:t>Country, RO. HQ Division </a:t>
            </a:r>
            <a:endParaRPr lang="en-US" sz="1600" b="1" kern="1200" dirty="0">
              <a:solidFill>
                <a:srgbClr val="0070C0"/>
              </a:solidFill>
              <a:latin typeface="Arial" panose="020B0604020202020204" pitchFamily="34" charset="0"/>
              <a:cs typeface="Arial" panose="020B0604020202020204" pitchFamily="34" charset="0"/>
            </a:endParaRPr>
          </a:p>
        </p:txBody>
      </p:sp>
      <p:sp>
        <p:nvSpPr>
          <p:cNvPr id="10" name="Freeform 9"/>
          <p:cNvSpPr/>
          <p:nvPr/>
        </p:nvSpPr>
        <p:spPr>
          <a:xfrm>
            <a:off x="759096" y="4474409"/>
            <a:ext cx="4038224" cy="978517"/>
          </a:xfrm>
          <a:custGeom>
            <a:avLst/>
            <a:gdLst>
              <a:gd name="connsiteX0" fmla="*/ 0 w 4038224"/>
              <a:gd name="connsiteY0" fmla="*/ 978517 h 978517"/>
              <a:gd name="connsiteX1" fmla="*/ 673034 w 4038224"/>
              <a:gd name="connsiteY1" fmla="*/ 0 h 978517"/>
              <a:gd name="connsiteX2" fmla="*/ 3365190 w 4038224"/>
              <a:gd name="connsiteY2" fmla="*/ 0 h 978517"/>
              <a:gd name="connsiteX3" fmla="*/ 4038224 w 4038224"/>
              <a:gd name="connsiteY3" fmla="*/ 978517 h 978517"/>
              <a:gd name="connsiteX4" fmla="*/ 0 w 4038224"/>
              <a:gd name="connsiteY4" fmla="*/ 978517 h 978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8224" h="978517">
                <a:moveTo>
                  <a:pt x="0" y="978517"/>
                </a:moveTo>
                <a:lnTo>
                  <a:pt x="673034" y="0"/>
                </a:lnTo>
                <a:lnTo>
                  <a:pt x="3365190" y="0"/>
                </a:lnTo>
                <a:lnTo>
                  <a:pt x="4038224" y="978517"/>
                </a:lnTo>
                <a:lnTo>
                  <a:pt x="0" y="978517"/>
                </a:lnTo>
                <a:close/>
              </a:path>
            </a:pathLst>
          </a:custGeom>
          <a:solidFill>
            <a:schemeClr val="accent1">
              <a:lumMod val="40000"/>
              <a:lumOff val="60000"/>
            </a:schemeClr>
          </a:solidFill>
          <a:ln w="28575">
            <a:solidFill>
              <a:schemeClr val="bg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727009" tIns="20320" rIns="727010" bIns="20320" numCol="1" spcCol="1270" anchor="ctr" anchorCtr="0">
            <a:noAutofit/>
          </a:bodyPr>
          <a:lstStyle/>
          <a:p>
            <a:pPr lvl="0" algn="ctr" defTabSz="711200">
              <a:lnSpc>
                <a:spcPct val="90000"/>
              </a:lnSpc>
              <a:spcBef>
                <a:spcPct val="0"/>
              </a:spcBef>
              <a:spcAft>
                <a:spcPct val="35000"/>
              </a:spcAft>
            </a:pPr>
            <a:r>
              <a:rPr lang="en-US" sz="1600" b="1" kern="1200" dirty="0" smtClean="0">
                <a:solidFill>
                  <a:srgbClr val="0070C0"/>
                </a:solidFill>
                <a:latin typeface="Arial" panose="020B0604020202020204" pitchFamily="34" charset="0"/>
                <a:cs typeface="Arial" panose="020B0604020202020204" pitchFamily="34" charset="0"/>
              </a:rPr>
              <a:t>Programme/Section</a:t>
            </a:r>
            <a:endParaRPr lang="en-US" sz="1600" b="1" kern="1200" dirty="0">
              <a:solidFill>
                <a:srgbClr val="0070C0"/>
              </a:solidFill>
              <a:latin typeface="Arial" panose="020B0604020202020204" pitchFamily="34" charset="0"/>
              <a:cs typeface="Arial" panose="020B0604020202020204" pitchFamily="34" charset="0"/>
            </a:endParaRPr>
          </a:p>
        </p:txBody>
      </p:sp>
      <p:sp>
        <p:nvSpPr>
          <p:cNvPr id="11" name="Freeform 10"/>
          <p:cNvSpPr/>
          <p:nvPr/>
        </p:nvSpPr>
        <p:spPr>
          <a:xfrm>
            <a:off x="86059" y="5452926"/>
            <a:ext cx="5384299" cy="978517"/>
          </a:xfrm>
          <a:custGeom>
            <a:avLst/>
            <a:gdLst>
              <a:gd name="connsiteX0" fmla="*/ 0 w 5384299"/>
              <a:gd name="connsiteY0" fmla="*/ 978517 h 978517"/>
              <a:gd name="connsiteX1" fmla="*/ 673034 w 5384299"/>
              <a:gd name="connsiteY1" fmla="*/ 0 h 978517"/>
              <a:gd name="connsiteX2" fmla="*/ 4711265 w 5384299"/>
              <a:gd name="connsiteY2" fmla="*/ 0 h 978517"/>
              <a:gd name="connsiteX3" fmla="*/ 5384299 w 5384299"/>
              <a:gd name="connsiteY3" fmla="*/ 978517 h 978517"/>
              <a:gd name="connsiteX4" fmla="*/ 0 w 5384299"/>
              <a:gd name="connsiteY4" fmla="*/ 978517 h 978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4299" h="978517">
                <a:moveTo>
                  <a:pt x="0" y="978517"/>
                </a:moveTo>
                <a:lnTo>
                  <a:pt x="673034" y="0"/>
                </a:lnTo>
                <a:lnTo>
                  <a:pt x="4711265" y="0"/>
                </a:lnTo>
                <a:lnTo>
                  <a:pt x="5384299" y="978517"/>
                </a:lnTo>
                <a:lnTo>
                  <a:pt x="0" y="978517"/>
                </a:lnTo>
                <a:close/>
              </a:path>
            </a:pathLst>
          </a:custGeom>
          <a:solidFill>
            <a:schemeClr val="accent1">
              <a:lumMod val="20000"/>
              <a:lumOff val="80000"/>
            </a:schemeClr>
          </a:solidFill>
          <a:ln w="28575">
            <a:solidFill>
              <a:schemeClr val="bg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962572" tIns="20320" rIns="962573" bIns="20320" numCol="1" spcCol="1270" anchor="ctr" anchorCtr="0">
            <a:noAutofit/>
          </a:bodyPr>
          <a:lstStyle/>
          <a:p>
            <a:pPr lvl="0" algn="ctr" defTabSz="711200">
              <a:lnSpc>
                <a:spcPct val="90000"/>
              </a:lnSpc>
              <a:spcBef>
                <a:spcPct val="0"/>
              </a:spcBef>
              <a:spcAft>
                <a:spcPct val="35000"/>
              </a:spcAft>
            </a:pPr>
            <a:r>
              <a:rPr lang="en-US" sz="1600" b="1" kern="1200" dirty="0" smtClean="0">
                <a:solidFill>
                  <a:srgbClr val="0070C0"/>
                </a:solidFill>
                <a:latin typeface="Arial" panose="020B0604020202020204" pitchFamily="34" charset="0"/>
                <a:cs typeface="Arial" panose="020B0604020202020204" pitchFamily="34" charset="0"/>
              </a:rPr>
              <a:t>Individual</a:t>
            </a:r>
            <a:endParaRPr lang="en-US" sz="1600" b="1" kern="1200" dirty="0">
              <a:solidFill>
                <a:srgbClr val="0070C0"/>
              </a:solidFill>
              <a:latin typeface="Arial" panose="020B0604020202020204" pitchFamily="34" charset="0"/>
              <a:cs typeface="Arial" panose="020B0604020202020204" pitchFamily="34" charset="0"/>
            </a:endParaRPr>
          </a:p>
        </p:txBody>
      </p:sp>
      <p:grpSp>
        <p:nvGrpSpPr>
          <p:cNvPr id="12" name="Group 11"/>
          <p:cNvGrpSpPr/>
          <p:nvPr/>
        </p:nvGrpSpPr>
        <p:grpSpPr>
          <a:xfrm>
            <a:off x="2008186" y="2517375"/>
            <a:ext cx="1540043" cy="978517"/>
            <a:chOff x="2008186" y="2517375"/>
            <a:chExt cx="1540043" cy="978517"/>
          </a:xfrm>
        </p:grpSpPr>
        <p:sp>
          <p:nvSpPr>
            <p:cNvPr id="6" name="Freeform 5"/>
            <p:cNvSpPr/>
            <p:nvPr/>
          </p:nvSpPr>
          <p:spPr>
            <a:xfrm>
              <a:off x="2105171" y="2517375"/>
              <a:ext cx="1346074" cy="978517"/>
            </a:xfrm>
            <a:custGeom>
              <a:avLst/>
              <a:gdLst>
                <a:gd name="connsiteX0" fmla="*/ 0 w 1346074"/>
                <a:gd name="connsiteY0" fmla="*/ 978517 h 978517"/>
                <a:gd name="connsiteX1" fmla="*/ 673034 w 1346074"/>
                <a:gd name="connsiteY1" fmla="*/ 0 h 978517"/>
                <a:gd name="connsiteX2" fmla="*/ 673040 w 1346074"/>
                <a:gd name="connsiteY2" fmla="*/ 0 h 978517"/>
                <a:gd name="connsiteX3" fmla="*/ 1346074 w 1346074"/>
                <a:gd name="connsiteY3" fmla="*/ 978517 h 978517"/>
                <a:gd name="connsiteX4" fmla="*/ 0 w 1346074"/>
                <a:gd name="connsiteY4" fmla="*/ 978517 h 978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6074" h="978517">
                  <a:moveTo>
                    <a:pt x="0" y="978517"/>
                  </a:moveTo>
                  <a:lnTo>
                    <a:pt x="673034" y="0"/>
                  </a:lnTo>
                  <a:lnTo>
                    <a:pt x="673040" y="0"/>
                  </a:lnTo>
                  <a:lnTo>
                    <a:pt x="1346074" y="978517"/>
                  </a:lnTo>
                  <a:lnTo>
                    <a:pt x="0" y="978517"/>
                  </a:lnTo>
                  <a:close/>
                </a:path>
              </a:pathLst>
            </a:custGeom>
            <a:solidFill>
              <a:schemeClr val="accent1">
                <a:lumMod val="75000"/>
              </a:schemeClr>
            </a:solidFill>
            <a:ln w="28575">
              <a:solidFill>
                <a:schemeClr val="bg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endParaRPr lang="en-US" sz="1600" b="1" kern="1200" dirty="0" smtClean="0">
                <a:solidFill>
                  <a:schemeClr val="bg1"/>
                </a:solidFill>
                <a:latin typeface="Arial" panose="020B0604020202020204" pitchFamily="34" charset="0"/>
                <a:cs typeface="Arial" panose="020B0604020202020204" pitchFamily="34" charset="0"/>
              </a:endParaRPr>
            </a:p>
          </p:txBody>
        </p:sp>
        <p:sp>
          <p:nvSpPr>
            <p:cNvPr id="3" name="TextBox 2"/>
            <p:cNvSpPr txBox="1"/>
            <p:nvPr/>
          </p:nvSpPr>
          <p:spPr>
            <a:xfrm>
              <a:off x="2008186" y="2942385"/>
              <a:ext cx="1540043" cy="338554"/>
            </a:xfrm>
            <a:prstGeom prst="rect">
              <a:avLst/>
            </a:prstGeom>
            <a:solidFill>
              <a:srgbClr val="F2F2F2">
                <a:alpha val="74902"/>
              </a:srgbClr>
            </a:solidFill>
          </p:spPr>
          <p:txBody>
            <a:bodyPr wrap="square" rtlCol="0">
              <a:spAutoFit/>
            </a:bodyPr>
            <a:lstStyle/>
            <a:p>
              <a:pPr algn="ctr"/>
              <a:r>
                <a:rPr lang="en-US" sz="1600" b="1" dirty="0" smtClean="0">
                  <a:solidFill>
                    <a:srgbClr val="0070C0"/>
                  </a:solidFill>
                  <a:latin typeface="Arial" panose="020B0604020202020204" pitchFamily="34" charset="0"/>
                  <a:cs typeface="Arial" panose="020B0604020202020204" pitchFamily="34" charset="0"/>
                </a:rPr>
                <a:t>Organization</a:t>
              </a:r>
              <a:endParaRPr lang="en-US" sz="1600" b="1" dirty="0">
                <a:solidFill>
                  <a:srgbClr val="0070C0"/>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81025023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277470" y="3227295"/>
            <a:ext cx="10914529" cy="770021"/>
          </a:xfrm>
        </p:spPr>
        <p:txBody>
          <a:bodyPr>
            <a:normAutofit/>
          </a:bodyPr>
          <a:lstStyle/>
          <a:p>
            <a:pPr algn="ctr"/>
            <a:r>
              <a:rPr lang="en-US" sz="3600" dirty="0" smtClean="0">
                <a:solidFill>
                  <a:srgbClr val="0099FF"/>
                </a:solidFill>
                <a:latin typeface="Arial" panose="020B0604020202020204" pitchFamily="34" charset="0"/>
                <a:cs typeface="Arial" panose="020B0604020202020204" pitchFamily="34" charset="0"/>
              </a:rPr>
              <a:t>Any Questions?</a:t>
            </a:r>
            <a:endParaRPr lang="en-US" sz="3600" dirty="0">
              <a:solidFill>
                <a:srgbClr val="0099FF"/>
              </a:solidFill>
              <a:latin typeface="Arial" panose="020B0604020202020204" pitchFamily="34" charset="0"/>
              <a:cs typeface="Arial" panose="020B0604020202020204" pitchFamily="34" charset="0"/>
            </a:endParaRPr>
          </a:p>
        </p:txBody>
      </p:sp>
      <p:pic>
        <p:nvPicPr>
          <p:cNvPr id="1026" name="Picture 2" descr="https://cdn2.iconfinder.com/data/icons/freecns-cumulus/16/519660-164_QuestionMark-512.png"/>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79762" y="2773404"/>
            <a:ext cx="1677801" cy="1677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16111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60884" y="2502568"/>
            <a:ext cx="8855242" cy="2839453"/>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860884" y="2502567"/>
            <a:ext cx="8855242" cy="2839453"/>
          </a:xfrm>
        </p:spPr>
        <p:txBody>
          <a:bodyPr vert="horz" lIns="91440" tIns="45720" rIns="91440" bIns="45720" rtlCol="0" anchor="ctr">
            <a:noAutofit/>
          </a:bodyPr>
          <a:lstStyle/>
          <a:p>
            <a:pPr algn="ctr"/>
            <a:r>
              <a:rPr lang="en-US" sz="4000" dirty="0" smtClean="0">
                <a:solidFill>
                  <a:srgbClr val="0099FF"/>
                </a:solidFill>
                <a:latin typeface="Arial" panose="020B0604020202020204" pitchFamily="34" charset="0"/>
                <a:cs typeface="Arial" panose="020B0604020202020204" pitchFamily="34" charset="0"/>
              </a:rPr>
              <a:t>PROBLEM IDENTIFICATION</a:t>
            </a:r>
            <a:br>
              <a:rPr lang="en-US" sz="4000" dirty="0" smtClean="0">
                <a:solidFill>
                  <a:srgbClr val="0099FF"/>
                </a:solidFill>
                <a:latin typeface="Arial" panose="020B0604020202020204" pitchFamily="34" charset="0"/>
                <a:cs typeface="Arial" panose="020B0604020202020204" pitchFamily="34" charset="0"/>
              </a:rPr>
            </a:br>
            <a:r>
              <a:rPr lang="en-US" sz="4000" dirty="0" smtClean="0">
                <a:solidFill>
                  <a:srgbClr val="0099FF"/>
                </a:solidFill>
                <a:latin typeface="Arial" panose="020B0604020202020204" pitchFamily="34" charset="0"/>
                <a:cs typeface="Arial" panose="020B0604020202020204" pitchFamily="34" charset="0"/>
              </a:rPr>
              <a:t>&amp; CAUSAL ANALYSIS</a:t>
            </a:r>
            <a:endParaRPr lang="en-US" sz="2800" dirty="0">
              <a:solidFill>
                <a:schemeClr val="bg1">
                  <a:lumMod val="50000"/>
                </a:schemeClr>
              </a:solidFill>
              <a:latin typeface="Arial" panose="020B0604020202020204" pitchFamily="34" charset="0"/>
              <a:cs typeface="Arial" panose="020B0604020202020204" pitchFamily="34" charset="0"/>
            </a:endParaRPr>
          </a:p>
        </p:txBody>
      </p:sp>
      <p:sp>
        <p:nvSpPr>
          <p:cNvPr id="6" name="Rectangle 5"/>
          <p:cNvSpPr/>
          <p:nvPr/>
        </p:nvSpPr>
        <p:spPr>
          <a:xfrm>
            <a:off x="1860884" y="1612232"/>
            <a:ext cx="8855242" cy="890336"/>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bg1">
                    <a:lumMod val="65000"/>
                  </a:schemeClr>
                </a:solidFill>
                <a:latin typeface="Arial" panose="020B0604020202020204" pitchFamily="34" charset="0"/>
                <a:cs typeface="Arial" panose="020B0604020202020204" pitchFamily="34" charset="0"/>
              </a:rPr>
              <a:t>SESSION 2</a:t>
            </a:r>
            <a:endParaRPr lang="en-US" sz="2800" dirty="0">
              <a:solidFill>
                <a:schemeClr val="bg1">
                  <a:lumMod val="6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94928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Session Objectives</a:t>
            </a:r>
            <a:endParaRPr lang="en-US" sz="3600" dirty="0">
              <a:solidFill>
                <a:srgbClr val="0099FF"/>
              </a:solidFill>
              <a:latin typeface="Arial" panose="020B0604020202020204" pitchFamily="34" charset="0"/>
              <a:cs typeface="Arial" panose="020B0604020202020204" pitchFamily="34" charset="0"/>
            </a:endParaRPr>
          </a:p>
        </p:txBody>
      </p:sp>
      <p:sp>
        <p:nvSpPr>
          <p:cNvPr id="12" name="Rectangle 11"/>
          <p:cNvSpPr/>
          <p:nvPr/>
        </p:nvSpPr>
        <p:spPr>
          <a:xfrm>
            <a:off x="2751454" y="2789753"/>
            <a:ext cx="3002654" cy="1862457"/>
          </a:xfrm>
          <a:prstGeom prst="rect">
            <a:avLst/>
          </a:prstGeom>
          <a:ln>
            <a:noFill/>
          </a:ln>
        </p:spPr>
        <p:txBody>
          <a:bodyPr wrap="square" anchor="t">
            <a:noAutofit/>
          </a:bodyPr>
          <a:lstStyle/>
          <a:p>
            <a:pPr algn="ctr">
              <a:spcAft>
                <a:spcPts val="600"/>
              </a:spcAft>
            </a:pPr>
            <a:r>
              <a:rPr lang="en-US" sz="2800" dirty="0">
                <a:latin typeface="Arial" panose="020B0604020202020204" pitchFamily="34" charset="0"/>
                <a:cs typeface="Arial" panose="020B0604020202020204" pitchFamily="34" charset="0"/>
              </a:rPr>
              <a:t>Identify </a:t>
            </a:r>
            <a:r>
              <a:rPr lang="en-US" sz="2800" dirty="0" smtClean="0">
                <a:latin typeface="Arial" panose="020B0604020202020204" pitchFamily="34" charset="0"/>
                <a:cs typeface="Arial" panose="020B0604020202020204" pitchFamily="34" charset="0"/>
              </a:rPr>
              <a:t>a problem / deprivation </a:t>
            </a:r>
            <a:endParaRPr lang="en-US" sz="2800" dirty="0">
              <a:latin typeface="Arial" panose="020B0604020202020204" pitchFamily="34" charset="0"/>
              <a:cs typeface="Arial" panose="020B0604020202020204" pitchFamily="34" charset="0"/>
            </a:endParaRPr>
          </a:p>
        </p:txBody>
      </p:sp>
      <p:sp>
        <p:nvSpPr>
          <p:cNvPr id="20" name="Rectangle 19"/>
          <p:cNvSpPr/>
          <p:nvPr/>
        </p:nvSpPr>
        <p:spPr>
          <a:xfrm>
            <a:off x="2455619" y="2059546"/>
            <a:ext cx="3529263" cy="2739190"/>
          </a:xfrm>
          <a:prstGeom prst="rect">
            <a:avLst/>
          </a:prstGeom>
          <a:noFill/>
          <a:ln>
            <a:solidFill>
              <a:srgbClr val="00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6686830" y="2308490"/>
            <a:ext cx="3002654" cy="2227415"/>
          </a:xfrm>
          <a:prstGeom prst="rect">
            <a:avLst/>
          </a:prstGeom>
          <a:ln>
            <a:noFill/>
          </a:ln>
        </p:spPr>
        <p:txBody>
          <a:bodyPr wrap="square" anchor="ctr">
            <a:noAutofit/>
          </a:bodyPr>
          <a:lstStyle/>
          <a:p>
            <a:pPr algn="ctr"/>
            <a:r>
              <a:rPr lang="en-US" sz="2800" dirty="0">
                <a:latin typeface="Arial" panose="020B0604020202020204" pitchFamily="34" charset="0"/>
                <a:cs typeface="Arial" panose="020B0604020202020204" pitchFamily="34" charset="0"/>
              </a:rPr>
              <a:t>Undertake causal analysis </a:t>
            </a:r>
            <a:r>
              <a:rPr lang="en-US" sz="2800" dirty="0" smtClean="0">
                <a:latin typeface="Arial" panose="020B0604020202020204" pitchFamily="34" charset="0"/>
                <a:cs typeface="Arial" panose="020B0604020202020204" pitchFamily="34" charset="0"/>
              </a:rPr>
              <a:t>using the why’s and applying </a:t>
            </a:r>
            <a:r>
              <a:rPr lang="en-US" sz="2800" dirty="0">
                <a:latin typeface="Arial" panose="020B0604020202020204" pitchFamily="34" charset="0"/>
                <a:cs typeface="Arial" panose="020B0604020202020204" pitchFamily="34" charset="0"/>
              </a:rPr>
              <a:t>the 5 lenses</a:t>
            </a:r>
          </a:p>
        </p:txBody>
      </p:sp>
      <p:sp>
        <p:nvSpPr>
          <p:cNvPr id="24" name="Rectangle 23"/>
          <p:cNvSpPr/>
          <p:nvPr/>
        </p:nvSpPr>
        <p:spPr>
          <a:xfrm>
            <a:off x="6423526" y="2069432"/>
            <a:ext cx="3529263" cy="2739190"/>
          </a:xfrm>
          <a:prstGeom prst="rect">
            <a:avLst/>
          </a:prstGeom>
          <a:noFill/>
          <a:ln>
            <a:solidFill>
              <a:srgbClr val="00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80806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1826315" y="3102560"/>
            <a:ext cx="2787943" cy="3284777"/>
            <a:chOff x="1430609" y="2022640"/>
            <a:chExt cx="2787943" cy="3284777"/>
          </a:xfrm>
        </p:grpSpPr>
        <p:pic>
          <p:nvPicPr>
            <p:cNvPr id="3080" name="Picture 8" descr="https://d30y9cdsu7xlg0.cloudfront.net/png/146944-2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2081" y="2022640"/>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1430609" y="4107088"/>
              <a:ext cx="2787943" cy="1200329"/>
            </a:xfrm>
            <a:prstGeom prst="rect">
              <a:avLst/>
            </a:prstGeom>
          </p:spPr>
          <p:txBody>
            <a:bodyPr wrap="none">
              <a:spAutoFit/>
            </a:bodyPr>
            <a:lstStyle/>
            <a:p>
              <a:pPr algn="ctr"/>
              <a:r>
                <a:rPr lang="en-US" sz="2400" dirty="0">
                  <a:latin typeface="Arial" panose="020B0604020202020204" pitchFamily="34" charset="0"/>
                  <a:cs typeface="Arial" panose="020B0604020202020204" pitchFamily="34" charset="0"/>
                </a:rPr>
                <a:t>Is the </a:t>
              </a:r>
              <a:r>
                <a:rPr lang="en-US" sz="2400" dirty="0" smtClean="0">
                  <a:latin typeface="Arial" panose="020B0604020202020204" pitchFamily="34" charset="0"/>
                  <a:cs typeface="Arial" panose="020B0604020202020204" pitchFamily="34" charset="0"/>
                </a:rPr>
                <a:t>foundation</a:t>
              </a:r>
            </a:p>
            <a:p>
              <a:pPr algn="ctr"/>
              <a:r>
                <a:rPr lang="en-US" sz="2400" dirty="0" smtClean="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for a solid </a:t>
              </a:r>
              <a:endParaRPr lang="en-US" sz="2400" dirty="0" smtClean="0">
                <a:latin typeface="Arial" panose="020B0604020202020204" pitchFamily="34" charset="0"/>
                <a:cs typeface="Arial" panose="020B0604020202020204" pitchFamily="34" charset="0"/>
              </a:endParaRPr>
            </a:p>
            <a:p>
              <a:pPr algn="ctr"/>
              <a:r>
                <a:rPr lang="en-US" sz="2400" dirty="0" smtClean="0">
                  <a:latin typeface="Arial" panose="020B0604020202020204" pitchFamily="34" charset="0"/>
                  <a:cs typeface="Arial" panose="020B0604020202020204" pitchFamily="34" charset="0"/>
                </a:rPr>
                <a:t>Programme design</a:t>
              </a:r>
              <a:endParaRPr lang="en-US" sz="2400" dirty="0">
                <a:latin typeface="Arial" panose="020B0604020202020204" pitchFamily="34" charset="0"/>
                <a:cs typeface="Arial" panose="020B0604020202020204" pitchFamily="34" charset="0"/>
              </a:endParaRPr>
            </a:p>
          </p:txBody>
        </p:sp>
      </p:grpSp>
      <p:sp>
        <p:nvSpPr>
          <p:cNvPr id="11" name="Rectangle 10"/>
          <p:cNvSpPr/>
          <p:nvPr/>
        </p:nvSpPr>
        <p:spPr>
          <a:xfrm>
            <a:off x="1489310" y="909167"/>
            <a:ext cx="9362940" cy="1631216"/>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L="342900" indent="-342900">
              <a:buFont typeface="Arial" panose="020B0604020202020204" pitchFamily="34" charset="0"/>
              <a:buChar char="•"/>
            </a:pPr>
            <a:r>
              <a:rPr lang="en-US" sz="2000" dirty="0" smtClean="0">
                <a:latin typeface="Arial" panose="020B0604020202020204" pitchFamily="34" charset="0"/>
                <a:cs typeface="Arial" panose="020B0604020202020204" pitchFamily="34" charset="0"/>
              </a:rPr>
              <a:t>Good understanding of context </a:t>
            </a:r>
          </a:p>
          <a:p>
            <a:pPr marL="342900" indent="-342900">
              <a:buFont typeface="Arial" panose="020B0604020202020204" pitchFamily="34" charset="0"/>
              <a:buChar char="•"/>
            </a:pPr>
            <a:r>
              <a:rPr lang="en-US" sz="2000" dirty="0" smtClean="0">
                <a:latin typeface="Arial" panose="020B0604020202020204" pitchFamily="34" charset="0"/>
                <a:cs typeface="Arial" panose="020B0604020202020204" pitchFamily="34" charset="0"/>
              </a:rPr>
              <a:t>Clear problem identification and trend analysis,</a:t>
            </a:r>
          </a:p>
          <a:p>
            <a:pPr marL="342900" indent="-342900">
              <a:buFont typeface="Arial" panose="020B0604020202020204" pitchFamily="34" charset="0"/>
              <a:buChar char="•"/>
            </a:pPr>
            <a:r>
              <a:rPr lang="en-US" sz="2000" dirty="0" smtClean="0">
                <a:latin typeface="Arial" panose="020B0604020202020204" pitchFamily="34" charset="0"/>
                <a:cs typeface="Arial" panose="020B0604020202020204" pitchFamily="34" charset="0"/>
              </a:rPr>
              <a:t>Sound problem analysis, and </a:t>
            </a:r>
          </a:p>
          <a:p>
            <a:pPr marL="342900" indent="-342900">
              <a:buFont typeface="Arial" panose="020B0604020202020204" pitchFamily="34" charset="0"/>
              <a:buChar char="•"/>
            </a:pPr>
            <a:r>
              <a:rPr lang="en-US" sz="2000" dirty="0" smtClean="0">
                <a:latin typeface="Arial" panose="020B0604020202020204" pitchFamily="34" charset="0"/>
                <a:cs typeface="Arial" panose="020B0604020202020204" pitchFamily="34" charset="0"/>
              </a:rPr>
              <a:t>Appreciation of UNICEF comparative advantage and value proposition/addition</a:t>
            </a:r>
            <a:endParaRPr lang="en-US" sz="2000" dirty="0">
              <a:latin typeface="Arial" panose="020B0604020202020204" pitchFamily="34" charset="0"/>
              <a:cs typeface="Arial" panose="020B0604020202020204" pitchFamily="34" charset="0"/>
            </a:endParaRPr>
          </a:p>
        </p:txBody>
      </p:sp>
      <p:cxnSp>
        <p:nvCxnSpPr>
          <p:cNvPr id="29" name="Straight Connector 28"/>
          <p:cNvCxnSpPr/>
          <p:nvPr/>
        </p:nvCxnSpPr>
        <p:spPr>
          <a:xfrm>
            <a:off x="1612232" y="5108134"/>
            <a:ext cx="3239984"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 name="Group 1"/>
          <p:cNvGrpSpPr/>
          <p:nvPr/>
        </p:nvGrpSpPr>
        <p:grpSpPr>
          <a:xfrm>
            <a:off x="5753685" y="2901192"/>
            <a:ext cx="4932555" cy="3472694"/>
            <a:chOff x="5753685" y="2339722"/>
            <a:chExt cx="4932555" cy="3472694"/>
          </a:xfrm>
        </p:grpSpPr>
        <p:grpSp>
          <p:nvGrpSpPr>
            <p:cNvPr id="7" name="Group 6"/>
            <p:cNvGrpSpPr/>
            <p:nvPr/>
          </p:nvGrpSpPr>
          <p:grpSpPr>
            <a:xfrm>
              <a:off x="7791115" y="2339722"/>
              <a:ext cx="2534653" cy="1968918"/>
              <a:chOff x="6518023" y="1171156"/>
              <a:chExt cx="3442677" cy="2630573"/>
            </a:xfrm>
          </p:grpSpPr>
          <p:pic>
            <p:nvPicPr>
              <p:cNvPr id="3084" name="Picture 12" descr="https://encrypted-tbn0.gstatic.com/images?q=tbn:ANd9GcTzzhfQLJ4v1yhIiJWbO9_afB0EIz06V_BtVezUW0dkEmgWJDggfA"/>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20520" y="1171156"/>
                <a:ext cx="1224045" cy="122404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2" descr="https://encrypted-tbn0.gstatic.com/images?q=tbn:ANd9GcTzzhfQLJ4v1yhIiJWbO9_afB0EIz06V_BtVezUW0dkEmgWJDggfA"/>
              <p:cNvPicPr>
                <a:picLocks noChangeAspect="1" noChangeArrowheads="1"/>
              </p:cNvPicPr>
              <p:nvPr/>
            </p:nvPicPr>
            <p:blipFill>
              <a:blip r:embed="rId3"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82982" y="2612980"/>
                <a:ext cx="680201" cy="68020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2" descr="https://encrypted-tbn0.gstatic.com/images?q=tbn:ANd9GcTzzhfQLJ4v1yhIiJWbO9_afB0EIz06V_BtVezUW0dkEmgWJDggfA"/>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18023" y="3436769"/>
                <a:ext cx="364959" cy="36496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2" descr="https://encrypted-tbn0.gstatic.com/images?q=tbn:ANd9GcTzzhfQLJ4v1yhIiJWbO9_afB0EIz06V_BtVezUW0dkEmgWJDggfA"/>
              <p:cNvPicPr>
                <a:picLocks noChangeAspect="1" noChangeArrowheads="1"/>
              </p:cNvPicPr>
              <p:nvPr/>
            </p:nvPicPr>
            <p:blipFill>
              <a:blip r:embed="rId3"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92443" y="2612980"/>
                <a:ext cx="680201" cy="68020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2" descr="https://encrypted-tbn0.gstatic.com/images?q=tbn:ANd9GcTzzhfQLJ4v1yhIiJWbO9_afB0EIz06V_BtVezUW0dkEmgWJDggfA"/>
              <p:cNvPicPr>
                <a:picLocks noChangeAspect="1" noChangeArrowheads="1"/>
              </p:cNvPicPr>
              <p:nvPr/>
            </p:nvPicPr>
            <p:blipFill>
              <a:blip r:embed="rId3"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901904" y="2612980"/>
                <a:ext cx="680201" cy="68020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2" descr="https://encrypted-tbn0.gstatic.com/images?q=tbn:ANd9GcTzzhfQLJ4v1yhIiJWbO9_afB0EIz06V_BtVezUW0dkEmgWJDggfA"/>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030976" y="3436769"/>
                <a:ext cx="364959" cy="36496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2" descr="https://encrypted-tbn0.gstatic.com/images?q=tbn:ANd9GcTzzhfQLJ4v1yhIiJWbO9_afB0EIz06V_BtVezUW0dkEmgWJDggfA"/>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543929" y="3436769"/>
                <a:ext cx="364959" cy="36496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2" descr="https://encrypted-tbn0.gstatic.com/images?q=tbn:ANd9GcTzzhfQLJ4v1yhIiJWbO9_afB0EIz06V_BtVezUW0dkEmgWJDggfA"/>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569835" y="3422726"/>
                <a:ext cx="364959" cy="36496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2" descr="https://encrypted-tbn0.gstatic.com/images?q=tbn:ANd9GcTzzhfQLJ4v1yhIiJWbO9_afB0EIz06V_BtVezUW0dkEmgWJDggfA"/>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082788" y="3422726"/>
                <a:ext cx="364959" cy="36496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2" descr="https://encrypted-tbn0.gstatic.com/images?q=tbn:ANd9GcTzzhfQLJ4v1yhIiJWbO9_afB0EIz06V_BtVezUW0dkEmgWJDggfA"/>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595741" y="3422726"/>
                <a:ext cx="364959" cy="3649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2" descr="https://encrypted-tbn0.gstatic.com/images?q=tbn:ANd9GcTzzhfQLJ4v1yhIiJWbO9_afB0EIz06V_BtVezUW0dkEmgWJDggfA"/>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056882" y="3423151"/>
                <a:ext cx="364959" cy="364960"/>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Rectangle 12"/>
            <p:cNvSpPr/>
            <p:nvPr/>
          </p:nvSpPr>
          <p:spPr>
            <a:xfrm>
              <a:off x="7420602" y="4612087"/>
              <a:ext cx="3265638" cy="1200329"/>
            </a:xfrm>
            <a:prstGeom prst="rect">
              <a:avLst/>
            </a:prstGeom>
          </p:spPr>
          <p:txBody>
            <a:bodyPr wrap="none">
              <a:spAutoFit/>
            </a:bodyPr>
            <a:lstStyle/>
            <a:p>
              <a:pPr algn="ctr"/>
              <a:r>
                <a:rPr lang="en-US" sz="2400" dirty="0" smtClean="0">
                  <a:latin typeface="Arial" panose="020B0604020202020204" pitchFamily="34" charset="0"/>
                  <a:cs typeface="Arial" panose="020B0604020202020204" pitchFamily="34" charset="0"/>
                </a:rPr>
                <a:t>Will </a:t>
              </a:r>
              <a:r>
                <a:rPr lang="en-US" sz="2400" dirty="0">
                  <a:latin typeface="Arial" panose="020B0604020202020204" pitchFamily="34" charset="0"/>
                  <a:cs typeface="Arial" panose="020B0604020202020204" pitchFamily="34" charset="0"/>
                </a:rPr>
                <a:t>facilitate </a:t>
              </a:r>
              <a:r>
                <a:rPr lang="en-US" sz="2400" dirty="0" smtClean="0">
                  <a:latin typeface="Arial" panose="020B0604020202020204" pitchFamily="34" charset="0"/>
                  <a:cs typeface="Arial" panose="020B0604020202020204" pitchFamily="34" charset="0"/>
                </a:rPr>
                <a:t>the</a:t>
              </a:r>
            </a:p>
            <a:p>
              <a:pPr algn="ctr"/>
              <a:r>
                <a:rPr lang="en-US" sz="2400" dirty="0" smtClean="0">
                  <a:latin typeface="Arial" panose="020B0604020202020204" pitchFamily="34" charset="0"/>
                  <a:cs typeface="Arial" panose="020B0604020202020204" pitchFamily="34" charset="0"/>
                </a:rPr>
                <a:t>realization </a:t>
              </a:r>
              <a:r>
                <a:rPr lang="en-US" sz="2400" dirty="0">
                  <a:latin typeface="Arial" panose="020B0604020202020204" pitchFamily="34" charset="0"/>
                  <a:cs typeface="Arial" panose="020B0604020202020204" pitchFamily="34" charset="0"/>
                </a:rPr>
                <a:t>and </a:t>
              </a:r>
              <a:endParaRPr lang="en-US" sz="2400" dirty="0" smtClean="0">
                <a:latin typeface="Arial" panose="020B0604020202020204" pitchFamily="34" charset="0"/>
                <a:cs typeface="Arial" panose="020B0604020202020204" pitchFamily="34" charset="0"/>
              </a:endParaRPr>
            </a:p>
            <a:p>
              <a:pPr algn="ctr"/>
              <a:r>
                <a:rPr lang="en-US" sz="2400" dirty="0" smtClean="0">
                  <a:latin typeface="Arial" panose="020B0604020202020204" pitchFamily="34" charset="0"/>
                  <a:cs typeface="Arial" panose="020B0604020202020204" pitchFamily="34" charset="0"/>
                </a:rPr>
                <a:t>achievement </a:t>
              </a:r>
              <a:r>
                <a:rPr lang="en-US" sz="2400" dirty="0">
                  <a:latin typeface="Arial" panose="020B0604020202020204" pitchFamily="34" charset="0"/>
                  <a:cs typeface="Arial" panose="020B0604020202020204" pitchFamily="34" charset="0"/>
                </a:rPr>
                <a:t>of results</a:t>
              </a:r>
            </a:p>
          </p:txBody>
        </p:sp>
        <p:cxnSp>
          <p:nvCxnSpPr>
            <p:cNvPr id="36" name="Straight Connector 35"/>
            <p:cNvCxnSpPr/>
            <p:nvPr/>
          </p:nvCxnSpPr>
          <p:spPr>
            <a:xfrm>
              <a:off x="7352632" y="4539980"/>
              <a:ext cx="3239984"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5753685" y="3400306"/>
              <a:ext cx="834190" cy="769441"/>
            </a:xfrm>
            <a:prstGeom prst="rect">
              <a:avLst/>
            </a:prstGeom>
            <a:noFill/>
          </p:spPr>
          <p:txBody>
            <a:bodyPr wrap="square" rtlCol="0" anchor="ctr">
              <a:spAutoFit/>
            </a:bodyPr>
            <a:lstStyle/>
            <a:p>
              <a:pPr algn="ctr"/>
              <a:r>
                <a:rPr lang="en-US" sz="4400" dirty="0" smtClean="0">
                  <a:solidFill>
                    <a:srgbClr val="0070C0"/>
                  </a:solidFill>
                </a:rPr>
                <a:t>&amp;</a:t>
              </a:r>
              <a:endParaRPr lang="en-US" sz="4400" dirty="0">
                <a:solidFill>
                  <a:srgbClr val="0070C0"/>
                </a:solidFill>
              </a:endParaRPr>
            </a:p>
          </p:txBody>
        </p:sp>
      </p:grpSp>
      <p:sp>
        <p:nvSpPr>
          <p:cNvPr id="25"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Problem Analysis</a:t>
            </a:r>
          </a:p>
        </p:txBody>
      </p:sp>
    </p:spTree>
    <p:extLst>
      <p:ext uri="{BB962C8B-B14F-4D97-AF65-F5344CB8AC3E}">
        <p14:creationId xmlns:p14="http://schemas.microsoft.com/office/powerpoint/2010/main" val="398607805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Causal analysis– using the “whys”</a:t>
            </a:r>
          </a:p>
        </p:txBody>
      </p:sp>
      <p:grpSp>
        <p:nvGrpSpPr>
          <p:cNvPr id="20" name="Group 19"/>
          <p:cNvGrpSpPr/>
          <p:nvPr/>
        </p:nvGrpSpPr>
        <p:grpSpPr>
          <a:xfrm>
            <a:off x="3084746" y="1713975"/>
            <a:ext cx="3036655" cy="822960"/>
            <a:chOff x="516357" y="1727422"/>
            <a:chExt cx="3036655" cy="822960"/>
          </a:xfrm>
        </p:grpSpPr>
        <p:sp>
          <p:nvSpPr>
            <p:cNvPr id="7" name="Down Arrow 6"/>
            <p:cNvSpPr/>
            <p:nvPr/>
          </p:nvSpPr>
          <p:spPr>
            <a:xfrm>
              <a:off x="1531914" y="1727422"/>
              <a:ext cx="640080" cy="822960"/>
            </a:xfrm>
            <a:prstGeom prst="down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516357" y="2116143"/>
              <a:ext cx="981636" cy="369332"/>
            </a:xfrm>
            <a:prstGeom prst="rect">
              <a:avLst/>
            </a:prstGeom>
            <a:noFill/>
          </p:spPr>
          <p:txBody>
            <a:bodyPr wrap="square" rtlCol="0">
              <a:spAutoFit/>
            </a:bodyPr>
            <a:lstStyle/>
            <a:p>
              <a:pPr algn="ctr"/>
              <a:r>
                <a:rPr lang="en-US" dirty="0" smtClean="0">
                  <a:solidFill>
                    <a:srgbClr val="FF0000"/>
                  </a:solidFill>
                  <a:latin typeface="Arial" panose="020B0604020202020204" pitchFamily="34" charset="0"/>
                  <a:cs typeface="Arial" panose="020B0604020202020204" pitchFamily="34" charset="0"/>
                </a:rPr>
                <a:t>WHY?</a:t>
              </a:r>
              <a:endParaRPr lang="en-US" dirty="0">
                <a:solidFill>
                  <a:srgbClr val="FF0000"/>
                </a:solidFill>
                <a:latin typeface="Arial" panose="020B0604020202020204" pitchFamily="34" charset="0"/>
                <a:cs typeface="Arial" panose="020B0604020202020204" pitchFamily="34" charset="0"/>
              </a:endParaRPr>
            </a:p>
          </p:txBody>
        </p:sp>
        <p:sp>
          <p:nvSpPr>
            <p:cNvPr id="19" name="TextBox 18"/>
            <p:cNvSpPr txBox="1"/>
            <p:nvPr/>
          </p:nvSpPr>
          <p:spPr>
            <a:xfrm>
              <a:off x="2171993" y="2116143"/>
              <a:ext cx="1381019" cy="369332"/>
            </a:xfrm>
            <a:prstGeom prst="rect">
              <a:avLst/>
            </a:prstGeom>
            <a:noFill/>
          </p:spPr>
          <p:txBody>
            <a:bodyPr wrap="square" rtlCol="0">
              <a:spAutoFit/>
            </a:bodyPr>
            <a:lstStyle/>
            <a:p>
              <a:r>
                <a:rPr lang="en-US" dirty="0" smtClean="0">
                  <a:solidFill>
                    <a:srgbClr val="00B050"/>
                  </a:solidFill>
                  <a:latin typeface="Arial" panose="020B0604020202020204" pitchFamily="34" charset="0"/>
                  <a:cs typeface="Arial" panose="020B0604020202020204" pitchFamily="34" charset="0"/>
                </a:rPr>
                <a:t>BECAUSE</a:t>
              </a:r>
              <a:endParaRPr lang="en-US" dirty="0">
                <a:solidFill>
                  <a:srgbClr val="00B050"/>
                </a:solidFill>
                <a:latin typeface="Arial" panose="020B0604020202020204" pitchFamily="34" charset="0"/>
                <a:cs typeface="Arial" panose="020B0604020202020204" pitchFamily="34" charset="0"/>
              </a:endParaRPr>
            </a:p>
          </p:txBody>
        </p:sp>
      </p:grpSp>
      <p:grpSp>
        <p:nvGrpSpPr>
          <p:cNvPr id="21" name="Group 20"/>
          <p:cNvGrpSpPr/>
          <p:nvPr/>
        </p:nvGrpSpPr>
        <p:grpSpPr>
          <a:xfrm>
            <a:off x="3084746" y="3217018"/>
            <a:ext cx="3036653" cy="822960"/>
            <a:chOff x="516357" y="3230465"/>
            <a:chExt cx="3036653" cy="822960"/>
          </a:xfrm>
        </p:grpSpPr>
        <p:sp>
          <p:nvSpPr>
            <p:cNvPr id="14" name="Down Arrow 13"/>
            <p:cNvSpPr/>
            <p:nvPr/>
          </p:nvSpPr>
          <p:spPr>
            <a:xfrm>
              <a:off x="1531914" y="3230465"/>
              <a:ext cx="640080" cy="822960"/>
            </a:xfrm>
            <a:prstGeom prst="down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516357" y="3581357"/>
              <a:ext cx="981636" cy="369332"/>
            </a:xfrm>
            <a:prstGeom prst="rect">
              <a:avLst/>
            </a:prstGeom>
            <a:noFill/>
          </p:spPr>
          <p:txBody>
            <a:bodyPr wrap="square" rtlCol="0">
              <a:spAutoFit/>
            </a:bodyPr>
            <a:lstStyle/>
            <a:p>
              <a:pPr algn="ctr"/>
              <a:r>
                <a:rPr lang="en-US" dirty="0" smtClean="0">
                  <a:solidFill>
                    <a:srgbClr val="FF0000"/>
                  </a:solidFill>
                  <a:latin typeface="Arial" panose="020B0604020202020204" pitchFamily="34" charset="0"/>
                  <a:cs typeface="Arial" panose="020B0604020202020204" pitchFamily="34" charset="0"/>
                </a:rPr>
                <a:t>WHY?</a:t>
              </a:r>
              <a:endParaRPr lang="en-US" dirty="0">
                <a:solidFill>
                  <a:srgbClr val="FF0000"/>
                </a:solidFill>
                <a:latin typeface="Arial" panose="020B0604020202020204" pitchFamily="34" charset="0"/>
                <a:cs typeface="Arial" panose="020B0604020202020204" pitchFamily="34" charset="0"/>
              </a:endParaRPr>
            </a:p>
          </p:txBody>
        </p:sp>
        <p:sp>
          <p:nvSpPr>
            <p:cNvPr id="22" name="TextBox 21"/>
            <p:cNvSpPr txBox="1"/>
            <p:nvPr/>
          </p:nvSpPr>
          <p:spPr>
            <a:xfrm>
              <a:off x="2171991" y="3577957"/>
              <a:ext cx="1381019" cy="369332"/>
            </a:xfrm>
            <a:prstGeom prst="rect">
              <a:avLst/>
            </a:prstGeom>
            <a:noFill/>
          </p:spPr>
          <p:txBody>
            <a:bodyPr wrap="square" rtlCol="0">
              <a:spAutoFit/>
            </a:bodyPr>
            <a:lstStyle/>
            <a:p>
              <a:r>
                <a:rPr lang="en-US" dirty="0" smtClean="0">
                  <a:solidFill>
                    <a:srgbClr val="00B050"/>
                  </a:solidFill>
                  <a:latin typeface="Arial" panose="020B0604020202020204" pitchFamily="34" charset="0"/>
                  <a:cs typeface="Arial" panose="020B0604020202020204" pitchFamily="34" charset="0"/>
                </a:rPr>
                <a:t>BECAUSE</a:t>
              </a:r>
              <a:endParaRPr lang="en-US" dirty="0">
                <a:solidFill>
                  <a:srgbClr val="00B050"/>
                </a:solidFill>
                <a:latin typeface="Arial" panose="020B0604020202020204" pitchFamily="34" charset="0"/>
                <a:cs typeface="Arial" panose="020B0604020202020204" pitchFamily="34" charset="0"/>
              </a:endParaRPr>
            </a:p>
          </p:txBody>
        </p:sp>
      </p:grpSp>
      <p:grpSp>
        <p:nvGrpSpPr>
          <p:cNvPr id="28" name="Group 27"/>
          <p:cNvGrpSpPr/>
          <p:nvPr/>
        </p:nvGrpSpPr>
        <p:grpSpPr>
          <a:xfrm>
            <a:off x="3084746" y="4675195"/>
            <a:ext cx="3036654" cy="822960"/>
            <a:chOff x="516357" y="4688642"/>
            <a:chExt cx="3036654" cy="822960"/>
          </a:xfrm>
        </p:grpSpPr>
        <p:sp>
          <p:nvSpPr>
            <p:cNvPr id="15" name="Down Arrow 14"/>
            <p:cNvSpPr/>
            <p:nvPr/>
          </p:nvSpPr>
          <p:spPr>
            <a:xfrm>
              <a:off x="1531914" y="4688642"/>
              <a:ext cx="640080" cy="822960"/>
            </a:xfrm>
            <a:prstGeom prst="down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516357" y="5062295"/>
              <a:ext cx="981636" cy="369332"/>
            </a:xfrm>
            <a:prstGeom prst="rect">
              <a:avLst/>
            </a:prstGeom>
            <a:noFill/>
          </p:spPr>
          <p:txBody>
            <a:bodyPr wrap="square" rtlCol="0">
              <a:spAutoFit/>
            </a:bodyPr>
            <a:lstStyle/>
            <a:p>
              <a:pPr algn="ctr"/>
              <a:r>
                <a:rPr lang="en-US" dirty="0" smtClean="0">
                  <a:solidFill>
                    <a:srgbClr val="FF0000"/>
                  </a:solidFill>
                  <a:latin typeface="Arial" panose="020B0604020202020204" pitchFamily="34" charset="0"/>
                  <a:cs typeface="Arial" panose="020B0604020202020204" pitchFamily="34" charset="0"/>
                </a:rPr>
                <a:t>WHY?</a:t>
              </a:r>
              <a:endParaRPr lang="en-US" dirty="0">
                <a:solidFill>
                  <a:srgbClr val="FF0000"/>
                </a:solidFill>
                <a:latin typeface="Arial" panose="020B0604020202020204" pitchFamily="34" charset="0"/>
                <a:cs typeface="Arial" panose="020B0604020202020204" pitchFamily="34" charset="0"/>
              </a:endParaRPr>
            </a:p>
          </p:txBody>
        </p:sp>
        <p:sp>
          <p:nvSpPr>
            <p:cNvPr id="23" name="TextBox 22"/>
            <p:cNvSpPr txBox="1"/>
            <p:nvPr/>
          </p:nvSpPr>
          <p:spPr>
            <a:xfrm>
              <a:off x="2171992" y="5062295"/>
              <a:ext cx="1381019" cy="369332"/>
            </a:xfrm>
            <a:prstGeom prst="rect">
              <a:avLst/>
            </a:prstGeom>
            <a:noFill/>
          </p:spPr>
          <p:txBody>
            <a:bodyPr wrap="square" rtlCol="0">
              <a:spAutoFit/>
            </a:bodyPr>
            <a:lstStyle/>
            <a:p>
              <a:r>
                <a:rPr lang="en-US" dirty="0" smtClean="0">
                  <a:solidFill>
                    <a:srgbClr val="00B050"/>
                  </a:solidFill>
                  <a:latin typeface="Arial" panose="020B0604020202020204" pitchFamily="34" charset="0"/>
                  <a:cs typeface="Arial" panose="020B0604020202020204" pitchFamily="34" charset="0"/>
                </a:rPr>
                <a:t>BECAUSE</a:t>
              </a:r>
              <a:endParaRPr lang="en-US" dirty="0">
                <a:solidFill>
                  <a:srgbClr val="00B050"/>
                </a:solidFill>
                <a:latin typeface="Arial" panose="020B0604020202020204" pitchFamily="34" charset="0"/>
                <a:cs typeface="Arial" panose="020B0604020202020204" pitchFamily="34" charset="0"/>
              </a:endParaRPr>
            </a:p>
          </p:txBody>
        </p:sp>
      </p:grpSp>
      <p:grpSp>
        <p:nvGrpSpPr>
          <p:cNvPr id="3" name="Group 2"/>
          <p:cNvGrpSpPr/>
          <p:nvPr/>
        </p:nvGrpSpPr>
        <p:grpSpPr>
          <a:xfrm>
            <a:off x="2853762" y="1115622"/>
            <a:ext cx="7446687" cy="867276"/>
            <a:chOff x="285373" y="1129069"/>
            <a:chExt cx="7446687" cy="867276"/>
          </a:xfrm>
        </p:grpSpPr>
        <p:sp>
          <p:nvSpPr>
            <p:cNvPr id="24" name="Rectangle 23"/>
            <p:cNvSpPr/>
            <p:nvPr/>
          </p:nvSpPr>
          <p:spPr>
            <a:xfrm>
              <a:off x="3560525" y="1129069"/>
              <a:ext cx="4171535" cy="8672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latin typeface="Arial" panose="020B0604020202020204" pitchFamily="34" charset="0"/>
                  <a:cs typeface="Arial" panose="020B0604020202020204" pitchFamily="34" charset="0"/>
                </a:rPr>
                <a:t>Negative outcome, a right not respected, protected or fulfilled</a:t>
              </a:r>
              <a:endParaRPr lang="en-US" dirty="0">
                <a:solidFill>
                  <a:schemeClr val="tx1"/>
                </a:solidFill>
                <a:latin typeface="Arial" panose="020B0604020202020204" pitchFamily="34" charset="0"/>
                <a:cs typeface="Arial" panose="020B0604020202020204" pitchFamily="34" charset="0"/>
              </a:endParaRPr>
            </a:p>
          </p:txBody>
        </p:sp>
        <p:sp>
          <p:nvSpPr>
            <p:cNvPr id="4" name="Rectangle 3"/>
            <p:cNvSpPr/>
            <p:nvPr/>
          </p:nvSpPr>
          <p:spPr>
            <a:xfrm>
              <a:off x="285373" y="1129069"/>
              <a:ext cx="3133165" cy="86727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KEY DEPRIVATION</a:t>
              </a:r>
              <a:endParaRPr lang="en-US" dirty="0"/>
            </a:p>
          </p:txBody>
        </p:sp>
      </p:grpSp>
      <p:grpSp>
        <p:nvGrpSpPr>
          <p:cNvPr id="6" name="Group 5"/>
          <p:cNvGrpSpPr/>
          <p:nvPr/>
        </p:nvGrpSpPr>
        <p:grpSpPr>
          <a:xfrm>
            <a:off x="2853762" y="2595694"/>
            <a:ext cx="7429660" cy="872053"/>
            <a:chOff x="285373" y="2609141"/>
            <a:chExt cx="7429660" cy="872053"/>
          </a:xfrm>
        </p:grpSpPr>
        <p:sp>
          <p:nvSpPr>
            <p:cNvPr id="25" name="Rectangle 24"/>
            <p:cNvSpPr/>
            <p:nvPr/>
          </p:nvSpPr>
          <p:spPr>
            <a:xfrm>
              <a:off x="3543498" y="2613918"/>
              <a:ext cx="4171535" cy="8672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latin typeface="Arial" panose="020B0604020202020204" pitchFamily="34" charset="0"/>
                  <a:cs typeface="Arial" panose="020B0604020202020204" pitchFamily="34" charset="0"/>
                </a:rPr>
                <a:t>Near and direct cause, most obvious link</a:t>
              </a:r>
              <a:endParaRPr lang="en-US" dirty="0">
                <a:solidFill>
                  <a:schemeClr val="tx1"/>
                </a:solidFill>
                <a:latin typeface="Arial" panose="020B0604020202020204" pitchFamily="34" charset="0"/>
                <a:cs typeface="Arial" panose="020B0604020202020204" pitchFamily="34" charset="0"/>
              </a:endParaRPr>
            </a:p>
          </p:txBody>
        </p:sp>
        <p:sp>
          <p:nvSpPr>
            <p:cNvPr id="9" name="Rectangle 8"/>
            <p:cNvSpPr/>
            <p:nvPr/>
          </p:nvSpPr>
          <p:spPr>
            <a:xfrm>
              <a:off x="285373" y="2609141"/>
              <a:ext cx="3133165" cy="87205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IMMEDIATE CAUSES</a:t>
              </a:r>
              <a:endParaRPr lang="en-US" dirty="0"/>
            </a:p>
          </p:txBody>
        </p:sp>
      </p:grpSp>
      <p:grpSp>
        <p:nvGrpSpPr>
          <p:cNvPr id="16" name="Group 15"/>
          <p:cNvGrpSpPr/>
          <p:nvPr/>
        </p:nvGrpSpPr>
        <p:grpSpPr>
          <a:xfrm>
            <a:off x="2853761" y="5555837"/>
            <a:ext cx="7429660" cy="876050"/>
            <a:chOff x="285372" y="5569284"/>
            <a:chExt cx="7429660" cy="876050"/>
          </a:xfrm>
        </p:grpSpPr>
        <p:sp>
          <p:nvSpPr>
            <p:cNvPr id="27" name="Rectangle 26"/>
            <p:cNvSpPr/>
            <p:nvPr/>
          </p:nvSpPr>
          <p:spPr>
            <a:xfrm>
              <a:off x="3543497" y="5569284"/>
              <a:ext cx="4171535" cy="8672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latin typeface="Arial" panose="020B0604020202020204" pitchFamily="34" charset="0"/>
                  <a:cs typeface="Arial" panose="020B0604020202020204" pitchFamily="34" charset="0"/>
                </a:rPr>
                <a:t>Social organization, policies, inequitable distribution of resources, governance, political issues, culture</a:t>
              </a:r>
              <a:endParaRPr lang="en-US" dirty="0">
                <a:solidFill>
                  <a:schemeClr val="tx1"/>
                </a:solidFill>
                <a:latin typeface="Arial" panose="020B0604020202020204" pitchFamily="34" charset="0"/>
                <a:cs typeface="Arial" panose="020B0604020202020204" pitchFamily="34" charset="0"/>
              </a:endParaRPr>
            </a:p>
          </p:txBody>
        </p:sp>
        <p:sp>
          <p:nvSpPr>
            <p:cNvPr id="10" name="Rectangle 9"/>
            <p:cNvSpPr/>
            <p:nvPr/>
          </p:nvSpPr>
          <p:spPr>
            <a:xfrm>
              <a:off x="285372" y="5571438"/>
              <a:ext cx="3133165" cy="873896"/>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STRUCTURAL CAUSES</a:t>
              </a:r>
              <a:endParaRPr lang="en-US" dirty="0"/>
            </a:p>
          </p:txBody>
        </p:sp>
      </p:grpSp>
      <p:grpSp>
        <p:nvGrpSpPr>
          <p:cNvPr id="13" name="Group 12"/>
          <p:cNvGrpSpPr/>
          <p:nvPr/>
        </p:nvGrpSpPr>
        <p:grpSpPr>
          <a:xfrm>
            <a:off x="2853762" y="4046759"/>
            <a:ext cx="7446686" cy="891505"/>
            <a:chOff x="285373" y="4060206"/>
            <a:chExt cx="7446686" cy="891505"/>
          </a:xfrm>
        </p:grpSpPr>
        <p:sp>
          <p:nvSpPr>
            <p:cNvPr id="26" name="Rectangle 25"/>
            <p:cNvSpPr/>
            <p:nvPr/>
          </p:nvSpPr>
          <p:spPr>
            <a:xfrm>
              <a:off x="3560524" y="4084435"/>
              <a:ext cx="4171535" cy="8672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latin typeface="Arial" panose="020B0604020202020204" pitchFamily="34" charset="0"/>
                  <a:cs typeface="Arial" panose="020B0604020202020204" pitchFamily="34" charset="0"/>
                </a:rPr>
                <a:t>Shortfalls in social services, lack of access, harmful beliefs, practices</a:t>
              </a:r>
              <a:endParaRPr lang="en-US" dirty="0">
                <a:solidFill>
                  <a:schemeClr val="tx1"/>
                </a:solidFill>
                <a:latin typeface="Arial" panose="020B0604020202020204" pitchFamily="34" charset="0"/>
                <a:cs typeface="Arial" panose="020B0604020202020204" pitchFamily="34" charset="0"/>
              </a:endParaRPr>
            </a:p>
          </p:txBody>
        </p:sp>
        <p:sp>
          <p:nvSpPr>
            <p:cNvPr id="11" name="Rectangle 10"/>
            <p:cNvSpPr/>
            <p:nvPr/>
          </p:nvSpPr>
          <p:spPr>
            <a:xfrm>
              <a:off x="285373" y="4060206"/>
              <a:ext cx="3133165" cy="89150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UNDERLYING CAUSES</a:t>
              </a:r>
              <a:endParaRPr lang="en-US" dirty="0"/>
            </a:p>
          </p:txBody>
        </p:sp>
      </p:grpSp>
      <p:grpSp>
        <p:nvGrpSpPr>
          <p:cNvPr id="39" name="Group 38"/>
          <p:cNvGrpSpPr/>
          <p:nvPr/>
        </p:nvGrpSpPr>
        <p:grpSpPr>
          <a:xfrm>
            <a:off x="2686592" y="938718"/>
            <a:ext cx="8573120" cy="5651835"/>
            <a:chOff x="118203" y="952165"/>
            <a:chExt cx="8573120" cy="5651835"/>
          </a:xfrm>
        </p:grpSpPr>
        <p:sp>
          <p:nvSpPr>
            <p:cNvPr id="2" name="Rectangle 1"/>
            <p:cNvSpPr/>
            <p:nvPr/>
          </p:nvSpPr>
          <p:spPr>
            <a:xfrm>
              <a:off x="118203" y="952165"/>
              <a:ext cx="7423982" cy="5651835"/>
            </a:xfrm>
            <a:prstGeom prst="rect">
              <a:avLst/>
            </a:prstGeom>
            <a:noFill/>
            <a:ln>
              <a:solidFill>
                <a:srgbClr val="0099FF"/>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b="1" dirty="0">
                <a:solidFill>
                  <a:srgbClr val="0099FF"/>
                </a:solidFill>
                <a:latin typeface="Arial" panose="020B0604020202020204" pitchFamily="34" charset="0"/>
                <a:cs typeface="Arial" panose="020B0604020202020204" pitchFamily="34" charset="0"/>
              </a:endParaRPr>
            </a:p>
          </p:txBody>
        </p:sp>
        <p:sp>
          <p:nvSpPr>
            <p:cNvPr id="5" name="Rectangle 4"/>
            <p:cNvSpPr/>
            <p:nvPr/>
          </p:nvSpPr>
          <p:spPr>
            <a:xfrm rot="16200000">
              <a:off x="6832058" y="3278943"/>
              <a:ext cx="3120504" cy="598027"/>
            </a:xfrm>
            <a:prstGeom prst="rect">
              <a:avLst/>
            </a:prstGeom>
            <a:noFill/>
            <a:ln>
              <a:no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2800" dirty="0" smtClean="0">
                  <a:solidFill>
                    <a:schemeClr val="bg1"/>
                  </a:solidFill>
                  <a:latin typeface="Arial" panose="020B0604020202020204" pitchFamily="34" charset="0"/>
                  <a:cs typeface="Arial" panose="020B0604020202020204" pitchFamily="34" charset="0"/>
                </a:rPr>
                <a:t>LENSES</a:t>
              </a:r>
              <a:endParaRPr lang="en-US" sz="2800" dirty="0">
                <a:solidFill>
                  <a:schemeClr val="bg1"/>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2041941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Problem tree</a:t>
            </a:r>
          </a:p>
        </p:txBody>
      </p:sp>
      <p:sp>
        <p:nvSpPr>
          <p:cNvPr id="11" name="Rectangle 10"/>
          <p:cNvSpPr/>
          <p:nvPr/>
        </p:nvSpPr>
        <p:spPr>
          <a:xfrm>
            <a:off x="158373" y="1002069"/>
            <a:ext cx="1619627" cy="86727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Arial" panose="020B0604020202020204" pitchFamily="34" charset="0"/>
                <a:cs typeface="Arial" panose="020B0604020202020204" pitchFamily="34" charset="0"/>
              </a:rPr>
              <a:t>STATE</a:t>
            </a:r>
            <a:endParaRPr lang="en-US" sz="1600" dirty="0">
              <a:solidFill>
                <a:schemeClr val="tx1"/>
              </a:solidFill>
              <a:latin typeface="Arial" panose="020B0604020202020204" pitchFamily="34" charset="0"/>
              <a:cs typeface="Arial" panose="020B0604020202020204" pitchFamily="34" charset="0"/>
            </a:endParaRPr>
          </a:p>
        </p:txBody>
      </p:sp>
      <p:sp>
        <p:nvSpPr>
          <p:cNvPr id="12" name="Rectangle 11"/>
          <p:cNvSpPr/>
          <p:nvPr/>
        </p:nvSpPr>
        <p:spPr>
          <a:xfrm>
            <a:off x="158373" y="2355141"/>
            <a:ext cx="1619627" cy="87205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latin typeface="Arial" panose="020B0604020202020204" pitchFamily="34" charset="0"/>
                <a:cs typeface="Arial" panose="020B0604020202020204" pitchFamily="34" charset="0"/>
              </a:rPr>
              <a:t>BEHAVIOUR OF CHILD / DUTY BEARER</a:t>
            </a:r>
            <a:endParaRPr lang="en-US" sz="1600" dirty="0">
              <a:latin typeface="Arial" panose="020B0604020202020204" pitchFamily="34" charset="0"/>
              <a:cs typeface="Arial" panose="020B0604020202020204" pitchFamily="34" charset="0"/>
            </a:endParaRPr>
          </a:p>
        </p:txBody>
      </p:sp>
      <p:sp>
        <p:nvSpPr>
          <p:cNvPr id="14" name="Rectangle 13"/>
          <p:cNvSpPr/>
          <p:nvPr/>
        </p:nvSpPr>
        <p:spPr>
          <a:xfrm>
            <a:off x="158373" y="3928979"/>
            <a:ext cx="1619627" cy="139566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latin typeface="Arial" panose="020B0604020202020204" pitchFamily="34" charset="0"/>
                <a:cs typeface="Arial" panose="020B0604020202020204" pitchFamily="34" charset="0"/>
              </a:rPr>
              <a:t>SYSTEMS</a:t>
            </a:r>
            <a:endParaRPr lang="en-US" sz="1600" dirty="0">
              <a:latin typeface="Arial" panose="020B0604020202020204" pitchFamily="34" charset="0"/>
              <a:cs typeface="Arial" panose="020B0604020202020204" pitchFamily="34" charset="0"/>
            </a:endParaRPr>
          </a:p>
        </p:txBody>
      </p:sp>
      <p:sp>
        <p:nvSpPr>
          <p:cNvPr id="13" name="Rectangle 12"/>
          <p:cNvSpPr/>
          <p:nvPr/>
        </p:nvSpPr>
        <p:spPr>
          <a:xfrm>
            <a:off x="158372" y="5914112"/>
            <a:ext cx="1619627" cy="83334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latin typeface="Arial" panose="020B0604020202020204" pitchFamily="34" charset="0"/>
                <a:cs typeface="Arial" panose="020B0604020202020204" pitchFamily="34" charset="0"/>
              </a:rPr>
              <a:t>CONTEXT</a:t>
            </a:r>
            <a:endParaRPr lang="en-US" sz="1600" dirty="0">
              <a:latin typeface="Arial" panose="020B0604020202020204" pitchFamily="34" charset="0"/>
              <a:cs typeface="Arial" panose="020B0604020202020204" pitchFamily="34" charset="0"/>
            </a:endParaRPr>
          </a:p>
        </p:txBody>
      </p:sp>
      <p:grpSp>
        <p:nvGrpSpPr>
          <p:cNvPr id="3" name="Group 2"/>
          <p:cNvGrpSpPr/>
          <p:nvPr/>
        </p:nvGrpSpPr>
        <p:grpSpPr>
          <a:xfrm>
            <a:off x="2539623" y="1854700"/>
            <a:ext cx="9220578" cy="1372494"/>
            <a:chOff x="6494556" y="1854700"/>
            <a:chExt cx="5265645" cy="1372494"/>
          </a:xfrm>
        </p:grpSpPr>
        <p:sp>
          <p:nvSpPr>
            <p:cNvPr id="32" name="Down Arrow 31"/>
            <p:cNvSpPr/>
            <p:nvPr/>
          </p:nvSpPr>
          <p:spPr>
            <a:xfrm rot="10800000">
              <a:off x="8688242" y="1854700"/>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4" name="Rectangle 33"/>
            <p:cNvSpPr/>
            <p:nvPr/>
          </p:nvSpPr>
          <p:spPr>
            <a:xfrm>
              <a:off x="6494556" y="2355141"/>
              <a:ext cx="5265645" cy="87205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Families subject their children to FGMC</a:t>
              </a:r>
              <a:endParaRPr lang="en-US" dirty="0">
                <a:latin typeface="Arial" panose="020B0604020202020204" pitchFamily="34" charset="0"/>
                <a:cs typeface="Arial" panose="020B0604020202020204" pitchFamily="34" charset="0"/>
              </a:endParaRPr>
            </a:p>
          </p:txBody>
        </p:sp>
      </p:grpSp>
      <p:grpSp>
        <p:nvGrpSpPr>
          <p:cNvPr id="4" name="Group 3"/>
          <p:cNvGrpSpPr/>
          <p:nvPr/>
        </p:nvGrpSpPr>
        <p:grpSpPr>
          <a:xfrm>
            <a:off x="2371508" y="3339510"/>
            <a:ext cx="1912270" cy="1985132"/>
            <a:chOff x="2371508" y="3339510"/>
            <a:chExt cx="1912270" cy="1985132"/>
          </a:xfrm>
        </p:grpSpPr>
        <p:sp>
          <p:nvSpPr>
            <p:cNvPr id="35" name="Down Arrow 34"/>
            <p:cNvSpPr/>
            <p:nvPr/>
          </p:nvSpPr>
          <p:spPr>
            <a:xfrm rot="10800000">
              <a:off x="2942364" y="3339510"/>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0" name="Rectangle 39"/>
            <p:cNvSpPr/>
            <p:nvPr/>
          </p:nvSpPr>
          <p:spPr>
            <a:xfrm>
              <a:off x="2371508" y="3928980"/>
              <a:ext cx="1912270" cy="139566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FGMC practitioners are known and available in the community </a:t>
              </a:r>
              <a:endParaRPr lang="en-US" dirty="0">
                <a:latin typeface="Arial" panose="020B0604020202020204" pitchFamily="34" charset="0"/>
                <a:cs typeface="Arial" panose="020B0604020202020204" pitchFamily="34" charset="0"/>
              </a:endParaRPr>
            </a:p>
          </p:txBody>
        </p:sp>
      </p:grpSp>
      <p:grpSp>
        <p:nvGrpSpPr>
          <p:cNvPr id="5" name="Group 4"/>
          <p:cNvGrpSpPr/>
          <p:nvPr/>
        </p:nvGrpSpPr>
        <p:grpSpPr>
          <a:xfrm>
            <a:off x="4513812" y="3301690"/>
            <a:ext cx="2476494" cy="2022952"/>
            <a:chOff x="4513812" y="3301690"/>
            <a:chExt cx="2476494" cy="2022952"/>
          </a:xfrm>
        </p:grpSpPr>
        <p:sp>
          <p:nvSpPr>
            <p:cNvPr id="38" name="Down Arrow 37"/>
            <p:cNvSpPr/>
            <p:nvPr/>
          </p:nvSpPr>
          <p:spPr>
            <a:xfrm rot="8356884">
              <a:off x="5020623" y="3302306"/>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9" name="Down Arrow 38"/>
            <p:cNvSpPr/>
            <p:nvPr/>
          </p:nvSpPr>
          <p:spPr>
            <a:xfrm rot="13107250">
              <a:off x="6302687" y="3301690"/>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1" name="Rectangle 40"/>
            <p:cNvSpPr/>
            <p:nvPr/>
          </p:nvSpPr>
          <p:spPr>
            <a:xfrm>
              <a:off x="4513812" y="3928980"/>
              <a:ext cx="2476494" cy="139566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Social and financial cost of FGMC is low</a:t>
              </a:r>
              <a:endParaRPr lang="en-US" dirty="0">
                <a:latin typeface="Arial" panose="020B0604020202020204" pitchFamily="34" charset="0"/>
                <a:cs typeface="Arial" panose="020B0604020202020204" pitchFamily="34" charset="0"/>
              </a:endParaRPr>
            </a:p>
          </p:txBody>
        </p:sp>
      </p:grpSp>
      <p:grpSp>
        <p:nvGrpSpPr>
          <p:cNvPr id="6" name="Group 5"/>
          <p:cNvGrpSpPr/>
          <p:nvPr/>
        </p:nvGrpSpPr>
        <p:grpSpPr>
          <a:xfrm>
            <a:off x="7158014" y="3361787"/>
            <a:ext cx="2272710" cy="1962855"/>
            <a:chOff x="7158014" y="3361787"/>
            <a:chExt cx="2272710" cy="1962855"/>
          </a:xfrm>
        </p:grpSpPr>
        <p:sp>
          <p:nvSpPr>
            <p:cNvPr id="36" name="Down Arrow 35"/>
            <p:cNvSpPr/>
            <p:nvPr/>
          </p:nvSpPr>
          <p:spPr>
            <a:xfrm rot="10800000">
              <a:off x="8051596" y="3361787"/>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2" name="Rectangle 41"/>
            <p:cNvSpPr/>
            <p:nvPr/>
          </p:nvSpPr>
          <p:spPr>
            <a:xfrm>
              <a:off x="7158014" y="3928980"/>
              <a:ext cx="2272710" cy="139566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Lack of awareness of health and human rights consequences of  FGMC</a:t>
              </a:r>
              <a:endParaRPr lang="en-US" dirty="0">
                <a:latin typeface="Arial" panose="020B0604020202020204" pitchFamily="34" charset="0"/>
                <a:cs typeface="Arial" panose="020B0604020202020204" pitchFamily="34" charset="0"/>
              </a:endParaRPr>
            </a:p>
          </p:txBody>
        </p:sp>
      </p:grpSp>
      <p:grpSp>
        <p:nvGrpSpPr>
          <p:cNvPr id="7" name="Group 6"/>
          <p:cNvGrpSpPr/>
          <p:nvPr/>
        </p:nvGrpSpPr>
        <p:grpSpPr>
          <a:xfrm>
            <a:off x="9714832" y="3390499"/>
            <a:ext cx="2045368" cy="1934143"/>
            <a:chOff x="9714832" y="3390499"/>
            <a:chExt cx="2045368" cy="1934143"/>
          </a:xfrm>
        </p:grpSpPr>
        <p:sp>
          <p:nvSpPr>
            <p:cNvPr id="37" name="Down Arrow 36"/>
            <p:cNvSpPr/>
            <p:nvPr/>
          </p:nvSpPr>
          <p:spPr>
            <a:xfrm rot="10800000">
              <a:off x="10417476" y="3390499"/>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3" name="Rectangle 42"/>
            <p:cNvSpPr/>
            <p:nvPr/>
          </p:nvSpPr>
          <p:spPr>
            <a:xfrm>
              <a:off x="9714832" y="3928980"/>
              <a:ext cx="2045368" cy="139566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Community values FGMC and links to marriageability</a:t>
              </a:r>
              <a:endParaRPr lang="en-US" dirty="0">
                <a:latin typeface="Arial" panose="020B0604020202020204" pitchFamily="34" charset="0"/>
                <a:cs typeface="Arial" panose="020B0604020202020204" pitchFamily="34" charset="0"/>
              </a:endParaRPr>
            </a:p>
          </p:txBody>
        </p:sp>
      </p:grpSp>
      <p:grpSp>
        <p:nvGrpSpPr>
          <p:cNvPr id="9" name="Group 8"/>
          <p:cNvGrpSpPr/>
          <p:nvPr/>
        </p:nvGrpSpPr>
        <p:grpSpPr>
          <a:xfrm>
            <a:off x="2539623" y="5324642"/>
            <a:ext cx="2675398" cy="1422818"/>
            <a:chOff x="2539623" y="5324642"/>
            <a:chExt cx="2675398" cy="1422818"/>
          </a:xfrm>
        </p:grpSpPr>
        <p:sp>
          <p:nvSpPr>
            <p:cNvPr id="44" name="Down Arrow 43"/>
            <p:cNvSpPr/>
            <p:nvPr/>
          </p:nvSpPr>
          <p:spPr>
            <a:xfrm rot="10800000">
              <a:off x="2956019" y="5324642"/>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4" name="Down Arrow 53"/>
            <p:cNvSpPr/>
            <p:nvPr/>
          </p:nvSpPr>
          <p:spPr>
            <a:xfrm rot="10982416">
              <a:off x="4531507" y="5341038"/>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61" name="Rectangle 60"/>
            <p:cNvSpPr/>
            <p:nvPr/>
          </p:nvSpPr>
          <p:spPr>
            <a:xfrm>
              <a:off x="2539623" y="5914112"/>
              <a:ext cx="2675398" cy="83334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FGM Practice is passed from generation to generation</a:t>
              </a:r>
              <a:endParaRPr lang="en-US" dirty="0">
                <a:latin typeface="Arial" panose="020B0604020202020204" pitchFamily="34" charset="0"/>
                <a:cs typeface="Arial" panose="020B0604020202020204" pitchFamily="34" charset="0"/>
              </a:endParaRPr>
            </a:p>
          </p:txBody>
        </p:sp>
      </p:grpSp>
      <p:grpSp>
        <p:nvGrpSpPr>
          <p:cNvPr id="10" name="Group 9"/>
          <p:cNvGrpSpPr/>
          <p:nvPr/>
        </p:nvGrpSpPr>
        <p:grpSpPr>
          <a:xfrm>
            <a:off x="5603665" y="5324642"/>
            <a:ext cx="2675398" cy="1422818"/>
            <a:chOff x="5603665" y="5324642"/>
            <a:chExt cx="2675398" cy="1422818"/>
          </a:xfrm>
        </p:grpSpPr>
        <p:sp>
          <p:nvSpPr>
            <p:cNvPr id="55" name="Down Arrow 54"/>
            <p:cNvSpPr/>
            <p:nvPr/>
          </p:nvSpPr>
          <p:spPr>
            <a:xfrm rot="10800000">
              <a:off x="5987287" y="5324642"/>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9" name="Down Arrow 58"/>
            <p:cNvSpPr/>
            <p:nvPr/>
          </p:nvSpPr>
          <p:spPr>
            <a:xfrm rot="10800000">
              <a:off x="7517974" y="5324642"/>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62" name="Rectangle 61"/>
            <p:cNvSpPr/>
            <p:nvPr/>
          </p:nvSpPr>
          <p:spPr>
            <a:xfrm>
              <a:off x="5603665" y="5914112"/>
              <a:ext cx="2675398" cy="83334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Lack of enforcement of laws against FGMC</a:t>
              </a:r>
              <a:endParaRPr lang="en-US" dirty="0">
                <a:latin typeface="Arial" panose="020B0604020202020204" pitchFamily="34" charset="0"/>
                <a:cs typeface="Arial" panose="020B0604020202020204" pitchFamily="34" charset="0"/>
              </a:endParaRPr>
            </a:p>
          </p:txBody>
        </p:sp>
      </p:grpSp>
      <p:sp>
        <p:nvSpPr>
          <p:cNvPr id="63" name="Rectangle 62"/>
          <p:cNvSpPr/>
          <p:nvPr/>
        </p:nvSpPr>
        <p:spPr>
          <a:xfrm>
            <a:off x="2539623" y="1002069"/>
            <a:ext cx="9220577" cy="86727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Arial" panose="020B0604020202020204" pitchFamily="34" charset="0"/>
                <a:cs typeface="Arial" panose="020B0604020202020204" pitchFamily="34" charset="0"/>
              </a:rPr>
              <a:t>High prevalence of FGMC among children less than 15 years</a:t>
            </a:r>
          </a:p>
        </p:txBody>
      </p:sp>
      <p:grpSp>
        <p:nvGrpSpPr>
          <p:cNvPr id="15" name="Group 14"/>
          <p:cNvGrpSpPr/>
          <p:nvPr/>
        </p:nvGrpSpPr>
        <p:grpSpPr>
          <a:xfrm>
            <a:off x="8662684" y="5324642"/>
            <a:ext cx="3097515" cy="1422818"/>
            <a:chOff x="8662684" y="5324642"/>
            <a:chExt cx="3097515" cy="1422818"/>
          </a:xfrm>
        </p:grpSpPr>
        <p:sp>
          <p:nvSpPr>
            <p:cNvPr id="60" name="Down Arrow 59"/>
            <p:cNvSpPr/>
            <p:nvPr/>
          </p:nvSpPr>
          <p:spPr>
            <a:xfrm rot="10800000">
              <a:off x="10383210" y="5324642"/>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64" name="Down Arrow 63"/>
            <p:cNvSpPr/>
            <p:nvPr/>
          </p:nvSpPr>
          <p:spPr>
            <a:xfrm rot="10800000">
              <a:off x="8751561" y="5324642"/>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65" name="Rectangle 64"/>
            <p:cNvSpPr/>
            <p:nvPr/>
          </p:nvSpPr>
          <p:spPr>
            <a:xfrm>
              <a:off x="8662684" y="5914112"/>
              <a:ext cx="3097515" cy="83334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FGMC is a social norm</a:t>
              </a:r>
              <a:endParaRPr lang="en-US"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4292595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500"/>
                                        <p:tgtEl>
                                          <p:spTgt spid="6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Group Work</a:t>
            </a:r>
          </a:p>
        </p:txBody>
      </p:sp>
      <p:sp>
        <p:nvSpPr>
          <p:cNvPr id="11" name="Content Placeholder 4"/>
          <p:cNvSpPr txBox="1">
            <a:spLocks/>
          </p:cNvSpPr>
          <p:nvPr/>
        </p:nvSpPr>
        <p:spPr>
          <a:xfrm>
            <a:off x="2759855" y="1563802"/>
            <a:ext cx="7162134" cy="52941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AutoNum type="arabicPeriod"/>
            </a:pPr>
            <a:r>
              <a:rPr lang="en-US" dirty="0">
                <a:solidFill>
                  <a:srgbClr val="0099FF"/>
                </a:solidFill>
                <a:latin typeface="Arial" panose="020B0604020202020204" pitchFamily="34" charset="0"/>
                <a:ea typeface="Times New Roman" panose="02020603050405020304" pitchFamily="18" charset="0"/>
                <a:cs typeface="Arial" panose="020B0604020202020204" pitchFamily="34" charset="0"/>
              </a:rPr>
              <a:t>Read</a:t>
            </a:r>
            <a:r>
              <a:rPr lang="en-US" dirty="0">
                <a:latin typeface="Arial" panose="020B0604020202020204" pitchFamily="34" charset="0"/>
                <a:ea typeface="Times New Roman" panose="02020603050405020304" pitchFamily="18" charset="0"/>
                <a:cs typeface="Arial" panose="020B0604020202020204" pitchFamily="34" charset="0"/>
              </a:rPr>
              <a:t> the assigned case </a:t>
            </a:r>
            <a:r>
              <a:rPr lang="en-US" dirty="0" smtClean="0">
                <a:latin typeface="Arial" panose="020B0604020202020204" pitchFamily="34" charset="0"/>
                <a:ea typeface="Times New Roman" panose="02020603050405020304" pitchFamily="18" charset="0"/>
                <a:cs typeface="Arial" panose="020B0604020202020204" pitchFamily="34" charset="0"/>
              </a:rPr>
              <a:t>study</a:t>
            </a:r>
          </a:p>
          <a:p>
            <a:pPr marL="457200" indent="-457200">
              <a:buFont typeface="Arial" panose="020B0604020202020204" pitchFamily="34" charset="0"/>
              <a:buAutoNum type="arabicPeriod"/>
            </a:pPr>
            <a:endParaRPr lang="en-US" dirty="0" smtClean="0">
              <a:latin typeface="Arial" panose="020B0604020202020204" pitchFamily="34" charset="0"/>
              <a:ea typeface="Times New Roman" panose="02020603050405020304" pitchFamily="18" charset="0"/>
              <a:cs typeface="Arial" panose="020B0604020202020204" pitchFamily="34" charset="0"/>
            </a:endParaRPr>
          </a:p>
          <a:p>
            <a:pPr marL="457200" indent="-457200">
              <a:buFont typeface="Arial" panose="020B0604020202020204" pitchFamily="34" charset="0"/>
              <a:buAutoNum type="arabicPeriod"/>
            </a:pPr>
            <a:r>
              <a:rPr lang="en-US" dirty="0" smtClean="0">
                <a:solidFill>
                  <a:srgbClr val="0099FF"/>
                </a:solidFill>
                <a:latin typeface="Arial" panose="020B0604020202020204" pitchFamily="34" charset="0"/>
                <a:ea typeface="Times New Roman" panose="02020603050405020304" pitchFamily="18" charset="0"/>
                <a:cs typeface="Arial" panose="020B0604020202020204" pitchFamily="34" charset="0"/>
              </a:rPr>
              <a:t>Identify </a:t>
            </a:r>
            <a:r>
              <a:rPr lang="en-US" dirty="0" smtClean="0">
                <a:latin typeface="Arial" panose="020B0604020202020204" pitchFamily="34" charset="0"/>
                <a:ea typeface="Times New Roman" panose="02020603050405020304" pitchFamily="18" charset="0"/>
                <a:cs typeface="Arial" panose="020B0604020202020204" pitchFamily="34" charset="0"/>
              </a:rPr>
              <a:t>one deprivation / inequity / risk and trends</a:t>
            </a:r>
          </a:p>
          <a:p>
            <a:pPr marL="457200" indent="-457200">
              <a:buFont typeface="Arial" panose="020B0604020202020204" pitchFamily="34" charset="0"/>
              <a:buAutoNum type="arabicPeriod"/>
            </a:pPr>
            <a:endParaRPr lang="en-US" i="1" dirty="0" smtClean="0">
              <a:latin typeface="Arial" panose="020B0604020202020204" pitchFamily="34" charset="0"/>
              <a:ea typeface="Times New Roman" panose="02020603050405020304" pitchFamily="18" charset="0"/>
              <a:cs typeface="Arial" panose="020B0604020202020204" pitchFamily="34" charset="0"/>
            </a:endParaRPr>
          </a:p>
          <a:p>
            <a:pPr marL="457200" indent="-457200">
              <a:buFont typeface="+mj-lt"/>
              <a:buAutoNum type="arabicPeriod"/>
            </a:pPr>
            <a:r>
              <a:rPr lang="en-US" dirty="0" smtClean="0">
                <a:solidFill>
                  <a:srgbClr val="0099FF"/>
                </a:solidFill>
                <a:latin typeface="Arial" panose="020B0604020202020204" pitchFamily="34" charset="0"/>
                <a:ea typeface="Times New Roman" panose="02020603050405020304" pitchFamily="18" charset="0"/>
                <a:cs typeface="Arial" panose="020B0604020202020204" pitchFamily="34" charset="0"/>
              </a:rPr>
              <a:t>Undertake</a:t>
            </a:r>
            <a:r>
              <a:rPr lang="en-US" dirty="0" smtClean="0">
                <a:latin typeface="Arial" panose="020B0604020202020204" pitchFamily="34" charset="0"/>
                <a:ea typeface="Times New Roman" panose="02020603050405020304" pitchFamily="18" charset="0"/>
                <a:cs typeface="Arial" panose="020B0604020202020204" pitchFamily="34" charset="0"/>
              </a:rPr>
              <a:t> a causal analysis</a:t>
            </a:r>
          </a:p>
          <a:p>
            <a:pPr marL="457200" indent="-457200">
              <a:buFont typeface="+mj-lt"/>
              <a:buAutoNum type="arabicPeriod"/>
            </a:pPr>
            <a:endParaRPr lang="en-US" dirty="0" smtClean="0">
              <a:latin typeface="Arial" panose="020B0604020202020204" pitchFamily="34" charset="0"/>
              <a:ea typeface="Times New Roman" panose="02020603050405020304" pitchFamily="18" charset="0"/>
              <a:cs typeface="Arial" panose="020B0604020202020204" pitchFamily="34" charset="0"/>
            </a:endParaRPr>
          </a:p>
          <a:p>
            <a:pPr marL="457200" indent="-457200">
              <a:buFont typeface="+mj-lt"/>
              <a:buAutoNum type="arabicPeriod"/>
            </a:pPr>
            <a:r>
              <a:rPr lang="en-US" dirty="0" smtClean="0">
                <a:solidFill>
                  <a:srgbClr val="0099FF"/>
                </a:solidFill>
                <a:latin typeface="Arial" panose="020B0604020202020204" pitchFamily="34" charset="0"/>
                <a:ea typeface="Times New Roman" panose="02020603050405020304" pitchFamily="18" charset="0"/>
                <a:cs typeface="Arial" panose="020B0604020202020204" pitchFamily="34" charset="0"/>
              </a:rPr>
              <a:t>Develop</a:t>
            </a:r>
            <a:r>
              <a:rPr lang="en-US" dirty="0" smtClean="0">
                <a:latin typeface="Arial" panose="020B0604020202020204" pitchFamily="34" charset="0"/>
                <a:ea typeface="Times New Roman" panose="02020603050405020304" pitchFamily="18" charset="0"/>
                <a:cs typeface="Arial" panose="020B0604020202020204" pitchFamily="34" charset="0"/>
              </a:rPr>
              <a:t> a problem tree for that deprivation using the why’s methodology</a:t>
            </a:r>
          </a:p>
          <a:p>
            <a:pPr marL="457200" indent="-457200">
              <a:buFont typeface="+mj-lt"/>
              <a:buAutoNum type="arabicPeriod"/>
            </a:pPr>
            <a:endParaRPr lang="en-US" dirty="0" smtClean="0">
              <a:latin typeface="Arial" panose="020B0604020202020204" pitchFamily="34" charset="0"/>
              <a:ea typeface="Times New Roman" panose="02020603050405020304" pitchFamily="18" charset="0"/>
              <a:cs typeface="Arial" panose="020B0604020202020204" pitchFamily="34" charset="0"/>
            </a:endParaRPr>
          </a:p>
        </p:txBody>
      </p:sp>
      <p:pic>
        <p:nvPicPr>
          <p:cNvPr id="4" name="Picture 2" descr="http://cdn2.hubspot.net/hub/390757/file-1027248010-png/images/people-connect-icon.png?t=1455723441285&amp;width=28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938" y="2050128"/>
            <a:ext cx="2705100" cy="2266951"/>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p:cNvGrpSpPr/>
          <p:nvPr/>
        </p:nvGrpSpPr>
        <p:grpSpPr>
          <a:xfrm>
            <a:off x="9586111" y="2208348"/>
            <a:ext cx="2605889" cy="2618919"/>
            <a:chOff x="9144893" y="3947636"/>
            <a:chExt cx="2605889" cy="2618919"/>
          </a:xfrm>
        </p:grpSpPr>
        <p:pic>
          <p:nvPicPr>
            <p:cNvPr id="6" name="Picture 6" descr="http://1.bp.blogspot.com/-ywKlrpnUnqo/Tc8Axuwu_mI/AAAAAAAAARY/V1EBr_BYHMs/s1600/Post-it_Yellow.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893" y="3947636"/>
              <a:ext cx="2605889" cy="2618919"/>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rot="21230164">
              <a:off x="9336795" y="4622269"/>
              <a:ext cx="2074607" cy="1323439"/>
            </a:xfrm>
            <a:prstGeom prst="rect">
              <a:avLst/>
            </a:prstGeom>
          </p:spPr>
          <p:txBody>
            <a:bodyPr wrap="none">
              <a:spAutoFit/>
            </a:bodyPr>
            <a:lstStyle/>
            <a:p>
              <a:pPr marL="0" lvl="1" algn="ctr"/>
              <a:r>
                <a:rPr lang="en-US" sz="2000" dirty="0" smtClean="0">
                  <a:latin typeface="Arial" panose="020B0604020202020204" pitchFamily="34" charset="0"/>
                  <a:cs typeface="Arial" panose="020B0604020202020204" pitchFamily="34" charset="0"/>
                </a:rPr>
                <a:t>Use</a:t>
              </a:r>
            </a:p>
            <a:p>
              <a:pPr marL="0" lvl="1" algn="ctr"/>
              <a:r>
                <a:rPr lang="en-US" sz="2000" dirty="0" smtClean="0">
                  <a:latin typeface="Arial" panose="020B0604020202020204" pitchFamily="34" charset="0"/>
                  <a:cs typeface="Arial" panose="020B0604020202020204" pitchFamily="34" charset="0"/>
                </a:rPr>
                <a:t>VIPP cards</a:t>
              </a:r>
            </a:p>
            <a:p>
              <a:pPr marL="0" lvl="1" algn="ctr"/>
              <a:r>
                <a:rPr lang="en-US" sz="2000" dirty="0" smtClean="0">
                  <a:latin typeface="Arial" panose="020B0604020202020204" pitchFamily="34" charset="0"/>
                  <a:cs typeface="Arial" panose="020B0604020202020204" pitchFamily="34" charset="0"/>
                </a:rPr>
                <a:t> to construct the </a:t>
              </a:r>
            </a:p>
            <a:p>
              <a:pPr marL="0" lvl="1" algn="ctr"/>
              <a:r>
                <a:rPr lang="en-US" sz="2000" dirty="0" smtClean="0">
                  <a:latin typeface="Arial" panose="020B0604020202020204" pitchFamily="34" charset="0"/>
                  <a:cs typeface="Arial" panose="020B0604020202020204" pitchFamily="34" charset="0"/>
                </a:rPr>
                <a:t>problem tree</a:t>
              </a:r>
              <a:endParaRPr lang="en-US" sz="20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0929787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277470" y="3227295"/>
            <a:ext cx="10914529" cy="770021"/>
          </a:xfrm>
        </p:spPr>
        <p:txBody>
          <a:bodyPr>
            <a:normAutofit/>
          </a:bodyPr>
          <a:lstStyle/>
          <a:p>
            <a:pPr algn="ctr"/>
            <a:r>
              <a:rPr lang="en-US" sz="3600" dirty="0" smtClean="0">
                <a:solidFill>
                  <a:srgbClr val="0099FF"/>
                </a:solidFill>
                <a:latin typeface="Arial" panose="020B0604020202020204" pitchFamily="34" charset="0"/>
                <a:cs typeface="Arial" panose="020B0604020202020204" pitchFamily="34" charset="0"/>
              </a:rPr>
              <a:t>Any Questions?</a:t>
            </a:r>
            <a:endParaRPr lang="en-US" sz="3600" dirty="0">
              <a:solidFill>
                <a:srgbClr val="0099FF"/>
              </a:solidFill>
              <a:latin typeface="Arial" panose="020B0604020202020204" pitchFamily="34" charset="0"/>
              <a:cs typeface="Arial" panose="020B0604020202020204" pitchFamily="34" charset="0"/>
            </a:endParaRPr>
          </a:p>
        </p:txBody>
      </p:sp>
      <p:pic>
        <p:nvPicPr>
          <p:cNvPr id="1026" name="Picture 2" descr="https://cdn2.iconfinder.com/data/icons/freecns-cumulus/16/519660-164_QuestionMark-512.png"/>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79762" y="2773404"/>
            <a:ext cx="1677801" cy="1677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353160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60884" y="2502568"/>
            <a:ext cx="8855242" cy="2839453"/>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860884" y="2502567"/>
            <a:ext cx="8855242" cy="2839453"/>
          </a:xfrm>
        </p:spPr>
        <p:txBody>
          <a:bodyPr vert="horz" lIns="91440" tIns="45720" rIns="91440" bIns="45720" rtlCol="0" anchor="ctr">
            <a:noAutofit/>
          </a:bodyPr>
          <a:lstStyle/>
          <a:p>
            <a:pPr algn="ctr"/>
            <a:r>
              <a:rPr lang="en-US" sz="4000" dirty="0" smtClean="0">
                <a:solidFill>
                  <a:srgbClr val="0099FF"/>
                </a:solidFill>
                <a:latin typeface="Arial" panose="020B0604020202020204" pitchFamily="34" charset="0"/>
                <a:cs typeface="Arial" panose="020B0604020202020204" pitchFamily="34" charset="0"/>
              </a:rPr>
              <a:t>APPLICATION OF LENSES</a:t>
            </a:r>
            <a:endParaRPr lang="en-US" sz="2800" dirty="0">
              <a:solidFill>
                <a:schemeClr val="bg1">
                  <a:lumMod val="50000"/>
                </a:schemeClr>
              </a:solidFill>
              <a:latin typeface="Arial" panose="020B0604020202020204" pitchFamily="34" charset="0"/>
              <a:cs typeface="Arial" panose="020B0604020202020204" pitchFamily="34" charset="0"/>
            </a:endParaRPr>
          </a:p>
        </p:txBody>
      </p:sp>
      <p:sp>
        <p:nvSpPr>
          <p:cNvPr id="6" name="Rectangle 5"/>
          <p:cNvSpPr/>
          <p:nvPr/>
        </p:nvSpPr>
        <p:spPr>
          <a:xfrm>
            <a:off x="1860884" y="1612232"/>
            <a:ext cx="8855242" cy="890336"/>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bg1">
                    <a:lumMod val="65000"/>
                  </a:schemeClr>
                </a:solidFill>
                <a:latin typeface="Arial" panose="020B0604020202020204" pitchFamily="34" charset="0"/>
                <a:cs typeface="Arial" panose="020B0604020202020204" pitchFamily="34" charset="0"/>
              </a:rPr>
              <a:t>SESSION 3</a:t>
            </a:r>
            <a:endParaRPr lang="en-US" sz="2800" dirty="0">
              <a:solidFill>
                <a:schemeClr val="bg1">
                  <a:lumMod val="6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41197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Causal analysis– “whys” and “lenses”</a:t>
            </a:r>
          </a:p>
        </p:txBody>
      </p:sp>
      <p:grpSp>
        <p:nvGrpSpPr>
          <p:cNvPr id="20" name="Group 19"/>
          <p:cNvGrpSpPr/>
          <p:nvPr/>
        </p:nvGrpSpPr>
        <p:grpSpPr>
          <a:xfrm>
            <a:off x="516357" y="1727422"/>
            <a:ext cx="3036655" cy="822960"/>
            <a:chOff x="516357" y="1727422"/>
            <a:chExt cx="3036655" cy="822960"/>
          </a:xfrm>
        </p:grpSpPr>
        <p:sp>
          <p:nvSpPr>
            <p:cNvPr id="7" name="Down Arrow 6"/>
            <p:cNvSpPr/>
            <p:nvPr/>
          </p:nvSpPr>
          <p:spPr>
            <a:xfrm>
              <a:off x="1531914" y="1727422"/>
              <a:ext cx="640080" cy="822960"/>
            </a:xfrm>
            <a:prstGeom prst="down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516357" y="2116143"/>
              <a:ext cx="981636" cy="369332"/>
            </a:xfrm>
            <a:prstGeom prst="rect">
              <a:avLst/>
            </a:prstGeom>
            <a:noFill/>
          </p:spPr>
          <p:txBody>
            <a:bodyPr wrap="square" rtlCol="0">
              <a:spAutoFit/>
            </a:bodyPr>
            <a:lstStyle/>
            <a:p>
              <a:pPr algn="ctr"/>
              <a:r>
                <a:rPr lang="en-US" dirty="0" smtClean="0">
                  <a:solidFill>
                    <a:srgbClr val="FF0000"/>
                  </a:solidFill>
                  <a:latin typeface="Arial" panose="020B0604020202020204" pitchFamily="34" charset="0"/>
                  <a:cs typeface="Arial" panose="020B0604020202020204" pitchFamily="34" charset="0"/>
                </a:rPr>
                <a:t>WHY?</a:t>
              </a:r>
              <a:endParaRPr lang="en-US" dirty="0">
                <a:solidFill>
                  <a:srgbClr val="FF0000"/>
                </a:solidFill>
                <a:latin typeface="Arial" panose="020B0604020202020204" pitchFamily="34" charset="0"/>
                <a:cs typeface="Arial" panose="020B0604020202020204" pitchFamily="34" charset="0"/>
              </a:endParaRPr>
            </a:p>
          </p:txBody>
        </p:sp>
        <p:sp>
          <p:nvSpPr>
            <p:cNvPr id="19" name="TextBox 18"/>
            <p:cNvSpPr txBox="1"/>
            <p:nvPr/>
          </p:nvSpPr>
          <p:spPr>
            <a:xfrm>
              <a:off x="2171993" y="2116143"/>
              <a:ext cx="1381019" cy="369332"/>
            </a:xfrm>
            <a:prstGeom prst="rect">
              <a:avLst/>
            </a:prstGeom>
            <a:noFill/>
          </p:spPr>
          <p:txBody>
            <a:bodyPr wrap="square" rtlCol="0">
              <a:spAutoFit/>
            </a:bodyPr>
            <a:lstStyle/>
            <a:p>
              <a:r>
                <a:rPr lang="en-US" dirty="0" smtClean="0">
                  <a:solidFill>
                    <a:srgbClr val="00B050"/>
                  </a:solidFill>
                  <a:latin typeface="Arial" panose="020B0604020202020204" pitchFamily="34" charset="0"/>
                  <a:cs typeface="Arial" panose="020B0604020202020204" pitchFamily="34" charset="0"/>
                </a:rPr>
                <a:t>BECAUSE</a:t>
              </a:r>
              <a:endParaRPr lang="en-US" dirty="0">
                <a:solidFill>
                  <a:srgbClr val="00B050"/>
                </a:solidFill>
                <a:latin typeface="Arial" panose="020B0604020202020204" pitchFamily="34" charset="0"/>
                <a:cs typeface="Arial" panose="020B0604020202020204" pitchFamily="34" charset="0"/>
              </a:endParaRPr>
            </a:p>
          </p:txBody>
        </p:sp>
      </p:grpSp>
      <p:grpSp>
        <p:nvGrpSpPr>
          <p:cNvPr id="21" name="Group 20"/>
          <p:cNvGrpSpPr/>
          <p:nvPr/>
        </p:nvGrpSpPr>
        <p:grpSpPr>
          <a:xfrm>
            <a:off x="516357" y="3230465"/>
            <a:ext cx="3036653" cy="822960"/>
            <a:chOff x="516357" y="3230465"/>
            <a:chExt cx="3036653" cy="822960"/>
          </a:xfrm>
        </p:grpSpPr>
        <p:sp>
          <p:nvSpPr>
            <p:cNvPr id="14" name="Down Arrow 13"/>
            <p:cNvSpPr/>
            <p:nvPr/>
          </p:nvSpPr>
          <p:spPr>
            <a:xfrm>
              <a:off x="1531914" y="3230465"/>
              <a:ext cx="640080" cy="822960"/>
            </a:xfrm>
            <a:prstGeom prst="down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516357" y="3581357"/>
              <a:ext cx="981636" cy="369332"/>
            </a:xfrm>
            <a:prstGeom prst="rect">
              <a:avLst/>
            </a:prstGeom>
            <a:noFill/>
          </p:spPr>
          <p:txBody>
            <a:bodyPr wrap="square" rtlCol="0">
              <a:spAutoFit/>
            </a:bodyPr>
            <a:lstStyle/>
            <a:p>
              <a:pPr algn="ctr"/>
              <a:r>
                <a:rPr lang="en-US" dirty="0" smtClean="0">
                  <a:solidFill>
                    <a:srgbClr val="FF0000"/>
                  </a:solidFill>
                  <a:latin typeface="Arial" panose="020B0604020202020204" pitchFamily="34" charset="0"/>
                  <a:cs typeface="Arial" panose="020B0604020202020204" pitchFamily="34" charset="0"/>
                </a:rPr>
                <a:t>WHY?</a:t>
              </a:r>
              <a:endParaRPr lang="en-US" dirty="0">
                <a:solidFill>
                  <a:srgbClr val="FF0000"/>
                </a:solidFill>
                <a:latin typeface="Arial" panose="020B0604020202020204" pitchFamily="34" charset="0"/>
                <a:cs typeface="Arial" panose="020B0604020202020204" pitchFamily="34" charset="0"/>
              </a:endParaRPr>
            </a:p>
          </p:txBody>
        </p:sp>
        <p:sp>
          <p:nvSpPr>
            <p:cNvPr id="22" name="TextBox 21"/>
            <p:cNvSpPr txBox="1"/>
            <p:nvPr/>
          </p:nvSpPr>
          <p:spPr>
            <a:xfrm>
              <a:off x="2171991" y="3577957"/>
              <a:ext cx="1381019" cy="369332"/>
            </a:xfrm>
            <a:prstGeom prst="rect">
              <a:avLst/>
            </a:prstGeom>
            <a:noFill/>
          </p:spPr>
          <p:txBody>
            <a:bodyPr wrap="square" rtlCol="0">
              <a:spAutoFit/>
            </a:bodyPr>
            <a:lstStyle/>
            <a:p>
              <a:r>
                <a:rPr lang="en-US" dirty="0" smtClean="0">
                  <a:solidFill>
                    <a:srgbClr val="00B050"/>
                  </a:solidFill>
                  <a:latin typeface="Arial" panose="020B0604020202020204" pitchFamily="34" charset="0"/>
                  <a:cs typeface="Arial" panose="020B0604020202020204" pitchFamily="34" charset="0"/>
                </a:rPr>
                <a:t>BECAUSE</a:t>
              </a:r>
              <a:endParaRPr lang="en-US" dirty="0">
                <a:solidFill>
                  <a:srgbClr val="00B050"/>
                </a:solidFill>
                <a:latin typeface="Arial" panose="020B0604020202020204" pitchFamily="34" charset="0"/>
                <a:cs typeface="Arial" panose="020B0604020202020204" pitchFamily="34" charset="0"/>
              </a:endParaRPr>
            </a:p>
          </p:txBody>
        </p:sp>
      </p:grpSp>
      <p:grpSp>
        <p:nvGrpSpPr>
          <p:cNvPr id="28" name="Group 27"/>
          <p:cNvGrpSpPr/>
          <p:nvPr/>
        </p:nvGrpSpPr>
        <p:grpSpPr>
          <a:xfrm>
            <a:off x="516357" y="4688642"/>
            <a:ext cx="3036654" cy="822960"/>
            <a:chOff x="516357" y="4688642"/>
            <a:chExt cx="3036654" cy="822960"/>
          </a:xfrm>
        </p:grpSpPr>
        <p:sp>
          <p:nvSpPr>
            <p:cNvPr id="15" name="Down Arrow 14"/>
            <p:cNvSpPr/>
            <p:nvPr/>
          </p:nvSpPr>
          <p:spPr>
            <a:xfrm>
              <a:off x="1531914" y="4688642"/>
              <a:ext cx="640080" cy="822960"/>
            </a:xfrm>
            <a:prstGeom prst="down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516357" y="5062295"/>
              <a:ext cx="981636" cy="369332"/>
            </a:xfrm>
            <a:prstGeom prst="rect">
              <a:avLst/>
            </a:prstGeom>
            <a:noFill/>
          </p:spPr>
          <p:txBody>
            <a:bodyPr wrap="square" rtlCol="0">
              <a:spAutoFit/>
            </a:bodyPr>
            <a:lstStyle/>
            <a:p>
              <a:pPr algn="ctr"/>
              <a:r>
                <a:rPr lang="en-US" dirty="0" smtClean="0">
                  <a:solidFill>
                    <a:srgbClr val="FF0000"/>
                  </a:solidFill>
                  <a:latin typeface="Arial" panose="020B0604020202020204" pitchFamily="34" charset="0"/>
                  <a:cs typeface="Arial" panose="020B0604020202020204" pitchFamily="34" charset="0"/>
                </a:rPr>
                <a:t>WHY?</a:t>
              </a:r>
              <a:endParaRPr lang="en-US" dirty="0">
                <a:solidFill>
                  <a:srgbClr val="FF0000"/>
                </a:solidFill>
                <a:latin typeface="Arial" panose="020B0604020202020204" pitchFamily="34" charset="0"/>
                <a:cs typeface="Arial" panose="020B0604020202020204" pitchFamily="34" charset="0"/>
              </a:endParaRPr>
            </a:p>
          </p:txBody>
        </p:sp>
        <p:sp>
          <p:nvSpPr>
            <p:cNvPr id="23" name="TextBox 22"/>
            <p:cNvSpPr txBox="1"/>
            <p:nvPr/>
          </p:nvSpPr>
          <p:spPr>
            <a:xfrm>
              <a:off x="2171992" y="5062295"/>
              <a:ext cx="1381019" cy="369332"/>
            </a:xfrm>
            <a:prstGeom prst="rect">
              <a:avLst/>
            </a:prstGeom>
            <a:noFill/>
          </p:spPr>
          <p:txBody>
            <a:bodyPr wrap="square" rtlCol="0">
              <a:spAutoFit/>
            </a:bodyPr>
            <a:lstStyle/>
            <a:p>
              <a:r>
                <a:rPr lang="en-US" dirty="0" smtClean="0">
                  <a:solidFill>
                    <a:srgbClr val="00B050"/>
                  </a:solidFill>
                  <a:latin typeface="Arial" panose="020B0604020202020204" pitchFamily="34" charset="0"/>
                  <a:cs typeface="Arial" panose="020B0604020202020204" pitchFamily="34" charset="0"/>
                </a:rPr>
                <a:t>BECAUSE</a:t>
              </a:r>
              <a:endParaRPr lang="en-US" dirty="0">
                <a:solidFill>
                  <a:srgbClr val="00B050"/>
                </a:solidFill>
                <a:latin typeface="Arial" panose="020B0604020202020204" pitchFamily="34" charset="0"/>
                <a:cs typeface="Arial" panose="020B0604020202020204" pitchFamily="34" charset="0"/>
              </a:endParaRPr>
            </a:p>
          </p:txBody>
        </p:sp>
      </p:grpSp>
      <p:grpSp>
        <p:nvGrpSpPr>
          <p:cNvPr id="3" name="Group 2"/>
          <p:cNvGrpSpPr/>
          <p:nvPr/>
        </p:nvGrpSpPr>
        <p:grpSpPr>
          <a:xfrm>
            <a:off x="285373" y="1129069"/>
            <a:ext cx="7446687" cy="867276"/>
            <a:chOff x="285373" y="1129069"/>
            <a:chExt cx="7446687" cy="867276"/>
          </a:xfrm>
        </p:grpSpPr>
        <p:sp>
          <p:nvSpPr>
            <p:cNvPr id="24" name="Rectangle 23"/>
            <p:cNvSpPr/>
            <p:nvPr/>
          </p:nvSpPr>
          <p:spPr>
            <a:xfrm>
              <a:off x="3560525" y="1129069"/>
              <a:ext cx="4171535" cy="8672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latin typeface="Arial" panose="020B0604020202020204" pitchFamily="34" charset="0"/>
                  <a:cs typeface="Arial" panose="020B0604020202020204" pitchFamily="34" charset="0"/>
                </a:rPr>
                <a:t>Negative outcome, a right not respected, protected or fulfilled</a:t>
              </a:r>
              <a:endParaRPr lang="en-US" dirty="0">
                <a:solidFill>
                  <a:schemeClr val="tx1"/>
                </a:solidFill>
                <a:latin typeface="Arial" panose="020B0604020202020204" pitchFamily="34" charset="0"/>
                <a:cs typeface="Arial" panose="020B0604020202020204" pitchFamily="34" charset="0"/>
              </a:endParaRPr>
            </a:p>
          </p:txBody>
        </p:sp>
        <p:sp>
          <p:nvSpPr>
            <p:cNvPr id="4" name="Rectangle 3"/>
            <p:cNvSpPr/>
            <p:nvPr/>
          </p:nvSpPr>
          <p:spPr>
            <a:xfrm>
              <a:off x="285373" y="1129069"/>
              <a:ext cx="3133165" cy="86727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KEY DEPRIVATION</a:t>
              </a:r>
              <a:endParaRPr lang="en-US" dirty="0"/>
            </a:p>
          </p:txBody>
        </p:sp>
      </p:grpSp>
      <p:grpSp>
        <p:nvGrpSpPr>
          <p:cNvPr id="6" name="Group 5"/>
          <p:cNvGrpSpPr/>
          <p:nvPr/>
        </p:nvGrpSpPr>
        <p:grpSpPr>
          <a:xfrm>
            <a:off x="285373" y="2609141"/>
            <a:ext cx="7429660" cy="872053"/>
            <a:chOff x="285373" y="2609141"/>
            <a:chExt cx="7429660" cy="872053"/>
          </a:xfrm>
        </p:grpSpPr>
        <p:sp>
          <p:nvSpPr>
            <p:cNvPr id="25" name="Rectangle 24"/>
            <p:cNvSpPr/>
            <p:nvPr/>
          </p:nvSpPr>
          <p:spPr>
            <a:xfrm>
              <a:off x="3543498" y="2613918"/>
              <a:ext cx="4171535" cy="8672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latin typeface="Arial" panose="020B0604020202020204" pitchFamily="34" charset="0"/>
                  <a:cs typeface="Arial" panose="020B0604020202020204" pitchFamily="34" charset="0"/>
                </a:rPr>
                <a:t>Near and direct cause, most obvious link</a:t>
              </a:r>
              <a:endParaRPr lang="en-US" dirty="0">
                <a:solidFill>
                  <a:schemeClr val="tx1"/>
                </a:solidFill>
                <a:latin typeface="Arial" panose="020B0604020202020204" pitchFamily="34" charset="0"/>
                <a:cs typeface="Arial" panose="020B0604020202020204" pitchFamily="34" charset="0"/>
              </a:endParaRPr>
            </a:p>
          </p:txBody>
        </p:sp>
        <p:sp>
          <p:nvSpPr>
            <p:cNvPr id="9" name="Rectangle 8"/>
            <p:cNvSpPr/>
            <p:nvPr/>
          </p:nvSpPr>
          <p:spPr>
            <a:xfrm>
              <a:off x="285373" y="2609141"/>
              <a:ext cx="3133165" cy="87205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IMMEDIATE CAUSES</a:t>
              </a:r>
              <a:endParaRPr lang="en-US" dirty="0"/>
            </a:p>
          </p:txBody>
        </p:sp>
      </p:grpSp>
      <p:grpSp>
        <p:nvGrpSpPr>
          <p:cNvPr id="16" name="Group 15"/>
          <p:cNvGrpSpPr/>
          <p:nvPr/>
        </p:nvGrpSpPr>
        <p:grpSpPr>
          <a:xfrm>
            <a:off x="285372" y="5569284"/>
            <a:ext cx="7429660" cy="876050"/>
            <a:chOff x="285372" y="5569284"/>
            <a:chExt cx="7429660" cy="876050"/>
          </a:xfrm>
        </p:grpSpPr>
        <p:sp>
          <p:nvSpPr>
            <p:cNvPr id="27" name="Rectangle 26"/>
            <p:cNvSpPr/>
            <p:nvPr/>
          </p:nvSpPr>
          <p:spPr>
            <a:xfrm>
              <a:off x="3543497" y="5569284"/>
              <a:ext cx="4171535" cy="8672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latin typeface="Arial" panose="020B0604020202020204" pitchFamily="34" charset="0"/>
                  <a:cs typeface="Arial" panose="020B0604020202020204" pitchFamily="34" charset="0"/>
                </a:rPr>
                <a:t>Social organization, policies, inequitable distribution of resources, governance, political issues, culture</a:t>
              </a:r>
              <a:endParaRPr lang="en-US" dirty="0">
                <a:solidFill>
                  <a:schemeClr val="tx1"/>
                </a:solidFill>
                <a:latin typeface="Arial" panose="020B0604020202020204" pitchFamily="34" charset="0"/>
                <a:cs typeface="Arial" panose="020B0604020202020204" pitchFamily="34" charset="0"/>
              </a:endParaRPr>
            </a:p>
          </p:txBody>
        </p:sp>
        <p:sp>
          <p:nvSpPr>
            <p:cNvPr id="10" name="Rectangle 9"/>
            <p:cNvSpPr/>
            <p:nvPr/>
          </p:nvSpPr>
          <p:spPr>
            <a:xfrm>
              <a:off x="285372" y="5571438"/>
              <a:ext cx="3133165" cy="873896"/>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STRUCTURAL CAUSES</a:t>
              </a:r>
              <a:endParaRPr lang="en-US" dirty="0"/>
            </a:p>
          </p:txBody>
        </p:sp>
      </p:grpSp>
      <p:grpSp>
        <p:nvGrpSpPr>
          <p:cNvPr id="13" name="Group 12"/>
          <p:cNvGrpSpPr/>
          <p:nvPr/>
        </p:nvGrpSpPr>
        <p:grpSpPr>
          <a:xfrm>
            <a:off x="285373" y="4060206"/>
            <a:ext cx="7446686" cy="891505"/>
            <a:chOff x="285373" y="4060206"/>
            <a:chExt cx="7446686" cy="891505"/>
          </a:xfrm>
        </p:grpSpPr>
        <p:sp>
          <p:nvSpPr>
            <p:cNvPr id="26" name="Rectangle 25"/>
            <p:cNvSpPr/>
            <p:nvPr/>
          </p:nvSpPr>
          <p:spPr>
            <a:xfrm>
              <a:off x="3560524" y="4084435"/>
              <a:ext cx="4171535" cy="8672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latin typeface="Arial" panose="020B0604020202020204" pitchFamily="34" charset="0"/>
                  <a:cs typeface="Arial" panose="020B0604020202020204" pitchFamily="34" charset="0"/>
                </a:rPr>
                <a:t>Shortfalls in social services, lack of access, harmful beliefs, practices</a:t>
              </a:r>
              <a:endParaRPr lang="en-US" dirty="0">
                <a:solidFill>
                  <a:schemeClr val="tx1"/>
                </a:solidFill>
                <a:latin typeface="Arial" panose="020B0604020202020204" pitchFamily="34" charset="0"/>
                <a:cs typeface="Arial" panose="020B0604020202020204" pitchFamily="34" charset="0"/>
              </a:endParaRPr>
            </a:p>
          </p:txBody>
        </p:sp>
        <p:sp>
          <p:nvSpPr>
            <p:cNvPr id="11" name="Rectangle 10"/>
            <p:cNvSpPr/>
            <p:nvPr/>
          </p:nvSpPr>
          <p:spPr>
            <a:xfrm>
              <a:off x="285373" y="4060206"/>
              <a:ext cx="3133165" cy="89150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UNDERLYING CAUSES</a:t>
              </a:r>
              <a:endParaRPr lang="en-US" dirty="0"/>
            </a:p>
          </p:txBody>
        </p:sp>
      </p:grpSp>
      <p:grpSp>
        <p:nvGrpSpPr>
          <p:cNvPr id="30" name="Group 29"/>
          <p:cNvGrpSpPr/>
          <p:nvPr/>
        </p:nvGrpSpPr>
        <p:grpSpPr>
          <a:xfrm>
            <a:off x="8809759" y="950038"/>
            <a:ext cx="3080918" cy="927407"/>
            <a:chOff x="8809759" y="1317591"/>
            <a:chExt cx="3080918" cy="927407"/>
          </a:xfrm>
        </p:grpSpPr>
        <p:sp>
          <p:nvSpPr>
            <p:cNvPr id="35" name="Rounded Rectangle 34"/>
            <p:cNvSpPr/>
            <p:nvPr/>
          </p:nvSpPr>
          <p:spPr>
            <a:xfrm>
              <a:off x="8809759" y="1398998"/>
              <a:ext cx="3080918" cy="846000"/>
            </a:xfrm>
            <a:prstGeom prst="round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http://content.www.goverb.com/wp-content/uploads/2015/05/icon_human-rights.png"/>
            <p:cNvPicPr>
              <a:picLocks noChangeAspect="1" noChangeArrowheads="1"/>
            </p:cNvPicPr>
            <p:nvPr/>
          </p:nvPicPr>
          <p:blipFill>
            <a:blip r:embed="rId3"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8819485" y="1317591"/>
              <a:ext cx="852954" cy="852954"/>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33"/>
            <p:cNvSpPr/>
            <p:nvPr/>
          </p:nvSpPr>
          <p:spPr>
            <a:xfrm>
              <a:off x="9836062" y="1637964"/>
              <a:ext cx="1709122" cy="400110"/>
            </a:xfrm>
            <a:prstGeom prst="rect">
              <a:avLst/>
            </a:prstGeom>
          </p:spPr>
          <p:txBody>
            <a:bodyPr wrap="none">
              <a:spAutoFit/>
            </a:bodyPr>
            <a:lstStyle/>
            <a:p>
              <a:r>
                <a:rPr lang="en-US" sz="2000" dirty="0">
                  <a:solidFill>
                    <a:schemeClr val="bg1">
                      <a:lumMod val="50000"/>
                    </a:schemeClr>
                  </a:solidFill>
                  <a:latin typeface="Arial" panose="020B0604020202020204" pitchFamily="34" charset="0"/>
                  <a:cs typeface="Arial" panose="020B0604020202020204" pitchFamily="34" charset="0"/>
                </a:rPr>
                <a:t>Human rights</a:t>
              </a:r>
            </a:p>
          </p:txBody>
        </p:sp>
      </p:grpSp>
      <p:grpSp>
        <p:nvGrpSpPr>
          <p:cNvPr id="31" name="Group 30"/>
          <p:cNvGrpSpPr/>
          <p:nvPr/>
        </p:nvGrpSpPr>
        <p:grpSpPr>
          <a:xfrm>
            <a:off x="8809759" y="1974414"/>
            <a:ext cx="3080918" cy="846000"/>
            <a:chOff x="8809759" y="2341967"/>
            <a:chExt cx="3080918" cy="846000"/>
          </a:xfrm>
        </p:grpSpPr>
        <p:pic>
          <p:nvPicPr>
            <p:cNvPr id="1030" name="Picture 6" descr="http://www.sustainablecitiesinstitute.org/Images/SCI/Icons/200by200/EquityEngagement.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43827" y="2419543"/>
              <a:ext cx="717450" cy="717450"/>
            </a:xfrm>
            <a:prstGeom prst="rect">
              <a:avLst/>
            </a:prstGeom>
            <a:noFill/>
            <a:extLst>
              <a:ext uri="{909E8E84-426E-40DD-AFC4-6F175D3DCCD1}">
                <a14:hiddenFill xmlns:a14="http://schemas.microsoft.com/office/drawing/2010/main">
                  <a:solidFill>
                    <a:srgbClr val="FFFFFF"/>
                  </a:solidFill>
                </a14:hiddenFill>
              </a:ext>
            </a:extLst>
          </p:spPr>
        </p:pic>
        <p:sp>
          <p:nvSpPr>
            <p:cNvPr id="43" name="Rounded Rectangle 42"/>
            <p:cNvSpPr/>
            <p:nvPr/>
          </p:nvSpPr>
          <p:spPr>
            <a:xfrm>
              <a:off x="8809759" y="2341967"/>
              <a:ext cx="3080918" cy="846000"/>
            </a:xfrm>
            <a:prstGeom prst="round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9851891" y="2564912"/>
              <a:ext cx="898003" cy="400110"/>
            </a:xfrm>
            <a:prstGeom prst="rect">
              <a:avLst/>
            </a:prstGeom>
          </p:spPr>
          <p:txBody>
            <a:bodyPr wrap="none">
              <a:spAutoFit/>
            </a:bodyPr>
            <a:lstStyle/>
            <a:p>
              <a:r>
                <a:rPr lang="en-US" sz="2000" dirty="0" smtClean="0">
                  <a:solidFill>
                    <a:schemeClr val="bg1">
                      <a:lumMod val="50000"/>
                    </a:schemeClr>
                  </a:solidFill>
                  <a:latin typeface="Arial" panose="020B0604020202020204" pitchFamily="34" charset="0"/>
                  <a:cs typeface="Arial" panose="020B0604020202020204" pitchFamily="34" charset="0"/>
                </a:rPr>
                <a:t>Equity</a:t>
              </a:r>
              <a:endParaRPr lang="en-US" sz="2000" dirty="0">
                <a:solidFill>
                  <a:schemeClr val="bg1">
                    <a:lumMod val="50000"/>
                  </a:schemeClr>
                </a:solidFill>
                <a:latin typeface="Arial" panose="020B0604020202020204" pitchFamily="34" charset="0"/>
                <a:cs typeface="Arial" panose="020B0604020202020204" pitchFamily="34" charset="0"/>
              </a:endParaRPr>
            </a:p>
          </p:txBody>
        </p:sp>
      </p:grpSp>
      <p:grpSp>
        <p:nvGrpSpPr>
          <p:cNvPr id="33" name="Group 32"/>
          <p:cNvGrpSpPr/>
          <p:nvPr/>
        </p:nvGrpSpPr>
        <p:grpSpPr>
          <a:xfrm>
            <a:off x="8809759" y="2917384"/>
            <a:ext cx="3080918" cy="846000"/>
            <a:chOff x="8809759" y="3284937"/>
            <a:chExt cx="3080918" cy="846000"/>
          </a:xfrm>
        </p:grpSpPr>
        <p:pic>
          <p:nvPicPr>
            <p:cNvPr id="1032" name="Picture 8" descr="http://static.tumblr.com/8f32443caf12a03ca78c17d9a265688b/gjgkcqp/AzMn5u6dw/tumblr_static_d1nl79t3o9c88oo8gw0ss0o04.jpg"/>
            <p:cNvPicPr>
              <a:picLocks noChangeAspect="1" noChangeArrowheads="1"/>
            </p:cNvPicPr>
            <p:nvPr/>
          </p:nvPicPr>
          <p:blipFill>
            <a:blip r:embed="rId5" cstate="print">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885848" y="3372889"/>
              <a:ext cx="919080" cy="735264"/>
            </a:xfrm>
            <a:prstGeom prst="rect">
              <a:avLst/>
            </a:prstGeom>
            <a:noFill/>
            <a:extLst>
              <a:ext uri="{909E8E84-426E-40DD-AFC4-6F175D3DCCD1}">
                <a14:hiddenFill xmlns:a14="http://schemas.microsoft.com/office/drawing/2010/main">
                  <a:solidFill>
                    <a:srgbClr val="FFFFFF"/>
                  </a:solidFill>
                </a14:hiddenFill>
              </a:ext>
            </a:extLst>
          </p:spPr>
        </p:pic>
        <p:sp>
          <p:nvSpPr>
            <p:cNvPr id="44" name="Rounded Rectangle 43"/>
            <p:cNvSpPr/>
            <p:nvPr/>
          </p:nvSpPr>
          <p:spPr>
            <a:xfrm>
              <a:off x="8809759" y="3284937"/>
              <a:ext cx="3080918" cy="846000"/>
            </a:xfrm>
            <a:prstGeom prst="round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9896353" y="3540466"/>
              <a:ext cx="1039067" cy="400110"/>
            </a:xfrm>
            <a:prstGeom prst="rect">
              <a:avLst/>
            </a:prstGeom>
          </p:spPr>
          <p:txBody>
            <a:bodyPr wrap="none">
              <a:spAutoFit/>
            </a:bodyPr>
            <a:lstStyle/>
            <a:p>
              <a:r>
                <a:rPr lang="en-US" sz="2000" dirty="0" smtClean="0">
                  <a:solidFill>
                    <a:schemeClr val="bg1">
                      <a:lumMod val="50000"/>
                    </a:schemeClr>
                  </a:solidFill>
                  <a:latin typeface="Arial" panose="020B0604020202020204" pitchFamily="34" charset="0"/>
                  <a:cs typeface="Arial" panose="020B0604020202020204" pitchFamily="34" charset="0"/>
                </a:rPr>
                <a:t>Gender</a:t>
              </a:r>
              <a:endParaRPr lang="en-US" sz="2000" dirty="0">
                <a:solidFill>
                  <a:schemeClr val="bg1">
                    <a:lumMod val="50000"/>
                  </a:schemeClr>
                </a:solidFill>
                <a:latin typeface="Arial" panose="020B0604020202020204" pitchFamily="34" charset="0"/>
                <a:cs typeface="Arial" panose="020B0604020202020204" pitchFamily="34" charset="0"/>
              </a:endParaRPr>
            </a:p>
          </p:txBody>
        </p:sp>
      </p:grpSp>
      <p:grpSp>
        <p:nvGrpSpPr>
          <p:cNvPr id="36" name="Group 35"/>
          <p:cNvGrpSpPr/>
          <p:nvPr/>
        </p:nvGrpSpPr>
        <p:grpSpPr>
          <a:xfrm>
            <a:off x="8809759" y="3860354"/>
            <a:ext cx="3080918" cy="846000"/>
            <a:chOff x="8809759" y="4227907"/>
            <a:chExt cx="3080918" cy="846000"/>
          </a:xfrm>
        </p:grpSpPr>
        <p:pic>
          <p:nvPicPr>
            <p:cNvPr id="1034" name="Picture 10" descr="http://www.dentonisd.org/cms/lib/TX21000245/Centricity/Domain/935/Icon_PAP_A2_10.png"/>
            <p:cNvPicPr>
              <a:picLocks noChangeAspect="1" noChangeArrowheads="1"/>
            </p:cNvPicPr>
            <p:nvPr/>
          </p:nvPicPr>
          <p:blipFill>
            <a:blip r:embed="rId6"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977618" y="4312139"/>
              <a:ext cx="677536" cy="677536"/>
            </a:xfrm>
            <a:prstGeom prst="rect">
              <a:avLst/>
            </a:prstGeom>
            <a:noFill/>
            <a:extLst>
              <a:ext uri="{909E8E84-426E-40DD-AFC4-6F175D3DCCD1}">
                <a14:hiddenFill xmlns:a14="http://schemas.microsoft.com/office/drawing/2010/main">
                  <a:solidFill>
                    <a:srgbClr val="FFFFFF"/>
                  </a:solidFill>
                </a14:hiddenFill>
              </a:ext>
            </a:extLst>
          </p:spPr>
        </p:pic>
        <p:sp>
          <p:nvSpPr>
            <p:cNvPr id="45" name="Rounded Rectangle 44"/>
            <p:cNvSpPr/>
            <p:nvPr/>
          </p:nvSpPr>
          <p:spPr>
            <a:xfrm>
              <a:off x="8809759" y="4227907"/>
              <a:ext cx="3080918" cy="846000"/>
            </a:xfrm>
            <a:prstGeom prst="round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9804928" y="4414516"/>
              <a:ext cx="1709122" cy="400110"/>
            </a:xfrm>
            <a:prstGeom prst="rect">
              <a:avLst/>
            </a:prstGeom>
          </p:spPr>
          <p:txBody>
            <a:bodyPr wrap="none">
              <a:spAutoFit/>
            </a:bodyPr>
            <a:lstStyle/>
            <a:p>
              <a:r>
                <a:rPr lang="en-US" sz="2000" dirty="0" smtClean="0">
                  <a:solidFill>
                    <a:schemeClr val="bg1">
                      <a:lumMod val="50000"/>
                    </a:schemeClr>
                  </a:solidFill>
                  <a:latin typeface="Arial" panose="020B0604020202020204" pitchFamily="34" charset="0"/>
                  <a:cs typeface="Arial" panose="020B0604020202020204" pitchFamily="34" charset="0"/>
                </a:rPr>
                <a:t>Determinants</a:t>
              </a:r>
              <a:endParaRPr lang="en-US" sz="2000" dirty="0">
                <a:solidFill>
                  <a:schemeClr val="bg1">
                    <a:lumMod val="50000"/>
                  </a:schemeClr>
                </a:solidFill>
                <a:latin typeface="Arial" panose="020B0604020202020204" pitchFamily="34" charset="0"/>
                <a:cs typeface="Arial" panose="020B0604020202020204" pitchFamily="34" charset="0"/>
              </a:endParaRPr>
            </a:p>
          </p:txBody>
        </p:sp>
      </p:grpSp>
      <p:grpSp>
        <p:nvGrpSpPr>
          <p:cNvPr id="37" name="Group 36"/>
          <p:cNvGrpSpPr/>
          <p:nvPr/>
        </p:nvGrpSpPr>
        <p:grpSpPr>
          <a:xfrm>
            <a:off x="8809759" y="4803323"/>
            <a:ext cx="3080918" cy="846000"/>
            <a:chOff x="8809759" y="5170876"/>
            <a:chExt cx="3080918" cy="846000"/>
          </a:xfrm>
        </p:grpSpPr>
        <p:pic>
          <p:nvPicPr>
            <p:cNvPr id="1036" name="Picture 12" descr="https://centurybizsolutions.net/wp-content/uploads/2015/10/credit-card-processing-risk.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917919" y="5212071"/>
              <a:ext cx="769267" cy="769267"/>
            </a:xfrm>
            <a:prstGeom prst="rect">
              <a:avLst/>
            </a:prstGeom>
            <a:noFill/>
            <a:extLst>
              <a:ext uri="{909E8E84-426E-40DD-AFC4-6F175D3DCCD1}">
                <a14:hiddenFill xmlns:a14="http://schemas.microsoft.com/office/drawing/2010/main">
                  <a:solidFill>
                    <a:srgbClr val="FFFFFF"/>
                  </a:solidFill>
                </a14:hiddenFill>
              </a:ext>
            </a:extLst>
          </p:spPr>
        </p:pic>
        <p:sp>
          <p:nvSpPr>
            <p:cNvPr id="46" name="Rounded Rectangle 45"/>
            <p:cNvSpPr/>
            <p:nvPr/>
          </p:nvSpPr>
          <p:spPr>
            <a:xfrm>
              <a:off x="8809759" y="5170876"/>
              <a:ext cx="3080918" cy="846000"/>
            </a:xfrm>
            <a:prstGeom prst="round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a:off x="9864114" y="5260516"/>
              <a:ext cx="1653017" cy="707886"/>
            </a:xfrm>
            <a:prstGeom prst="rect">
              <a:avLst/>
            </a:prstGeom>
          </p:spPr>
          <p:txBody>
            <a:bodyPr wrap="none">
              <a:spAutoFit/>
            </a:bodyPr>
            <a:lstStyle/>
            <a:p>
              <a:r>
                <a:rPr lang="en-US" sz="2000" dirty="0" smtClean="0">
                  <a:solidFill>
                    <a:schemeClr val="bg1">
                      <a:lumMod val="50000"/>
                    </a:schemeClr>
                  </a:solidFill>
                  <a:latin typeface="Arial" panose="020B0604020202020204" pitchFamily="34" charset="0"/>
                  <a:cs typeface="Arial" panose="020B0604020202020204" pitchFamily="34" charset="0"/>
                </a:rPr>
                <a:t>Risk / </a:t>
              </a:r>
            </a:p>
            <a:p>
              <a:r>
                <a:rPr lang="en-US" sz="2000" dirty="0" smtClean="0">
                  <a:solidFill>
                    <a:schemeClr val="bg1">
                      <a:lumMod val="50000"/>
                    </a:schemeClr>
                  </a:solidFill>
                  <a:latin typeface="Arial" panose="020B0604020202020204" pitchFamily="34" charset="0"/>
                  <a:cs typeface="Arial" panose="020B0604020202020204" pitchFamily="34" charset="0"/>
                </a:rPr>
                <a:t>emergencies</a:t>
              </a:r>
              <a:endParaRPr lang="en-US" sz="2000" dirty="0">
                <a:solidFill>
                  <a:schemeClr val="bg1">
                    <a:lumMod val="50000"/>
                  </a:schemeClr>
                </a:solidFill>
                <a:latin typeface="Arial" panose="020B0604020202020204" pitchFamily="34" charset="0"/>
                <a:cs typeface="Arial" panose="020B0604020202020204" pitchFamily="34" charset="0"/>
              </a:endParaRPr>
            </a:p>
          </p:txBody>
        </p:sp>
      </p:grpSp>
      <p:grpSp>
        <p:nvGrpSpPr>
          <p:cNvPr id="39" name="Group 38"/>
          <p:cNvGrpSpPr/>
          <p:nvPr/>
        </p:nvGrpSpPr>
        <p:grpSpPr>
          <a:xfrm>
            <a:off x="118203" y="952165"/>
            <a:ext cx="8573120" cy="5651835"/>
            <a:chOff x="118203" y="952165"/>
            <a:chExt cx="8573120" cy="5651835"/>
          </a:xfrm>
        </p:grpSpPr>
        <p:grpSp>
          <p:nvGrpSpPr>
            <p:cNvPr id="29" name="Group 28"/>
            <p:cNvGrpSpPr/>
            <p:nvPr/>
          </p:nvGrpSpPr>
          <p:grpSpPr>
            <a:xfrm>
              <a:off x="118203" y="952165"/>
              <a:ext cx="8537659" cy="5651835"/>
              <a:chOff x="118203" y="952165"/>
              <a:chExt cx="8537659" cy="5651835"/>
            </a:xfrm>
          </p:grpSpPr>
          <p:sp>
            <p:nvSpPr>
              <p:cNvPr id="32" name="Left Arrow 31"/>
              <p:cNvSpPr/>
              <p:nvPr/>
            </p:nvSpPr>
            <p:spPr>
              <a:xfrm>
                <a:off x="7962662" y="1017998"/>
                <a:ext cx="693200" cy="4669719"/>
              </a:xfrm>
              <a:prstGeom prst="leftArrow">
                <a:avLst>
                  <a:gd name="adj1" fmla="val 100000"/>
                  <a:gd name="adj2" fmla="val 500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118203" y="952165"/>
                <a:ext cx="7423982" cy="5651835"/>
              </a:xfrm>
              <a:prstGeom prst="rect">
                <a:avLst/>
              </a:prstGeom>
              <a:noFill/>
              <a:ln>
                <a:solidFill>
                  <a:srgbClr val="0099FF"/>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b="1" dirty="0">
                  <a:solidFill>
                    <a:srgbClr val="0099FF"/>
                  </a:solidFill>
                  <a:latin typeface="Arial" panose="020B0604020202020204" pitchFamily="34" charset="0"/>
                  <a:cs typeface="Arial" panose="020B0604020202020204" pitchFamily="34" charset="0"/>
                </a:endParaRPr>
              </a:p>
            </p:txBody>
          </p:sp>
        </p:grpSp>
        <p:sp>
          <p:nvSpPr>
            <p:cNvPr id="5" name="Rectangle 4"/>
            <p:cNvSpPr/>
            <p:nvPr/>
          </p:nvSpPr>
          <p:spPr>
            <a:xfrm rot="16200000">
              <a:off x="6832058" y="3278943"/>
              <a:ext cx="3120504" cy="598027"/>
            </a:xfrm>
            <a:prstGeom prst="rect">
              <a:avLst/>
            </a:prstGeom>
            <a:noFill/>
            <a:ln>
              <a:no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2800" dirty="0" smtClean="0">
                  <a:solidFill>
                    <a:schemeClr val="bg1"/>
                  </a:solidFill>
                  <a:latin typeface="Arial" panose="020B0604020202020204" pitchFamily="34" charset="0"/>
                  <a:cs typeface="Arial" panose="020B0604020202020204" pitchFamily="34" charset="0"/>
                </a:rPr>
                <a:t>LENSES</a:t>
              </a:r>
              <a:endParaRPr lang="en-US" sz="2800" dirty="0">
                <a:solidFill>
                  <a:schemeClr val="bg1"/>
                </a:solidFill>
                <a:latin typeface="Arial" panose="020B0604020202020204" pitchFamily="34" charset="0"/>
                <a:cs typeface="Arial" panose="020B0604020202020204" pitchFamily="34" charset="0"/>
              </a:endParaRPr>
            </a:p>
          </p:txBody>
        </p:sp>
      </p:grpSp>
      <p:grpSp>
        <p:nvGrpSpPr>
          <p:cNvPr id="40" name="Group 39"/>
          <p:cNvGrpSpPr/>
          <p:nvPr/>
        </p:nvGrpSpPr>
        <p:grpSpPr>
          <a:xfrm>
            <a:off x="8809760" y="5746292"/>
            <a:ext cx="3080918" cy="883639"/>
            <a:chOff x="8809760" y="5746292"/>
            <a:chExt cx="3080918" cy="883639"/>
          </a:xfrm>
        </p:grpSpPr>
        <p:sp>
          <p:nvSpPr>
            <p:cNvPr id="38" name="Rounded Rectangle 37"/>
            <p:cNvSpPr/>
            <p:nvPr/>
          </p:nvSpPr>
          <p:spPr>
            <a:xfrm>
              <a:off x="8809760" y="5746292"/>
              <a:ext cx="3080918" cy="883639"/>
            </a:xfrm>
            <a:prstGeom prst="roundRect">
              <a:avLst/>
            </a:prstGeom>
            <a:noFill/>
            <a:ln w="28575">
              <a:solidFill>
                <a:srgbClr val="FFC000"/>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smtClean="0">
                  <a:solidFill>
                    <a:srgbClr val="FF0000"/>
                  </a:solidFill>
                  <a:latin typeface="Arial" panose="020B0604020202020204" pitchFamily="34" charset="0"/>
                  <a:cs typeface="Arial" panose="020B0604020202020204" pitchFamily="34" charset="0"/>
                </a:rPr>
                <a:t>         DO WE HAVE</a:t>
              </a:r>
            </a:p>
            <a:p>
              <a:pPr algn="ctr"/>
              <a:r>
                <a:rPr lang="en-US" dirty="0" smtClean="0">
                  <a:solidFill>
                    <a:srgbClr val="FF0000"/>
                  </a:solidFill>
                  <a:latin typeface="Arial" panose="020B0604020202020204" pitchFamily="34" charset="0"/>
                  <a:cs typeface="Arial" panose="020B0604020202020204" pitchFamily="34" charset="0"/>
                </a:rPr>
                <a:t>      EVIDENCE?</a:t>
              </a:r>
              <a:endParaRPr lang="en-US" dirty="0">
                <a:solidFill>
                  <a:srgbClr val="FF0000"/>
                </a:solidFill>
                <a:latin typeface="Arial" panose="020B0604020202020204" pitchFamily="34" charset="0"/>
                <a:cs typeface="Arial" panose="020B0604020202020204" pitchFamily="34" charset="0"/>
              </a:endParaRPr>
            </a:p>
          </p:txBody>
        </p:sp>
        <p:pic>
          <p:nvPicPr>
            <p:cNvPr id="1026" name="Picture 2" descr="http://www.clker.com/cliparts/I/z/y/C/P/B/important-button-icon-md.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070827" y="5892316"/>
              <a:ext cx="572221" cy="65553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215332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Causal analysis– “whys” and “lenses”</a:t>
            </a:r>
          </a:p>
        </p:txBody>
      </p:sp>
      <p:grpSp>
        <p:nvGrpSpPr>
          <p:cNvPr id="30" name="Group 29"/>
          <p:cNvGrpSpPr/>
          <p:nvPr/>
        </p:nvGrpSpPr>
        <p:grpSpPr>
          <a:xfrm>
            <a:off x="1423312" y="1420684"/>
            <a:ext cx="3080918" cy="927407"/>
            <a:chOff x="8809759" y="1317591"/>
            <a:chExt cx="3080918" cy="927407"/>
          </a:xfrm>
        </p:grpSpPr>
        <p:sp>
          <p:nvSpPr>
            <p:cNvPr id="35" name="Rounded Rectangle 34"/>
            <p:cNvSpPr/>
            <p:nvPr/>
          </p:nvSpPr>
          <p:spPr>
            <a:xfrm>
              <a:off x="8809759" y="1398998"/>
              <a:ext cx="3080918" cy="846000"/>
            </a:xfrm>
            <a:prstGeom prst="round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http://content.www.goverb.com/wp-content/uploads/2015/05/icon_human-rights.png"/>
            <p:cNvPicPr>
              <a:picLocks noChangeAspect="1" noChangeArrowheads="1"/>
            </p:cNvPicPr>
            <p:nvPr/>
          </p:nvPicPr>
          <p:blipFill>
            <a:blip r:embed="rId3"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8819485" y="1317591"/>
              <a:ext cx="852954" cy="852954"/>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33"/>
            <p:cNvSpPr/>
            <p:nvPr/>
          </p:nvSpPr>
          <p:spPr>
            <a:xfrm>
              <a:off x="9836062" y="1637964"/>
              <a:ext cx="1709122" cy="400110"/>
            </a:xfrm>
            <a:prstGeom prst="rect">
              <a:avLst/>
            </a:prstGeom>
          </p:spPr>
          <p:txBody>
            <a:bodyPr wrap="none">
              <a:spAutoFit/>
            </a:bodyPr>
            <a:lstStyle/>
            <a:p>
              <a:r>
                <a:rPr lang="en-US" sz="2000" dirty="0">
                  <a:solidFill>
                    <a:schemeClr val="bg1">
                      <a:lumMod val="50000"/>
                    </a:schemeClr>
                  </a:solidFill>
                  <a:latin typeface="Arial" panose="020B0604020202020204" pitchFamily="34" charset="0"/>
                  <a:cs typeface="Arial" panose="020B0604020202020204" pitchFamily="34" charset="0"/>
                </a:rPr>
                <a:t>Human rights</a:t>
              </a:r>
            </a:p>
          </p:txBody>
        </p:sp>
      </p:grpSp>
      <p:grpSp>
        <p:nvGrpSpPr>
          <p:cNvPr id="31" name="Group 30"/>
          <p:cNvGrpSpPr/>
          <p:nvPr/>
        </p:nvGrpSpPr>
        <p:grpSpPr>
          <a:xfrm>
            <a:off x="1423312" y="2445060"/>
            <a:ext cx="3080918" cy="846000"/>
            <a:chOff x="8809759" y="2341967"/>
            <a:chExt cx="3080918" cy="846000"/>
          </a:xfrm>
        </p:grpSpPr>
        <p:pic>
          <p:nvPicPr>
            <p:cNvPr id="1030" name="Picture 6" descr="http://www.sustainablecitiesinstitute.org/Images/SCI/Icons/200by200/EquityEngagement.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43827" y="2419543"/>
              <a:ext cx="717450" cy="717450"/>
            </a:xfrm>
            <a:prstGeom prst="rect">
              <a:avLst/>
            </a:prstGeom>
            <a:noFill/>
            <a:extLst>
              <a:ext uri="{909E8E84-426E-40DD-AFC4-6F175D3DCCD1}">
                <a14:hiddenFill xmlns:a14="http://schemas.microsoft.com/office/drawing/2010/main">
                  <a:solidFill>
                    <a:srgbClr val="FFFFFF"/>
                  </a:solidFill>
                </a14:hiddenFill>
              </a:ext>
            </a:extLst>
          </p:spPr>
        </p:pic>
        <p:sp>
          <p:nvSpPr>
            <p:cNvPr id="43" name="Rounded Rectangle 42"/>
            <p:cNvSpPr/>
            <p:nvPr/>
          </p:nvSpPr>
          <p:spPr>
            <a:xfrm>
              <a:off x="8809759" y="2341967"/>
              <a:ext cx="3080918" cy="846000"/>
            </a:xfrm>
            <a:prstGeom prst="round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9851891" y="2564912"/>
              <a:ext cx="898003" cy="400110"/>
            </a:xfrm>
            <a:prstGeom prst="rect">
              <a:avLst/>
            </a:prstGeom>
          </p:spPr>
          <p:txBody>
            <a:bodyPr wrap="none">
              <a:spAutoFit/>
            </a:bodyPr>
            <a:lstStyle/>
            <a:p>
              <a:r>
                <a:rPr lang="en-US" sz="2000" dirty="0" smtClean="0">
                  <a:solidFill>
                    <a:schemeClr val="bg1">
                      <a:lumMod val="50000"/>
                    </a:schemeClr>
                  </a:solidFill>
                  <a:latin typeface="Arial" panose="020B0604020202020204" pitchFamily="34" charset="0"/>
                  <a:cs typeface="Arial" panose="020B0604020202020204" pitchFamily="34" charset="0"/>
                </a:rPr>
                <a:t>Equity</a:t>
              </a:r>
              <a:endParaRPr lang="en-US" sz="2000" dirty="0">
                <a:solidFill>
                  <a:schemeClr val="bg1">
                    <a:lumMod val="50000"/>
                  </a:schemeClr>
                </a:solidFill>
                <a:latin typeface="Arial" panose="020B0604020202020204" pitchFamily="34" charset="0"/>
                <a:cs typeface="Arial" panose="020B0604020202020204" pitchFamily="34" charset="0"/>
              </a:endParaRPr>
            </a:p>
          </p:txBody>
        </p:sp>
      </p:grpSp>
      <p:grpSp>
        <p:nvGrpSpPr>
          <p:cNvPr id="33" name="Group 32"/>
          <p:cNvGrpSpPr/>
          <p:nvPr/>
        </p:nvGrpSpPr>
        <p:grpSpPr>
          <a:xfrm>
            <a:off x="1423312" y="3388030"/>
            <a:ext cx="3080918" cy="846000"/>
            <a:chOff x="8809759" y="3284937"/>
            <a:chExt cx="3080918" cy="846000"/>
          </a:xfrm>
        </p:grpSpPr>
        <p:pic>
          <p:nvPicPr>
            <p:cNvPr id="1032" name="Picture 8" descr="http://static.tumblr.com/8f32443caf12a03ca78c17d9a265688b/gjgkcqp/AzMn5u6dw/tumblr_static_d1nl79t3o9c88oo8gw0ss0o04.jpg"/>
            <p:cNvPicPr>
              <a:picLocks noChangeAspect="1" noChangeArrowheads="1"/>
            </p:cNvPicPr>
            <p:nvPr/>
          </p:nvPicPr>
          <p:blipFill>
            <a:blip r:embed="rId5" cstate="print">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885848" y="3372889"/>
              <a:ext cx="919080" cy="735264"/>
            </a:xfrm>
            <a:prstGeom prst="rect">
              <a:avLst/>
            </a:prstGeom>
            <a:noFill/>
            <a:extLst>
              <a:ext uri="{909E8E84-426E-40DD-AFC4-6F175D3DCCD1}">
                <a14:hiddenFill xmlns:a14="http://schemas.microsoft.com/office/drawing/2010/main">
                  <a:solidFill>
                    <a:srgbClr val="FFFFFF"/>
                  </a:solidFill>
                </a14:hiddenFill>
              </a:ext>
            </a:extLst>
          </p:spPr>
        </p:pic>
        <p:sp>
          <p:nvSpPr>
            <p:cNvPr id="44" name="Rounded Rectangle 43"/>
            <p:cNvSpPr/>
            <p:nvPr/>
          </p:nvSpPr>
          <p:spPr>
            <a:xfrm>
              <a:off x="8809759" y="3284937"/>
              <a:ext cx="3080918" cy="846000"/>
            </a:xfrm>
            <a:prstGeom prst="round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9896353" y="3540466"/>
              <a:ext cx="1039067" cy="400110"/>
            </a:xfrm>
            <a:prstGeom prst="rect">
              <a:avLst/>
            </a:prstGeom>
          </p:spPr>
          <p:txBody>
            <a:bodyPr wrap="none">
              <a:spAutoFit/>
            </a:bodyPr>
            <a:lstStyle/>
            <a:p>
              <a:r>
                <a:rPr lang="en-US" sz="2000" dirty="0" smtClean="0">
                  <a:solidFill>
                    <a:schemeClr val="bg1">
                      <a:lumMod val="50000"/>
                    </a:schemeClr>
                  </a:solidFill>
                  <a:latin typeface="Arial" panose="020B0604020202020204" pitchFamily="34" charset="0"/>
                  <a:cs typeface="Arial" panose="020B0604020202020204" pitchFamily="34" charset="0"/>
                </a:rPr>
                <a:t>Gender</a:t>
              </a:r>
              <a:endParaRPr lang="en-US" sz="2000" dirty="0">
                <a:solidFill>
                  <a:schemeClr val="bg1">
                    <a:lumMod val="50000"/>
                  </a:schemeClr>
                </a:solidFill>
                <a:latin typeface="Arial" panose="020B0604020202020204" pitchFamily="34" charset="0"/>
                <a:cs typeface="Arial" panose="020B0604020202020204" pitchFamily="34" charset="0"/>
              </a:endParaRPr>
            </a:p>
          </p:txBody>
        </p:sp>
      </p:grpSp>
      <p:grpSp>
        <p:nvGrpSpPr>
          <p:cNvPr id="36" name="Group 35"/>
          <p:cNvGrpSpPr/>
          <p:nvPr/>
        </p:nvGrpSpPr>
        <p:grpSpPr>
          <a:xfrm>
            <a:off x="1423312" y="4331000"/>
            <a:ext cx="3080918" cy="846000"/>
            <a:chOff x="8809759" y="4227907"/>
            <a:chExt cx="3080918" cy="846000"/>
          </a:xfrm>
        </p:grpSpPr>
        <p:pic>
          <p:nvPicPr>
            <p:cNvPr id="1034" name="Picture 10" descr="http://www.dentonisd.org/cms/lib/TX21000245/Centricity/Domain/935/Icon_PAP_A2_10.png"/>
            <p:cNvPicPr>
              <a:picLocks noChangeAspect="1" noChangeArrowheads="1"/>
            </p:cNvPicPr>
            <p:nvPr/>
          </p:nvPicPr>
          <p:blipFill>
            <a:blip r:embed="rId6"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977618" y="4312139"/>
              <a:ext cx="677536" cy="677536"/>
            </a:xfrm>
            <a:prstGeom prst="rect">
              <a:avLst/>
            </a:prstGeom>
            <a:noFill/>
            <a:extLst>
              <a:ext uri="{909E8E84-426E-40DD-AFC4-6F175D3DCCD1}">
                <a14:hiddenFill xmlns:a14="http://schemas.microsoft.com/office/drawing/2010/main">
                  <a:solidFill>
                    <a:srgbClr val="FFFFFF"/>
                  </a:solidFill>
                </a14:hiddenFill>
              </a:ext>
            </a:extLst>
          </p:spPr>
        </p:pic>
        <p:sp>
          <p:nvSpPr>
            <p:cNvPr id="45" name="Rounded Rectangle 44"/>
            <p:cNvSpPr/>
            <p:nvPr/>
          </p:nvSpPr>
          <p:spPr>
            <a:xfrm>
              <a:off x="8809759" y="4227907"/>
              <a:ext cx="3080918" cy="846000"/>
            </a:xfrm>
            <a:prstGeom prst="round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9804928" y="4414516"/>
              <a:ext cx="1709122" cy="400110"/>
            </a:xfrm>
            <a:prstGeom prst="rect">
              <a:avLst/>
            </a:prstGeom>
          </p:spPr>
          <p:txBody>
            <a:bodyPr wrap="none">
              <a:spAutoFit/>
            </a:bodyPr>
            <a:lstStyle/>
            <a:p>
              <a:r>
                <a:rPr lang="en-US" sz="2000" dirty="0" smtClean="0">
                  <a:solidFill>
                    <a:schemeClr val="bg1">
                      <a:lumMod val="50000"/>
                    </a:schemeClr>
                  </a:solidFill>
                  <a:latin typeface="Arial" panose="020B0604020202020204" pitchFamily="34" charset="0"/>
                  <a:cs typeface="Arial" panose="020B0604020202020204" pitchFamily="34" charset="0"/>
                </a:rPr>
                <a:t>Determinants</a:t>
              </a:r>
              <a:endParaRPr lang="en-US" sz="2000" dirty="0">
                <a:solidFill>
                  <a:schemeClr val="bg1">
                    <a:lumMod val="50000"/>
                  </a:schemeClr>
                </a:solidFill>
                <a:latin typeface="Arial" panose="020B0604020202020204" pitchFamily="34" charset="0"/>
                <a:cs typeface="Arial" panose="020B0604020202020204" pitchFamily="34" charset="0"/>
              </a:endParaRPr>
            </a:p>
          </p:txBody>
        </p:sp>
      </p:grpSp>
      <p:grpSp>
        <p:nvGrpSpPr>
          <p:cNvPr id="37" name="Group 36"/>
          <p:cNvGrpSpPr/>
          <p:nvPr/>
        </p:nvGrpSpPr>
        <p:grpSpPr>
          <a:xfrm>
            <a:off x="1423312" y="5273969"/>
            <a:ext cx="3080918" cy="846000"/>
            <a:chOff x="8809759" y="5170876"/>
            <a:chExt cx="3080918" cy="846000"/>
          </a:xfrm>
        </p:grpSpPr>
        <p:pic>
          <p:nvPicPr>
            <p:cNvPr id="1036" name="Picture 12" descr="https://centurybizsolutions.net/wp-content/uploads/2015/10/credit-card-processing-risk.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917919" y="5212071"/>
              <a:ext cx="769267" cy="769267"/>
            </a:xfrm>
            <a:prstGeom prst="rect">
              <a:avLst/>
            </a:prstGeom>
            <a:noFill/>
            <a:extLst>
              <a:ext uri="{909E8E84-426E-40DD-AFC4-6F175D3DCCD1}">
                <a14:hiddenFill xmlns:a14="http://schemas.microsoft.com/office/drawing/2010/main">
                  <a:solidFill>
                    <a:srgbClr val="FFFFFF"/>
                  </a:solidFill>
                </a14:hiddenFill>
              </a:ext>
            </a:extLst>
          </p:spPr>
        </p:pic>
        <p:sp>
          <p:nvSpPr>
            <p:cNvPr id="46" name="Rounded Rectangle 45"/>
            <p:cNvSpPr/>
            <p:nvPr/>
          </p:nvSpPr>
          <p:spPr>
            <a:xfrm>
              <a:off x="8809759" y="5170876"/>
              <a:ext cx="3080918" cy="846000"/>
            </a:xfrm>
            <a:prstGeom prst="round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a:off x="9864114" y="5260516"/>
              <a:ext cx="1653017" cy="707886"/>
            </a:xfrm>
            <a:prstGeom prst="rect">
              <a:avLst/>
            </a:prstGeom>
          </p:spPr>
          <p:txBody>
            <a:bodyPr wrap="none">
              <a:spAutoFit/>
            </a:bodyPr>
            <a:lstStyle/>
            <a:p>
              <a:r>
                <a:rPr lang="en-US" sz="2000" dirty="0" smtClean="0">
                  <a:solidFill>
                    <a:schemeClr val="bg1">
                      <a:lumMod val="50000"/>
                    </a:schemeClr>
                  </a:solidFill>
                  <a:latin typeface="Arial" panose="020B0604020202020204" pitchFamily="34" charset="0"/>
                  <a:cs typeface="Arial" panose="020B0604020202020204" pitchFamily="34" charset="0"/>
                </a:rPr>
                <a:t>Risk / </a:t>
              </a:r>
            </a:p>
            <a:p>
              <a:r>
                <a:rPr lang="en-US" sz="2000" dirty="0" smtClean="0">
                  <a:solidFill>
                    <a:schemeClr val="bg1">
                      <a:lumMod val="50000"/>
                    </a:schemeClr>
                  </a:solidFill>
                  <a:latin typeface="Arial" panose="020B0604020202020204" pitchFamily="34" charset="0"/>
                  <a:cs typeface="Arial" panose="020B0604020202020204" pitchFamily="34" charset="0"/>
                </a:rPr>
                <a:t>emergencies</a:t>
              </a:r>
              <a:endParaRPr lang="en-US" sz="2000" dirty="0">
                <a:solidFill>
                  <a:schemeClr val="bg1">
                    <a:lumMod val="50000"/>
                  </a:schemeClr>
                </a:solidFill>
                <a:latin typeface="Arial" panose="020B0604020202020204" pitchFamily="34" charset="0"/>
                <a:cs typeface="Arial" panose="020B0604020202020204" pitchFamily="34" charset="0"/>
              </a:endParaRPr>
            </a:p>
          </p:txBody>
        </p:sp>
      </p:grpSp>
      <p:sp>
        <p:nvSpPr>
          <p:cNvPr id="41" name="Isosceles Triangle 40"/>
          <p:cNvSpPr/>
          <p:nvPr/>
        </p:nvSpPr>
        <p:spPr>
          <a:xfrm rot="5400000">
            <a:off x="4514244" y="3639282"/>
            <a:ext cx="739284" cy="381469"/>
          </a:xfrm>
          <a:prstGeom prst="triangl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p:cNvSpPr txBox="1"/>
          <p:nvPr/>
        </p:nvSpPr>
        <p:spPr>
          <a:xfrm>
            <a:off x="5509283" y="1629140"/>
            <a:ext cx="4719918" cy="646331"/>
          </a:xfrm>
          <a:prstGeom prst="rect">
            <a:avLst/>
          </a:prstGeom>
          <a:noFill/>
        </p:spPr>
        <p:txBody>
          <a:bodyPr wrap="square" rtlCol="0">
            <a:spAutoFit/>
          </a:bodyPr>
          <a:lstStyle/>
          <a:p>
            <a:r>
              <a:rPr lang="en-US" dirty="0" smtClean="0">
                <a:latin typeface="Arial" panose="020B0604020202020204" pitchFamily="34" charset="0"/>
                <a:cs typeface="Arial" panose="020B0604020202020204" pitchFamily="34" charset="0"/>
              </a:rPr>
              <a:t>Is the problem identified related to a deprivation of rights of children and women?</a:t>
            </a:r>
            <a:endParaRPr lang="en-US" dirty="0">
              <a:latin typeface="Arial" panose="020B0604020202020204" pitchFamily="34" charset="0"/>
              <a:cs typeface="Arial" panose="020B0604020202020204" pitchFamily="34" charset="0"/>
            </a:endParaRPr>
          </a:p>
        </p:txBody>
      </p:sp>
      <p:sp>
        <p:nvSpPr>
          <p:cNvPr id="57" name="TextBox 56"/>
          <p:cNvSpPr txBox="1"/>
          <p:nvPr/>
        </p:nvSpPr>
        <p:spPr>
          <a:xfrm>
            <a:off x="5509283" y="2555348"/>
            <a:ext cx="6454588" cy="646331"/>
          </a:xfrm>
          <a:prstGeom prst="rect">
            <a:avLst/>
          </a:prstGeom>
          <a:noFill/>
        </p:spPr>
        <p:txBody>
          <a:bodyPr wrap="square" rtlCol="0">
            <a:spAutoFit/>
          </a:bodyPr>
          <a:lstStyle/>
          <a:p>
            <a:r>
              <a:rPr lang="en-US" dirty="0" smtClean="0">
                <a:latin typeface="Arial" panose="020B0604020202020204" pitchFamily="34" charset="0"/>
                <a:cs typeface="Arial" panose="020B0604020202020204" pitchFamily="34" charset="0"/>
              </a:rPr>
              <a:t>Does it highlight inequalities based on: geography, sex, income levels and population groups, etc.</a:t>
            </a:r>
            <a:endParaRPr lang="en-US" dirty="0">
              <a:latin typeface="Arial" panose="020B0604020202020204" pitchFamily="34" charset="0"/>
              <a:cs typeface="Arial" panose="020B0604020202020204" pitchFamily="34" charset="0"/>
            </a:endParaRPr>
          </a:p>
        </p:txBody>
      </p:sp>
      <p:sp>
        <p:nvSpPr>
          <p:cNvPr id="58" name="TextBox 57"/>
          <p:cNvSpPr txBox="1"/>
          <p:nvPr/>
        </p:nvSpPr>
        <p:spPr>
          <a:xfrm>
            <a:off x="5509283" y="3611256"/>
            <a:ext cx="6454588" cy="369332"/>
          </a:xfrm>
          <a:prstGeom prst="rect">
            <a:avLst/>
          </a:prstGeom>
          <a:noFill/>
        </p:spPr>
        <p:txBody>
          <a:bodyPr wrap="square" rtlCol="0">
            <a:spAutoFit/>
          </a:bodyPr>
          <a:lstStyle/>
          <a:p>
            <a:r>
              <a:rPr lang="en-US" dirty="0" smtClean="0">
                <a:latin typeface="Arial" panose="020B0604020202020204" pitchFamily="34" charset="0"/>
                <a:cs typeface="Arial" panose="020B0604020202020204" pitchFamily="34" charset="0"/>
              </a:rPr>
              <a:t>Has a gender analysis been undertaken?</a:t>
            </a:r>
            <a:endParaRPr lang="en-US" dirty="0">
              <a:latin typeface="Arial" panose="020B0604020202020204" pitchFamily="34" charset="0"/>
              <a:cs typeface="Arial" panose="020B0604020202020204" pitchFamily="34" charset="0"/>
            </a:endParaRPr>
          </a:p>
        </p:txBody>
      </p:sp>
      <p:sp>
        <p:nvSpPr>
          <p:cNvPr id="59" name="TextBox 58"/>
          <p:cNvSpPr txBox="1"/>
          <p:nvPr/>
        </p:nvSpPr>
        <p:spPr>
          <a:xfrm>
            <a:off x="5493241" y="4430395"/>
            <a:ext cx="6454588" cy="646331"/>
          </a:xfrm>
          <a:prstGeom prst="rect">
            <a:avLst/>
          </a:prstGeom>
          <a:noFill/>
        </p:spPr>
        <p:txBody>
          <a:bodyPr wrap="square" rtlCol="0">
            <a:spAutoFit/>
          </a:bodyPr>
          <a:lstStyle/>
          <a:p>
            <a:r>
              <a:rPr lang="en-US" dirty="0" smtClean="0">
                <a:latin typeface="Arial" panose="020B0604020202020204" pitchFamily="34" charset="0"/>
                <a:cs typeface="Arial" panose="020B0604020202020204" pitchFamily="34" charset="0"/>
              </a:rPr>
              <a:t>Have bottlenecks been analyzed against the 10 determinants?</a:t>
            </a:r>
            <a:endParaRPr lang="en-US" dirty="0">
              <a:latin typeface="Arial" panose="020B0604020202020204" pitchFamily="34" charset="0"/>
              <a:cs typeface="Arial" panose="020B0604020202020204" pitchFamily="34" charset="0"/>
            </a:endParaRPr>
          </a:p>
        </p:txBody>
      </p:sp>
      <p:sp>
        <p:nvSpPr>
          <p:cNvPr id="60" name="TextBox 59"/>
          <p:cNvSpPr txBox="1"/>
          <p:nvPr/>
        </p:nvSpPr>
        <p:spPr>
          <a:xfrm>
            <a:off x="5509283" y="5512303"/>
            <a:ext cx="6454588" cy="369332"/>
          </a:xfrm>
          <a:prstGeom prst="rect">
            <a:avLst/>
          </a:prstGeom>
          <a:noFill/>
        </p:spPr>
        <p:txBody>
          <a:bodyPr wrap="square" rtlCol="0">
            <a:spAutoFit/>
          </a:bodyPr>
          <a:lstStyle/>
          <a:p>
            <a:r>
              <a:rPr lang="en-US" dirty="0" smtClean="0">
                <a:latin typeface="Arial" panose="020B0604020202020204" pitchFamily="34" charset="0"/>
                <a:cs typeface="Arial" panose="020B0604020202020204" pitchFamily="34" charset="0"/>
              </a:rPr>
              <a:t>Have risks and emergencies been considered?</a:t>
            </a:r>
            <a:endParaRPr lang="en-US" dirty="0">
              <a:latin typeface="Arial" panose="020B0604020202020204" pitchFamily="34" charset="0"/>
              <a:cs typeface="Arial" panose="020B0604020202020204" pitchFamily="34" charset="0"/>
            </a:endParaRPr>
          </a:p>
        </p:txBody>
      </p:sp>
      <p:sp>
        <p:nvSpPr>
          <p:cNvPr id="61" name="Isosceles Triangle 60"/>
          <p:cNvSpPr/>
          <p:nvPr/>
        </p:nvSpPr>
        <p:spPr>
          <a:xfrm rot="5400000">
            <a:off x="4514244" y="2703363"/>
            <a:ext cx="739284" cy="381469"/>
          </a:xfrm>
          <a:prstGeom prst="triangl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Isosceles Triangle 61"/>
          <p:cNvSpPr/>
          <p:nvPr/>
        </p:nvSpPr>
        <p:spPr>
          <a:xfrm rot="5400000">
            <a:off x="4514244" y="4575201"/>
            <a:ext cx="739284" cy="381469"/>
          </a:xfrm>
          <a:prstGeom prst="triangl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Isosceles Triangle 62"/>
          <p:cNvSpPr/>
          <p:nvPr/>
        </p:nvSpPr>
        <p:spPr>
          <a:xfrm rot="5400000">
            <a:off x="4514244" y="5511119"/>
            <a:ext cx="739284" cy="381469"/>
          </a:xfrm>
          <a:prstGeom prst="triangl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Isosceles Triangle 63"/>
          <p:cNvSpPr/>
          <p:nvPr/>
        </p:nvSpPr>
        <p:spPr>
          <a:xfrm rot="5400000">
            <a:off x="4514244" y="1767444"/>
            <a:ext cx="739284" cy="381469"/>
          </a:xfrm>
          <a:prstGeom prst="triangl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ounded Rectangle 37"/>
          <p:cNvSpPr/>
          <p:nvPr/>
        </p:nvSpPr>
        <p:spPr>
          <a:xfrm>
            <a:off x="5263542" y="1535178"/>
            <a:ext cx="6575532" cy="846000"/>
          </a:xfrm>
          <a:prstGeom prst="round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ounded Rectangle 52"/>
          <p:cNvSpPr/>
          <p:nvPr/>
        </p:nvSpPr>
        <p:spPr>
          <a:xfrm>
            <a:off x="5263542" y="2445060"/>
            <a:ext cx="6575532" cy="846000"/>
          </a:xfrm>
          <a:prstGeom prst="round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ounded Rectangle 53"/>
          <p:cNvSpPr/>
          <p:nvPr/>
        </p:nvSpPr>
        <p:spPr>
          <a:xfrm>
            <a:off x="5263542" y="3365993"/>
            <a:ext cx="6575532" cy="846000"/>
          </a:xfrm>
          <a:prstGeom prst="round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ounded Rectangle 54"/>
          <p:cNvSpPr/>
          <p:nvPr/>
        </p:nvSpPr>
        <p:spPr>
          <a:xfrm>
            <a:off x="5263542" y="4327241"/>
            <a:ext cx="6575532" cy="846000"/>
          </a:xfrm>
          <a:prstGeom prst="round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ounded Rectangle 55"/>
          <p:cNvSpPr/>
          <p:nvPr/>
        </p:nvSpPr>
        <p:spPr>
          <a:xfrm>
            <a:off x="5263542" y="5276743"/>
            <a:ext cx="6575532" cy="846000"/>
          </a:xfrm>
          <a:prstGeom prst="round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471601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Group Work</a:t>
            </a:r>
          </a:p>
        </p:txBody>
      </p:sp>
      <p:sp>
        <p:nvSpPr>
          <p:cNvPr id="11" name="Content Placeholder 4"/>
          <p:cNvSpPr txBox="1">
            <a:spLocks/>
          </p:cNvSpPr>
          <p:nvPr/>
        </p:nvSpPr>
        <p:spPr>
          <a:xfrm>
            <a:off x="2909713" y="1876240"/>
            <a:ext cx="6184090" cy="386565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smtClean="0">
              <a:solidFill>
                <a:srgbClr val="5A7AD6"/>
              </a:solidFill>
              <a:latin typeface="Arial" panose="020B0604020202020204" pitchFamily="34" charset="0"/>
              <a:ea typeface="Times New Roman" panose="02020603050405020304" pitchFamily="18" charset="0"/>
              <a:cs typeface="Arial" panose="020B0604020202020204" pitchFamily="34" charset="0"/>
            </a:endParaRPr>
          </a:p>
          <a:p>
            <a:pPr marL="457200" indent="-457200">
              <a:buFont typeface="+mj-lt"/>
              <a:buAutoNum type="arabicPeriod"/>
            </a:pPr>
            <a:r>
              <a:rPr lang="en-US" dirty="0" smtClean="0">
                <a:solidFill>
                  <a:srgbClr val="5A7AD6"/>
                </a:solidFill>
                <a:latin typeface="Arial" panose="020B0604020202020204" pitchFamily="34" charset="0"/>
                <a:ea typeface="Times New Roman" panose="02020603050405020304" pitchFamily="18" charset="0"/>
                <a:cs typeface="Arial" panose="020B0604020202020204" pitchFamily="34" charset="0"/>
              </a:rPr>
              <a:t>Apply the </a:t>
            </a:r>
            <a:r>
              <a:rPr lang="en-US" dirty="0" smtClean="0">
                <a:latin typeface="Arial" panose="020B0604020202020204" pitchFamily="34" charset="0"/>
                <a:ea typeface="Times New Roman" panose="02020603050405020304" pitchFamily="18" charset="0"/>
                <a:cs typeface="Arial" panose="020B0604020202020204" pitchFamily="34" charset="0"/>
              </a:rPr>
              <a:t>5 lenses </a:t>
            </a:r>
            <a:r>
              <a:rPr lang="en-US" dirty="0" smtClean="0">
                <a:solidFill>
                  <a:srgbClr val="5A7AD6"/>
                </a:solidFill>
                <a:latin typeface="Arial" panose="020B0604020202020204" pitchFamily="34" charset="0"/>
                <a:ea typeface="Times New Roman" panose="02020603050405020304" pitchFamily="18" charset="0"/>
                <a:cs typeface="Arial" panose="020B0604020202020204" pitchFamily="34" charset="0"/>
              </a:rPr>
              <a:t>to improve the problem identification and causal analysis</a:t>
            </a:r>
          </a:p>
          <a:p>
            <a:pPr marL="457200" indent="-457200">
              <a:buFont typeface="+mj-lt"/>
              <a:buAutoNum type="arabicPeriod"/>
            </a:pPr>
            <a:endParaRPr lang="en-US" dirty="0" smtClean="0">
              <a:solidFill>
                <a:srgbClr val="5A7AD6"/>
              </a:solidFill>
              <a:latin typeface="Arial" panose="020B0604020202020204" pitchFamily="34" charset="0"/>
              <a:ea typeface="Times New Roman" panose="02020603050405020304" pitchFamily="18" charset="0"/>
              <a:cs typeface="Arial" panose="020B0604020202020204" pitchFamily="34" charset="0"/>
            </a:endParaRPr>
          </a:p>
          <a:p>
            <a:pPr marL="457200" indent="-457200">
              <a:buFont typeface="+mj-lt"/>
              <a:buAutoNum type="arabicPeriod"/>
            </a:pPr>
            <a:r>
              <a:rPr lang="en-US" dirty="0" smtClean="0">
                <a:solidFill>
                  <a:srgbClr val="5A7AD6"/>
                </a:solidFill>
                <a:latin typeface="Arial" panose="020B0604020202020204" pitchFamily="34" charset="0"/>
                <a:ea typeface="Times New Roman" panose="02020603050405020304" pitchFamily="18" charset="0"/>
                <a:cs typeface="Arial" panose="020B0604020202020204" pitchFamily="34" charset="0"/>
              </a:rPr>
              <a:t>Identify </a:t>
            </a:r>
            <a:r>
              <a:rPr lang="en-US" dirty="0">
                <a:latin typeface="Arial" panose="020B0604020202020204" pitchFamily="34" charset="0"/>
                <a:ea typeface="Times New Roman" panose="02020603050405020304" pitchFamily="18" charset="0"/>
                <a:cs typeface="Arial" panose="020B0604020202020204" pitchFamily="34" charset="0"/>
              </a:rPr>
              <a:t>strengths </a:t>
            </a:r>
            <a:r>
              <a:rPr lang="en-US" dirty="0" smtClean="0">
                <a:latin typeface="Arial" panose="020B0604020202020204" pitchFamily="34" charset="0"/>
                <a:ea typeface="Times New Roman" panose="02020603050405020304" pitchFamily="18" charset="0"/>
                <a:cs typeface="Arial" panose="020B0604020202020204" pitchFamily="34" charset="0"/>
              </a:rPr>
              <a:t>&amp; </a:t>
            </a:r>
            <a:r>
              <a:rPr lang="en-US" dirty="0">
                <a:latin typeface="Arial" panose="020B0604020202020204" pitchFamily="34" charset="0"/>
                <a:ea typeface="Times New Roman" panose="02020603050405020304" pitchFamily="18" charset="0"/>
                <a:cs typeface="Arial" panose="020B0604020202020204" pitchFamily="34" charset="0"/>
              </a:rPr>
              <a:t>weaknesses in problem analysis in the strategy note</a:t>
            </a:r>
          </a:p>
          <a:p>
            <a:pPr marL="457200" indent="-457200">
              <a:buFont typeface="+mj-lt"/>
              <a:buAutoNum type="arabicPeriod"/>
            </a:pPr>
            <a:endParaRPr lang="en-US" dirty="0" smtClean="0">
              <a:solidFill>
                <a:srgbClr val="5A7AD6"/>
              </a:solidFill>
              <a:latin typeface="Arial" panose="020B0604020202020204" pitchFamily="34" charset="0"/>
              <a:ea typeface="Times New Roman" panose="02020603050405020304" pitchFamily="18" charset="0"/>
              <a:cs typeface="Arial" panose="020B0604020202020204" pitchFamily="34" charset="0"/>
            </a:endParaRPr>
          </a:p>
          <a:p>
            <a:pPr marL="0" indent="0">
              <a:buFont typeface="Arial" panose="020B0604020202020204" pitchFamily="34" charset="0"/>
              <a:buNone/>
            </a:pPr>
            <a:r>
              <a:rPr lang="en-US" sz="2400" i="1" dirty="0" smtClean="0">
                <a:solidFill>
                  <a:srgbClr val="5A7AD6"/>
                </a:solidFill>
                <a:latin typeface="Arial" panose="020B0604020202020204" pitchFamily="34" charset="0"/>
                <a:ea typeface="Times New Roman" panose="02020603050405020304" pitchFamily="18" charset="0"/>
                <a:cs typeface="Arial" panose="020B0604020202020204" pitchFamily="34" charset="0"/>
              </a:rPr>
              <a:t>  </a:t>
            </a:r>
          </a:p>
        </p:txBody>
      </p:sp>
      <p:pic>
        <p:nvPicPr>
          <p:cNvPr id="4" name="Picture 2" descr="http://cdn2.hubspot.net/hub/390757/file-1027248010-png/images/people-connect-icon.png?t=1455723441285&amp;width=28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938" y="2050128"/>
            <a:ext cx="2705100" cy="2266951"/>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p:cNvGrpSpPr/>
          <p:nvPr/>
        </p:nvGrpSpPr>
        <p:grpSpPr>
          <a:xfrm>
            <a:off x="9368128" y="4059281"/>
            <a:ext cx="2605889" cy="2618919"/>
            <a:chOff x="9144893" y="3947636"/>
            <a:chExt cx="2605889" cy="2618919"/>
          </a:xfrm>
        </p:grpSpPr>
        <p:pic>
          <p:nvPicPr>
            <p:cNvPr id="6" name="Picture 6" descr="http://1.bp.blogspot.com/-ywKlrpnUnqo/Tc8Axuwu_mI/AAAAAAAAARY/V1EBr_BYHMs/s1600/Post-it_Yellow.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893" y="3947636"/>
              <a:ext cx="2605889" cy="2618919"/>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rot="21230164">
              <a:off x="9336795" y="4622269"/>
              <a:ext cx="2074607" cy="1323439"/>
            </a:xfrm>
            <a:prstGeom prst="rect">
              <a:avLst/>
            </a:prstGeom>
          </p:spPr>
          <p:txBody>
            <a:bodyPr wrap="none">
              <a:spAutoFit/>
            </a:bodyPr>
            <a:lstStyle/>
            <a:p>
              <a:pPr marL="0" lvl="1" algn="ctr"/>
              <a:r>
                <a:rPr lang="en-US" sz="2000" dirty="0" smtClean="0">
                  <a:latin typeface="Arial" panose="020B0604020202020204" pitchFamily="34" charset="0"/>
                  <a:cs typeface="Arial" panose="020B0604020202020204" pitchFamily="34" charset="0"/>
                </a:rPr>
                <a:t>Use</a:t>
              </a:r>
            </a:p>
            <a:p>
              <a:pPr marL="0" lvl="1" algn="ctr"/>
              <a:r>
                <a:rPr lang="en-US" sz="2000" dirty="0" smtClean="0">
                  <a:latin typeface="Arial" panose="020B0604020202020204" pitchFamily="34" charset="0"/>
                  <a:cs typeface="Arial" panose="020B0604020202020204" pitchFamily="34" charset="0"/>
                </a:rPr>
                <a:t>VIPP cards</a:t>
              </a:r>
            </a:p>
            <a:p>
              <a:pPr marL="0" lvl="1" algn="ctr"/>
              <a:r>
                <a:rPr lang="en-US" sz="2000" dirty="0" smtClean="0">
                  <a:latin typeface="Arial" panose="020B0604020202020204" pitchFamily="34" charset="0"/>
                  <a:cs typeface="Arial" panose="020B0604020202020204" pitchFamily="34" charset="0"/>
                </a:rPr>
                <a:t> to construct the </a:t>
              </a:r>
            </a:p>
            <a:p>
              <a:pPr marL="0" lvl="1" algn="ctr"/>
              <a:r>
                <a:rPr lang="en-US" sz="2000" dirty="0" smtClean="0">
                  <a:latin typeface="Arial" panose="020B0604020202020204" pitchFamily="34" charset="0"/>
                  <a:cs typeface="Arial" panose="020B0604020202020204" pitchFamily="34" charset="0"/>
                </a:rPr>
                <a:t>problem tree</a:t>
              </a:r>
              <a:endParaRPr lang="en-US" sz="20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59975807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277470" y="3227295"/>
            <a:ext cx="10914529" cy="770021"/>
          </a:xfrm>
        </p:spPr>
        <p:txBody>
          <a:bodyPr>
            <a:normAutofit/>
          </a:bodyPr>
          <a:lstStyle/>
          <a:p>
            <a:pPr algn="ctr"/>
            <a:r>
              <a:rPr lang="en-US" sz="3600" dirty="0" smtClean="0">
                <a:solidFill>
                  <a:srgbClr val="0099FF"/>
                </a:solidFill>
                <a:latin typeface="Arial" panose="020B0604020202020204" pitchFamily="34" charset="0"/>
                <a:cs typeface="Arial" panose="020B0604020202020204" pitchFamily="34" charset="0"/>
              </a:rPr>
              <a:t>Any Questions?</a:t>
            </a:r>
            <a:endParaRPr lang="en-US" sz="3600" dirty="0">
              <a:solidFill>
                <a:srgbClr val="0099FF"/>
              </a:solidFill>
              <a:latin typeface="Arial" panose="020B0604020202020204" pitchFamily="34" charset="0"/>
              <a:cs typeface="Arial" panose="020B0604020202020204" pitchFamily="34" charset="0"/>
            </a:endParaRPr>
          </a:p>
        </p:txBody>
      </p:sp>
      <p:pic>
        <p:nvPicPr>
          <p:cNvPr id="1026" name="Picture 2" descr="https://cdn2.iconfinder.com/data/icons/freecns-cumulus/16/519660-164_QuestionMark-512.png"/>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79762" y="2773404"/>
            <a:ext cx="1677801" cy="1677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633813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60884" y="2502568"/>
            <a:ext cx="8855242" cy="2839453"/>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860884" y="2502567"/>
            <a:ext cx="8855242" cy="2839453"/>
          </a:xfrm>
        </p:spPr>
        <p:txBody>
          <a:bodyPr vert="horz" lIns="91440" tIns="45720" rIns="91440" bIns="45720" rtlCol="0" anchor="ctr">
            <a:noAutofit/>
          </a:bodyPr>
          <a:lstStyle/>
          <a:p>
            <a:pPr algn="ctr"/>
            <a:r>
              <a:rPr lang="en-US" sz="4000" dirty="0" smtClean="0">
                <a:solidFill>
                  <a:srgbClr val="0099FF"/>
                </a:solidFill>
                <a:latin typeface="Arial" panose="020B0604020202020204" pitchFamily="34" charset="0"/>
                <a:cs typeface="Arial" panose="020B0604020202020204" pitchFamily="34" charset="0"/>
              </a:rPr>
              <a:t>THEORY OF CHANGE:</a:t>
            </a:r>
            <a:br>
              <a:rPr lang="en-US" sz="4000" dirty="0" smtClean="0">
                <a:solidFill>
                  <a:srgbClr val="0099FF"/>
                </a:solidFill>
                <a:latin typeface="Arial" panose="020B0604020202020204" pitchFamily="34" charset="0"/>
                <a:cs typeface="Arial" panose="020B0604020202020204" pitchFamily="34" charset="0"/>
              </a:rPr>
            </a:br>
            <a:r>
              <a:rPr lang="en-US" sz="4000" dirty="0" smtClean="0">
                <a:solidFill>
                  <a:srgbClr val="0099FF"/>
                </a:solidFill>
                <a:latin typeface="Arial" panose="020B0604020202020204" pitchFamily="34" charset="0"/>
                <a:cs typeface="Arial" panose="020B0604020202020204" pitchFamily="34" charset="0"/>
              </a:rPr>
              <a:t/>
            </a:r>
            <a:br>
              <a:rPr lang="en-US" sz="4000" dirty="0" smtClean="0">
                <a:solidFill>
                  <a:srgbClr val="0099FF"/>
                </a:solidFill>
                <a:latin typeface="Arial" panose="020B0604020202020204" pitchFamily="34" charset="0"/>
                <a:cs typeface="Arial" panose="020B0604020202020204" pitchFamily="34" charset="0"/>
              </a:rPr>
            </a:br>
            <a:r>
              <a:rPr lang="en-US" sz="4000" dirty="0" smtClean="0">
                <a:solidFill>
                  <a:srgbClr val="0099FF"/>
                </a:solidFill>
                <a:latin typeface="Arial" panose="020B0604020202020204" pitchFamily="34" charset="0"/>
                <a:cs typeface="Arial" panose="020B0604020202020204" pitchFamily="34" charset="0"/>
              </a:rPr>
              <a:t>THE OUTCOME CHAIN</a:t>
            </a:r>
            <a:endParaRPr lang="en-US" sz="2800" dirty="0">
              <a:solidFill>
                <a:schemeClr val="bg1">
                  <a:lumMod val="50000"/>
                </a:schemeClr>
              </a:solidFill>
              <a:latin typeface="Arial" panose="020B0604020202020204" pitchFamily="34" charset="0"/>
              <a:cs typeface="Arial" panose="020B0604020202020204" pitchFamily="34" charset="0"/>
            </a:endParaRPr>
          </a:p>
        </p:txBody>
      </p:sp>
      <p:sp>
        <p:nvSpPr>
          <p:cNvPr id="6" name="Rectangle 5"/>
          <p:cNvSpPr/>
          <p:nvPr/>
        </p:nvSpPr>
        <p:spPr>
          <a:xfrm>
            <a:off x="1860884" y="1612232"/>
            <a:ext cx="8855242" cy="890336"/>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bg1">
                    <a:lumMod val="65000"/>
                  </a:schemeClr>
                </a:solidFill>
                <a:latin typeface="Arial" panose="020B0604020202020204" pitchFamily="34" charset="0"/>
                <a:cs typeface="Arial" panose="020B0604020202020204" pitchFamily="34" charset="0"/>
              </a:rPr>
              <a:t>SESSION 4</a:t>
            </a:r>
            <a:endParaRPr lang="en-US" sz="2800" dirty="0">
              <a:solidFill>
                <a:schemeClr val="bg1">
                  <a:lumMod val="6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342611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Session objectives</a:t>
            </a:r>
          </a:p>
        </p:txBody>
      </p:sp>
      <p:sp>
        <p:nvSpPr>
          <p:cNvPr id="3" name="Text Placeholder 2"/>
          <p:cNvSpPr txBox="1">
            <a:spLocks/>
          </p:cNvSpPr>
          <p:nvPr/>
        </p:nvSpPr>
        <p:spPr>
          <a:xfrm>
            <a:off x="871534" y="2374900"/>
            <a:ext cx="9970637" cy="3492500"/>
          </a:xfrm>
          <a:prstGeom prst="rect">
            <a:avLst/>
          </a:prstGeom>
        </p:spPr>
        <p:txBody>
          <a:bodyPr vert="horz"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200"/>
              </a:spcAft>
            </a:pPr>
            <a:r>
              <a:rPr lang="en-US" sz="2400" dirty="0" smtClean="0">
                <a:latin typeface="Arial" panose="020B0604020202020204" pitchFamily="34" charset="0"/>
                <a:cs typeface="Arial" panose="020B0604020202020204" pitchFamily="34" charset="0"/>
              </a:rPr>
              <a:t>Be able to move from a problem tree to an outcome chain</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23191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Theory of Change 1</a:t>
            </a:r>
          </a:p>
        </p:txBody>
      </p:sp>
      <p:sp>
        <p:nvSpPr>
          <p:cNvPr id="2" name="Oval 1"/>
          <p:cNvSpPr/>
          <p:nvPr/>
        </p:nvSpPr>
        <p:spPr>
          <a:xfrm>
            <a:off x="150934" y="3852444"/>
            <a:ext cx="1645920" cy="164592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en-US" sz="2000" dirty="0" smtClean="0">
                <a:solidFill>
                  <a:schemeClr val="tx1"/>
                </a:solidFill>
                <a:latin typeface="Arial" panose="020B0604020202020204" pitchFamily="34" charset="0"/>
                <a:cs typeface="Arial" panose="020B0604020202020204" pitchFamily="34" charset="0"/>
              </a:rPr>
              <a:t>By</a:t>
            </a:r>
            <a:endParaRPr lang="en-US" sz="2000" dirty="0">
              <a:solidFill>
                <a:schemeClr val="tx1"/>
              </a:solidFill>
              <a:latin typeface="Arial" panose="020B0604020202020204" pitchFamily="34" charset="0"/>
              <a:cs typeface="Arial" panose="020B0604020202020204" pitchFamily="34" charset="0"/>
            </a:endParaRPr>
          </a:p>
        </p:txBody>
      </p:sp>
      <p:sp>
        <p:nvSpPr>
          <p:cNvPr id="25" name="Oval 24"/>
          <p:cNvSpPr/>
          <p:nvPr/>
        </p:nvSpPr>
        <p:spPr>
          <a:xfrm>
            <a:off x="1944854" y="3852444"/>
            <a:ext cx="1645920" cy="164592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en-US" sz="2000" dirty="0" smtClean="0">
                <a:solidFill>
                  <a:schemeClr val="tx1"/>
                </a:solidFill>
                <a:latin typeface="Arial" panose="020B0604020202020204" pitchFamily="34" charset="0"/>
                <a:cs typeface="Arial" panose="020B0604020202020204" pitchFamily="34" charset="0"/>
              </a:rPr>
              <a:t>Three</a:t>
            </a:r>
            <a:endParaRPr lang="en-US" sz="2000" dirty="0">
              <a:solidFill>
                <a:schemeClr val="tx1"/>
              </a:solidFill>
              <a:latin typeface="Arial" panose="020B0604020202020204" pitchFamily="34" charset="0"/>
              <a:cs typeface="Arial" panose="020B0604020202020204" pitchFamily="34" charset="0"/>
            </a:endParaRPr>
          </a:p>
        </p:txBody>
      </p:sp>
      <p:sp>
        <p:nvSpPr>
          <p:cNvPr id="26" name="Oval 25"/>
          <p:cNvSpPr/>
          <p:nvPr/>
        </p:nvSpPr>
        <p:spPr>
          <a:xfrm>
            <a:off x="3804647" y="3852444"/>
            <a:ext cx="1645920" cy="164592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en-US" sz="2000" dirty="0" smtClean="0">
                <a:solidFill>
                  <a:schemeClr val="tx1"/>
                </a:solidFill>
                <a:latin typeface="Arial" panose="020B0604020202020204" pitchFamily="34" charset="0"/>
                <a:cs typeface="Arial" panose="020B0604020202020204" pitchFamily="34" charset="0"/>
              </a:rPr>
              <a:t>Conditions</a:t>
            </a:r>
            <a:endParaRPr lang="en-US" sz="2000" dirty="0">
              <a:solidFill>
                <a:schemeClr val="tx1"/>
              </a:solidFill>
              <a:latin typeface="Arial" panose="020B0604020202020204" pitchFamily="34" charset="0"/>
              <a:cs typeface="Arial" panose="020B0604020202020204" pitchFamily="34" charset="0"/>
            </a:endParaRPr>
          </a:p>
        </p:txBody>
      </p:sp>
      <p:sp>
        <p:nvSpPr>
          <p:cNvPr id="3" name="Rounded Rectangle 2"/>
          <p:cNvSpPr/>
          <p:nvPr/>
        </p:nvSpPr>
        <p:spPr>
          <a:xfrm>
            <a:off x="968188" y="1331259"/>
            <a:ext cx="3482788" cy="1425388"/>
          </a:xfrm>
          <a:prstGeom prst="roundRect">
            <a:avLst/>
          </a:prstGeom>
          <a:solidFill>
            <a:schemeClr val="bg1">
              <a:lumMod val="95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rgbClr val="FF0000"/>
                </a:solidFill>
                <a:latin typeface="Arial" panose="020B0604020202020204" pitchFamily="34" charset="0"/>
                <a:cs typeface="Arial" panose="020B0604020202020204" pitchFamily="34" charset="0"/>
              </a:rPr>
              <a:t>If a problem is caused</a:t>
            </a:r>
            <a:endParaRPr lang="en-US" sz="2800" dirty="0">
              <a:solidFill>
                <a:srgbClr val="FF0000"/>
              </a:solidFill>
              <a:latin typeface="Arial" panose="020B0604020202020204" pitchFamily="34" charset="0"/>
              <a:cs typeface="Arial" panose="020B0604020202020204" pitchFamily="34" charset="0"/>
            </a:endParaRPr>
          </a:p>
        </p:txBody>
      </p:sp>
      <p:sp>
        <p:nvSpPr>
          <p:cNvPr id="27" name="Oval 26"/>
          <p:cNvSpPr/>
          <p:nvPr/>
        </p:nvSpPr>
        <p:spPr>
          <a:xfrm>
            <a:off x="6556217" y="3852444"/>
            <a:ext cx="1645920" cy="1645920"/>
          </a:xfrm>
          <a:prstGeom prst="ellipse">
            <a:avLst/>
          </a:prstGeom>
          <a:solidFill>
            <a:schemeClr val="bg1">
              <a:lumMod val="9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en-US" sz="2000" dirty="0" smtClean="0">
                <a:solidFill>
                  <a:schemeClr val="tx1"/>
                </a:solidFill>
                <a:latin typeface="Arial" panose="020B0604020202020204" pitchFamily="34" charset="0"/>
                <a:cs typeface="Arial" panose="020B0604020202020204" pitchFamily="34" charset="0"/>
              </a:rPr>
              <a:t>Must</a:t>
            </a:r>
            <a:endParaRPr lang="en-US" sz="2000" dirty="0">
              <a:solidFill>
                <a:schemeClr val="tx1"/>
              </a:solidFill>
              <a:latin typeface="Arial" panose="020B0604020202020204" pitchFamily="34" charset="0"/>
              <a:cs typeface="Arial" panose="020B0604020202020204" pitchFamily="34" charset="0"/>
            </a:endParaRPr>
          </a:p>
        </p:txBody>
      </p:sp>
      <p:sp>
        <p:nvSpPr>
          <p:cNvPr id="28" name="Oval 27"/>
          <p:cNvSpPr/>
          <p:nvPr/>
        </p:nvSpPr>
        <p:spPr>
          <a:xfrm>
            <a:off x="8350137" y="3852444"/>
            <a:ext cx="1645920" cy="1645920"/>
          </a:xfrm>
          <a:prstGeom prst="ellipse">
            <a:avLst/>
          </a:prstGeom>
          <a:solidFill>
            <a:schemeClr val="bg1">
              <a:lumMod val="95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en-US" sz="2000" dirty="0" smtClean="0">
                <a:solidFill>
                  <a:schemeClr val="tx1"/>
                </a:solidFill>
                <a:latin typeface="Arial" panose="020B0604020202020204" pitchFamily="34" charset="0"/>
                <a:cs typeface="Arial" panose="020B0604020202020204" pitchFamily="34" charset="0"/>
              </a:rPr>
              <a:t>Be</a:t>
            </a:r>
            <a:endParaRPr lang="en-US" sz="2000" dirty="0">
              <a:solidFill>
                <a:schemeClr val="tx1"/>
              </a:solidFill>
              <a:latin typeface="Arial" panose="020B0604020202020204" pitchFamily="34" charset="0"/>
              <a:cs typeface="Arial" panose="020B0604020202020204" pitchFamily="34" charset="0"/>
            </a:endParaRPr>
          </a:p>
        </p:txBody>
      </p:sp>
      <p:sp>
        <p:nvSpPr>
          <p:cNvPr id="29" name="Oval 28"/>
          <p:cNvSpPr/>
          <p:nvPr/>
        </p:nvSpPr>
        <p:spPr>
          <a:xfrm>
            <a:off x="10209930" y="3852444"/>
            <a:ext cx="1645920" cy="1645920"/>
          </a:xfrm>
          <a:prstGeom prst="ellipse">
            <a:avLst/>
          </a:prstGeom>
          <a:solidFill>
            <a:schemeClr val="bg1">
              <a:lumMod val="95000"/>
            </a:scheme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lang="en-US" sz="2000" dirty="0" smtClean="0">
                <a:solidFill>
                  <a:schemeClr val="tx1"/>
                </a:solidFill>
                <a:latin typeface="Arial" panose="020B0604020202020204" pitchFamily="34" charset="0"/>
                <a:cs typeface="Arial" panose="020B0604020202020204" pitchFamily="34" charset="0"/>
              </a:rPr>
              <a:t>Addressed</a:t>
            </a:r>
            <a:endParaRPr lang="en-US" sz="2000" dirty="0">
              <a:solidFill>
                <a:schemeClr val="tx1"/>
              </a:solidFill>
              <a:latin typeface="Arial" panose="020B0604020202020204" pitchFamily="34" charset="0"/>
              <a:cs typeface="Arial" panose="020B0604020202020204" pitchFamily="34" charset="0"/>
            </a:endParaRPr>
          </a:p>
        </p:txBody>
      </p:sp>
      <p:sp>
        <p:nvSpPr>
          <p:cNvPr id="33" name="Rounded Rectangle 32"/>
          <p:cNvSpPr/>
          <p:nvPr/>
        </p:nvSpPr>
        <p:spPr>
          <a:xfrm>
            <a:off x="7373471" y="1331259"/>
            <a:ext cx="3482788" cy="1425388"/>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bg1"/>
                </a:solidFill>
                <a:latin typeface="Arial" panose="020B0604020202020204" pitchFamily="34" charset="0"/>
                <a:cs typeface="Arial" panose="020B0604020202020204" pitchFamily="34" charset="0"/>
              </a:rPr>
              <a:t>All three conditions</a:t>
            </a:r>
            <a:endParaRPr lang="en-US" sz="2800" dirty="0">
              <a:solidFill>
                <a:schemeClr val="bg1"/>
              </a:solidFill>
              <a:latin typeface="Arial" panose="020B0604020202020204" pitchFamily="34" charset="0"/>
              <a:cs typeface="Arial" panose="020B0604020202020204" pitchFamily="34" charset="0"/>
            </a:endParaRPr>
          </a:p>
        </p:txBody>
      </p:sp>
      <p:sp>
        <p:nvSpPr>
          <p:cNvPr id="34" name="Down Arrow 33"/>
          <p:cNvSpPr/>
          <p:nvPr/>
        </p:nvSpPr>
        <p:spPr>
          <a:xfrm rot="10800000">
            <a:off x="2471191" y="3116865"/>
            <a:ext cx="640080" cy="583492"/>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own Arrow 34"/>
          <p:cNvSpPr/>
          <p:nvPr/>
        </p:nvSpPr>
        <p:spPr>
          <a:xfrm rot="12775990">
            <a:off x="1227994" y="3116865"/>
            <a:ext cx="640080" cy="583492"/>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Down Arrow 35"/>
          <p:cNvSpPr/>
          <p:nvPr/>
        </p:nvSpPr>
        <p:spPr>
          <a:xfrm rot="8767477">
            <a:off x="3702606" y="3150191"/>
            <a:ext cx="640080" cy="583492"/>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Down Arrow 37"/>
          <p:cNvSpPr/>
          <p:nvPr/>
        </p:nvSpPr>
        <p:spPr>
          <a:xfrm rot="10800000">
            <a:off x="8872932" y="3081789"/>
            <a:ext cx="640080" cy="583492"/>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Down Arrow 38"/>
          <p:cNvSpPr/>
          <p:nvPr/>
        </p:nvSpPr>
        <p:spPr>
          <a:xfrm rot="12775990">
            <a:off x="7629735" y="3081789"/>
            <a:ext cx="640080" cy="583492"/>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Down Arrow 39"/>
          <p:cNvSpPr/>
          <p:nvPr/>
        </p:nvSpPr>
        <p:spPr>
          <a:xfrm rot="8767477">
            <a:off x="10104347" y="3115115"/>
            <a:ext cx="640080" cy="583492"/>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p:cNvSpPr/>
          <p:nvPr/>
        </p:nvSpPr>
        <p:spPr>
          <a:xfrm rot="5400000">
            <a:off x="4665289" y="2832368"/>
            <a:ext cx="2642948" cy="377919"/>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7090732" y="3700358"/>
            <a:ext cx="540003" cy="489049"/>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1440" tIns="0" rIns="0" bIns="91440" rtlCol="0" anchor="ctr"/>
          <a:lstStyle/>
          <a:p>
            <a:pPr algn="ctr"/>
            <a:r>
              <a:rPr lang="en-US" sz="4000" dirty="0" smtClean="0">
                <a:solidFill>
                  <a:schemeClr val="bg1"/>
                </a:solidFill>
                <a:latin typeface="Webdings" panose="05030102010509060703" pitchFamily="18" charset="2"/>
              </a:rPr>
              <a:t>a</a:t>
            </a:r>
            <a:endParaRPr lang="en-US" dirty="0">
              <a:solidFill>
                <a:schemeClr val="bg1"/>
              </a:solidFill>
              <a:latin typeface="Webdings" panose="05030102010509060703" pitchFamily="18" charset="2"/>
            </a:endParaRPr>
          </a:p>
        </p:txBody>
      </p:sp>
      <p:sp>
        <p:nvSpPr>
          <p:cNvPr id="41" name="Oval 40"/>
          <p:cNvSpPr/>
          <p:nvPr/>
        </p:nvSpPr>
        <p:spPr>
          <a:xfrm>
            <a:off x="8895359" y="3745899"/>
            <a:ext cx="540003" cy="489049"/>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1440" tIns="0" rIns="0" bIns="91440" rtlCol="0" anchor="ctr"/>
          <a:lstStyle/>
          <a:p>
            <a:pPr algn="ctr"/>
            <a:r>
              <a:rPr lang="en-US" sz="4000" dirty="0" smtClean="0">
                <a:solidFill>
                  <a:schemeClr val="bg1"/>
                </a:solidFill>
                <a:latin typeface="Webdings" panose="05030102010509060703" pitchFamily="18" charset="2"/>
              </a:rPr>
              <a:t>a</a:t>
            </a:r>
            <a:endParaRPr lang="en-US" dirty="0">
              <a:solidFill>
                <a:schemeClr val="bg1"/>
              </a:solidFill>
              <a:latin typeface="Webdings" panose="05030102010509060703" pitchFamily="18" charset="2"/>
            </a:endParaRPr>
          </a:p>
        </p:txBody>
      </p:sp>
      <p:sp>
        <p:nvSpPr>
          <p:cNvPr id="42" name="Oval 41"/>
          <p:cNvSpPr/>
          <p:nvPr/>
        </p:nvSpPr>
        <p:spPr>
          <a:xfrm>
            <a:off x="10699986" y="3745898"/>
            <a:ext cx="540003" cy="489049"/>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1440" tIns="0" rIns="0" bIns="91440" rtlCol="0" anchor="ctr"/>
          <a:lstStyle/>
          <a:p>
            <a:pPr algn="ctr"/>
            <a:r>
              <a:rPr lang="en-US" sz="4000" dirty="0" smtClean="0">
                <a:solidFill>
                  <a:schemeClr val="bg1"/>
                </a:solidFill>
                <a:latin typeface="Webdings" panose="05030102010509060703" pitchFamily="18" charset="2"/>
              </a:rPr>
              <a:t>a</a:t>
            </a:r>
            <a:endParaRPr lang="en-US" dirty="0">
              <a:solidFill>
                <a:schemeClr val="bg1"/>
              </a:solidFill>
              <a:latin typeface="Webdings" panose="05030102010509060703" pitchFamily="18" charset="2"/>
            </a:endParaRPr>
          </a:p>
        </p:txBody>
      </p:sp>
      <p:sp>
        <p:nvSpPr>
          <p:cNvPr id="15" name="Rectangle 14"/>
          <p:cNvSpPr/>
          <p:nvPr/>
        </p:nvSpPr>
        <p:spPr>
          <a:xfrm>
            <a:off x="906848" y="6129426"/>
            <a:ext cx="10537750" cy="400110"/>
          </a:xfrm>
          <a:prstGeom prst="rect">
            <a:avLst/>
          </a:prstGeom>
        </p:spPr>
        <p:txBody>
          <a:bodyPr wrap="square">
            <a:spAutoFit/>
          </a:bodyPr>
          <a:lstStyle/>
          <a:p>
            <a:pPr algn="ctr"/>
            <a:r>
              <a:rPr lang="en-GB" sz="2000" dirty="0">
                <a:solidFill>
                  <a:srgbClr val="0099FF"/>
                </a:solidFill>
                <a:latin typeface="Arial" panose="020B0604020202020204" pitchFamily="34" charset="0"/>
                <a:cs typeface="Arial" panose="020B0604020202020204" pitchFamily="34" charset="0"/>
              </a:rPr>
              <a:t>Interventions must not only be </a:t>
            </a:r>
            <a:r>
              <a:rPr lang="en-GB" sz="2000" i="1" dirty="0">
                <a:solidFill>
                  <a:srgbClr val="0099FF"/>
                </a:solidFill>
                <a:latin typeface="Arial" panose="020B0604020202020204" pitchFamily="34" charset="0"/>
                <a:cs typeface="Arial" panose="020B0604020202020204" pitchFamily="34" charset="0"/>
              </a:rPr>
              <a:t>necessary</a:t>
            </a:r>
            <a:r>
              <a:rPr lang="en-GB" sz="2000" dirty="0">
                <a:solidFill>
                  <a:srgbClr val="0099FF"/>
                </a:solidFill>
                <a:latin typeface="Arial" panose="020B0604020202020204" pitchFamily="34" charset="0"/>
                <a:cs typeface="Arial" panose="020B0604020202020204" pitchFamily="34" charset="0"/>
              </a:rPr>
              <a:t>, but also </a:t>
            </a:r>
            <a:r>
              <a:rPr lang="en-GB" sz="2000" i="1" dirty="0">
                <a:solidFill>
                  <a:srgbClr val="0099FF"/>
                </a:solidFill>
                <a:latin typeface="Arial" panose="020B0604020202020204" pitchFamily="34" charset="0"/>
                <a:cs typeface="Arial" panose="020B0604020202020204" pitchFamily="34" charset="0"/>
              </a:rPr>
              <a:t>sufficient</a:t>
            </a:r>
            <a:r>
              <a:rPr lang="en-GB" sz="2000" dirty="0">
                <a:solidFill>
                  <a:srgbClr val="0099FF"/>
                </a:solidFill>
                <a:latin typeface="Arial" panose="020B0604020202020204" pitchFamily="34" charset="0"/>
                <a:cs typeface="Arial" panose="020B0604020202020204" pitchFamily="34" charset="0"/>
              </a:rPr>
              <a:t>  to achieve the expected result</a:t>
            </a:r>
          </a:p>
        </p:txBody>
      </p:sp>
    </p:spTree>
    <p:extLst>
      <p:ext uri="{BB962C8B-B14F-4D97-AF65-F5344CB8AC3E}">
        <p14:creationId xmlns:p14="http://schemas.microsoft.com/office/powerpoint/2010/main" val="3752417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wipe(down)">
                                      <p:cBhvr>
                                        <p:cTn id="15" dur="500"/>
                                        <p:tgtEl>
                                          <p:spTgt spid="3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ipe(down)">
                                      <p:cBhvr>
                                        <p:cTn id="18" dur="500"/>
                                        <p:tgtEl>
                                          <p:spTgt spid="25"/>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wipe(down)">
                                      <p:cBhvr>
                                        <p:cTn id="21" dur="500"/>
                                        <p:tgtEl>
                                          <p:spTgt spid="34"/>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wipe(down)">
                                      <p:cBhvr>
                                        <p:cTn id="24" dur="500"/>
                                        <p:tgtEl>
                                          <p:spTgt spid="26"/>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ipe(down)">
                                      <p:cBhvr>
                                        <p:cTn id="27" dur="5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500"/>
                                        <p:tgtEl>
                                          <p:spTgt spid="3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wipe(down)">
                                      <p:cBhvr>
                                        <p:cTn id="42" dur="500"/>
                                        <p:tgtEl>
                                          <p:spTgt spid="27"/>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wipe(down)">
                                      <p:cBhvr>
                                        <p:cTn id="45" dur="500"/>
                                        <p:tgtEl>
                                          <p:spTgt spid="28"/>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wipe(down)">
                                      <p:cBhvr>
                                        <p:cTn id="48" dur="500"/>
                                        <p:tgtEl>
                                          <p:spTgt spid="29"/>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animEffect transition="in" filter="wipe(down)">
                                      <p:cBhvr>
                                        <p:cTn id="51" dur="500"/>
                                        <p:tgtEl>
                                          <p:spTgt spid="38"/>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wipe(down)">
                                      <p:cBhvr>
                                        <p:cTn id="54" dur="500"/>
                                        <p:tgtEl>
                                          <p:spTgt spid="39"/>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wipe(down)">
                                      <p:cBhvr>
                                        <p:cTn id="57" dur="500"/>
                                        <p:tgtEl>
                                          <p:spTgt spid="40"/>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wipe(down)">
                                      <p:cBhvr>
                                        <p:cTn id="60" dur="500"/>
                                        <p:tgtEl>
                                          <p:spTgt spid="5"/>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wipe(down)">
                                      <p:cBhvr>
                                        <p:cTn id="63" dur="500"/>
                                        <p:tgtEl>
                                          <p:spTgt spid="41"/>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42"/>
                                        </p:tgtEl>
                                        <p:attrNameLst>
                                          <p:attrName>style.visibility</p:attrName>
                                        </p:attrNameLst>
                                      </p:cBhvr>
                                      <p:to>
                                        <p:strVal val="visible"/>
                                      </p:to>
                                    </p:set>
                                    <p:animEffect transition="in" filter="wipe(down)">
                                      <p:cBhvr>
                                        <p:cTn id="6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5" grpId="0" animBg="1"/>
      <p:bldP spid="26" grpId="0" animBg="1"/>
      <p:bldP spid="3" grpId="0" animBg="1"/>
      <p:bldP spid="27" grpId="0" animBg="1"/>
      <p:bldP spid="28" grpId="0" animBg="1"/>
      <p:bldP spid="29" grpId="0" animBg="1"/>
      <p:bldP spid="33" grpId="0" animBg="1"/>
      <p:bldP spid="34" grpId="0" animBg="1"/>
      <p:bldP spid="35" grpId="0" animBg="1"/>
      <p:bldP spid="36" grpId="0" animBg="1"/>
      <p:bldP spid="38" grpId="0" animBg="1"/>
      <p:bldP spid="39" grpId="0" animBg="1"/>
      <p:bldP spid="40" grpId="0" animBg="1"/>
      <p:bldP spid="4" grpId="0" animBg="1"/>
      <p:bldP spid="5" grpId="0" animBg="1"/>
      <p:bldP spid="41" grpId="0" animBg="1"/>
      <p:bldP spid="4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Down Arrow 45"/>
          <p:cNvSpPr/>
          <p:nvPr/>
        </p:nvSpPr>
        <p:spPr>
          <a:xfrm rot="10800000">
            <a:off x="8238713" y="5309405"/>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rial" panose="020B0604020202020204" pitchFamily="34" charset="0"/>
              <a:cs typeface="Arial" panose="020B0604020202020204" pitchFamily="34" charset="0"/>
            </a:endParaRPr>
          </a:p>
        </p:txBody>
      </p:sp>
      <p:sp>
        <p:nvSpPr>
          <p:cNvPr id="45" name="Down Arrow 44"/>
          <p:cNvSpPr/>
          <p:nvPr/>
        </p:nvSpPr>
        <p:spPr>
          <a:xfrm rot="10800000">
            <a:off x="8198174" y="3299247"/>
            <a:ext cx="56039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rial" panose="020B0604020202020204" pitchFamily="34" charset="0"/>
              <a:cs typeface="Arial" panose="020B0604020202020204" pitchFamily="34" charset="0"/>
            </a:endParaRPr>
          </a:p>
        </p:txBody>
      </p:sp>
      <p:sp>
        <p:nvSpPr>
          <p:cNvPr id="8" name="Title 1"/>
          <p:cNvSpPr>
            <a:spLocks noGrp="1"/>
          </p:cNvSpPr>
          <p:nvPr>
            <p:ph type="title"/>
          </p:nvPr>
        </p:nvSpPr>
        <p:spPr>
          <a:xfrm>
            <a:off x="6100750" y="0"/>
            <a:ext cx="6054096"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Solution tree/Outcome chain</a:t>
            </a:r>
          </a:p>
        </p:txBody>
      </p:sp>
      <p:sp>
        <p:nvSpPr>
          <p:cNvPr id="32" name="Down Arrow 31"/>
          <p:cNvSpPr/>
          <p:nvPr/>
        </p:nvSpPr>
        <p:spPr>
          <a:xfrm rot="10800000">
            <a:off x="8859282" y="1875680"/>
            <a:ext cx="670468"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rial" panose="020B0604020202020204" pitchFamily="34" charset="0"/>
              <a:cs typeface="Arial" panose="020B0604020202020204" pitchFamily="34" charset="0"/>
            </a:endParaRPr>
          </a:p>
        </p:txBody>
      </p:sp>
      <p:sp>
        <p:nvSpPr>
          <p:cNvPr id="34" name="Rectangle 33"/>
          <p:cNvSpPr/>
          <p:nvPr/>
        </p:nvSpPr>
        <p:spPr>
          <a:xfrm>
            <a:off x="6227380" y="2343800"/>
            <a:ext cx="5832370" cy="8720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latin typeface="Arial" panose="020B0604020202020204" pitchFamily="34" charset="0"/>
                <a:cs typeface="Arial" panose="020B0604020202020204" pitchFamily="34" charset="0"/>
              </a:rPr>
              <a:t>Families do not subject their children to FGMC</a:t>
            </a:r>
            <a:endParaRPr lang="en-US" sz="1600" dirty="0">
              <a:latin typeface="Arial" panose="020B0604020202020204" pitchFamily="34" charset="0"/>
              <a:cs typeface="Arial" panose="020B0604020202020204" pitchFamily="34" charset="0"/>
            </a:endParaRPr>
          </a:p>
        </p:txBody>
      </p:sp>
      <p:sp>
        <p:nvSpPr>
          <p:cNvPr id="44" name="Down Arrow 43"/>
          <p:cNvSpPr/>
          <p:nvPr/>
        </p:nvSpPr>
        <p:spPr>
          <a:xfrm rot="10800000">
            <a:off x="6739315" y="5309405"/>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rial" panose="020B0604020202020204" pitchFamily="34" charset="0"/>
              <a:cs typeface="Arial" panose="020B0604020202020204" pitchFamily="34" charset="0"/>
            </a:endParaRPr>
          </a:p>
        </p:txBody>
      </p:sp>
      <p:sp>
        <p:nvSpPr>
          <p:cNvPr id="61" name="Rectangle 60"/>
          <p:cNvSpPr/>
          <p:nvPr/>
        </p:nvSpPr>
        <p:spPr>
          <a:xfrm>
            <a:off x="6227379" y="5932102"/>
            <a:ext cx="1669226" cy="833348"/>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accent6">
                    <a:lumMod val="50000"/>
                  </a:schemeClr>
                </a:solidFill>
                <a:latin typeface="Arial" panose="020B0604020202020204" pitchFamily="34" charset="0"/>
                <a:cs typeface="Arial" panose="020B0604020202020204" pitchFamily="34" charset="0"/>
              </a:rPr>
              <a:t>Practice of FGM is interrupted</a:t>
            </a:r>
            <a:endParaRPr lang="en-US" sz="1400" dirty="0">
              <a:solidFill>
                <a:schemeClr val="accent6">
                  <a:lumMod val="50000"/>
                </a:schemeClr>
              </a:solidFill>
              <a:latin typeface="Arial" panose="020B0604020202020204" pitchFamily="34" charset="0"/>
              <a:cs typeface="Arial" panose="020B0604020202020204" pitchFamily="34" charset="0"/>
            </a:endParaRPr>
          </a:p>
        </p:txBody>
      </p:sp>
      <p:sp>
        <p:nvSpPr>
          <p:cNvPr id="62" name="Rectangle 61"/>
          <p:cNvSpPr/>
          <p:nvPr/>
        </p:nvSpPr>
        <p:spPr>
          <a:xfrm>
            <a:off x="7957445" y="5932102"/>
            <a:ext cx="1393686" cy="833348"/>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accent6">
                    <a:lumMod val="50000"/>
                  </a:schemeClr>
                </a:solidFill>
                <a:latin typeface="Arial" panose="020B0604020202020204" pitchFamily="34" charset="0"/>
                <a:cs typeface="Arial" panose="020B0604020202020204" pitchFamily="34" charset="0"/>
              </a:rPr>
              <a:t>Laws against FGMC is enforced</a:t>
            </a:r>
            <a:endParaRPr lang="en-US" sz="1400" dirty="0">
              <a:solidFill>
                <a:schemeClr val="accent6">
                  <a:lumMod val="50000"/>
                </a:schemeClr>
              </a:solidFill>
              <a:latin typeface="Arial" panose="020B0604020202020204" pitchFamily="34" charset="0"/>
              <a:cs typeface="Arial" panose="020B0604020202020204" pitchFamily="34" charset="0"/>
            </a:endParaRPr>
          </a:p>
        </p:txBody>
      </p:sp>
      <p:sp>
        <p:nvSpPr>
          <p:cNvPr id="63" name="Rectangle 62"/>
          <p:cNvSpPr/>
          <p:nvPr/>
        </p:nvSpPr>
        <p:spPr>
          <a:xfrm>
            <a:off x="6227379" y="1002069"/>
            <a:ext cx="5800839" cy="867275"/>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bg1"/>
                </a:solidFill>
                <a:latin typeface="Arial" panose="020B0604020202020204" pitchFamily="34" charset="0"/>
                <a:cs typeface="Arial" panose="020B0604020202020204" pitchFamily="34" charset="0"/>
              </a:rPr>
              <a:t>Prevalence of FGMC among children less than 15 years is reduced</a:t>
            </a:r>
          </a:p>
        </p:txBody>
      </p:sp>
      <p:sp>
        <p:nvSpPr>
          <p:cNvPr id="60" name="Down Arrow 59"/>
          <p:cNvSpPr/>
          <p:nvPr/>
        </p:nvSpPr>
        <p:spPr>
          <a:xfrm rot="10800000">
            <a:off x="11029604" y="5324642"/>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rial" panose="020B0604020202020204" pitchFamily="34" charset="0"/>
              <a:cs typeface="Arial" panose="020B0604020202020204" pitchFamily="34" charset="0"/>
            </a:endParaRPr>
          </a:p>
        </p:txBody>
      </p:sp>
      <p:sp>
        <p:nvSpPr>
          <p:cNvPr id="64" name="Down Arrow 63"/>
          <p:cNvSpPr/>
          <p:nvPr/>
        </p:nvSpPr>
        <p:spPr>
          <a:xfrm rot="10800000">
            <a:off x="9618680" y="5324642"/>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rial" panose="020B0604020202020204" pitchFamily="34" charset="0"/>
              <a:cs typeface="Arial" panose="020B0604020202020204" pitchFamily="34" charset="0"/>
            </a:endParaRPr>
          </a:p>
        </p:txBody>
      </p:sp>
      <p:sp>
        <p:nvSpPr>
          <p:cNvPr id="65" name="Rectangle 64"/>
          <p:cNvSpPr/>
          <p:nvPr/>
        </p:nvSpPr>
        <p:spPr>
          <a:xfrm>
            <a:off x="9420041" y="5932102"/>
            <a:ext cx="2639708" cy="833348"/>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accent6">
                    <a:lumMod val="50000"/>
                  </a:schemeClr>
                </a:solidFill>
                <a:latin typeface="Arial" panose="020B0604020202020204" pitchFamily="34" charset="0"/>
                <a:cs typeface="Arial" panose="020B0604020202020204" pitchFamily="34" charset="0"/>
              </a:rPr>
              <a:t>FGMC is no longer a social norm</a:t>
            </a:r>
            <a:endParaRPr lang="en-US" sz="1400" dirty="0">
              <a:solidFill>
                <a:schemeClr val="accent6">
                  <a:lumMod val="50000"/>
                </a:schemeClr>
              </a:solidFill>
              <a:latin typeface="Arial" panose="020B0604020202020204" pitchFamily="34" charset="0"/>
              <a:cs typeface="Arial" panose="020B0604020202020204" pitchFamily="34" charset="0"/>
            </a:endParaRPr>
          </a:p>
        </p:txBody>
      </p:sp>
      <p:sp>
        <p:nvSpPr>
          <p:cNvPr id="47" name="Down Arrow 46"/>
          <p:cNvSpPr/>
          <p:nvPr/>
        </p:nvSpPr>
        <p:spPr>
          <a:xfrm rot="10800000">
            <a:off x="6728385" y="3277006"/>
            <a:ext cx="56039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rial" panose="020B0604020202020204" pitchFamily="34" charset="0"/>
              <a:cs typeface="Arial" panose="020B0604020202020204" pitchFamily="34" charset="0"/>
            </a:endParaRPr>
          </a:p>
        </p:txBody>
      </p:sp>
      <p:sp>
        <p:nvSpPr>
          <p:cNvPr id="48" name="Down Arrow 47"/>
          <p:cNvSpPr/>
          <p:nvPr/>
        </p:nvSpPr>
        <p:spPr>
          <a:xfrm rot="10800000">
            <a:off x="9574240" y="3287099"/>
            <a:ext cx="56039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rial" panose="020B0604020202020204" pitchFamily="34" charset="0"/>
              <a:cs typeface="Arial" panose="020B0604020202020204" pitchFamily="34" charset="0"/>
            </a:endParaRPr>
          </a:p>
        </p:txBody>
      </p:sp>
      <p:sp>
        <p:nvSpPr>
          <p:cNvPr id="49" name="Down Arrow 48"/>
          <p:cNvSpPr/>
          <p:nvPr/>
        </p:nvSpPr>
        <p:spPr>
          <a:xfrm rot="10800000">
            <a:off x="11076643" y="3299247"/>
            <a:ext cx="56039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Arial" panose="020B0604020202020204" pitchFamily="34" charset="0"/>
              <a:cs typeface="Arial" panose="020B0604020202020204" pitchFamily="34" charset="0"/>
            </a:endParaRPr>
          </a:p>
        </p:txBody>
      </p:sp>
      <p:sp>
        <p:nvSpPr>
          <p:cNvPr id="40" name="Rectangle 39"/>
          <p:cNvSpPr/>
          <p:nvPr/>
        </p:nvSpPr>
        <p:spPr>
          <a:xfrm>
            <a:off x="6227379" y="3928980"/>
            <a:ext cx="1650950" cy="139566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accent6">
                    <a:lumMod val="50000"/>
                  </a:schemeClr>
                </a:solidFill>
                <a:latin typeface="Arial" panose="020B0604020202020204" pitchFamily="34" charset="0"/>
                <a:cs typeface="Arial" panose="020B0604020202020204" pitchFamily="34" charset="0"/>
              </a:rPr>
              <a:t>FGMC practitioners are not available in the community </a:t>
            </a:r>
            <a:endParaRPr lang="en-US" sz="1400" dirty="0">
              <a:solidFill>
                <a:schemeClr val="accent6">
                  <a:lumMod val="50000"/>
                </a:schemeClr>
              </a:solidFill>
              <a:latin typeface="Arial" panose="020B0604020202020204" pitchFamily="34" charset="0"/>
              <a:cs typeface="Arial" panose="020B0604020202020204" pitchFamily="34" charset="0"/>
            </a:endParaRPr>
          </a:p>
        </p:txBody>
      </p:sp>
      <p:sp>
        <p:nvSpPr>
          <p:cNvPr id="41" name="Rectangle 40"/>
          <p:cNvSpPr/>
          <p:nvPr/>
        </p:nvSpPr>
        <p:spPr>
          <a:xfrm>
            <a:off x="7946644" y="3928980"/>
            <a:ext cx="1124729" cy="139566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accent6">
                    <a:lumMod val="50000"/>
                  </a:schemeClr>
                </a:solidFill>
                <a:latin typeface="Arial" panose="020B0604020202020204" pitchFamily="34" charset="0"/>
                <a:cs typeface="Arial" panose="020B0604020202020204" pitchFamily="34" charset="0"/>
              </a:rPr>
              <a:t>Social and financial cost of FGMC is high</a:t>
            </a:r>
            <a:endParaRPr lang="en-US" sz="1400" dirty="0">
              <a:solidFill>
                <a:schemeClr val="accent6">
                  <a:lumMod val="50000"/>
                </a:schemeClr>
              </a:solidFill>
              <a:latin typeface="Arial" panose="020B0604020202020204" pitchFamily="34" charset="0"/>
              <a:cs typeface="Arial" panose="020B0604020202020204" pitchFamily="34" charset="0"/>
            </a:endParaRPr>
          </a:p>
        </p:txBody>
      </p:sp>
      <p:sp>
        <p:nvSpPr>
          <p:cNvPr id="42" name="Rectangle 41"/>
          <p:cNvSpPr/>
          <p:nvPr/>
        </p:nvSpPr>
        <p:spPr>
          <a:xfrm>
            <a:off x="9163932" y="3928980"/>
            <a:ext cx="1381006" cy="139566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accent6">
                    <a:lumMod val="50000"/>
                  </a:schemeClr>
                </a:solidFill>
                <a:latin typeface="Arial" panose="020B0604020202020204" pitchFamily="34" charset="0"/>
                <a:cs typeface="Arial" panose="020B0604020202020204" pitchFamily="34" charset="0"/>
              </a:rPr>
              <a:t>Families understand the health and human rights consequences of  FGMC</a:t>
            </a:r>
            <a:endParaRPr lang="en-US" sz="1400" dirty="0">
              <a:solidFill>
                <a:schemeClr val="accent6">
                  <a:lumMod val="50000"/>
                </a:schemeClr>
              </a:solidFill>
              <a:latin typeface="Arial" panose="020B0604020202020204" pitchFamily="34" charset="0"/>
              <a:cs typeface="Arial" panose="020B0604020202020204" pitchFamily="34" charset="0"/>
            </a:endParaRPr>
          </a:p>
        </p:txBody>
      </p:sp>
      <p:sp>
        <p:nvSpPr>
          <p:cNvPr id="43" name="Rectangle 42"/>
          <p:cNvSpPr/>
          <p:nvPr/>
        </p:nvSpPr>
        <p:spPr>
          <a:xfrm>
            <a:off x="10656880" y="3928980"/>
            <a:ext cx="1387101" cy="139566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accent6">
                    <a:lumMod val="50000"/>
                  </a:schemeClr>
                </a:solidFill>
                <a:latin typeface="Arial" panose="020B0604020202020204" pitchFamily="34" charset="0"/>
                <a:cs typeface="Arial" panose="020B0604020202020204" pitchFamily="34" charset="0"/>
              </a:rPr>
              <a:t>Community rejects FGMC and sanctions families that undertake FGM</a:t>
            </a:r>
            <a:endParaRPr lang="en-US" sz="1400" dirty="0">
              <a:solidFill>
                <a:schemeClr val="accent6">
                  <a:lumMod val="50000"/>
                </a:schemeClr>
              </a:solidFill>
              <a:latin typeface="Arial" panose="020B0604020202020204" pitchFamily="34" charset="0"/>
              <a:cs typeface="Arial" panose="020B0604020202020204" pitchFamily="34" charset="0"/>
            </a:endParaRPr>
          </a:p>
        </p:txBody>
      </p:sp>
      <p:cxnSp>
        <p:nvCxnSpPr>
          <p:cNvPr id="16" name="Straight Connector 15"/>
          <p:cNvCxnSpPr/>
          <p:nvPr/>
        </p:nvCxnSpPr>
        <p:spPr>
          <a:xfrm>
            <a:off x="6054096" y="198020"/>
            <a:ext cx="31531" cy="6583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Down Arrow 50"/>
          <p:cNvSpPr/>
          <p:nvPr/>
        </p:nvSpPr>
        <p:spPr>
          <a:xfrm rot="10800000">
            <a:off x="2648866" y="1927080"/>
            <a:ext cx="694445"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2" name="Rectangle 51"/>
          <p:cNvSpPr/>
          <p:nvPr/>
        </p:nvSpPr>
        <p:spPr>
          <a:xfrm>
            <a:off x="199463" y="2342413"/>
            <a:ext cx="5712880" cy="87205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latin typeface="Arial" panose="020B0604020202020204" pitchFamily="34" charset="0"/>
                <a:cs typeface="Arial" panose="020B0604020202020204" pitchFamily="34" charset="0"/>
              </a:rPr>
              <a:t>Families subject their children to FGMC</a:t>
            </a:r>
            <a:endParaRPr lang="en-US" sz="1600" dirty="0">
              <a:latin typeface="Arial" panose="020B0604020202020204" pitchFamily="34" charset="0"/>
              <a:cs typeface="Arial" panose="020B0604020202020204" pitchFamily="34" charset="0"/>
            </a:endParaRPr>
          </a:p>
        </p:txBody>
      </p:sp>
      <p:sp>
        <p:nvSpPr>
          <p:cNvPr id="76" name="Down Arrow 75"/>
          <p:cNvSpPr/>
          <p:nvPr/>
        </p:nvSpPr>
        <p:spPr>
          <a:xfrm rot="10800000">
            <a:off x="686746" y="3214466"/>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80" name="Down Arrow 79"/>
          <p:cNvSpPr/>
          <p:nvPr/>
        </p:nvSpPr>
        <p:spPr>
          <a:xfrm rot="10800000">
            <a:off x="674768" y="5309405"/>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81" name="Down Arrow 80"/>
          <p:cNvSpPr/>
          <p:nvPr/>
        </p:nvSpPr>
        <p:spPr>
          <a:xfrm rot="10800000">
            <a:off x="2237551" y="5324642"/>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83" name="Rectangle 82"/>
          <p:cNvSpPr/>
          <p:nvPr/>
        </p:nvSpPr>
        <p:spPr>
          <a:xfrm>
            <a:off x="241258" y="1017306"/>
            <a:ext cx="5671085" cy="86727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Arial" panose="020B0604020202020204" pitchFamily="34" charset="0"/>
                <a:cs typeface="Arial" panose="020B0604020202020204" pitchFamily="34" charset="0"/>
              </a:rPr>
              <a:t>High prevalence of FGMC among children less than 15 years</a:t>
            </a:r>
          </a:p>
        </p:txBody>
      </p:sp>
      <p:sp>
        <p:nvSpPr>
          <p:cNvPr id="85" name="Down Arrow 84"/>
          <p:cNvSpPr/>
          <p:nvPr/>
        </p:nvSpPr>
        <p:spPr>
          <a:xfrm rot="10800000">
            <a:off x="4929929" y="5309405"/>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86" name="Down Arrow 85"/>
          <p:cNvSpPr/>
          <p:nvPr/>
        </p:nvSpPr>
        <p:spPr>
          <a:xfrm rot="10800000">
            <a:off x="3707148" y="5354175"/>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88" name="Down Arrow 87"/>
          <p:cNvSpPr/>
          <p:nvPr/>
        </p:nvSpPr>
        <p:spPr>
          <a:xfrm rot="10800000">
            <a:off x="2195778" y="3222765"/>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89" name="Down Arrow 88"/>
          <p:cNvSpPr/>
          <p:nvPr/>
        </p:nvSpPr>
        <p:spPr>
          <a:xfrm rot="10800000">
            <a:off x="3532896" y="3277006"/>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90" name="Down Arrow 89"/>
          <p:cNvSpPr/>
          <p:nvPr/>
        </p:nvSpPr>
        <p:spPr>
          <a:xfrm rot="10800000">
            <a:off x="4994479" y="3287099"/>
            <a:ext cx="640080" cy="822960"/>
          </a:xfrm>
          <a:prstGeom prst="downArrow">
            <a:avLst/>
          </a:prstGeom>
          <a:gradFill flip="none" rotWithShape="1">
            <a:gsLst>
              <a:gs pos="0">
                <a:schemeClr val="bg1">
                  <a:lumMod val="50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7" name="Rectangle 56"/>
          <p:cNvSpPr/>
          <p:nvPr/>
        </p:nvSpPr>
        <p:spPr>
          <a:xfrm>
            <a:off x="243150" y="3928980"/>
            <a:ext cx="1493328" cy="139566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FGMC practitioners are known and available in the community </a:t>
            </a:r>
            <a:endParaRPr lang="en-US" sz="1400" dirty="0">
              <a:latin typeface="Arial" panose="020B0604020202020204" pitchFamily="34" charset="0"/>
              <a:cs typeface="Arial" panose="020B0604020202020204" pitchFamily="34" charset="0"/>
            </a:endParaRPr>
          </a:p>
        </p:txBody>
      </p:sp>
      <p:sp>
        <p:nvSpPr>
          <p:cNvPr id="68" name="Rectangle 67"/>
          <p:cNvSpPr/>
          <p:nvPr/>
        </p:nvSpPr>
        <p:spPr>
          <a:xfrm>
            <a:off x="1802132" y="3928980"/>
            <a:ext cx="1281291" cy="139566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Social and financial cost of FGMC is low</a:t>
            </a:r>
            <a:endParaRPr lang="en-US" sz="1400" dirty="0">
              <a:latin typeface="Arial" panose="020B0604020202020204" pitchFamily="34" charset="0"/>
              <a:cs typeface="Arial" panose="020B0604020202020204" pitchFamily="34" charset="0"/>
            </a:endParaRPr>
          </a:p>
        </p:txBody>
      </p:sp>
      <p:sp>
        <p:nvSpPr>
          <p:cNvPr id="71" name="Rectangle 70"/>
          <p:cNvSpPr/>
          <p:nvPr/>
        </p:nvSpPr>
        <p:spPr>
          <a:xfrm>
            <a:off x="3137791" y="3928980"/>
            <a:ext cx="1338107" cy="139566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Lack of awareness of health and human rights consequences of  FGMC</a:t>
            </a:r>
            <a:endParaRPr lang="en-US" sz="1400" dirty="0">
              <a:latin typeface="Arial" panose="020B0604020202020204" pitchFamily="34" charset="0"/>
              <a:cs typeface="Arial" panose="020B0604020202020204" pitchFamily="34" charset="0"/>
            </a:endParaRPr>
          </a:p>
        </p:txBody>
      </p:sp>
      <p:sp>
        <p:nvSpPr>
          <p:cNvPr id="74" name="Rectangle 73"/>
          <p:cNvSpPr/>
          <p:nvPr/>
        </p:nvSpPr>
        <p:spPr>
          <a:xfrm>
            <a:off x="4553334" y="3928980"/>
            <a:ext cx="1357847" cy="139566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Community values FGMC and links to marriageability</a:t>
            </a:r>
            <a:endParaRPr lang="en-US" sz="1400" dirty="0">
              <a:latin typeface="Arial" panose="020B0604020202020204" pitchFamily="34" charset="0"/>
              <a:cs typeface="Arial" panose="020B0604020202020204" pitchFamily="34" charset="0"/>
            </a:endParaRPr>
          </a:p>
        </p:txBody>
      </p:sp>
      <p:sp>
        <p:nvSpPr>
          <p:cNvPr id="78" name="Rectangle 77"/>
          <p:cNvSpPr/>
          <p:nvPr/>
        </p:nvSpPr>
        <p:spPr>
          <a:xfrm>
            <a:off x="241259" y="5932102"/>
            <a:ext cx="1495220" cy="83334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FGM Practice is passed from generation to generation</a:t>
            </a:r>
            <a:endParaRPr lang="en-US" sz="1400" dirty="0">
              <a:latin typeface="Arial" panose="020B0604020202020204" pitchFamily="34" charset="0"/>
              <a:cs typeface="Arial" panose="020B0604020202020204" pitchFamily="34" charset="0"/>
            </a:endParaRPr>
          </a:p>
        </p:txBody>
      </p:sp>
      <p:sp>
        <p:nvSpPr>
          <p:cNvPr id="82" name="Rectangle 81"/>
          <p:cNvSpPr/>
          <p:nvPr/>
        </p:nvSpPr>
        <p:spPr>
          <a:xfrm>
            <a:off x="1790296" y="5932102"/>
            <a:ext cx="1629659" cy="83334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Lack of enforcement of laws against FGMC</a:t>
            </a:r>
            <a:endParaRPr lang="en-US" sz="1400" dirty="0">
              <a:latin typeface="Arial" panose="020B0604020202020204" pitchFamily="34" charset="0"/>
              <a:cs typeface="Arial" panose="020B0604020202020204" pitchFamily="34" charset="0"/>
            </a:endParaRPr>
          </a:p>
        </p:txBody>
      </p:sp>
      <p:sp>
        <p:nvSpPr>
          <p:cNvPr id="87" name="Rectangle 86"/>
          <p:cNvSpPr/>
          <p:nvPr/>
        </p:nvSpPr>
        <p:spPr>
          <a:xfrm>
            <a:off x="3473772" y="5932102"/>
            <a:ext cx="2441351" cy="83334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FGMC is a social norm</a:t>
            </a:r>
            <a:endParaRPr lang="en-US" sz="1400" dirty="0">
              <a:latin typeface="Arial" panose="020B0604020202020204" pitchFamily="34" charset="0"/>
              <a:cs typeface="Arial" panose="020B0604020202020204" pitchFamily="34" charset="0"/>
            </a:endParaRPr>
          </a:p>
        </p:txBody>
      </p:sp>
      <p:sp>
        <p:nvSpPr>
          <p:cNvPr id="91" name="Title 1"/>
          <p:cNvSpPr txBox="1">
            <a:spLocks/>
          </p:cNvSpPr>
          <p:nvPr/>
        </p:nvSpPr>
        <p:spPr>
          <a:xfrm>
            <a:off x="56375" y="61971"/>
            <a:ext cx="6054096" cy="770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smtClean="0">
                <a:solidFill>
                  <a:srgbClr val="0099FF"/>
                </a:solidFill>
                <a:latin typeface="Arial" panose="020B0604020202020204" pitchFamily="34" charset="0"/>
                <a:cs typeface="Arial" panose="020B0604020202020204" pitchFamily="34" charset="0"/>
              </a:rPr>
              <a:t>Problem Tree</a:t>
            </a:r>
          </a:p>
        </p:txBody>
      </p:sp>
    </p:spTree>
    <p:extLst>
      <p:ext uri="{BB962C8B-B14F-4D97-AF65-F5344CB8AC3E}">
        <p14:creationId xmlns:p14="http://schemas.microsoft.com/office/powerpoint/2010/main" val="90431282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188331" y="1310504"/>
            <a:ext cx="3793958" cy="3673642"/>
          </a:xfrm>
          <a:prstGeom prst="ellipse">
            <a:avLst/>
          </a:prstGeom>
          <a:gradFill flip="none" rotWithShape="1">
            <a:gsLst>
              <a:gs pos="0">
                <a:srgbClr val="0099FF"/>
              </a:gs>
              <a:gs pos="100000">
                <a:schemeClr val="bg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3197" y="-46999"/>
            <a:ext cx="10515600" cy="1052703"/>
          </a:xfrm>
        </p:spPr>
        <p:txBody>
          <a:bodyPr>
            <a:normAutofit/>
          </a:bodyPr>
          <a:lstStyle/>
          <a:p>
            <a:r>
              <a:rPr lang="en-US" sz="3200" dirty="0">
                <a:solidFill>
                  <a:srgbClr val="0099FF"/>
                </a:solidFill>
                <a:latin typeface="Arial" panose="020B0604020202020204" pitchFamily="34" charset="0"/>
                <a:cs typeface="Arial" panose="020B0604020202020204" pitchFamily="34" charset="0"/>
              </a:rPr>
              <a:t>What is </a:t>
            </a:r>
            <a:r>
              <a:rPr lang="en-US" sz="3200" dirty="0" smtClean="0">
                <a:solidFill>
                  <a:srgbClr val="0099FF"/>
                </a:solidFill>
                <a:latin typeface="Arial" panose="020B0604020202020204" pitchFamily="34" charset="0"/>
                <a:cs typeface="Arial" panose="020B0604020202020204" pitchFamily="34" charset="0"/>
              </a:rPr>
              <a:t>a Theory </a:t>
            </a:r>
            <a:r>
              <a:rPr lang="en-US" sz="3200" dirty="0">
                <a:solidFill>
                  <a:srgbClr val="0099FF"/>
                </a:solidFill>
                <a:latin typeface="Arial" panose="020B0604020202020204" pitchFamily="34" charset="0"/>
                <a:cs typeface="Arial" panose="020B0604020202020204" pitchFamily="34" charset="0"/>
              </a:rPr>
              <a:t>of </a:t>
            </a:r>
            <a:r>
              <a:rPr lang="en-US" sz="3200" dirty="0" smtClean="0">
                <a:solidFill>
                  <a:srgbClr val="0099FF"/>
                </a:solidFill>
                <a:latin typeface="Arial" panose="020B0604020202020204" pitchFamily="34" charset="0"/>
                <a:cs typeface="Arial" panose="020B0604020202020204" pitchFamily="34" charset="0"/>
              </a:rPr>
              <a:t>Change?</a:t>
            </a:r>
            <a:r>
              <a:rPr lang="en-US" sz="2900" dirty="0" smtClean="0"/>
              <a:t> </a:t>
            </a:r>
            <a:endParaRPr lang="en-US" sz="2900" dirty="0"/>
          </a:p>
        </p:txBody>
      </p:sp>
      <p:sp>
        <p:nvSpPr>
          <p:cNvPr id="3" name="Content Placeholder 2"/>
          <p:cNvSpPr>
            <a:spLocks noGrp="1"/>
          </p:cNvSpPr>
          <p:nvPr>
            <p:ph sz="quarter" idx="1"/>
          </p:nvPr>
        </p:nvSpPr>
        <p:spPr>
          <a:xfrm>
            <a:off x="6555741" y="943981"/>
            <a:ext cx="5355635" cy="4984124"/>
          </a:xfrm>
          <a:ln>
            <a:solidFill>
              <a:srgbClr val="0099FF"/>
            </a:solidFill>
          </a:ln>
        </p:spPr>
        <p:txBody>
          <a:bodyPr>
            <a:normAutofit fontScale="92500" lnSpcReduction="10000"/>
          </a:bodyPr>
          <a:lstStyle/>
          <a:p>
            <a:r>
              <a:rPr lang="en-US" sz="2400" dirty="0" smtClean="0">
                <a:latin typeface="Arial" panose="020B0604020202020204" pitchFamily="34" charset="0"/>
                <a:cs typeface="Arial" panose="020B0604020202020204" pitchFamily="34" charset="0"/>
              </a:rPr>
              <a:t>How will you use your programme to bring about change? </a:t>
            </a:r>
          </a:p>
          <a:p>
            <a:pPr lvl="1"/>
            <a:r>
              <a:rPr lang="en-US" sz="2200" dirty="0" smtClean="0">
                <a:solidFill>
                  <a:schemeClr val="bg1">
                    <a:lumMod val="50000"/>
                  </a:schemeClr>
                </a:solidFill>
                <a:latin typeface="Arial" panose="020B0604020202020204" pitchFamily="34" charset="0"/>
                <a:cs typeface="Arial" panose="020B0604020202020204" pitchFamily="34" charset="0"/>
              </a:rPr>
              <a:t>The “What” and the “How” and the assumptions/risks</a:t>
            </a:r>
            <a:endParaRPr lang="en-US" sz="2200" dirty="0">
              <a:solidFill>
                <a:schemeClr val="bg1">
                  <a:lumMod val="50000"/>
                </a:schemeClr>
              </a:solidFill>
              <a:latin typeface="Arial" panose="020B0604020202020204" pitchFamily="34" charset="0"/>
              <a:cs typeface="Arial" panose="020B0604020202020204" pitchFamily="34" charset="0"/>
            </a:endParaRPr>
          </a:p>
          <a:p>
            <a:endParaRPr lang="en-US" sz="1700" dirty="0" smtClean="0">
              <a:latin typeface="Arial" panose="020B0604020202020204" pitchFamily="34" charset="0"/>
              <a:cs typeface="Arial" panose="020B0604020202020204" pitchFamily="34" charset="0"/>
            </a:endParaRPr>
          </a:p>
          <a:p>
            <a:r>
              <a:rPr lang="en-US" sz="2400" dirty="0" smtClean="0">
                <a:latin typeface="Arial" panose="020B0604020202020204" pitchFamily="34" charset="0"/>
                <a:cs typeface="Arial" panose="020B0604020202020204" pitchFamily="34" charset="0"/>
              </a:rPr>
              <a:t>What will the change/success look like?</a:t>
            </a:r>
          </a:p>
          <a:p>
            <a:pPr lvl="1"/>
            <a:r>
              <a:rPr lang="en-US" sz="2200" dirty="0" smtClean="0">
                <a:solidFill>
                  <a:schemeClr val="bg1">
                    <a:lumMod val="50000"/>
                  </a:schemeClr>
                </a:solidFill>
                <a:latin typeface="Arial" panose="020B0604020202020204" pitchFamily="34" charset="0"/>
                <a:cs typeface="Arial" panose="020B0604020202020204" pitchFamily="34" charset="0"/>
              </a:rPr>
              <a:t>What are the attributes and what are the criteria for success.</a:t>
            </a:r>
          </a:p>
          <a:p>
            <a:pPr lvl="1"/>
            <a:endParaRPr lang="en-US" sz="2000" dirty="0" smtClean="0">
              <a:latin typeface="Arial" panose="020B0604020202020204" pitchFamily="34" charset="0"/>
              <a:cs typeface="Arial" panose="020B0604020202020204" pitchFamily="34" charset="0"/>
            </a:endParaRPr>
          </a:p>
          <a:p>
            <a:r>
              <a:rPr lang="en-US" sz="2400" dirty="0" smtClean="0">
                <a:latin typeface="Arial" panose="020B0604020202020204" pitchFamily="34" charset="0"/>
                <a:cs typeface="Arial" panose="020B0604020202020204" pitchFamily="34" charset="0"/>
              </a:rPr>
              <a:t>What is the pathway for change?</a:t>
            </a:r>
          </a:p>
          <a:p>
            <a:pPr lvl="1"/>
            <a:r>
              <a:rPr lang="en-US" sz="2200" dirty="0" smtClean="0">
                <a:solidFill>
                  <a:schemeClr val="bg1">
                    <a:lumMod val="50000"/>
                  </a:schemeClr>
                </a:solidFill>
                <a:latin typeface="Arial" panose="020B0604020202020204" pitchFamily="34" charset="0"/>
                <a:cs typeface="Arial" panose="020B0604020202020204" pitchFamily="34" charset="0"/>
              </a:rPr>
              <a:t>Tipping point </a:t>
            </a:r>
          </a:p>
          <a:p>
            <a:pPr lvl="1"/>
            <a:endParaRPr lang="en-US" sz="2000" dirty="0" smtClean="0">
              <a:latin typeface="Arial" panose="020B0604020202020204" pitchFamily="34" charset="0"/>
              <a:cs typeface="Arial" panose="020B0604020202020204" pitchFamily="34" charset="0"/>
            </a:endParaRPr>
          </a:p>
          <a:p>
            <a:r>
              <a:rPr lang="en-US" sz="2400" dirty="0" smtClean="0">
                <a:latin typeface="Arial" panose="020B0604020202020204" pitchFamily="34" charset="0"/>
                <a:cs typeface="Arial" panose="020B0604020202020204" pitchFamily="34" charset="0"/>
              </a:rPr>
              <a:t>How </a:t>
            </a:r>
            <a:r>
              <a:rPr lang="en-US" sz="2400" dirty="0">
                <a:latin typeface="Arial" panose="020B0604020202020204" pitchFamily="34" charset="0"/>
                <a:cs typeface="Arial" panose="020B0604020202020204" pitchFamily="34" charset="0"/>
              </a:rPr>
              <a:t>will you communicate </a:t>
            </a:r>
            <a:r>
              <a:rPr lang="en-US" sz="2400" dirty="0" smtClean="0">
                <a:latin typeface="Arial" panose="020B0604020202020204" pitchFamily="34" charset="0"/>
                <a:cs typeface="Arial" panose="020B0604020202020204" pitchFamily="34" charset="0"/>
              </a:rPr>
              <a:t>it and report it? </a:t>
            </a:r>
            <a:endParaRPr lang="en-US" sz="2400" dirty="0">
              <a:latin typeface="Arial" panose="020B0604020202020204" pitchFamily="34" charset="0"/>
              <a:cs typeface="Arial" panose="020B0604020202020204" pitchFamily="34" charset="0"/>
            </a:endParaRPr>
          </a:p>
          <a:p>
            <a:pPr lvl="1"/>
            <a:r>
              <a:rPr lang="en-US" sz="2200" dirty="0" smtClean="0">
                <a:solidFill>
                  <a:schemeClr val="bg1">
                    <a:lumMod val="50000"/>
                  </a:schemeClr>
                </a:solidFill>
                <a:latin typeface="Arial" panose="020B0604020202020204" pitchFamily="34" charset="0"/>
                <a:cs typeface="Arial" panose="020B0604020202020204" pitchFamily="34" charset="0"/>
              </a:rPr>
              <a:t>Visual plus narrative</a:t>
            </a:r>
            <a:endParaRPr lang="en-US" sz="2200" dirty="0">
              <a:solidFill>
                <a:schemeClr val="bg1">
                  <a:lumMod val="50000"/>
                </a:schemeClr>
              </a:solidFill>
              <a:latin typeface="Arial" panose="020B0604020202020204" pitchFamily="34" charset="0"/>
              <a:cs typeface="Arial" panose="020B0604020202020204" pitchFamily="34" charset="0"/>
            </a:endParaRPr>
          </a:p>
          <a:p>
            <a:pPr lvl="1"/>
            <a:endParaRPr lang="en-US" sz="2000" dirty="0" smtClean="0">
              <a:latin typeface="Arial" panose="020B0604020202020204" pitchFamily="34" charset="0"/>
              <a:cs typeface="Arial" panose="020B0604020202020204" pitchFamily="34" charset="0"/>
            </a:endParaRPr>
          </a:p>
        </p:txBody>
      </p:sp>
      <p:sp>
        <p:nvSpPr>
          <p:cNvPr id="4" name="Oval 3"/>
          <p:cNvSpPr/>
          <p:nvPr/>
        </p:nvSpPr>
        <p:spPr>
          <a:xfrm>
            <a:off x="2170910" y="906966"/>
            <a:ext cx="1828800" cy="1828800"/>
          </a:xfrm>
          <a:prstGeom prst="ellipse">
            <a:avLst/>
          </a:prstGeom>
        </p:spPr>
        <p:style>
          <a:lnRef idx="2">
            <a:schemeClr val="accent5"/>
          </a:lnRef>
          <a:fillRef idx="1">
            <a:schemeClr val="lt1"/>
          </a:fillRef>
          <a:effectRef idx="0">
            <a:schemeClr val="accent5"/>
          </a:effectRef>
          <a:fontRef idx="minor">
            <a:schemeClr val="dk1"/>
          </a:fontRef>
        </p:style>
        <p:txBody>
          <a:bodyPr wrap="none" rtlCol="0" anchor="ctr"/>
          <a:lstStyle/>
          <a:p>
            <a:pPr algn="ctr"/>
            <a:r>
              <a:rPr lang="en-US" sz="2000" dirty="0" smtClean="0">
                <a:latin typeface="Arial" panose="020B0604020202020204" pitchFamily="34" charset="0"/>
                <a:cs typeface="Arial" panose="020B0604020202020204" pitchFamily="34" charset="0"/>
              </a:rPr>
              <a:t>Physical</a:t>
            </a:r>
          </a:p>
          <a:p>
            <a:pPr algn="ctr"/>
            <a:r>
              <a:rPr lang="en-US" sz="2000" dirty="0" smtClean="0">
                <a:latin typeface="Arial" panose="020B0604020202020204" pitchFamily="34" charset="0"/>
                <a:cs typeface="Arial" panose="020B0604020202020204" pitchFamily="34" charset="0"/>
              </a:rPr>
              <a:t>Process</a:t>
            </a:r>
            <a:endParaRPr lang="en-US" sz="2000" dirty="0">
              <a:latin typeface="Arial" panose="020B0604020202020204" pitchFamily="34" charset="0"/>
              <a:cs typeface="Arial" panose="020B0604020202020204" pitchFamily="34" charset="0"/>
            </a:endParaRPr>
          </a:p>
        </p:txBody>
      </p:sp>
      <p:sp>
        <p:nvSpPr>
          <p:cNvPr id="6" name="Oval 5"/>
          <p:cNvSpPr/>
          <p:nvPr/>
        </p:nvSpPr>
        <p:spPr>
          <a:xfrm>
            <a:off x="4138901" y="2406217"/>
            <a:ext cx="1828800" cy="1828800"/>
          </a:xfrm>
          <a:prstGeom prst="ellipse">
            <a:avLst/>
          </a:prstGeom>
        </p:spPr>
        <p:style>
          <a:lnRef idx="2">
            <a:schemeClr val="accent5"/>
          </a:lnRef>
          <a:fillRef idx="1">
            <a:schemeClr val="lt1"/>
          </a:fillRef>
          <a:effectRef idx="0">
            <a:schemeClr val="accent5"/>
          </a:effectRef>
          <a:fontRef idx="minor">
            <a:schemeClr val="dk1"/>
          </a:fontRef>
        </p:style>
        <p:txBody>
          <a:bodyPr wrap="none" rtlCol="0" anchor="ctr"/>
          <a:lstStyle/>
          <a:p>
            <a:pPr algn="ctr"/>
            <a:r>
              <a:rPr lang="en-US" sz="2000" dirty="0" smtClean="0">
                <a:latin typeface="Arial" panose="020B0604020202020204" pitchFamily="34" charset="0"/>
                <a:cs typeface="Arial" panose="020B0604020202020204" pitchFamily="34" charset="0"/>
              </a:rPr>
              <a:t>Psychological</a:t>
            </a:r>
          </a:p>
          <a:p>
            <a:pPr algn="ctr"/>
            <a:r>
              <a:rPr lang="en-US" sz="2000" dirty="0" smtClean="0">
                <a:latin typeface="Arial" panose="020B0604020202020204" pitchFamily="34" charset="0"/>
                <a:cs typeface="Arial" panose="020B0604020202020204" pitchFamily="34" charset="0"/>
              </a:rPr>
              <a:t>Process</a:t>
            </a:r>
            <a:endParaRPr lang="en-US" sz="2000" dirty="0">
              <a:latin typeface="Arial" panose="020B0604020202020204" pitchFamily="34" charset="0"/>
              <a:cs typeface="Arial" panose="020B0604020202020204" pitchFamily="34" charset="0"/>
            </a:endParaRPr>
          </a:p>
        </p:txBody>
      </p:sp>
      <p:sp>
        <p:nvSpPr>
          <p:cNvPr id="8" name="Oval 7"/>
          <p:cNvSpPr/>
          <p:nvPr/>
        </p:nvSpPr>
        <p:spPr>
          <a:xfrm>
            <a:off x="2170910" y="3905467"/>
            <a:ext cx="1828800" cy="1828800"/>
          </a:xfrm>
          <a:prstGeom prst="ellipse">
            <a:avLst/>
          </a:prstGeom>
        </p:spPr>
        <p:style>
          <a:lnRef idx="2">
            <a:schemeClr val="accent5"/>
          </a:lnRef>
          <a:fillRef idx="1">
            <a:schemeClr val="lt1"/>
          </a:fillRef>
          <a:effectRef idx="0">
            <a:schemeClr val="accent5"/>
          </a:effectRef>
          <a:fontRef idx="minor">
            <a:schemeClr val="dk1"/>
          </a:fontRef>
        </p:style>
        <p:txBody>
          <a:bodyPr wrap="none" rtlCol="0" anchor="ctr"/>
          <a:lstStyle/>
          <a:p>
            <a:pPr algn="ctr"/>
            <a:r>
              <a:rPr lang="en-US" sz="2000" dirty="0" smtClean="0">
                <a:latin typeface="Arial" panose="020B0604020202020204" pitchFamily="34" charset="0"/>
                <a:cs typeface="Arial" panose="020B0604020202020204" pitchFamily="34" charset="0"/>
              </a:rPr>
              <a:t>Economic</a:t>
            </a:r>
          </a:p>
          <a:p>
            <a:pPr algn="ctr"/>
            <a:r>
              <a:rPr lang="en-US" sz="2000" dirty="0" smtClean="0">
                <a:latin typeface="Arial" panose="020B0604020202020204" pitchFamily="34" charset="0"/>
                <a:cs typeface="Arial" panose="020B0604020202020204" pitchFamily="34" charset="0"/>
              </a:rPr>
              <a:t>Process</a:t>
            </a:r>
            <a:endParaRPr lang="en-US" sz="2000" dirty="0">
              <a:latin typeface="Arial" panose="020B0604020202020204" pitchFamily="34" charset="0"/>
              <a:cs typeface="Arial" panose="020B0604020202020204" pitchFamily="34" charset="0"/>
            </a:endParaRPr>
          </a:p>
        </p:txBody>
      </p:sp>
      <p:sp>
        <p:nvSpPr>
          <p:cNvPr id="9" name="Oval 8"/>
          <p:cNvSpPr/>
          <p:nvPr/>
        </p:nvSpPr>
        <p:spPr>
          <a:xfrm>
            <a:off x="263632" y="2406217"/>
            <a:ext cx="1828800" cy="1828800"/>
          </a:xfrm>
          <a:prstGeom prst="ellipse">
            <a:avLst/>
          </a:prstGeom>
        </p:spPr>
        <p:style>
          <a:lnRef idx="2">
            <a:schemeClr val="accent5"/>
          </a:lnRef>
          <a:fillRef idx="1">
            <a:schemeClr val="lt1"/>
          </a:fillRef>
          <a:effectRef idx="0">
            <a:schemeClr val="accent5"/>
          </a:effectRef>
          <a:fontRef idx="minor">
            <a:schemeClr val="dk1"/>
          </a:fontRef>
        </p:style>
        <p:txBody>
          <a:bodyPr wrap="none" rtlCol="0" anchor="ctr"/>
          <a:lstStyle/>
          <a:p>
            <a:pPr algn="ctr"/>
            <a:r>
              <a:rPr lang="en-US" sz="2000" dirty="0" smtClean="0">
                <a:latin typeface="Arial" panose="020B0604020202020204" pitchFamily="34" charset="0"/>
                <a:cs typeface="Arial" panose="020B0604020202020204" pitchFamily="34" charset="0"/>
              </a:rPr>
              <a:t>Social</a:t>
            </a:r>
          </a:p>
          <a:p>
            <a:pPr algn="ctr"/>
            <a:r>
              <a:rPr lang="en-US" sz="2000" dirty="0" smtClean="0">
                <a:latin typeface="Arial" panose="020B0604020202020204" pitchFamily="34" charset="0"/>
                <a:cs typeface="Arial" panose="020B0604020202020204" pitchFamily="34" charset="0"/>
              </a:rPr>
              <a:t>Process</a:t>
            </a:r>
            <a:endParaRPr lang="en-US" sz="2000" dirty="0">
              <a:latin typeface="Arial" panose="020B0604020202020204" pitchFamily="34" charset="0"/>
              <a:cs typeface="Arial" panose="020B0604020202020204" pitchFamily="34" charset="0"/>
            </a:endParaRPr>
          </a:p>
        </p:txBody>
      </p:sp>
      <p:sp>
        <p:nvSpPr>
          <p:cNvPr id="10" name="TextBox 9"/>
          <p:cNvSpPr txBox="1"/>
          <p:nvPr/>
        </p:nvSpPr>
        <p:spPr>
          <a:xfrm>
            <a:off x="2056888" y="2912823"/>
            <a:ext cx="2117558" cy="523220"/>
          </a:xfrm>
          <a:prstGeom prst="rect">
            <a:avLst/>
          </a:prstGeom>
          <a:noFill/>
        </p:spPr>
        <p:txBody>
          <a:bodyPr wrap="square" rtlCol="0">
            <a:spAutoFit/>
          </a:bodyPr>
          <a:lstStyle/>
          <a:p>
            <a:pPr algn="ctr"/>
            <a:r>
              <a:rPr lang="en-US" sz="2800" dirty="0" smtClean="0">
                <a:solidFill>
                  <a:schemeClr val="bg1"/>
                </a:solidFill>
                <a:latin typeface="Arial" panose="020B0604020202020204" pitchFamily="34" charset="0"/>
                <a:cs typeface="Arial" panose="020B0604020202020204" pitchFamily="34" charset="0"/>
              </a:rPr>
              <a:t>CHANGE</a:t>
            </a:r>
            <a:endParaRPr lang="en-US" sz="28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19575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Group work</a:t>
            </a:r>
          </a:p>
        </p:txBody>
      </p:sp>
      <p:sp>
        <p:nvSpPr>
          <p:cNvPr id="3" name="Content Placeholder 2"/>
          <p:cNvSpPr txBox="1">
            <a:spLocks/>
          </p:cNvSpPr>
          <p:nvPr/>
        </p:nvSpPr>
        <p:spPr>
          <a:xfrm>
            <a:off x="2950902" y="3428917"/>
            <a:ext cx="6290196" cy="181964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AutoNum type="arabicPeriod"/>
            </a:pPr>
            <a:r>
              <a:rPr lang="en-US" sz="2400" dirty="0" smtClean="0">
                <a:latin typeface="Arial" panose="020B0604020202020204" pitchFamily="34" charset="0"/>
                <a:cs typeface="Arial" panose="020B0604020202020204" pitchFamily="34" charset="0"/>
              </a:rPr>
              <a:t>Convert the problem tree to an outcome chain/solution tree</a:t>
            </a:r>
          </a:p>
          <a:p>
            <a:pPr marL="0" indent="0">
              <a:buNone/>
            </a:pPr>
            <a:r>
              <a:rPr lang="en-US" sz="2400" dirty="0" smtClean="0">
                <a:latin typeface="Arial" panose="020B0604020202020204" pitchFamily="34" charset="0"/>
                <a:cs typeface="Arial" panose="020B0604020202020204" pitchFamily="34" charset="0"/>
              </a:rPr>
              <a:t>	</a:t>
            </a:r>
          </a:p>
          <a:p>
            <a:pPr marL="457200" indent="-457200">
              <a:buFont typeface="Arial" panose="020B0604020202020204" pitchFamily="34" charset="0"/>
              <a:buAutoNum type="arabicPeriod"/>
            </a:pPr>
            <a:endParaRPr lang="en-US" sz="2400" dirty="0">
              <a:latin typeface="Arial" panose="020B0604020202020204" pitchFamily="34" charset="0"/>
              <a:cs typeface="Arial" panose="020B0604020202020204" pitchFamily="34" charset="0"/>
            </a:endParaRPr>
          </a:p>
        </p:txBody>
      </p:sp>
      <p:pic>
        <p:nvPicPr>
          <p:cNvPr id="4" name="Picture 2" descr="http://cdn2.hubspot.net/hub/390757/file-1027248010-png/images/people-connect-icon.png?t=1455723441285&amp;width=28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70155"/>
            <a:ext cx="2705100" cy="2266951"/>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p:cNvGrpSpPr/>
          <p:nvPr/>
        </p:nvGrpSpPr>
        <p:grpSpPr>
          <a:xfrm>
            <a:off x="9496535" y="385010"/>
            <a:ext cx="2605889" cy="2618919"/>
            <a:chOff x="9144893" y="3947636"/>
            <a:chExt cx="2605889" cy="2618919"/>
          </a:xfrm>
        </p:grpSpPr>
        <p:pic>
          <p:nvPicPr>
            <p:cNvPr id="11" name="Picture 6" descr="http://1.bp.blogspot.com/-ywKlrpnUnqo/Tc8Axuwu_mI/AAAAAAAAARY/V1EBr_BYHMs/s1600/Post-it_Yellow.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893" y="3947636"/>
              <a:ext cx="2605889" cy="2618919"/>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rot="21230164">
              <a:off x="9448204" y="4622269"/>
              <a:ext cx="1851789" cy="1323439"/>
            </a:xfrm>
            <a:prstGeom prst="rect">
              <a:avLst/>
            </a:prstGeom>
          </p:spPr>
          <p:txBody>
            <a:bodyPr wrap="none">
              <a:spAutoFit/>
            </a:bodyPr>
            <a:lstStyle/>
            <a:p>
              <a:pPr marL="0" lvl="1" algn="ctr"/>
              <a:r>
                <a:rPr lang="en-US" sz="2000" dirty="0">
                  <a:latin typeface="Arial" panose="020B0604020202020204" pitchFamily="34" charset="0"/>
                  <a:cs typeface="Arial" panose="020B0604020202020204" pitchFamily="34" charset="0"/>
                </a:rPr>
                <a:t>Present </a:t>
              </a:r>
              <a:r>
                <a:rPr lang="en-US" sz="2000" dirty="0" smtClean="0">
                  <a:latin typeface="Arial" panose="020B0604020202020204" pitchFamily="34" charset="0"/>
                  <a:cs typeface="Arial" panose="020B0604020202020204" pitchFamily="34" charset="0"/>
                </a:rPr>
                <a:t>the</a:t>
              </a:r>
            </a:p>
            <a:p>
              <a:pPr marL="0" lvl="1" algn="ctr"/>
              <a:r>
                <a:rPr lang="en-US" sz="2000" dirty="0" smtClean="0">
                  <a:latin typeface="Arial" panose="020B0604020202020204" pitchFamily="34" charset="0"/>
                  <a:cs typeface="Arial" panose="020B0604020202020204" pitchFamily="34" charset="0"/>
                </a:rPr>
                <a:t>outcome chain</a:t>
              </a:r>
            </a:p>
            <a:p>
              <a:pPr marL="0" lvl="1" algn="ctr"/>
              <a:r>
                <a:rPr lang="en-US" sz="2000" dirty="0" smtClean="0">
                  <a:latin typeface="Arial" panose="020B0604020202020204" pitchFamily="34" charset="0"/>
                  <a:cs typeface="Arial" panose="020B0604020202020204" pitchFamily="34" charset="0"/>
                </a:rPr>
                <a:t>using </a:t>
              </a:r>
            </a:p>
            <a:p>
              <a:pPr marL="0" lvl="1" algn="ctr"/>
              <a:r>
                <a:rPr lang="en-US" sz="2000" dirty="0" smtClean="0">
                  <a:latin typeface="Arial" panose="020B0604020202020204" pitchFamily="34" charset="0"/>
                  <a:cs typeface="Arial" panose="020B0604020202020204" pitchFamily="34" charset="0"/>
                </a:rPr>
                <a:t>VIPP </a:t>
              </a:r>
              <a:r>
                <a:rPr lang="en-US" sz="2000" dirty="0">
                  <a:latin typeface="Arial" panose="020B0604020202020204" pitchFamily="34" charset="0"/>
                  <a:cs typeface="Arial" panose="020B0604020202020204" pitchFamily="34" charset="0"/>
                </a:rPr>
                <a:t>cards</a:t>
              </a:r>
            </a:p>
          </p:txBody>
        </p:sp>
      </p:grpSp>
      <p:pic>
        <p:nvPicPr>
          <p:cNvPr id="4104" name="Picture 8" descr="https://d30y9cdsu7xlg0.cloudfront.net/png/3638-20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3471" y="3622880"/>
            <a:ext cx="2757433" cy="275743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8901953" y="5765168"/>
            <a:ext cx="3200471" cy="1015663"/>
          </a:xfrm>
          <a:prstGeom prst="rect">
            <a:avLst/>
          </a:prstGeom>
          <a:solidFill>
            <a:schemeClr val="bg1"/>
          </a:solidFill>
        </p:spPr>
        <p:txBody>
          <a:bodyPr wrap="square">
            <a:spAutoFit/>
          </a:bodyPr>
          <a:lstStyle/>
          <a:p>
            <a:pPr algn="ctr"/>
            <a:r>
              <a:rPr lang="en-US" sz="2000" dirty="0">
                <a:latin typeface="Arial" panose="020B0604020202020204" pitchFamily="34" charset="0"/>
                <a:cs typeface="Arial" panose="020B0604020202020204" pitchFamily="34" charset="0"/>
              </a:rPr>
              <a:t>Present your justification for prioritization on a flipchart paper</a:t>
            </a:r>
            <a:endParaRPr lang="en-US" sz="2000" dirty="0"/>
          </a:p>
        </p:txBody>
      </p:sp>
    </p:spTree>
    <p:extLst>
      <p:ext uri="{BB962C8B-B14F-4D97-AF65-F5344CB8AC3E}">
        <p14:creationId xmlns:p14="http://schemas.microsoft.com/office/powerpoint/2010/main" val="167329327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277470" y="3227295"/>
            <a:ext cx="10914529" cy="770021"/>
          </a:xfrm>
        </p:spPr>
        <p:txBody>
          <a:bodyPr>
            <a:normAutofit/>
          </a:bodyPr>
          <a:lstStyle/>
          <a:p>
            <a:pPr algn="ctr"/>
            <a:r>
              <a:rPr lang="en-US" sz="3600" dirty="0" smtClean="0">
                <a:solidFill>
                  <a:srgbClr val="0099FF"/>
                </a:solidFill>
                <a:latin typeface="Arial" panose="020B0604020202020204" pitchFamily="34" charset="0"/>
                <a:cs typeface="Arial" panose="020B0604020202020204" pitchFamily="34" charset="0"/>
              </a:rPr>
              <a:t>Any Questions?</a:t>
            </a:r>
            <a:endParaRPr lang="en-US" sz="3600" dirty="0">
              <a:solidFill>
                <a:srgbClr val="0099FF"/>
              </a:solidFill>
              <a:latin typeface="Arial" panose="020B0604020202020204" pitchFamily="34" charset="0"/>
              <a:cs typeface="Arial" panose="020B0604020202020204" pitchFamily="34" charset="0"/>
            </a:endParaRPr>
          </a:p>
        </p:txBody>
      </p:sp>
      <p:pic>
        <p:nvPicPr>
          <p:cNvPr id="1026" name="Picture 2" descr="https://cdn2.iconfinder.com/data/icons/freecns-cumulus/16/519660-164_QuestionMark-512.png"/>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79762" y="2773404"/>
            <a:ext cx="1677801" cy="1677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405100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60884" y="2502568"/>
            <a:ext cx="8855242" cy="2839453"/>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860884" y="2502567"/>
            <a:ext cx="8855242" cy="2839453"/>
          </a:xfrm>
        </p:spPr>
        <p:txBody>
          <a:bodyPr vert="horz" lIns="91440" tIns="45720" rIns="91440" bIns="45720" rtlCol="0" anchor="ctr">
            <a:noAutofit/>
          </a:bodyPr>
          <a:lstStyle/>
          <a:p>
            <a:pPr algn="ctr"/>
            <a:r>
              <a:rPr lang="en-US" sz="4000" dirty="0" smtClean="0">
                <a:solidFill>
                  <a:srgbClr val="0099FF"/>
                </a:solidFill>
                <a:latin typeface="Arial" panose="020B0604020202020204" pitchFamily="34" charset="0"/>
                <a:cs typeface="Arial" panose="020B0604020202020204" pitchFamily="34" charset="0"/>
              </a:rPr>
              <a:t>THEORY OF CHANGE:</a:t>
            </a:r>
            <a:br>
              <a:rPr lang="en-US" sz="4000" dirty="0" smtClean="0">
                <a:solidFill>
                  <a:srgbClr val="0099FF"/>
                </a:solidFill>
                <a:latin typeface="Arial" panose="020B0604020202020204" pitchFamily="34" charset="0"/>
                <a:cs typeface="Arial" panose="020B0604020202020204" pitchFamily="34" charset="0"/>
              </a:rPr>
            </a:br>
            <a:r>
              <a:rPr lang="en-US" sz="4000" dirty="0" smtClean="0">
                <a:solidFill>
                  <a:srgbClr val="0099FF"/>
                </a:solidFill>
                <a:latin typeface="Arial" panose="020B0604020202020204" pitchFamily="34" charset="0"/>
                <a:cs typeface="Arial" panose="020B0604020202020204" pitchFamily="34" charset="0"/>
              </a:rPr>
              <a:t/>
            </a:r>
            <a:br>
              <a:rPr lang="en-US" sz="4000" dirty="0" smtClean="0">
                <a:solidFill>
                  <a:srgbClr val="0099FF"/>
                </a:solidFill>
                <a:latin typeface="Arial" panose="020B0604020202020204" pitchFamily="34" charset="0"/>
                <a:cs typeface="Arial" panose="020B0604020202020204" pitchFamily="34" charset="0"/>
              </a:rPr>
            </a:br>
            <a:r>
              <a:rPr lang="en-US" sz="4000" dirty="0" smtClean="0">
                <a:solidFill>
                  <a:srgbClr val="0099FF"/>
                </a:solidFill>
                <a:latin typeface="Arial" panose="020B0604020202020204" pitchFamily="34" charset="0"/>
                <a:cs typeface="Arial" panose="020B0604020202020204" pitchFamily="34" charset="0"/>
              </a:rPr>
              <a:t>PRIORITIZATION</a:t>
            </a:r>
            <a:endParaRPr lang="en-US" sz="2800" dirty="0">
              <a:solidFill>
                <a:schemeClr val="bg1">
                  <a:lumMod val="50000"/>
                </a:schemeClr>
              </a:solidFill>
              <a:latin typeface="Arial" panose="020B0604020202020204" pitchFamily="34" charset="0"/>
              <a:cs typeface="Arial" panose="020B0604020202020204" pitchFamily="34" charset="0"/>
            </a:endParaRPr>
          </a:p>
        </p:txBody>
      </p:sp>
      <p:sp>
        <p:nvSpPr>
          <p:cNvPr id="6" name="Rectangle 5"/>
          <p:cNvSpPr/>
          <p:nvPr/>
        </p:nvSpPr>
        <p:spPr>
          <a:xfrm>
            <a:off x="1860884" y="1612232"/>
            <a:ext cx="8855242" cy="890336"/>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bg1">
                    <a:lumMod val="65000"/>
                  </a:schemeClr>
                </a:solidFill>
                <a:latin typeface="Arial" panose="020B0604020202020204" pitchFamily="34" charset="0"/>
                <a:cs typeface="Arial" panose="020B0604020202020204" pitchFamily="34" charset="0"/>
              </a:rPr>
              <a:t>SESSION 5</a:t>
            </a:r>
            <a:endParaRPr lang="en-US" sz="2800" dirty="0">
              <a:solidFill>
                <a:schemeClr val="bg1">
                  <a:lumMod val="6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6976053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Session objectives</a:t>
            </a:r>
          </a:p>
        </p:txBody>
      </p:sp>
      <p:sp>
        <p:nvSpPr>
          <p:cNvPr id="4" name="Text Placeholder 2"/>
          <p:cNvSpPr txBox="1">
            <a:spLocks/>
          </p:cNvSpPr>
          <p:nvPr/>
        </p:nvSpPr>
        <p:spPr>
          <a:xfrm>
            <a:off x="1366495" y="1797957"/>
            <a:ext cx="9459009" cy="3492500"/>
          </a:xfrm>
          <a:prstGeom prst="rect">
            <a:avLst/>
          </a:prstGeom>
        </p:spPr>
        <p:txBody>
          <a:bodyPr vert="horz"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200"/>
              </a:spcAft>
            </a:pPr>
            <a:r>
              <a:rPr lang="en-US" sz="2400" dirty="0" smtClean="0">
                <a:latin typeface="Arial" panose="020B0604020202020204" pitchFamily="34" charset="0"/>
                <a:cs typeface="Arial" panose="020B0604020202020204" pitchFamily="34" charset="0"/>
              </a:rPr>
              <a:t>Understand how prioritization support results-focused programme design </a:t>
            </a:r>
          </a:p>
          <a:p>
            <a:pPr>
              <a:spcAft>
                <a:spcPts val="1200"/>
              </a:spcAft>
            </a:pPr>
            <a:endParaRPr lang="en-US" sz="2400" dirty="0" smtClean="0">
              <a:latin typeface="Arial" panose="020B0604020202020204" pitchFamily="34" charset="0"/>
              <a:cs typeface="Arial" panose="020B0604020202020204" pitchFamily="34" charset="0"/>
            </a:endParaRPr>
          </a:p>
          <a:p>
            <a:pPr>
              <a:spcAft>
                <a:spcPts val="1200"/>
              </a:spcAft>
            </a:pPr>
            <a:r>
              <a:rPr lang="en-US" sz="2400" dirty="0" smtClean="0">
                <a:latin typeface="Arial" panose="020B0604020202020204" pitchFamily="34" charset="0"/>
                <a:cs typeface="Arial" panose="020B0604020202020204" pitchFamily="34" charset="0"/>
              </a:rPr>
              <a:t>Understand UNICEF’s comparative advantage</a:t>
            </a:r>
          </a:p>
          <a:p>
            <a:pPr>
              <a:spcAft>
                <a:spcPts val="1200"/>
              </a:spcAft>
            </a:pPr>
            <a:endParaRPr lang="en-US" sz="2400" dirty="0" smtClean="0">
              <a:latin typeface="Arial" panose="020B0604020202020204" pitchFamily="34" charset="0"/>
              <a:cs typeface="Arial" panose="020B0604020202020204" pitchFamily="34" charset="0"/>
            </a:endParaRPr>
          </a:p>
          <a:p>
            <a:pPr>
              <a:spcAft>
                <a:spcPts val="1200"/>
              </a:spcAft>
            </a:pPr>
            <a:r>
              <a:rPr lang="en-US" sz="2400" dirty="0" smtClean="0">
                <a:latin typeface="Arial" panose="020B0604020202020204" pitchFamily="34" charset="0"/>
                <a:cs typeface="Arial" panose="020B0604020202020204" pitchFamily="34" charset="0"/>
              </a:rPr>
              <a:t>Be able to prioritize actions using the ‘funnel’ approach</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1231268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0"/>
            <a:ext cx="12192000" cy="770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0099FF"/>
                </a:solidFill>
                <a:latin typeface="Arial" panose="020B0604020202020204" pitchFamily="34" charset="0"/>
                <a:cs typeface="Arial" panose="020B0604020202020204" pitchFamily="34" charset="0"/>
              </a:rPr>
              <a:t>Prioritization: Scope and focus of programmes</a:t>
            </a:r>
            <a:endParaRPr lang="en-US" sz="3600" dirty="0" smtClean="0">
              <a:solidFill>
                <a:srgbClr val="0099FF"/>
              </a:solidFill>
              <a:latin typeface="Arial" panose="020B0604020202020204" pitchFamily="34" charset="0"/>
              <a:cs typeface="Arial" panose="020B0604020202020204" pitchFamily="34" charset="0"/>
            </a:endParaRPr>
          </a:p>
        </p:txBody>
      </p:sp>
      <p:sp>
        <p:nvSpPr>
          <p:cNvPr id="6" name="Rectangle 5"/>
          <p:cNvSpPr/>
          <p:nvPr/>
        </p:nvSpPr>
        <p:spPr>
          <a:xfrm>
            <a:off x="292769" y="2021305"/>
            <a:ext cx="3416968" cy="3721769"/>
          </a:xfrm>
          <a:prstGeom prst="rect">
            <a:avLst/>
          </a:prstGeom>
          <a:ln>
            <a:solidFill>
              <a:srgbClr val="0099FF"/>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7" name="TextBox 6"/>
          <p:cNvSpPr txBox="1"/>
          <p:nvPr/>
        </p:nvSpPr>
        <p:spPr>
          <a:xfrm>
            <a:off x="717885" y="1577656"/>
            <a:ext cx="2502568" cy="584775"/>
          </a:xfrm>
          <a:prstGeom prst="rect">
            <a:avLst/>
          </a:prstGeom>
          <a:noFill/>
        </p:spPr>
        <p:txBody>
          <a:bodyPr wrap="square" rtlCol="0">
            <a:spAutoFit/>
          </a:bodyPr>
          <a:lstStyle/>
          <a:p>
            <a:pPr algn="ctr"/>
            <a:r>
              <a:rPr lang="en-US" sz="3200" b="1" dirty="0" smtClean="0">
                <a:solidFill>
                  <a:srgbClr val="0099FF"/>
                </a:solidFill>
                <a:latin typeface="Arial" panose="020B0604020202020204" pitchFamily="34" charset="0"/>
                <a:cs typeface="Arial" panose="020B0604020202020204" pitchFamily="34" charset="0"/>
              </a:rPr>
              <a:t>FOCUS</a:t>
            </a:r>
            <a:endParaRPr lang="en-US" sz="3200" b="1" dirty="0">
              <a:solidFill>
                <a:srgbClr val="0099FF"/>
              </a:solidFill>
              <a:latin typeface="Arial" panose="020B0604020202020204" pitchFamily="34" charset="0"/>
              <a:cs typeface="Arial" panose="020B0604020202020204" pitchFamily="34" charset="0"/>
            </a:endParaRPr>
          </a:p>
        </p:txBody>
      </p:sp>
      <p:sp>
        <p:nvSpPr>
          <p:cNvPr id="8" name="Rectangle 7"/>
          <p:cNvSpPr/>
          <p:nvPr/>
        </p:nvSpPr>
        <p:spPr>
          <a:xfrm>
            <a:off x="4375485" y="2021305"/>
            <a:ext cx="3416968" cy="3721769"/>
          </a:xfrm>
          <a:prstGeom prst="rect">
            <a:avLst/>
          </a:prstGeom>
          <a:ln>
            <a:solidFill>
              <a:srgbClr val="00B05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9" name="TextBox 8"/>
          <p:cNvSpPr txBox="1"/>
          <p:nvPr/>
        </p:nvSpPr>
        <p:spPr>
          <a:xfrm>
            <a:off x="4800601" y="1577656"/>
            <a:ext cx="2502568" cy="584775"/>
          </a:xfrm>
          <a:prstGeom prst="rect">
            <a:avLst/>
          </a:prstGeom>
          <a:noFill/>
        </p:spPr>
        <p:txBody>
          <a:bodyPr wrap="square" rtlCol="0">
            <a:spAutoFit/>
          </a:bodyPr>
          <a:lstStyle/>
          <a:p>
            <a:pPr algn="ctr"/>
            <a:r>
              <a:rPr lang="en-US" sz="3200" b="1" dirty="0" smtClean="0">
                <a:solidFill>
                  <a:srgbClr val="00B050"/>
                </a:solidFill>
                <a:latin typeface="Arial" panose="020B0604020202020204" pitchFamily="34" charset="0"/>
                <a:cs typeface="Arial" panose="020B0604020202020204" pitchFamily="34" charset="0"/>
              </a:rPr>
              <a:t>SCOPE</a:t>
            </a:r>
            <a:endParaRPr lang="en-US" sz="3200" b="1" dirty="0">
              <a:solidFill>
                <a:srgbClr val="00B050"/>
              </a:solidFill>
              <a:latin typeface="Arial" panose="020B0604020202020204" pitchFamily="34" charset="0"/>
              <a:cs typeface="Arial" panose="020B0604020202020204" pitchFamily="34" charset="0"/>
            </a:endParaRPr>
          </a:p>
        </p:txBody>
      </p:sp>
      <p:sp>
        <p:nvSpPr>
          <p:cNvPr id="10" name="Rectangle 9"/>
          <p:cNvSpPr/>
          <p:nvPr/>
        </p:nvSpPr>
        <p:spPr>
          <a:xfrm>
            <a:off x="8394033" y="2021305"/>
            <a:ext cx="3416968" cy="3721769"/>
          </a:xfrm>
          <a:prstGeom prst="rect">
            <a:avLst/>
          </a:prstGeom>
          <a:ln>
            <a:solidFill>
              <a:srgbClr val="FFC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1" name="TextBox 10"/>
          <p:cNvSpPr txBox="1"/>
          <p:nvPr/>
        </p:nvSpPr>
        <p:spPr>
          <a:xfrm>
            <a:off x="8394033" y="1577656"/>
            <a:ext cx="3416968" cy="584775"/>
          </a:xfrm>
          <a:prstGeom prst="rect">
            <a:avLst/>
          </a:prstGeom>
          <a:noFill/>
        </p:spPr>
        <p:txBody>
          <a:bodyPr wrap="square" rtlCol="0">
            <a:spAutoFit/>
          </a:bodyPr>
          <a:lstStyle/>
          <a:p>
            <a:pPr algn="ctr"/>
            <a:r>
              <a:rPr lang="en-US" sz="3200" b="1" dirty="0" smtClean="0">
                <a:solidFill>
                  <a:srgbClr val="FFC000"/>
                </a:solidFill>
                <a:latin typeface="Arial" panose="020B0604020202020204" pitchFamily="34" charset="0"/>
                <a:cs typeface="Arial" panose="020B0604020202020204" pitchFamily="34" charset="0"/>
              </a:rPr>
              <a:t>OUT-OF-SCOPE</a:t>
            </a:r>
            <a:endParaRPr lang="en-US" sz="3200" b="1" dirty="0">
              <a:solidFill>
                <a:srgbClr val="FFC000"/>
              </a:solidFill>
              <a:latin typeface="Arial" panose="020B0604020202020204" pitchFamily="34" charset="0"/>
              <a:cs typeface="Arial" panose="020B0604020202020204" pitchFamily="34" charset="0"/>
            </a:endParaRPr>
          </a:p>
        </p:txBody>
      </p:sp>
      <p:sp>
        <p:nvSpPr>
          <p:cNvPr id="12" name="Rectangle 11"/>
          <p:cNvSpPr/>
          <p:nvPr/>
        </p:nvSpPr>
        <p:spPr>
          <a:xfrm>
            <a:off x="344906" y="2204707"/>
            <a:ext cx="3300663" cy="1631216"/>
          </a:xfrm>
          <a:prstGeom prst="rect">
            <a:avLst/>
          </a:prstGeom>
        </p:spPr>
        <p:txBody>
          <a:bodyPr wrap="square">
            <a:spAutoFit/>
          </a:bodyPr>
          <a:lstStyle/>
          <a:p>
            <a:pPr algn="ctr"/>
            <a:r>
              <a:rPr lang="en-US" sz="2000" dirty="0">
                <a:solidFill>
                  <a:schemeClr val="bg1">
                    <a:lumMod val="50000"/>
                  </a:schemeClr>
                </a:solidFill>
                <a:latin typeface="Arial" panose="020B0604020202020204" pitchFamily="34" charset="0"/>
                <a:cs typeface="Arial" panose="020B0604020202020204" pitchFamily="34" charset="0"/>
              </a:rPr>
              <a:t>Which aspects of the problem, its causes and consequences will UNICEF focus on directly and </a:t>
            </a:r>
            <a:r>
              <a:rPr lang="en-US" sz="2000" dirty="0" smtClean="0">
                <a:solidFill>
                  <a:schemeClr val="bg1">
                    <a:lumMod val="50000"/>
                  </a:schemeClr>
                </a:solidFill>
                <a:latin typeface="Arial" panose="020B0604020202020204" pitchFamily="34" charset="0"/>
                <a:cs typeface="Arial" panose="020B0604020202020204" pitchFamily="34" charset="0"/>
              </a:rPr>
              <a:t>primarily</a:t>
            </a:r>
            <a:endParaRPr lang="en-US" sz="2000" dirty="0">
              <a:solidFill>
                <a:schemeClr val="bg1">
                  <a:lumMod val="50000"/>
                </a:schemeClr>
              </a:solidFill>
              <a:latin typeface="Arial" panose="020B0604020202020204" pitchFamily="34" charset="0"/>
              <a:cs typeface="Arial" panose="020B0604020202020204" pitchFamily="34" charset="0"/>
            </a:endParaRPr>
          </a:p>
        </p:txBody>
      </p:sp>
      <p:sp>
        <p:nvSpPr>
          <p:cNvPr id="13" name="Rectangle 12"/>
          <p:cNvSpPr/>
          <p:nvPr/>
        </p:nvSpPr>
        <p:spPr>
          <a:xfrm>
            <a:off x="409074" y="4576777"/>
            <a:ext cx="3272590" cy="923330"/>
          </a:xfrm>
          <a:prstGeom prst="rect">
            <a:avLst/>
          </a:prstGeom>
        </p:spPr>
        <p:txBody>
          <a:bodyPr wrap="square">
            <a:spAutoFit/>
          </a:bodyPr>
          <a:lstStyle/>
          <a:p>
            <a:pPr marL="285750" indent="-285750">
              <a:buFont typeface="Arial" panose="020B0604020202020204" pitchFamily="34" charset="0"/>
              <a:buChar char="•"/>
            </a:pPr>
            <a:r>
              <a:rPr lang="en-US" dirty="0">
                <a:solidFill>
                  <a:srgbClr val="0099FF"/>
                </a:solidFill>
                <a:latin typeface="Arial" panose="020B0604020202020204" pitchFamily="34" charset="0"/>
                <a:cs typeface="Arial" panose="020B0604020202020204" pitchFamily="34" charset="0"/>
              </a:rPr>
              <a:t>“Everything” is lack focus</a:t>
            </a:r>
          </a:p>
          <a:p>
            <a:pPr marL="285750" indent="-285750">
              <a:buFont typeface="Arial" panose="020B0604020202020204" pitchFamily="34" charset="0"/>
              <a:buChar char="•"/>
            </a:pPr>
            <a:r>
              <a:rPr lang="en-US" dirty="0">
                <a:solidFill>
                  <a:srgbClr val="0099FF"/>
                </a:solidFill>
                <a:latin typeface="Arial" panose="020B0604020202020204" pitchFamily="34" charset="0"/>
                <a:cs typeface="Arial" panose="020B0604020202020204" pitchFamily="34" charset="0"/>
              </a:rPr>
              <a:t>Interventions and investments</a:t>
            </a:r>
          </a:p>
        </p:txBody>
      </p:sp>
      <p:sp>
        <p:nvSpPr>
          <p:cNvPr id="14" name="Rectangle 13"/>
          <p:cNvSpPr/>
          <p:nvPr/>
        </p:nvSpPr>
        <p:spPr>
          <a:xfrm>
            <a:off x="4347413" y="2104133"/>
            <a:ext cx="3445040" cy="1631216"/>
          </a:xfrm>
          <a:prstGeom prst="rect">
            <a:avLst/>
          </a:prstGeom>
        </p:spPr>
        <p:txBody>
          <a:bodyPr wrap="square">
            <a:spAutoFit/>
          </a:bodyPr>
          <a:lstStyle/>
          <a:p>
            <a:pPr algn="ctr"/>
            <a:r>
              <a:rPr lang="en-US" sz="2000" dirty="0">
                <a:solidFill>
                  <a:schemeClr val="bg1">
                    <a:lumMod val="50000"/>
                  </a:schemeClr>
                </a:solidFill>
                <a:latin typeface="Arial" panose="020B0604020202020204" pitchFamily="34" charset="0"/>
                <a:cs typeface="Arial" panose="020B0604020202020204" pitchFamily="34" charset="0"/>
              </a:rPr>
              <a:t>Which aspects are important and within reach and capacity of UNICEF to influence but beyond the focus of the programme?</a:t>
            </a:r>
          </a:p>
        </p:txBody>
      </p:sp>
      <p:sp>
        <p:nvSpPr>
          <p:cNvPr id="15" name="Rectangle 14"/>
          <p:cNvSpPr/>
          <p:nvPr/>
        </p:nvSpPr>
        <p:spPr>
          <a:xfrm>
            <a:off x="4607387" y="4576777"/>
            <a:ext cx="3213138" cy="646331"/>
          </a:xfrm>
          <a:prstGeom prst="rect">
            <a:avLst/>
          </a:prstGeom>
        </p:spPr>
        <p:txBody>
          <a:bodyPr wrap="square">
            <a:spAutoFit/>
          </a:bodyPr>
          <a:lstStyle/>
          <a:p>
            <a:pPr marL="285750" indent="-285750">
              <a:buFont typeface="Arial" panose="020B0604020202020204" pitchFamily="34" charset="0"/>
              <a:buChar char="•"/>
            </a:pPr>
            <a:r>
              <a:rPr lang="en-US" dirty="0">
                <a:solidFill>
                  <a:srgbClr val="0099FF"/>
                </a:solidFill>
                <a:latin typeface="Arial" panose="020B0604020202020204" pitchFamily="34" charset="0"/>
                <a:cs typeface="Arial" panose="020B0604020202020204" pitchFamily="34" charset="0"/>
              </a:rPr>
              <a:t>Advocacy and programme monitoring</a:t>
            </a:r>
          </a:p>
        </p:txBody>
      </p:sp>
      <p:sp>
        <p:nvSpPr>
          <p:cNvPr id="16" name="Rectangle 15"/>
          <p:cNvSpPr/>
          <p:nvPr/>
        </p:nvSpPr>
        <p:spPr>
          <a:xfrm>
            <a:off x="8394034" y="2104133"/>
            <a:ext cx="3416968" cy="1015663"/>
          </a:xfrm>
          <a:prstGeom prst="rect">
            <a:avLst/>
          </a:prstGeom>
        </p:spPr>
        <p:txBody>
          <a:bodyPr wrap="square">
            <a:spAutoFit/>
          </a:bodyPr>
          <a:lstStyle/>
          <a:p>
            <a:pPr algn="ctr"/>
            <a:r>
              <a:rPr lang="en-US" sz="2000" dirty="0">
                <a:solidFill>
                  <a:schemeClr val="bg1">
                    <a:lumMod val="50000"/>
                  </a:schemeClr>
                </a:solidFill>
                <a:latin typeface="Arial" panose="020B0604020202020204" pitchFamily="34" charset="0"/>
                <a:cs typeface="Arial" panose="020B0604020202020204" pitchFamily="34" charset="0"/>
              </a:rPr>
              <a:t>Which aspects are beyond the focus and scope of the programme?</a:t>
            </a:r>
          </a:p>
        </p:txBody>
      </p:sp>
      <p:sp>
        <p:nvSpPr>
          <p:cNvPr id="17" name="Rectangle 16"/>
          <p:cNvSpPr/>
          <p:nvPr/>
        </p:nvSpPr>
        <p:spPr>
          <a:xfrm>
            <a:off x="8846404" y="4576777"/>
            <a:ext cx="2512226"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0099FF"/>
                </a:solidFill>
                <a:latin typeface="Arial" panose="020B0604020202020204" pitchFamily="34" charset="0"/>
                <a:cs typeface="Arial" panose="020B0604020202020204" pitchFamily="34" charset="0"/>
              </a:rPr>
              <a:t>Situation monitoring</a:t>
            </a:r>
          </a:p>
        </p:txBody>
      </p:sp>
    </p:spTree>
    <p:extLst>
      <p:ext uri="{BB962C8B-B14F-4D97-AF65-F5344CB8AC3E}">
        <p14:creationId xmlns:p14="http://schemas.microsoft.com/office/powerpoint/2010/main" val="56827528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Prioritization</a:t>
            </a:r>
          </a:p>
        </p:txBody>
      </p:sp>
      <p:sp>
        <p:nvSpPr>
          <p:cNvPr id="6" name="TextBox 5"/>
          <p:cNvSpPr txBox="1"/>
          <p:nvPr/>
        </p:nvSpPr>
        <p:spPr>
          <a:xfrm>
            <a:off x="5277480" y="4948519"/>
            <a:ext cx="4480560" cy="146304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sz="2400">
                <a:solidFill>
                  <a:srgbClr val="0099FF"/>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bg1"/>
                </a:solidFill>
              </a:rPr>
              <a:t>Comparative </a:t>
            </a:r>
            <a:r>
              <a:rPr lang="en-US" dirty="0" smtClean="0">
                <a:solidFill>
                  <a:schemeClr val="bg1"/>
                </a:solidFill>
              </a:rPr>
              <a:t>advantage</a:t>
            </a:r>
            <a:endParaRPr lang="en-US" dirty="0">
              <a:solidFill>
                <a:schemeClr val="bg1"/>
              </a:solidFill>
            </a:endParaRPr>
          </a:p>
        </p:txBody>
      </p:sp>
      <p:sp>
        <p:nvSpPr>
          <p:cNvPr id="7" name="Rectangle 6"/>
          <p:cNvSpPr/>
          <p:nvPr/>
        </p:nvSpPr>
        <p:spPr>
          <a:xfrm>
            <a:off x="440922" y="2803628"/>
            <a:ext cx="2918011" cy="1640541"/>
          </a:xfrm>
          <a:prstGeom prst="rect">
            <a:avLst/>
          </a:prstGeom>
          <a:solidFill>
            <a:srgbClr val="0099FF"/>
          </a:solidFill>
          <a:ln>
            <a:solidFill>
              <a:srgbClr val="00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bg1"/>
                </a:solidFill>
                <a:latin typeface="Arial" panose="020B0604020202020204" pitchFamily="34" charset="0"/>
                <a:cs typeface="Arial" panose="020B0604020202020204" pitchFamily="34" charset="0"/>
              </a:rPr>
              <a:t>PRIORITIZATION</a:t>
            </a:r>
            <a:endParaRPr lang="en-US" sz="2400" dirty="0">
              <a:solidFill>
                <a:schemeClr val="bg1"/>
              </a:solidFill>
              <a:latin typeface="Arial" panose="020B0604020202020204" pitchFamily="34" charset="0"/>
              <a:cs typeface="Arial" panose="020B0604020202020204" pitchFamily="34" charset="0"/>
            </a:endParaRPr>
          </a:p>
        </p:txBody>
      </p:sp>
      <p:sp>
        <p:nvSpPr>
          <p:cNvPr id="9" name="Oval 8"/>
          <p:cNvSpPr/>
          <p:nvPr/>
        </p:nvSpPr>
        <p:spPr>
          <a:xfrm>
            <a:off x="3721228" y="3119717"/>
            <a:ext cx="1102659" cy="995083"/>
          </a:xfrm>
          <a:prstGeom prst="ellipse">
            <a:avLst/>
          </a:prstGeom>
          <a:solidFill>
            <a:schemeClr val="bg1"/>
          </a:solidFill>
          <a:ln>
            <a:solidFill>
              <a:srgbClr val="00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0099FF"/>
                </a:solidFill>
                <a:latin typeface="Arial" panose="020B0604020202020204" pitchFamily="34" charset="0"/>
                <a:cs typeface="Arial" panose="020B0604020202020204" pitchFamily="34" charset="0"/>
              </a:rPr>
              <a:t>=</a:t>
            </a:r>
          </a:p>
        </p:txBody>
      </p:sp>
      <p:sp>
        <p:nvSpPr>
          <p:cNvPr id="10" name="Rectangle 9"/>
          <p:cNvSpPr/>
          <p:nvPr/>
        </p:nvSpPr>
        <p:spPr>
          <a:xfrm>
            <a:off x="5277480" y="1008497"/>
            <a:ext cx="4480560" cy="14630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dirty="0">
                <a:solidFill>
                  <a:schemeClr val="bg1">
                    <a:lumMod val="50000"/>
                  </a:schemeClr>
                </a:solidFill>
                <a:latin typeface="Arial" panose="020B0604020202020204" pitchFamily="34" charset="0"/>
                <a:cs typeface="Arial" panose="020B0604020202020204" pitchFamily="34" charset="0"/>
              </a:rPr>
              <a:t>Criticality of the problem </a:t>
            </a:r>
          </a:p>
        </p:txBody>
      </p:sp>
      <p:sp>
        <p:nvSpPr>
          <p:cNvPr id="11" name="Rectangle 10"/>
          <p:cNvSpPr/>
          <p:nvPr/>
        </p:nvSpPr>
        <p:spPr>
          <a:xfrm>
            <a:off x="5277480" y="2974459"/>
            <a:ext cx="4480560" cy="146304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dirty="0">
                <a:solidFill>
                  <a:schemeClr val="bg1"/>
                </a:solidFill>
                <a:latin typeface="Arial" panose="020B0604020202020204" pitchFamily="34" charset="0"/>
                <a:cs typeface="Arial" panose="020B0604020202020204" pitchFamily="34" charset="0"/>
              </a:rPr>
              <a:t>Potential to make and demonstrate results / impact </a:t>
            </a:r>
          </a:p>
        </p:txBody>
      </p:sp>
      <p:sp>
        <p:nvSpPr>
          <p:cNvPr id="30" name="Oval 29"/>
          <p:cNvSpPr/>
          <p:nvPr/>
        </p:nvSpPr>
        <p:spPr>
          <a:xfrm>
            <a:off x="6966430" y="2221408"/>
            <a:ext cx="1102659" cy="995083"/>
          </a:xfrm>
          <a:prstGeom prst="ellipse">
            <a:avLst/>
          </a:prstGeom>
          <a:solidFill>
            <a:schemeClr val="bg1"/>
          </a:solidFill>
          <a:ln>
            <a:solidFill>
              <a:srgbClr val="00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0099FF"/>
                </a:solidFill>
                <a:latin typeface="Arial" panose="020B0604020202020204" pitchFamily="34" charset="0"/>
                <a:cs typeface="Arial" panose="020B0604020202020204" pitchFamily="34" charset="0"/>
              </a:rPr>
              <a:t>+</a:t>
            </a:r>
          </a:p>
        </p:txBody>
      </p:sp>
      <p:sp>
        <p:nvSpPr>
          <p:cNvPr id="31" name="Oval 30"/>
          <p:cNvSpPr/>
          <p:nvPr/>
        </p:nvSpPr>
        <p:spPr>
          <a:xfrm>
            <a:off x="6966430" y="4251915"/>
            <a:ext cx="1102659" cy="995083"/>
          </a:xfrm>
          <a:prstGeom prst="ellipse">
            <a:avLst/>
          </a:prstGeom>
          <a:solidFill>
            <a:schemeClr val="bg1"/>
          </a:solidFill>
          <a:ln>
            <a:solidFill>
              <a:srgbClr val="00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0099FF"/>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72967160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a:solidFill>
                  <a:srgbClr val="0099FF"/>
                </a:solidFill>
                <a:latin typeface="Arial" panose="020B0604020202020204" pitchFamily="34" charset="0"/>
                <a:cs typeface="Arial" panose="020B0604020202020204" pitchFamily="34" charset="0"/>
              </a:rPr>
              <a:t>Comparative Advantage </a:t>
            </a:r>
            <a:r>
              <a:rPr lang="en-US" sz="3600" dirty="0" smtClean="0">
                <a:solidFill>
                  <a:srgbClr val="0099FF"/>
                </a:solidFill>
                <a:latin typeface="Arial" panose="020B0604020202020204" pitchFamily="34" charset="0"/>
                <a:cs typeface="Arial" panose="020B0604020202020204" pitchFamily="34" charset="0"/>
              </a:rPr>
              <a:t>Analysis</a:t>
            </a:r>
          </a:p>
        </p:txBody>
      </p:sp>
      <p:sp>
        <p:nvSpPr>
          <p:cNvPr id="4" name="Content Placeholder 2"/>
          <p:cNvSpPr>
            <a:spLocks noGrp="1"/>
          </p:cNvSpPr>
          <p:nvPr>
            <p:ph idx="1"/>
          </p:nvPr>
        </p:nvSpPr>
        <p:spPr>
          <a:xfrm>
            <a:off x="1010653" y="1443788"/>
            <a:ext cx="10170694" cy="609601"/>
          </a:xfrm>
        </p:spPr>
        <p:txBody>
          <a:bodyPr>
            <a:normAutofit/>
          </a:bodyPr>
          <a:lstStyle/>
          <a:p>
            <a:pPr algn="ctr">
              <a:lnSpc>
                <a:spcPct val="90000"/>
              </a:lnSpc>
              <a:buFont typeface="Arial" pitchFamily="34" charset="0"/>
              <a:buNone/>
            </a:pPr>
            <a:r>
              <a:rPr lang="en-US" sz="3600" dirty="0">
                <a:solidFill>
                  <a:schemeClr val="bg1">
                    <a:lumMod val="50000"/>
                  </a:schemeClr>
                </a:solidFill>
                <a:latin typeface="Arial" panose="020B0604020202020204" pitchFamily="34" charset="0"/>
                <a:cs typeface="Arial" panose="020B0604020202020204" pitchFamily="34" charset="0"/>
              </a:rPr>
              <a:t>What is </a:t>
            </a:r>
            <a:r>
              <a:rPr lang="en-US" sz="3600" dirty="0" smtClean="0">
                <a:solidFill>
                  <a:schemeClr val="bg1">
                    <a:lumMod val="50000"/>
                  </a:schemeClr>
                </a:solidFill>
                <a:latin typeface="Arial" panose="020B0604020202020204" pitchFamily="34" charset="0"/>
                <a:cs typeface="Arial" panose="020B0604020202020204" pitchFamily="34" charset="0"/>
              </a:rPr>
              <a:t>our comparative </a:t>
            </a:r>
            <a:r>
              <a:rPr lang="en-US" sz="3600" dirty="0">
                <a:solidFill>
                  <a:schemeClr val="bg1">
                    <a:lumMod val="50000"/>
                  </a:schemeClr>
                </a:solidFill>
                <a:latin typeface="Arial" panose="020B0604020202020204" pitchFamily="34" charset="0"/>
                <a:cs typeface="Arial" panose="020B0604020202020204" pitchFamily="34" charset="0"/>
              </a:rPr>
              <a:t>advantage</a:t>
            </a:r>
            <a:r>
              <a:rPr lang="en-US" sz="3600" dirty="0" smtClean="0">
                <a:solidFill>
                  <a:schemeClr val="bg1">
                    <a:lumMod val="50000"/>
                  </a:schemeClr>
                </a:solidFill>
                <a:latin typeface="Arial" panose="020B0604020202020204" pitchFamily="34" charset="0"/>
                <a:cs typeface="Arial" panose="020B0604020202020204" pitchFamily="34" charset="0"/>
              </a:rPr>
              <a:t>?</a:t>
            </a:r>
            <a:endParaRPr lang="en-US" sz="3600" dirty="0">
              <a:solidFill>
                <a:schemeClr val="bg1">
                  <a:lumMod val="50000"/>
                </a:schemeClr>
              </a:solidFill>
              <a:latin typeface="Arial" panose="020B0604020202020204" pitchFamily="34" charset="0"/>
              <a:cs typeface="Arial" panose="020B0604020202020204" pitchFamily="34" charset="0"/>
            </a:endParaRPr>
          </a:p>
        </p:txBody>
      </p:sp>
      <p:sp>
        <p:nvSpPr>
          <p:cNvPr id="5" name="TextBox 4"/>
          <p:cNvSpPr txBox="1"/>
          <p:nvPr/>
        </p:nvSpPr>
        <p:spPr>
          <a:xfrm>
            <a:off x="1010653" y="4114800"/>
            <a:ext cx="10170694" cy="178510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342900" indent="-342900">
              <a:buFont typeface="Arial" panose="020B0604020202020204" pitchFamily="34" charset="0"/>
              <a:buChar char="•"/>
            </a:pPr>
            <a:r>
              <a:rPr lang="en-US" sz="2200" dirty="0">
                <a:latin typeface="Arial" panose="020B0604020202020204" pitchFamily="34" charset="0"/>
                <a:cs typeface="Arial" panose="020B0604020202020204" pitchFamily="34" charset="0"/>
              </a:rPr>
              <a:t> There must be </a:t>
            </a:r>
            <a:r>
              <a:rPr lang="en-US" sz="2200" u="sng" dirty="0">
                <a:latin typeface="Arial" panose="020B0604020202020204" pitchFamily="34" charset="0"/>
                <a:cs typeface="Arial" panose="020B0604020202020204" pitchFamily="34" charset="0"/>
              </a:rPr>
              <a:t>capacity</a:t>
            </a:r>
            <a:r>
              <a:rPr lang="en-US" sz="2200" dirty="0">
                <a:latin typeface="Arial" panose="020B0604020202020204" pitchFamily="34" charset="0"/>
                <a:cs typeface="Arial" panose="020B0604020202020204" pitchFamily="34" charset="0"/>
              </a:rPr>
              <a:t> – staff, resources, expertise and an established track record of success, but these in themselves are not sufficient. </a:t>
            </a:r>
            <a:endParaRPr lang="en-US" sz="22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sz="22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200" dirty="0" smtClean="0">
                <a:latin typeface="Arial" panose="020B0604020202020204" pitchFamily="34" charset="0"/>
                <a:cs typeface="Arial" panose="020B0604020202020204" pitchFamily="34" charset="0"/>
              </a:rPr>
              <a:t>UNICEF must </a:t>
            </a:r>
            <a:r>
              <a:rPr lang="en-US" sz="2200" dirty="0">
                <a:latin typeface="Arial" panose="020B0604020202020204" pitchFamily="34" charset="0"/>
                <a:cs typeface="Arial" panose="020B0604020202020204" pitchFamily="34" charset="0"/>
              </a:rPr>
              <a:t>be seen, objectively, as being able to act better than </a:t>
            </a:r>
            <a:r>
              <a:rPr lang="en-US" sz="2200" u="sng" dirty="0">
                <a:latin typeface="Arial" panose="020B0604020202020204" pitchFamily="34" charset="0"/>
                <a:cs typeface="Arial" panose="020B0604020202020204" pitchFamily="34" charset="0"/>
              </a:rPr>
              <a:t>any other</a:t>
            </a:r>
            <a:r>
              <a:rPr lang="en-US" sz="2200" dirty="0">
                <a:latin typeface="Arial" panose="020B0604020202020204" pitchFamily="34" charset="0"/>
                <a:cs typeface="Arial" panose="020B0604020202020204" pitchFamily="34" charset="0"/>
              </a:rPr>
              <a:t> development actor in the country on a specific issue.</a:t>
            </a:r>
            <a:endParaRPr lang="en-GB" sz="2200" dirty="0">
              <a:latin typeface="Arial" panose="020B0604020202020204" pitchFamily="34" charset="0"/>
              <a:cs typeface="Arial" panose="020B0604020202020204" pitchFamily="34" charset="0"/>
            </a:endParaRPr>
          </a:p>
        </p:txBody>
      </p:sp>
      <p:sp>
        <p:nvSpPr>
          <p:cNvPr id="2" name="Rounded Rectangle 1"/>
          <p:cNvSpPr/>
          <p:nvPr/>
        </p:nvSpPr>
        <p:spPr>
          <a:xfrm>
            <a:off x="1010653" y="2277978"/>
            <a:ext cx="2695074" cy="930442"/>
          </a:xfrm>
          <a:prstGeom prst="roundRect">
            <a:avLst/>
          </a:prstGeom>
          <a:noFill/>
          <a:ln>
            <a:solidFill>
              <a:srgbClr val="00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lumMod val="50000"/>
                  </a:schemeClr>
                </a:solidFill>
              </a:rPr>
              <a:t>MANDATE TO ACT</a:t>
            </a:r>
            <a:endParaRPr lang="en-US" dirty="0">
              <a:solidFill>
                <a:schemeClr val="bg1">
                  <a:lumMod val="50000"/>
                </a:schemeClr>
              </a:solidFill>
            </a:endParaRPr>
          </a:p>
        </p:txBody>
      </p:sp>
      <p:sp>
        <p:nvSpPr>
          <p:cNvPr id="6" name="Rounded Rectangle 5"/>
          <p:cNvSpPr/>
          <p:nvPr/>
        </p:nvSpPr>
        <p:spPr>
          <a:xfrm>
            <a:off x="4748463" y="2277978"/>
            <a:ext cx="2695074" cy="930442"/>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lumMod val="50000"/>
                  </a:schemeClr>
                </a:solidFill>
              </a:rPr>
              <a:t>CAPACITY TO ACT</a:t>
            </a:r>
            <a:endParaRPr lang="en-US" dirty="0">
              <a:solidFill>
                <a:schemeClr val="bg1">
                  <a:lumMod val="50000"/>
                </a:schemeClr>
              </a:solidFill>
            </a:endParaRPr>
          </a:p>
        </p:txBody>
      </p:sp>
      <p:sp>
        <p:nvSpPr>
          <p:cNvPr id="7" name="Rounded Rectangle 6"/>
          <p:cNvSpPr/>
          <p:nvPr/>
        </p:nvSpPr>
        <p:spPr>
          <a:xfrm>
            <a:off x="8486273" y="2277978"/>
            <a:ext cx="2695074" cy="930442"/>
          </a:xfrm>
          <a:prstGeom prst="roundRect">
            <a:avLst/>
          </a:prstGeom>
          <a:no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lumMod val="50000"/>
                  </a:schemeClr>
                </a:solidFill>
              </a:rPr>
              <a:t>POSITIONING TO ACT BETTER THAN OTHERS</a:t>
            </a:r>
            <a:endParaRPr lang="en-US" dirty="0">
              <a:solidFill>
                <a:schemeClr val="bg1">
                  <a:lumMod val="50000"/>
                </a:schemeClr>
              </a:solidFill>
            </a:endParaRPr>
          </a:p>
        </p:txBody>
      </p:sp>
    </p:spTree>
    <p:extLst>
      <p:ext uri="{BB962C8B-B14F-4D97-AF65-F5344CB8AC3E}">
        <p14:creationId xmlns:p14="http://schemas.microsoft.com/office/powerpoint/2010/main" val="19570514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a:solidFill>
                  <a:srgbClr val="0099FF"/>
                </a:solidFill>
                <a:latin typeface="Arial" panose="020B0604020202020204" pitchFamily="34" charset="0"/>
                <a:cs typeface="Arial" panose="020B0604020202020204" pitchFamily="34" charset="0"/>
              </a:rPr>
              <a:t>P</a:t>
            </a:r>
            <a:r>
              <a:rPr lang="en-US" sz="3600" dirty="0" smtClean="0">
                <a:solidFill>
                  <a:srgbClr val="0099FF"/>
                </a:solidFill>
                <a:latin typeface="Arial" panose="020B0604020202020204" pitchFamily="34" charset="0"/>
                <a:cs typeface="Arial" panose="020B0604020202020204" pitchFamily="34" charset="0"/>
              </a:rPr>
              <a:t>rioritization</a:t>
            </a:r>
          </a:p>
        </p:txBody>
      </p:sp>
      <p:sp>
        <p:nvSpPr>
          <p:cNvPr id="4" name="Text Placeholder 2"/>
          <p:cNvSpPr txBox="1">
            <a:spLocks/>
          </p:cNvSpPr>
          <p:nvPr/>
        </p:nvSpPr>
        <p:spPr>
          <a:xfrm>
            <a:off x="161836" y="902657"/>
            <a:ext cx="6172670" cy="93264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smtClean="0">
                <a:latin typeface="Arial" panose="020B0604020202020204" pitchFamily="34" charset="0"/>
                <a:cs typeface="Arial" panose="020B0604020202020204" pitchFamily="34" charset="0"/>
              </a:rPr>
              <a:t>UNICEF cannot address all deprivations, it needs to prioritize based on its comparative advantages using 5 key filters:</a:t>
            </a:r>
          </a:p>
          <a:p>
            <a:endParaRPr lang="en-GB" sz="2000" dirty="0">
              <a:latin typeface="Arial" panose="020B0604020202020204" pitchFamily="34" charset="0"/>
              <a:cs typeface="Arial" panose="020B0604020202020204" pitchFamily="34" charset="0"/>
            </a:endParaRPr>
          </a:p>
        </p:txBody>
      </p:sp>
      <p:sp>
        <p:nvSpPr>
          <p:cNvPr id="29" name="Rectangle 28"/>
          <p:cNvSpPr/>
          <p:nvPr/>
        </p:nvSpPr>
        <p:spPr>
          <a:xfrm>
            <a:off x="148560" y="1935413"/>
            <a:ext cx="10171492" cy="708676"/>
          </a:xfrm>
          <a:prstGeom prst="rect">
            <a:avLst/>
          </a:prstGeom>
          <a:solidFill>
            <a:schemeClr val="bg1">
              <a:lumMod val="75000"/>
              <a:alpha val="2509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161836" y="2769582"/>
            <a:ext cx="10158215" cy="708676"/>
          </a:xfrm>
          <a:prstGeom prst="rect">
            <a:avLst/>
          </a:prstGeom>
          <a:solidFill>
            <a:schemeClr val="bg1">
              <a:lumMod val="75000"/>
              <a:alpha val="2509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161837" y="3603751"/>
            <a:ext cx="10158214" cy="708676"/>
          </a:xfrm>
          <a:prstGeom prst="rect">
            <a:avLst/>
          </a:prstGeom>
          <a:solidFill>
            <a:schemeClr val="bg1">
              <a:lumMod val="75000"/>
              <a:alpha val="2509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161836" y="4422514"/>
            <a:ext cx="10158215" cy="708676"/>
          </a:xfrm>
          <a:prstGeom prst="rect">
            <a:avLst/>
          </a:prstGeom>
          <a:solidFill>
            <a:schemeClr val="bg1">
              <a:lumMod val="75000"/>
              <a:alpha val="2509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212725" y="1972039"/>
            <a:ext cx="2919664" cy="646331"/>
          </a:xfrm>
          <a:prstGeom prst="rect">
            <a:avLst/>
          </a:prstGeom>
          <a:noFill/>
        </p:spPr>
        <p:txBody>
          <a:bodyPr wrap="square" rtlCol="0">
            <a:spAutoFit/>
          </a:bodyPr>
          <a:lstStyle/>
          <a:p>
            <a:r>
              <a:rPr lang="en-US" dirty="0" smtClean="0">
                <a:solidFill>
                  <a:schemeClr val="tx1">
                    <a:lumMod val="50000"/>
                    <a:lumOff val="50000"/>
                  </a:schemeClr>
                </a:solidFill>
                <a:latin typeface="Arial" panose="020B0604020202020204" pitchFamily="34" charset="0"/>
                <a:cs typeface="Arial" panose="020B0604020202020204" pitchFamily="34" charset="0"/>
              </a:rPr>
              <a:t>Criticality of national challenges / inequities</a:t>
            </a:r>
            <a:endParaRPr lang="en-US"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34" name="TextBox 33"/>
          <p:cNvSpPr txBox="1"/>
          <p:nvPr/>
        </p:nvSpPr>
        <p:spPr>
          <a:xfrm>
            <a:off x="212725" y="2807259"/>
            <a:ext cx="4009023" cy="646331"/>
          </a:xfrm>
          <a:prstGeom prst="rect">
            <a:avLst/>
          </a:prstGeom>
          <a:noFill/>
        </p:spPr>
        <p:txBody>
          <a:bodyPr wrap="square" rtlCol="0">
            <a:spAutoFit/>
          </a:bodyPr>
          <a:lstStyle/>
          <a:p>
            <a:r>
              <a:rPr lang="en-US" dirty="0" smtClean="0">
                <a:solidFill>
                  <a:schemeClr val="tx1">
                    <a:lumMod val="50000"/>
                    <a:lumOff val="50000"/>
                  </a:schemeClr>
                </a:solidFill>
                <a:latin typeface="Arial" panose="020B0604020202020204" pitchFamily="34" charset="0"/>
                <a:cs typeface="Arial" panose="020B0604020202020204" pitchFamily="34" charset="0"/>
              </a:rPr>
              <a:t>Mandate: Strategic Plan, alignment with global / sectoral priorities</a:t>
            </a:r>
            <a:endParaRPr lang="en-US"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35" name="TextBox 34"/>
          <p:cNvSpPr txBox="1"/>
          <p:nvPr/>
        </p:nvSpPr>
        <p:spPr>
          <a:xfrm>
            <a:off x="212725" y="3655323"/>
            <a:ext cx="3255045" cy="646331"/>
          </a:xfrm>
          <a:prstGeom prst="rect">
            <a:avLst/>
          </a:prstGeom>
          <a:noFill/>
        </p:spPr>
        <p:txBody>
          <a:bodyPr wrap="square" rtlCol="0">
            <a:spAutoFit/>
          </a:bodyPr>
          <a:lstStyle/>
          <a:p>
            <a:r>
              <a:rPr lang="en-US" dirty="0" smtClean="0">
                <a:solidFill>
                  <a:schemeClr val="tx1">
                    <a:lumMod val="50000"/>
                    <a:lumOff val="50000"/>
                  </a:schemeClr>
                </a:solidFill>
                <a:latin typeface="Arial" panose="020B0604020202020204" pitchFamily="34" charset="0"/>
                <a:cs typeface="Arial" panose="020B0604020202020204" pitchFamily="34" charset="0"/>
              </a:rPr>
              <a:t>Position to act better than other partners</a:t>
            </a:r>
            <a:endParaRPr lang="en-US"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36" name="TextBox 35"/>
          <p:cNvSpPr txBox="1"/>
          <p:nvPr/>
        </p:nvSpPr>
        <p:spPr>
          <a:xfrm>
            <a:off x="212724" y="4499835"/>
            <a:ext cx="5360073" cy="646331"/>
          </a:xfrm>
          <a:prstGeom prst="rect">
            <a:avLst/>
          </a:prstGeom>
          <a:noFill/>
        </p:spPr>
        <p:txBody>
          <a:bodyPr wrap="square" rtlCol="0">
            <a:spAutoFit/>
          </a:bodyPr>
          <a:lstStyle/>
          <a:p>
            <a:r>
              <a:rPr lang="en-US" dirty="0" smtClean="0">
                <a:solidFill>
                  <a:schemeClr val="tx1">
                    <a:lumMod val="50000"/>
                    <a:lumOff val="50000"/>
                  </a:schemeClr>
                </a:solidFill>
                <a:latin typeface="Arial" panose="020B0604020202020204" pitchFamily="34" charset="0"/>
                <a:cs typeface="Arial" panose="020B0604020202020204" pitchFamily="34" charset="0"/>
              </a:rPr>
              <a:t>Capacities and resources (human, financial, knowledge, technology, partners)</a:t>
            </a:r>
            <a:endParaRPr lang="en-US"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37" name="Rectangle 36"/>
          <p:cNvSpPr/>
          <p:nvPr/>
        </p:nvSpPr>
        <p:spPr>
          <a:xfrm>
            <a:off x="161836" y="5272089"/>
            <a:ext cx="10158215" cy="708676"/>
          </a:xfrm>
          <a:prstGeom prst="rect">
            <a:avLst/>
          </a:prstGeom>
          <a:solidFill>
            <a:schemeClr val="bg1">
              <a:lumMod val="75000"/>
              <a:alpha val="2509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p:cNvSpPr txBox="1"/>
          <p:nvPr/>
        </p:nvSpPr>
        <p:spPr>
          <a:xfrm>
            <a:off x="212725" y="5303261"/>
            <a:ext cx="3901745" cy="646331"/>
          </a:xfrm>
          <a:prstGeom prst="rect">
            <a:avLst/>
          </a:prstGeom>
          <a:noFill/>
        </p:spPr>
        <p:txBody>
          <a:bodyPr wrap="square" rtlCol="0">
            <a:spAutoFit/>
          </a:bodyPr>
          <a:lstStyle/>
          <a:p>
            <a:r>
              <a:rPr lang="en-US" dirty="0" smtClean="0">
                <a:solidFill>
                  <a:schemeClr val="tx1">
                    <a:lumMod val="50000"/>
                    <a:lumOff val="50000"/>
                  </a:schemeClr>
                </a:solidFill>
                <a:latin typeface="Arial" panose="020B0604020202020204" pitchFamily="34" charset="0"/>
                <a:cs typeface="Arial" panose="020B0604020202020204" pitchFamily="34" charset="0"/>
              </a:rPr>
              <a:t>Lessons learned, knowledge of what works and what does not</a:t>
            </a:r>
            <a:endParaRPr lang="en-US"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70" name="Oval 69"/>
          <p:cNvSpPr/>
          <p:nvPr/>
        </p:nvSpPr>
        <p:spPr>
          <a:xfrm>
            <a:off x="8425582" y="6170919"/>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8030651" y="6170919"/>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8808484" y="6181670"/>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161836" y="6084442"/>
            <a:ext cx="10158215" cy="708676"/>
          </a:xfrm>
          <a:prstGeom prst="rect">
            <a:avLst/>
          </a:prstGeom>
          <a:solidFill>
            <a:srgbClr val="0099FF">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rgbClr val="002060"/>
                </a:solidFill>
                <a:latin typeface="Arial" panose="020B0604020202020204" pitchFamily="34" charset="0"/>
                <a:cs typeface="Arial" panose="020B0604020202020204" pitchFamily="34" charset="0"/>
              </a:rPr>
              <a:t>Priority issues to be addressed by UNICEF</a:t>
            </a:r>
            <a:endParaRPr lang="en-US" dirty="0">
              <a:solidFill>
                <a:srgbClr val="002060"/>
              </a:solidFill>
              <a:latin typeface="Arial" panose="020B0604020202020204" pitchFamily="34" charset="0"/>
              <a:cs typeface="Arial" panose="020B0604020202020204" pitchFamily="34" charset="0"/>
            </a:endParaRPr>
          </a:p>
        </p:txBody>
      </p:sp>
      <p:sp>
        <p:nvSpPr>
          <p:cNvPr id="40" name="Oval 39"/>
          <p:cNvSpPr/>
          <p:nvPr/>
        </p:nvSpPr>
        <p:spPr>
          <a:xfrm>
            <a:off x="8112821" y="1557416"/>
            <a:ext cx="274320" cy="274320"/>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a:off x="8206130" y="1022540"/>
            <a:ext cx="274320" cy="2743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a:off x="8221751" y="6207698"/>
            <a:ext cx="274320" cy="274320"/>
          </a:xfrm>
          <a:prstGeom prst="ellipse">
            <a:avLst/>
          </a:prstGeom>
          <a:solidFill>
            <a:srgbClr val="00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7938742" y="6414971"/>
            <a:ext cx="274320" cy="274320"/>
          </a:xfrm>
          <a:prstGeom prst="ellipse">
            <a:avLst/>
          </a:prstGeom>
          <a:solidFill>
            <a:srgbClr val="00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p:cNvSpPr/>
          <p:nvPr/>
        </p:nvSpPr>
        <p:spPr>
          <a:xfrm>
            <a:off x="8808484" y="1323712"/>
            <a:ext cx="274320" cy="2743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8" name="Group 127"/>
          <p:cNvGrpSpPr/>
          <p:nvPr/>
        </p:nvGrpSpPr>
        <p:grpSpPr>
          <a:xfrm rot="17336064">
            <a:off x="7136172" y="291376"/>
            <a:ext cx="1648469" cy="1709902"/>
            <a:chOff x="7515309" y="78291"/>
            <a:chExt cx="1648469" cy="1709902"/>
          </a:xfrm>
        </p:grpSpPr>
        <p:sp>
          <p:nvSpPr>
            <p:cNvPr id="124" name="Oval 123"/>
            <p:cNvSpPr/>
            <p:nvPr/>
          </p:nvSpPr>
          <p:spPr>
            <a:xfrm>
              <a:off x="7521542" y="78291"/>
              <a:ext cx="274320" cy="274320"/>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p:cNvSpPr/>
            <p:nvPr/>
          </p:nvSpPr>
          <p:spPr>
            <a:xfrm>
              <a:off x="8673053" y="1513873"/>
              <a:ext cx="274320" cy="274320"/>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p:cNvSpPr/>
            <p:nvPr/>
          </p:nvSpPr>
          <p:spPr>
            <a:xfrm>
              <a:off x="7515309" y="710087"/>
              <a:ext cx="274320" cy="27432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p:cNvSpPr/>
            <p:nvPr/>
          </p:nvSpPr>
          <p:spPr>
            <a:xfrm>
              <a:off x="8889458" y="818242"/>
              <a:ext cx="274320" cy="2743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3" name="Down Arrow 132"/>
          <p:cNvSpPr/>
          <p:nvPr/>
        </p:nvSpPr>
        <p:spPr>
          <a:xfrm>
            <a:off x="10780295" y="1935412"/>
            <a:ext cx="1026694" cy="4753879"/>
          </a:xfrm>
          <a:prstGeom prst="down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400" dirty="0" smtClean="0">
                <a:latin typeface="Arial" panose="020B0604020202020204" pitchFamily="34" charset="0"/>
                <a:cs typeface="Arial" panose="020B0604020202020204" pitchFamily="34" charset="0"/>
              </a:rPr>
              <a:t>SHARPENING FOCUS</a:t>
            </a:r>
            <a:endParaRPr lang="en-US" sz="2400" dirty="0">
              <a:latin typeface="Arial" panose="020B0604020202020204" pitchFamily="34" charset="0"/>
              <a:cs typeface="Arial" panose="020B0604020202020204" pitchFamily="34" charset="0"/>
            </a:endParaRPr>
          </a:p>
        </p:txBody>
      </p:sp>
      <p:grpSp>
        <p:nvGrpSpPr>
          <p:cNvPr id="90" name="Group 89"/>
          <p:cNvGrpSpPr/>
          <p:nvPr/>
        </p:nvGrpSpPr>
        <p:grpSpPr>
          <a:xfrm>
            <a:off x="6366204" y="2091044"/>
            <a:ext cx="3738763" cy="4219893"/>
            <a:chOff x="6463777" y="1618653"/>
            <a:chExt cx="3738763" cy="4219893"/>
          </a:xfrm>
          <a:solidFill>
            <a:schemeClr val="bg1">
              <a:lumMod val="85000"/>
            </a:schemeClr>
          </a:solidFill>
        </p:grpSpPr>
        <p:sp>
          <p:nvSpPr>
            <p:cNvPr id="89" name="Can 88"/>
            <p:cNvSpPr/>
            <p:nvPr/>
          </p:nvSpPr>
          <p:spPr>
            <a:xfrm>
              <a:off x="7865597" y="4948263"/>
              <a:ext cx="970056" cy="890283"/>
            </a:xfrm>
            <a:prstGeom prst="can">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Can 87"/>
            <p:cNvSpPr/>
            <p:nvPr/>
          </p:nvSpPr>
          <p:spPr>
            <a:xfrm>
              <a:off x="7586218" y="4062730"/>
              <a:ext cx="1541134" cy="1233407"/>
            </a:xfrm>
            <a:prstGeom prst="can">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Can 86"/>
            <p:cNvSpPr/>
            <p:nvPr/>
          </p:nvSpPr>
          <p:spPr>
            <a:xfrm>
              <a:off x="7241209" y="3303694"/>
              <a:ext cx="2178331" cy="1233407"/>
            </a:xfrm>
            <a:prstGeom prst="can">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Can 85"/>
            <p:cNvSpPr/>
            <p:nvPr/>
          </p:nvSpPr>
          <p:spPr>
            <a:xfrm>
              <a:off x="6947622" y="2511365"/>
              <a:ext cx="2899938" cy="1233407"/>
            </a:xfrm>
            <a:prstGeom prst="ca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Can 82"/>
            <p:cNvSpPr/>
            <p:nvPr/>
          </p:nvSpPr>
          <p:spPr>
            <a:xfrm>
              <a:off x="6463777" y="1618653"/>
              <a:ext cx="3738763" cy="1233407"/>
            </a:xfrm>
            <a:prstGeom prst="ca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Oval 74"/>
          <p:cNvSpPr/>
          <p:nvPr/>
        </p:nvSpPr>
        <p:spPr>
          <a:xfrm>
            <a:off x="8592079" y="2019343"/>
            <a:ext cx="274320" cy="274320"/>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7434335" y="1215557"/>
            <a:ext cx="274320" cy="27432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p:cNvSpPr/>
          <p:nvPr/>
        </p:nvSpPr>
        <p:spPr>
          <a:xfrm>
            <a:off x="6449261" y="2454442"/>
            <a:ext cx="62551" cy="621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p:cNvSpPr/>
          <p:nvPr/>
        </p:nvSpPr>
        <p:spPr>
          <a:xfrm>
            <a:off x="6928764" y="3423062"/>
            <a:ext cx="62551" cy="621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p:cNvSpPr/>
          <p:nvPr/>
        </p:nvSpPr>
        <p:spPr>
          <a:xfrm>
            <a:off x="7247216" y="4281672"/>
            <a:ext cx="62551" cy="548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p:cNvSpPr/>
          <p:nvPr/>
        </p:nvSpPr>
        <p:spPr>
          <a:xfrm flipH="1">
            <a:off x="7601367" y="5113168"/>
            <a:ext cx="45719" cy="5045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7254059" y="2015431"/>
            <a:ext cx="274320" cy="274320"/>
          </a:xfrm>
          <a:prstGeom prst="ellipse">
            <a:avLst/>
          </a:prstGeom>
          <a:solidFill>
            <a:srgbClr val="00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p:cNvSpPr/>
          <p:nvPr/>
        </p:nvSpPr>
        <p:spPr>
          <a:xfrm flipH="1">
            <a:off x="7853321" y="5821462"/>
            <a:ext cx="45719" cy="3494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9212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fade">
                                      <p:cBhvr>
                                        <p:cTn id="20" dur="500"/>
                                        <p:tgtEl>
                                          <p:spTgt spid="3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500"/>
                                        <p:tgtEl>
                                          <p:spTgt spid="3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500"/>
                                        <p:tgtEl>
                                          <p:spTgt spid="3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500"/>
                                        <p:tgtEl>
                                          <p:spTgt spid="3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fade">
                                      <p:cBhvr>
                                        <p:cTn id="36" dur="500"/>
                                        <p:tgtEl>
                                          <p:spTgt spid="3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500"/>
                                        <p:tgtEl>
                                          <p:spTgt spid="3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fade">
                                      <p:cBhvr>
                                        <p:cTn id="44" dur="500"/>
                                        <p:tgtEl>
                                          <p:spTgt spid="3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500"/>
                                        <p:tgtEl>
                                          <p:spTgt spid="3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82"/>
                                        </p:tgtEl>
                                        <p:attrNameLst>
                                          <p:attrName>style.visibility</p:attrName>
                                        </p:attrNameLst>
                                      </p:cBhvr>
                                      <p:to>
                                        <p:strVal val="visible"/>
                                      </p:to>
                                    </p:set>
                                    <p:animEffect transition="in" filter="fade">
                                      <p:cBhvr>
                                        <p:cTn id="52" dur="500"/>
                                        <p:tgtEl>
                                          <p:spTgt spid="8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70"/>
                                        </p:tgtEl>
                                        <p:attrNameLst>
                                          <p:attrName>style.visibility</p:attrName>
                                        </p:attrNameLst>
                                      </p:cBhvr>
                                      <p:to>
                                        <p:strVal val="visible"/>
                                      </p:to>
                                    </p:set>
                                    <p:animEffect transition="in" filter="wipe(up)">
                                      <p:cBhvr>
                                        <p:cTn id="57" dur="500"/>
                                        <p:tgtEl>
                                          <p:spTgt spid="70"/>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71"/>
                                        </p:tgtEl>
                                        <p:attrNameLst>
                                          <p:attrName>style.visibility</p:attrName>
                                        </p:attrNameLst>
                                      </p:cBhvr>
                                      <p:to>
                                        <p:strVal val="visible"/>
                                      </p:to>
                                    </p:set>
                                    <p:animEffect transition="in" filter="wipe(up)">
                                      <p:cBhvr>
                                        <p:cTn id="60" dur="500"/>
                                        <p:tgtEl>
                                          <p:spTgt spid="71"/>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72"/>
                                        </p:tgtEl>
                                        <p:attrNameLst>
                                          <p:attrName>style.visibility</p:attrName>
                                        </p:attrNameLst>
                                      </p:cBhvr>
                                      <p:to>
                                        <p:strVal val="visible"/>
                                      </p:to>
                                    </p:set>
                                    <p:animEffect transition="in" filter="wipe(up)">
                                      <p:cBhvr>
                                        <p:cTn id="63" dur="500"/>
                                        <p:tgtEl>
                                          <p:spTgt spid="72"/>
                                        </p:tgtEl>
                                      </p:cBhvr>
                                    </p:animEffect>
                                  </p:childTnLst>
                                </p:cTn>
                              </p:par>
                              <p:par>
                                <p:cTn id="64" presetID="22" presetClass="entr" presetSubtype="1" fill="hold" grpId="0" nodeType="with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wipe(up)">
                                      <p:cBhvr>
                                        <p:cTn id="66" dur="500"/>
                                        <p:tgtEl>
                                          <p:spTgt spid="40"/>
                                        </p:tgtEl>
                                      </p:cBhvr>
                                    </p:animEffect>
                                  </p:childTnLst>
                                </p:cTn>
                              </p:par>
                              <p:par>
                                <p:cTn id="67" presetID="22" presetClass="entr" presetSubtype="1" fill="hold" grpId="0" nodeType="withEffect">
                                  <p:stCondLst>
                                    <p:cond delay="0"/>
                                  </p:stCondLst>
                                  <p:childTnLst>
                                    <p:set>
                                      <p:cBhvr>
                                        <p:cTn id="68" dur="1" fill="hold">
                                          <p:stCondLst>
                                            <p:cond delay="0"/>
                                          </p:stCondLst>
                                        </p:cTn>
                                        <p:tgtEl>
                                          <p:spTgt spid="61"/>
                                        </p:tgtEl>
                                        <p:attrNameLst>
                                          <p:attrName>style.visibility</p:attrName>
                                        </p:attrNameLst>
                                      </p:cBhvr>
                                      <p:to>
                                        <p:strVal val="visible"/>
                                      </p:to>
                                    </p:set>
                                    <p:animEffect transition="in" filter="wipe(up)">
                                      <p:cBhvr>
                                        <p:cTn id="69" dur="500"/>
                                        <p:tgtEl>
                                          <p:spTgt spid="61"/>
                                        </p:tgtEl>
                                      </p:cBhvr>
                                    </p:animEffect>
                                  </p:childTnLst>
                                </p:cTn>
                              </p:par>
                              <p:par>
                                <p:cTn id="70" presetID="22" presetClass="entr" presetSubtype="1" fill="hold" grpId="0" nodeType="withEffect">
                                  <p:stCondLst>
                                    <p:cond delay="0"/>
                                  </p:stCondLst>
                                  <p:childTnLst>
                                    <p:set>
                                      <p:cBhvr>
                                        <p:cTn id="71" dur="1" fill="hold">
                                          <p:stCondLst>
                                            <p:cond delay="0"/>
                                          </p:stCondLst>
                                        </p:cTn>
                                        <p:tgtEl>
                                          <p:spTgt spid="62"/>
                                        </p:tgtEl>
                                        <p:attrNameLst>
                                          <p:attrName>style.visibility</p:attrName>
                                        </p:attrNameLst>
                                      </p:cBhvr>
                                      <p:to>
                                        <p:strVal val="visible"/>
                                      </p:to>
                                    </p:set>
                                    <p:animEffect transition="in" filter="wipe(up)">
                                      <p:cBhvr>
                                        <p:cTn id="72" dur="500"/>
                                        <p:tgtEl>
                                          <p:spTgt spid="62"/>
                                        </p:tgtEl>
                                      </p:cBhvr>
                                    </p:animEffect>
                                  </p:childTnLst>
                                </p:cTn>
                              </p:par>
                              <p:par>
                                <p:cTn id="73" presetID="22" presetClass="entr" presetSubtype="1" fill="hold" grpId="0" nodeType="withEffect">
                                  <p:stCondLst>
                                    <p:cond delay="0"/>
                                  </p:stCondLst>
                                  <p:childTnLst>
                                    <p:set>
                                      <p:cBhvr>
                                        <p:cTn id="74" dur="1" fill="hold">
                                          <p:stCondLst>
                                            <p:cond delay="0"/>
                                          </p:stCondLst>
                                        </p:cTn>
                                        <p:tgtEl>
                                          <p:spTgt spid="63"/>
                                        </p:tgtEl>
                                        <p:attrNameLst>
                                          <p:attrName>style.visibility</p:attrName>
                                        </p:attrNameLst>
                                      </p:cBhvr>
                                      <p:to>
                                        <p:strVal val="visible"/>
                                      </p:to>
                                    </p:set>
                                    <p:animEffect transition="in" filter="wipe(up)">
                                      <p:cBhvr>
                                        <p:cTn id="75" dur="500"/>
                                        <p:tgtEl>
                                          <p:spTgt spid="63"/>
                                        </p:tgtEl>
                                      </p:cBhvr>
                                    </p:animEffect>
                                  </p:childTnLst>
                                </p:cTn>
                              </p:par>
                              <p:par>
                                <p:cTn id="76" presetID="22" presetClass="entr" presetSubtype="1" fill="hold" grpId="0" nodeType="withEffect">
                                  <p:stCondLst>
                                    <p:cond delay="0"/>
                                  </p:stCondLst>
                                  <p:childTnLst>
                                    <p:set>
                                      <p:cBhvr>
                                        <p:cTn id="77" dur="1" fill="hold">
                                          <p:stCondLst>
                                            <p:cond delay="0"/>
                                          </p:stCondLst>
                                        </p:cTn>
                                        <p:tgtEl>
                                          <p:spTgt spid="94"/>
                                        </p:tgtEl>
                                        <p:attrNameLst>
                                          <p:attrName>style.visibility</p:attrName>
                                        </p:attrNameLst>
                                      </p:cBhvr>
                                      <p:to>
                                        <p:strVal val="visible"/>
                                      </p:to>
                                    </p:set>
                                    <p:animEffect transition="in" filter="wipe(up)">
                                      <p:cBhvr>
                                        <p:cTn id="78" dur="500"/>
                                        <p:tgtEl>
                                          <p:spTgt spid="94"/>
                                        </p:tgtEl>
                                      </p:cBhvr>
                                    </p:animEffect>
                                  </p:childTnLst>
                                </p:cTn>
                              </p:par>
                              <p:par>
                                <p:cTn id="79" presetID="22" presetClass="entr" presetSubtype="1" fill="hold" nodeType="withEffect">
                                  <p:stCondLst>
                                    <p:cond delay="0"/>
                                  </p:stCondLst>
                                  <p:childTnLst>
                                    <p:set>
                                      <p:cBhvr>
                                        <p:cTn id="80" dur="1" fill="hold">
                                          <p:stCondLst>
                                            <p:cond delay="0"/>
                                          </p:stCondLst>
                                        </p:cTn>
                                        <p:tgtEl>
                                          <p:spTgt spid="128"/>
                                        </p:tgtEl>
                                        <p:attrNameLst>
                                          <p:attrName>style.visibility</p:attrName>
                                        </p:attrNameLst>
                                      </p:cBhvr>
                                      <p:to>
                                        <p:strVal val="visible"/>
                                      </p:to>
                                    </p:set>
                                    <p:animEffect transition="in" filter="wipe(up)">
                                      <p:cBhvr>
                                        <p:cTn id="81" dur="500"/>
                                        <p:tgtEl>
                                          <p:spTgt spid="128"/>
                                        </p:tgtEl>
                                      </p:cBhvr>
                                    </p:animEffect>
                                  </p:childTnLst>
                                </p:cTn>
                              </p:par>
                              <p:par>
                                <p:cTn id="82" presetID="22" presetClass="entr" presetSubtype="1" fill="hold" grpId="0" nodeType="withEffect">
                                  <p:stCondLst>
                                    <p:cond delay="0"/>
                                  </p:stCondLst>
                                  <p:childTnLst>
                                    <p:set>
                                      <p:cBhvr>
                                        <p:cTn id="83" dur="1" fill="hold">
                                          <p:stCondLst>
                                            <p:cond delay="0"/>
                                          </p:stCondLst>
                                        </p:cTn>
                                        <p:tgtEl>
                                          <p:spTgt spid="133"/>
                                        </p:tgtEl>
                                        <p:attrNameLst>
                                          <p:attrName>style.visibility</p:attrName>
                                        </p:attrNameLst>
                                      </p:cBhvr>
                                      <p:to>
                                        <p:strVal val="visible"/>
                                      </p:to>
                                    </p:set>
                                    <p:animEffect transition="in" filter="wipe(up)">
                                      <p:cBhvr>
                                        <p:cTn id="84" dur="500"/>
                                        <p:tgtEl>
                                          <p:spTgt spid="133"/>
                                        </p:tgtEl>
                                      </p:cBhvr>
                                    </p:animEffect>
                                  </p:childTnLst>
                                </p:cTn>
                              </p:par>
                              <p:par>
                                <p:cTn id="85" presetID="22" presetClass="entr" presetSubtype="1" fill="hold" nodeType="withEffect">
                                  <p:stCondLst>
                                    <p:cond delay="0"/>
                                  </p:stCondLst>
                                  <p:childTnLst>
                                    <p:set>
                                      <p:cBhvr>
                                        <p:cTn id="86" dur="1" fill="hold">
                                          <p:stCondLst>
                                            <p:cond delay="0"/>
                                          </p:stCondLst>
                                        </p:cTn>
                                        <p:tgtEl>
                                          <p:spTgt spid="90"/>
                                        </p:tgtEl>
                                        <p:attrNameLst>
                                          <p:attrName>style.visibility</p:attrName>
                                        </p:attrNameLst>
                                      </p:cBhvr>
                                      <p:to>
                                        <p:strVal val="visible"/>
                                      </p:to>
                                    </p:set>
                                    <p:animEffect transition="in" filter="wipe(up)">
                                      <p:cBhvr>
                                        <p:cTn id="87" dur="500"/>
                                        <p:tgtEl>
                                          <p:spTgt spid="90"/>
                                        </p:tgtEl>
                                      </p:cBhvr>
                                    </p:animEffect>
                                  </p:childTnLst>
                                </p:cTn>
                              </p:par>
                              <p:par>
                                <p:cTn id="88" presetID="22" presetClass="entr" presetSubtype="1" fill="hold" grpId="0" nodeType="withEffect">
                                  <p:stCondLst>
                                    <p:cond delay="0"/>
                                  </p:stCondLst>
                                  <p:childTnLst>
                                    <p:set>
                                      <p:cBhvr>
                                        <p:cTn id="89" dur="1" fill="hold">
                                          <p:stCondLst>
                                            <p:cond delay="0"/>
                                          </p:stCondLst>
                                        </p:cTn>
                                        <p:tgtEl>
                                          <p:spTgt spid="75"/>
                                        </p:tgtEl>
                                        <p:attrNameLst>
                                          <p:attrName>style.visibility</p:attrName>
                                        </p:attrNameLst>
                                      </p:cBhvr>
                                      <p:to>
                                        <p:strVal val="visible"/>
                                      </p:to>
                                    </p:set>
                                    <p:animEffect transition="in" filter="wipe(up)">
                                      <p:cBhvr>
                                        <p:cTn id="90" dur="500"/>
                                        <p:tgtEl>
                                          <p:spTgt spid="75"/>
                                        </p:tgtEl>
                                      </p:cBhvr>
                                    </p:animEffect>
                                  </p:childTnLst>
                                </p:cTn>
                              </p:par>
                              <p:par>
                                <p:cTn id="91" presetID="22" presetClass="entr" presetSubtype="1" fill="hold" grpId="0" nodeType="withEffect">
                                  <p:stCondLst>
                                    <p:cond delay="0"/>
                                  </p:stCondLst>
                                  <p:childTnLst>
                                    <p:set>
                                      <p:cBhvr>
                                        <p:cTn id="92" dur="1" fill="hold">
                                          <p:stCondLst>
                                            <p:cond delay="0"/>
                                          </p:stCondLst>
                                        </p:cTn>
                                        <p:tgtEl>
                                          <p:spTgt spid="76"/>
                                        </p:tgtEl>
                                        <p:attrNameLst>
                                          <p:attrName>style.visibility</p:attrName>
                                        </p:attrNameLst>
                                      </p:cBhvr>
                                      <p:to>
                                        <p:strVal val="visible"/>
                                      </p:to>
                                    </p:set>
                                    <p:animEffect transition="in" filter="wipe(up)">
                                      <p:cBhvr>
                                        <p:cTn id="93" dur="500"/>
                                        <p:tgtEl>
                                          <p:spTgt spid="76"/>
                                        </p:tgtEl>
                                      </p:cBhvr>
                                    </p:animEffect>
                                  </p:childTnLst>
                                </p:cTn>
                              </p:par>
                              <p:par>
                                <p:cTn id="94" presetID="22" presetClass="entr" presetSubtype="1" fill="hold" grpId="0" nodeType="withEffect">
                                  <p:stCondLst>
                                    <p:cond delay="0"/>
                                  </p:stCondLst>
                                  <p:childTnLst>
                                    <p:set>
                                      <p:cBhvr>
                                        <p:cTn id="95" dur="1" fill="hold">
                                          <p:stCondLst>
                                            <p:cond delay="0"/>
                                          </p:stCondLst>
                                        </p:cTn>
                                        <p:tgtEl>
                                          <p:spTgt spid="129"/>
                                        </p:tgtEl>
                                        <p:attrNameLst>
                                          <p:attrName>style.visibility</p:attrName>
                                        </p:attrNameLst>
                                      </p:cBhvr>
                                      <p:to>
                                        <p:strVal val="visible"/>
                                      </p:to>
                                    </p:set>
                                    <p:animEffect transition="in" filter="wipe(up)">
                                      <p:cBhvr>
                                        <p:cTn id="96" dur="500"/>
                                        <p:tgtEl>
                                          <p:spTgt spid="129"/>
                                        </p:tgtEl>
                                      </p:cBhvr>
                                    </p:animEffect>
                                  </p:childTnLst>
                                </p:cTn>
                              </p:par>
                              <p:par>
                                <p:cTn id="97" presetID="22" presetClass="entr" presetSubtype="1" fill="hold" grpId="0" nodeType="withEffect">
                                  <p:stCondLst>
                                    <p:cond delay="0"/>
                                  </p:stCondLst>
                                  <p:childTnLst>
                                    <p:set>
                                      <p:cBhvr>
                                        <p:cTn id="98" dur="1" fill="hold">
                                          <p:stCondLst>
                                            <p:cond delay="0"/>
                                          </p:stCondLst>
                                        </p:cTn>
                                        <p:tgtEl>
                                          <p:spTgt spid="130"/>
                                        </p:tgtEl>
                                        <p:attrNameLst>
                                          <p:attrName>style.visibility</p:attrName>
                                        </p:attrNameLst>
                                      </p:cBhvr>
                                      <p:to>
                                        <p:strVal val="visible"/>
                                      </p:to>
                                    </p:set>
                                    <p:animEffect transition="in" filter="wipe(up)">
                                      <p:cBhvr>
                                        <p:cTn id="99" dur="500"/>
                                        <p:tgtEl>
                                          <p:spTgt spid="130"/>
                                        </p:tgtEl>
                                      </p:cBhvr>
                                    </p:animEffect>
                                  </p:childTnLst>
                                </p:cTn>
                              </p:par>
                              <p:par>
                                <p:cTn id="100" presetID="22" presetClass="entr" presetSubtype="1" fill="hold" grpId="0" nodeType="withEffect">
                                  <p:stCondLst>
                                    <p:cond delay="0"/>
                                  </p:stCondLst>
                                  <p:childTnLst>
                                    <p:set>
                                      <p:cBhvr>
                                        <p:cTn id="101" dur="1" fill="hold">
                                          <p:stCondLst>
                                            <p:cond delay="0"/>
                                          </p:stCondLst>
                                        </p:cTn>
                                        <p:tgtEl>
                                          <p:spTgt spid="131"/>
                                        </p:tgtEl>
                                        <p:attrNameLst>
                                          <p:attrName>style.visibility</p:attrName>
                                        </p:attrNameLst>
                                      </p:cBhvr>
                                      <p:to>
                                        <p:strVal val="visible"/>
                                      </p:to>
                                    </p:set>
                                    <p:animEffect transition="in" filter="wipe(up)">
                                      <p:cBhvr>
                                        <p:cTn id="102" dur="500"/>
                                        <p:tgtEl>
                                          <p:spTgt spid="131"/>
                                        </p:tgtEl>
                                      </p:cBhvr>
                                    </p:animEffect>
                                  </p:childTnLst>
                                </p:cTn>
                              </p:par>
                              <p:par>
                                <p:cTn id="103" presetID="22" presetClass="entr" presetSubtype="1" fill="hold" grpId="0" nodeType="withEffect">
                                  <p:stCondLst>
                                    <p:cond delay="0"/>
                                  </p:stCondLst>
                                  <p:childTnLst>
                                    <p:set>
                                      <p:cBhvr>
                                        <p:cTn id="104" dur="1" fill="hold">
                                          <p:stCondLst>
                                            <p:cond delay="0"/>
                                          </p:stCondLst>
                                        </p:cTn>
                                        <p:tgtEl>
                                          <p:spTgt spid="132"/>
                                        </p:tgtEl>
                                        <p:attrNameLst>
                                          <p:attrName>style.visibility</p:attrName>
                                        </p:attrNameLst>
                                      </p:cBhvr>
                                      <p:to>
                                        <p:strVal val="visible"/>
                                      </p:to>
                                    </p:set>
                                    <p:animEffect transition="in" filter="wipe(up)">
                                      <p:cBhvr>
                                        <p:cTn id="105" dur="500"/>
                                        <p:tgtEl>
                                          <p:spTgt spid="132"/>
                                        </p:tgtEl>
                                      </p:cBhvr>
                                    </p:animEffect>
                                  </p:childTnLst>
                                </p:cTn>
                              </p:par>
                              <p:par>
                                <p:cTn id="106" presetID="22" presetClass="entr" presetSubtype="1" fill="hold" grpId="0"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wipe(up)">
                                      <p:cBhvr>
                                        <p:cTn id="108" dur="500"/>
                                        <p:tgtEl>
                                          <p:spTgt spid="39"/>
                                        </p:tgtEl>
                                      </p:cBhvr>
                                    </p:animEffect>
                                  </p:childTnLst>
                                </p:cTn>
                              </p:par>
                              <p:par>
                                <p:cTn id="109" presetID="22" presetClass="entr" presetSubtype="1" fill="hold" grpId="0" nodeType="withEffect">
                                  <p:stCondLst>
                                    <p:cond delay="0"/>
                                  </p:stCondLst>
                                  <p:childTnLst>
                                    <p:set>
                                      <p:cBhvr>
                                        <p:cTn id="110" dur="1" fill="hold">
                                          <p:stCondLst>
                                            <p:cond delay="0"/>
                                          </p:stCondLst>
                                        </p:cTn>
                                        <p:tgtEl>
                                          <p:spTgt spid="134"/>
                                        </p:tgtEl>
                                        <p:attrNameLst>
                                          <p:attrName>style.visibility</p:attrName>
                                        </p:attrNameLst>
                                      </p:cBhvr>
                                      <p:to>
                                        <p:strVal val="visible"/>
                                      </p:to>
                                    </p:set>
                                    <p:animEffect transition="in" filter="wipe(up)">
                                      <p:cBhvr>
                                        <p:cTn id="111"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9" grpId="0" animBg="1"/>
      <p:bldP spid="30" grpId="0" animBg="1"/>
      <p:bldP spid="31" grpId="0" animBg="1"/>
      <p:bldP spid="32" grpId="0" animBg="1"/>
      <p:bldP spid="33" grpId="0"/>
      <p:bldP spid="34" grpId="0"/>
      <p:bldP spid="35" grpId="0"/>
      <p:bldP spid="36" grpId="0"/>
      <p:bldP spid="37" grpId="0" animBg="1"/>
      <p:bldP spid="38" grpId="0"/>
      <p:bldP spid="70" grpId="0" animBg="1"/>
      <p:bldP spid="71" grpId="0" animBg="1"/>
      <p:bldP spid="72" grpId="0" animBg="1"/>
      <p:bldP spid="82" grpId="0" animBg="1"/>
      <p:bldP spid="40" grpId="0" animBg="1"/>
      <p:bldP spid="61" grpId="0" animBg="1"/>
      <p:bldP spid="62" grpId="0" animBg="1"/>
      <p:bldP spid="63" grpId="0" animBg="1"/>
      <p:bldP spid="94" grpId="0" animBg="1"/>
      <p:bldP spid="133" grpId="0" animBg="1"/>
      <p:bldP spid="75" grpId="0" animBg="1"/>
      <p:bldP spid="76" grpId="0" animBg="1"/>
      <p:bldP spid="129" grpId="0" animBg="1"/>
      <p:bldP spid="130" grpId="0" animBg="1"/>
      <p:bldP spid="131" grpId="0" animBg="1"/>
      <p:bldP spid="132" grpId="0" animBg="1"/>
      <p:bldP spid="39" grpId="0" animBg="1"/>
      <p:bldP spid="13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a:solidFill>
                  <a:srgbClr val="0099FF"/>
                </a:solidFill>
                <a:latin typeface="Arial" panose="020B0604020202020204" pitchFamily="34" charset="0"/>
                <a:cs typeface="Arial" panose="020B0604020202020204" pitchFamily="34" charset="0"/>
              </a:rPr>
              <a:t>Comparative Advantage: Stakeholder Mapping</a:t>
            </a:r>
          </a:p>
        </p:txBody>
      </p:sp>
      <p:sp>
        <p:nvSpPr>
          <p:cNvPr id="4" name="Rectangle 4"/>
          <p:cNvSpPr>
            <a:spLocks noGrp="1" noChangeArrowheads="1"/>
          </p:cNvSpPr>
          <p:nvPr>
            <p:ph idx="1"/>
          </p:nvPr>
        </p:nvSpPr>
        <p:spPr>
          <a:xfrm>
            <a:off x="2749029" y="1529244"/>
            <a:ext cx="9314142" cy="1893341"/>
          </a:xfrm>
        </p:spPr>
        <p:txBody>
          <a:bodyPr>
            <a:normAutofit/>
          </a:bodyPr>
          <a:lstStyle/>
          <a:p>
            <a:pPr marL="533400" indent="-533400">
              <a:lnSpc>
                <a:spcPct val="70000"/>
              </a:lnSpc>
              <a:spcBef>
                <a:spcPct val="50000"/>
              </a:spcBef>
              <a:buNone/>
            </a:pPr>
            <a:r>
              <a:rPr lang="en-US" dirty="0" smtClean="0">
                <a:solidFill>
                  <a:srgbClr val="0099FF"/>
                </a:solidFill>
                <a:latin typeface="Arial" panose="020B0604020202020204" pitchFamily="34" charset="0"/>
                <a:cs typeface="Arial" panose="020B0604020202020204" pitchFamily="34" charset="0"/>
              </a:rPr>
              <a:t>Stakeholder </a:t>
            </a:r>
            <a:r>
              <a:rPr lang="en-US" dirty="0">
                <a:solidFill>
                  <a:srgbClr val="0099FF"/>
                </a:solidFill>
                <a:latin typeface="Arial" panose="020B0604020202020204" pitchFamily="34" charset="0"/>
                <a:cs typeface="Arial" panose="020B0604020202020204" pitchFamily="34" charset="0"/>
              </a:rPr>
              <a:t>Mapping Tool</a:t>
            </a:r>
          </a:p>
          <a:p>
            <a:pPr marL="457200" indent="-225425">
              <a:lnSpc>
                <a:spcPct val="70000"/>
              </a:lnSpc>
              <a:spcBef>
                <a:spcPts val="1800"/>
              </a:spcBef>
              <a:buFont typeface="Wingdings" pitchFamily="2" charset="2"/>
              <a:buChar char="§"/>
            </a:pPr>
            <a:r>
              <a:rPr lang="en-US" sz="2400" dirty="0">
                <a:latin typeface="Arial" panose="020B0604020202020204" pitchFamily="34" charset="0"/>
                <a:cs typeface="Arial" panose="020B0604020202020204" pitchFamily="34" charset="0"/>
              </a:rPr>
              <a:t>List the key stakeholders involved in this challenge /problem area</a:t>
            </a:r>
          </a:p>
          <a:p>
            <a:pPr marL="457200" indent="-225425">
              <a:lnSpc>
                <a:spcPct val="70000"/>
              </a:lnSpc>
              <a:spcBef>
                <a:spcPts val="1800"/>
              </a:spcBef>
              <a:buFont typeface="Wingdings" pitchFamily="2" charset="2"/>
              <a:buChar char="§"/>
            </a:pPr>
            <a:r>
              <a:rPr lang="en-US" sz="2400" dirty="0">
                <a:latin typeface="Arial" panose="020B0604020202020204" pitchFamily="34" charset="0"/>
                <a:cs typeface="Arial" panose="020B0604020202020204" pitchFamily="34" charset="0"/>
              </a:rPr>
              <a:t>What is each stakeholder already doing / likely to be doing in this area</a:t>
            </a:r>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p:sp>
        <p:nvSpPr>
          <p:cNvPr id="5" name="Rectangle 4"/>
          <p:cNvSpPr/>
          <p:nvPr/>
        </p:nvSpPr>
        <p:spPr>
          <a:xfrm>
            <a:off x="2749029" y="4033534"/>
            <a:ext cx="9314142" cy="1963614"/>
          </a:xfrm>
          <a:prstGeom prst="rect">
            <a:avLst/>
          </a:prstGeom>
        </p:spPr>
        <p:txBody>
          <a:bodyPr wrap="square">
            <a:spAutoFit/>
          </a:bodyPr>
          <a:lstStyle/>
          <a:p>
            <a:pPr marL="609600" indent="-609600">
              <a:lnSpc>
                <a:spcPct val="80000"/>
              </a:lnSpc>
              <a:spcBef>
                <a:spcPts val="2400"/>
              </a:spcBef>
              <a:buNone/>
            </a:pPr>
            <a:r>
              <a:rPr lang="en-US" sz="2800" dirty="0">
                <a:solidFill>
                  <a:srgbClr val="0099FF"/>
                </a:solidFill>
                <a:latin typeface="Arial" panose="020B0604020202020204" pitchFamily="34" charset="0"/>
                <a:cs typeface="Arial" panose="020B0604020202020204" pitchFamily="34" charset="0"/>
              </a:rPr>
              <a:t>Identify the Unique Niche of UNICEF</a:t>
            </a:r>
          </a:p>
          <a:p>
            <a:pPr marL="609600" indent="-609600">
              <a:lnSpc>
                <a:spcPct val="80000"/>
              </a:lnSpc>
              <a:buFont typeface="Arial" panose="020B0604020202020204" pitchFamily="34" charset="0"/>
              <a:buChar char="•"/>
            </a:pPr>
            <a:endParaRPr lang="en-US" sz="1000" b="1" dirty="0">
              <a:latin typeface="Arial" panose="020B0604020202020204" pitchFamily="34" charset="0"/>
              <a:cs typeface="Arial" panose="020B0604020202020204" pitchFamily="34" charset="0"/>
            </a:endParaRPr>
          </a:p>
          <a:p>
            <a:pPr marL="800100" lvl="2" indent="-342900">
              <a:lnSpc>
                <a:spcPct val="80000"/>
              </a:lnSpc>
              <a:buFont typeface="Arial" panose="020B0604020202020204" pitchFamily="34" charset="0"/>
              <a:buChar char="•"/>
            </a:pPr>
            <a:r>
              <a:rPr lang="en-US" sz="2400" dirty="0" smtClean="0">
                <a:latin typeface="Arial" panose="020B0604020202020204" pitchFamily="34" charset="0"/>
                <a:cs typeface="Arial" panose="020B0604020202020204" pitchFamily="34" charset="0"/>
              </a:rPr>
              <a:t>UNICEF is the only agency that can </a:t>
            </a:r>
            <a:r>
              <a:rPr lang="en-US" sz="2400" dirty="0">
                <a:latin typeface="Arial" panose="020B0604020202020204" pitchFamily="34" charset="0"/>
                <a:cs typeface="Arial" panose="020B0604020202020204" pitchFamily="34" charset="0"/>
              </a:rPr>
              <a:t>act in this area in this way</a:t>
            </a:r>
          </a:p>
          <a:p>
            <a:pPr marL="628650" lvl="2" indent="-171450">
              <a:lnSpc>
                <a:spcPct val="80000"/>
              </a:lnSpc>
              <a:buFont typeface="Arial" panose="020B0604020202020204" pitchFamily="34" charset="0"/>
              <a:buChar char="•"/>
            </a:pPr>
            <a:endParaRPr lang="en-US" sz="900" dirty="0">
              <a:latin typeface="Arial" panose="020B0604020202020204" pitchFamily="34" charset="0"/>
              <a:cs typeface="Arial" panose="020B0604020202020204" pitchFamily="34" charset="0"/>
            </a:endParaRPr>
          </a:p>
          <a:p>
            <a:pPr marL="800100" lvl="2" indent="-342900">
              <a:lnSpc>
                <a:spcPct val="80000"/>
              </a:lnSpc>
              <a:buFont typeface="Arial" panose="020B0604020202020204" pitchFamily="34" charset="0"/>
              <a:buChar char="•"/>
            </a:pPr>
            <a:r>
              <a:rPr lang="en-US" sz="2400" dirty="0" smtClean="0">
                <a:latin typeface="Arial" panose="020B0604020202020204" pitchFamily="34" charset="0"/>
                <a:cs typeface="Arial" panose="020B0604020202020204" pitchFamily="34" charset="0"/>
              </a:rPr>
              <a:t>UNICEF has </a:t>
            </a:r>
            <a:r>
              <a:rPr lang="en-US" sz="2400" dirty="0">
                <a:latin typeface="Arial" panose="020B0604020202020204" pitchFamily="34" charset="0"/>
                <a:cs typeface="Arial" panose="020B0604020202020204" pitchFamily="34" charset="0"/>
              </a:rPr>
              <a:t>a </a:t>
            </a:r>
            <a:r>
              <a:rPr lang="en-US" sz="2400" u="sng" dirty="0">
                <a:latin typeface="Arial" panose="020B0604020202020204" pitchFamily="34" charset="0"/>
                <a:cs typeface="Arial" panose="020B0604020202020204" pitchFamily="34" charset="0"/>
              </a:rPr>
              <a:t>unique</a:t>
            </a:r>
            <a:r>
              <a:rPr lang="en-US" sz="2400" dirty="0">
                <a:latin typeface="Arial" panose="020B0604020202020204" pitchFamily="34" charset="0"/>
                <a:cs typeface="Arial" panose="020B0604020202020204" pitchFamily="34" charset="0"/>
              </a:rPr>
              <a:t> contribution </a:t>
            </a:r>
            <a:r>
              <a:rPr lang="en-US" sz="2400" dirty="0" smtClean="0">
                <a:latin typeface="Arial" panose="020B0604020202020204" pitchFamily="34" charset="0"/>
                <a:cs typeface="Arial" panose="020B0604020202020204" pitchFamily="34" charset="0"/>
              </a:rPr>
              <a:t>to make in </a:t>
            </a:r>
            <a:r>
              <a:rPr lang="en-US" sz="2400" dirty="0">
                <a:latin typeface="Arial" panose="020B0604020202020204" pitchFamily="34" charset="0"/>
                <a:cs typeface="Arial" panose="020B0604020202020204" pitchFamily="34" charset="0"/>
              </a:rPr>
              <a:t>this area</a:t>
            </a:r>
          </a:p>
          <a:p>
            <a:pPr marL="628650" lvl="2" indent="-171450">
              <a:lnSpc>
                <a:spcPct val="80000"/>
              </a:lnSpc>
              <a:buFont typeface="Arial" panose="020B0604020202020204" pitchFamily="34" charset="0"/>
              <a:buChar char="•"/>
            </a:pPr>
            <a:endParaRPr lang="en-US" sz="900" dirty="0">
              <a:latin typeface="Arial" panose="020B0604020202020204" pitchFamily="34" charset="0"/>
              <a:cs typeface="Arial" panose="020B0604020202020204" pitchFamily="34" charset="0"/>
            </a:endParaRPr>
          </a:p>
          <a:p>
            <a:pPr marL="800100" lvl="2" indent="-342900">
              <a:lnSpc>
                <a:spcPct val="80000"/>
              </a:lnSpc>
              <a:buFont typeface="Arial" panose="020B0604020202020204" pitchFamily="34" charset="0"/>
              <a:buChar char="•"/>
            </a:pPr>
            <a:r>
              <a:rPr lang="en-US" sz="2400" dirty="0" smtClean="0">
                <a:latin typeface="Arial" panose="020B0604020202020204" pitchFamily="34" charset="0"/>
                <a:cs typeface="Arial" panose="020B0604020202020204" pitchFamily="34" charset="0"/>
              </a:rPr>
              <a:t>UNICEF is </a:t>
            </a:r>
            <a:r>
              <a:rPr lang="en-US" sz="2400" u="sng" dirty="0" smtClean="0">
                <a:latin typeface="Arial" panose="020B0604020202020204" pitchFamily="34" charset="0"/>
                <a:cs typeface="Arial" panose="020B0604020202020204" pitchFamily="34" charset="0"/>
              </a:rPr>
              <a:t>better </a:t>
            </a:r>
            <a:r>
              <a:rPr lang="en-US" sz="2400" u="sng" dirty="0">
                <a:latin typeface="Arial" panose="020B0604020202020204" pitchFamily="34" charset="0"/>
                <a:cs typeface="Arial" panose="020B0604020202020204" pitchFamily="34" charset="0"/>
              </a:rPr>
              <a:t>positioned</a:t>
            </a:r>
            <a:r>
              <a:rPr lang="en-US" sz="2400" dirty="0">
                <a:latin typeface="Arial" panose="020B0604020202020204" pitchFamily="34" charset="0"/>
                <a:cs typeface="Arial" panose="020B0604020202020204" pitchFamily="34" charset="0"/>
              </a:rPr>
              <a:t> than other actors</a:t>
            </a:r>
          </a:p>
        </p:txBody>
      </p:sp>
      <p:pic>
        <p:nvPicPr>
          <p:cNvPr id="10" name="Picture 2" descr="http://cdn2.hubspot.net/hub/390757/file-1027248010-png/images/people-connect-icon.png?t=1455723441285&amp;width=2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575" y="1274105"/>
            <a:ext cx="2705100" cy="226695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97069" y="3584920"/>
            <a:ext cx="2245895" cy="523220"/>
          </a:xfrm>
          <a:prstGeom prst="rect">
            <a:avLst/>
          </a:prstGeom>
          <a:noFill/>
        </p:spPr>
        <p:txBody>
          <a:bodyPr wrap="square" rtlCol="0">
            <a:spAutoFit/>
          </a:bodyPr>
          <a:lstStyle/>
          <a:p>
            <a:pPr algn="ctr"/>
            <a:r>
              <a:rPr lang="en-US" sz="2800" dirty="0" smtClean="0">
                <a:latin typeface="Arial" panose="020B0604020202020204" pitchFamily="34" charset="0"/>
                <a:cs typeface="Arial" panose="020B0604020202020204" pitchFamily="34" charset="0"/>
              </a:rPr>
              <a:t>Exercise</a:t>
            </a: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940609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Group work</a:t>
            </a:r>
          </a:p>
        </p:txBody>
      </p:sp>
      <p:sp>
        <p:nvSpPr>
          <p:cNvPr id="3" name="Content Placeholder 2"/>
          <p:cNvSpPr txBox="1">
            <a:spLocks/>
          </p:cNvSpPr>
          <p:nvPr/>
        </p:nvSpPr>
        <p:spPr>
          <a:xfrm>
            <a:off x="2926618" y="1139058"/>
            <a:ext cx="6290196" cy="47844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400" dirty="0" smtClean="0">
              <a:latin typeface="Arial" panose="020B0604020202020204" pitchFamily="34" charset="0"/>
              <a:cs typeface="Arial" panose="020B0604020202020204" pitchFamily="34" charset="0"/>
            </a:endParaRPr>
          </a:p>
          <a:p>
            <a:pPr marL="457200" indent="-457200">
              <a:buFont typeface="Arial" panose="020B0604020202020204" pitchFamily="34" charset="0"/>
              <a:buAutoNum type="arabicPeriod"/>
            </a:pPr>
            <a:endParaRPr lang="en-US" sz="2400" dirty="0">
              <a:latin typeface="Arial" panose="020B0604020202020204" pitchFamily="34" charset="0"/>
              <a:cs typeface="Arial" panose="020B0604020202020204" pitchFamily="34" charset="0"/>
            </a:endParaRPr>
          </a:p>
          <a:p>
            <a:pPr marL="457200" indent="-457200">
              <a:buAutoNum type="arabicPeriod"/>
            </a:pPr>
            <a:r>
              <a:rPr lang="en-US" sz="2400" dirty="0" smtClean="0">
                <a:latin typeface="Arial" panose="020B0604020202020204" pitchFamily="34" charset="0"/>
                <a:cs typeface="Arial" panose="020B0604020202020204" pitchFamily="34" charset="0"/>
              </a:rPr>
              <a:t>Undertake a stakeholder mapping against the outcome chain</a:t>
            </a:r>
          </a:p>
          <a:p>
            <a:pPr marL="457200" indent="-457200">
              <a:buAutoNum type="arabicPeriod"/>
            </a:pPr>
            <a:endParaRPr lang="en-US" sz="2400" dirty="0" smtClean="0">
              <a:latin typeface="Arial" panose="020B0604020202020204" pitchFamily="34" charset="0"/>
              <a:cs typeface="Arial" panose="020B0604020202020204" pitchFamily="34" charset="0"/>
            </a:endParaRPr>
          </a:p>
          <a:p>
            <a:pPr marL="457200" indent="-457200">
              <a:buAutoNum type="arabicPeriod"/>
            </a:pPr>
            <a:r>
              <a:rPr lang="en-US" sz="2400" dirty="0" smtClean="0">
                <a:latin typeface="Arial" panose="020B0604020202020204" pitchFamily="34" charset="0"/>
                <a:cs typeface="Arial" panose="020B0604020202020204" pitchFamily="34" charset="0"/>
              </a:rPr>
              <a:t>Using </a:t>
            </a:r>
            <a:r>
              <a:rPr lang="en-US" sz="2400" dirty="0">
                <a:latin typeface="Arial" panose="020B0604020202020204" pitchFamily="34" charset="0"/>
                <a:cs typeface="Arial" panose="020B0604020202020204" pitchFamily="34" charset="0"/>
              </a:rPr>
              <a:t>the ‘funnel’ approach select the </a:t>
            </a:r>
            <a:r>
              <a:rPr lang="en-US" sz="2400" dirty="0" smtClean="0">
                <a:latin typeface="Arial" panose="020B0604020202020204" pitchFamily="34" charset="0"/>
                <a:cs typeface="Arial" panose="020B0604020202020204" pitchFamily="34" charset="0"/>
              </a:rPr>
              <a:t>deprivation / inequity that</a:t>
            </a:r>
          </a:p>
          <a:p>
            <a:pPr lvl="1"/>
            <a:r>
              <a:rPr lang="en-US" sz="2000" dirty="0" smtClean="0">
                <a:solidFill>
                  <a:srgbClr val="0099FF"/>
                </a:solidFill>
                <a:latin typeface="Arial" panose="020B0604020202020204" pitchFamily="34" charset="0"/>
                <a:cs typeface="Arial" panose="020B0604020202020204" pitchFamily="34" charset="0"/>
              </a:rPr>
              <a:t>UNICEF will focus on directly and primarily – in focus</a:t>
            </a:r>
          </a:p>
          <a:p>
            <a:pPr lvl="1"/>
            <a:r>
              <a:rPr lang="en-US" sz="2000" dirty="0" smtClean="0">
                <a:solidFill>
                  <a:srgbClr val="0099FF"/>
                </a:solidFill>
                <a:latin typeface="Arial" panose="020B0604020202020204" pitchFamily="34" charset="0"/>
                <a:cs typeface="Arial" panose="020B0604020202020204" pitchFamily="34" charset="0"/>
              </a:rPr>
              <a:t>UNICEF will influence – in scope (identify partners)</a:t>
            </a:r>
          </a:p>
          <a:p>
            <a:pPr lvl="1"/>
            <a:r>
              <a:rPr lang="en-US" sz="2000" dirty="0" smtClean="0">
                <a:solidFill>
                  <a:srgbClr val="0099FF"/>
                </a:solidFill>
                <a:latin typeface="Arial" panose="020B0604020202020204" pitchFamily="34" charset="0"/>
                <a:cs typeface="Arial" panose="020B0604020202020204" pitchFamily="34" charset="0"/>
              </a:rPr>
              <a:t>Are out scope of UNICEF’s programme</a:t>
            </a:r>
            <a:endParaRPr lang="en-US" sz="2400" dirty="0">
              <a:solidFill>
                <a:srgbClr val="0099FF"/>
              </a:solidFill>
              <a:latin typeface="Arial" panose="020B0604020202020204" pitchFamily="34" charset="0"/>
              <a:cs typeface="Arial" panose="020B0604020202020204" pitchFamily="34" charset="0"/>
            </a:endParaRPr>
          </a:p>
        </p:txBody>
      </p:sp>
      <p:pic>
        <p:nvPicPr>
          <p:cNvPr id="4" name="Picture 2" descr="http://cdn2.hubspot.net/hub/390757/file-1027248010-png/images/people-connect-icon.png?t=1455723441285&amp;width=28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70155"/>
            <a:ext cx="2705100" cy="2266951"/>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p:cNvGrpSpPr/>
          <p:nvPr/>
        </p:nvGrpSpPr>
        <p:grpSpPr>
          <a:xfrm>
            <a:off x="9496535" y="385010"/>
            <a:ext cx="2605889" cy="2618919"/>
            <a:chOff x="9144893" y="3947636"/>
            <a:chExt cx="2605889" cy="2618919"/>
          </a:xfrm>
        </p:grpSpPr>
        <p:pic>
          <p:nvPicPr>
            <p:cNvPr id="11" name="Picture 6" descr="http://1.bp.blogspot.com/-ywKlrpnUnqo/Tc8Axuwu_mI/AAAAAAAAARY/V1EBr_BYHMs/s1600/Post-it_Yellow.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893" y="3947636"/>
              <a:ext cx="2605889" cy="2618919"/>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rot="21230164">
              <a:off x="9448204" y="4622269"/>
              <a:ext cx="1851789" cy="1323439"/>
            </a:xfrm>
            <a:prstGeom prst="rect">
              <a:avLst/>
            </a:prstGeom>
          </p:spPr>
          <p:txBody>
            <a:bodyPr wrap="none">
              <a:spAutoFit/>
            </a:bodyPr>
            <a:lstStyle/>
            <a:p>
              <a:pPr marL="0" lvl="1" algn="ctr"/>
              <a:r>
                <a:rPr lang="en-US" sz="2000" dirty="0">
                  <a:latin typeface="Arial" panose="020B0604020202020204" pitchFamily="34" charset="0"/>
                  <a:cs typeface="Arial" panose="020B0604020202020204" pitchFamily="34" charset="0"/>
                </a:rPr>
                <a:t>Present </a:t>
              </a:r>
              <a:r>
                <a:rPr lang="en-US" sz="2000" dirty="0" smtClean="0">
                  <a:latin typeface="Arial" panose="020B0604020202020204" pitchFamily="34" charset="0"/>
                  <a:cs typeface="Arial" panose="020B0604020202020204" pitchFamily="34" charset="0"/>
                </a:rPr>
                <a:t>the</a:t>
              </a:r>
            </a:p>
            <a:p>
              <a:pPr marL="0" lvl="1" algn="ctr"/>
              <a:r>
                <a:rPr lang="en-US" sz="2000" dirty="0" smtClean="0">
                  <a:latin typeface="Arial" panose="020B0604020202020204" pitchFamily="34" charset="0"/>
                  <a:cs typeface="Arial" panose="020B0604020202020204" pitchFamily="34" charset="0"/>
                </a:rPr>
                <a:t>outcome chain</a:t>
              </a:r>
            </a:p>
            <a:p>
              <a:pPr marL="0" lvl="1" algn="ctr"/>
              <a:r>
                <a:rPr lang="en-US" sz="2000" dirty="0" smtClean="0">
                  <a:latin typeface="Arial" panose="020B0604020202020204" pitchFamily="34" charset="0"/>
                  <a:cs typeface="Arial" panose="020B0604020202020204" pitchFamily="34" charset="0"/>
                </a:rPr>
                <a:t>using </a:t>
              </a:r>
            </a:p>
            <a:p>
              <a:pPr marL="0" lvl="1" algn="ctr"/>
              <a:r>
                <a:rPr lang="en-US" sz="2000" dirty="0" smtClean="0">
                  <a:latin typeface="Arial" panose="020B0604020202020204" pitchFamily="34" charset="0"/>
                  <a:cs typeface="Arial" panose="020B0604020202020204" pitchFamily="34" charset="0"/>
                </a:rPr>
                <a:t>VIPP </a:t>
              </a:r>
              <a:r>
                <a:rPr lang="en-US" sz="2000" dirty="0">
                  <a:latin typeface="Arial" panose="020B0604020202020204" pitchFamily="34" charset="0"/>
                  <a:cs typeface="Arial" panose="020B0604020202020204" pitchFamily="34" charset="0"/>
                </a:rPr>
                <a:t>cards</a:t>
              </a:r>
            </a:p>
          </p:txBody>
        </p:sp>
      </p:grpSp>
      <p:pic>
        <p:nvPicPr>
          <p:cNvPr id="4104" name="Picture 8" descr="https://d30y9cdsu7xlg0.cloudfront.net/png/3638-20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3471" y="3622880"/>
            <a:ext cx="2757433" cy="275743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8901953" y="5765168"/>
            <a:ext cx="3200471" cy="1015663"/>
          </a:xfrm>
          <a:prstGeom prst="rect">
            <a:avLst/>
          </a:prstGeom>
          <a:solidFill>
            <a:schemeClr val="bg1"/>
          </a:solidFill>
        </p:spPr>
        <p:txBody>
          <a:bodyPr wrap="square">
            <a:spAutoFit/>
          </a:bodyPr>
          <a:lstStyle/>
          <a:p>
            <a:pPr algn="ctr"/>
            <a:r>
              <a:rPr lang="en-US" sz="2000" dirty="0">
                <a:latin typeface="Arial" panose="020B0604020202020204" pitchFamily="34" charset="0"/>
                <a:cs typeface="Arial" panose="020B0604020202020204" pitchFamily="34" charset="0"/>
              </a:rPr>
              <a:t>Present your justification for prioritization on a flipchart paper</a:t>
            </a:r>
            <a:endParaRPr lang="en-US" sz="2000" dirty="0"/>
          </a:p>
        </p:txBody>
      </p:sp>
    </p:spTree>
    <p:extLst>
      <p:ext uri="{BB962C8B-B14F-4D97-AF65-F5344CB8AC3E}">
        <p14:creationId xmlns:p14="http://schemas.microsoft.com/office/powerpoint/2010/main" val="339480731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277470" y="3227295"/>
            <a:ext cx="10914529" cy="770021"/>
          </a:xfrm>
        </p:spPr>
        <p:txBody>
          <a:bodyPr>
            <a:normAutofit/>
          </a:bodyPr>
          <a:lstStyle/>
          <a:p>
            <a:pPr algn="ctr"/>
            <a:r>
              <a:rPr lang="en-US" sz="3600" dirty="0" smtClean="0">
                <a:solidFill>
                  <a:srgbClr val="0099FF"/>
                </a:solidFill>
                <a:latin typeface="Arial" panose="020B0604020202020204" pitchFamily="34" charset="0"/>
                <a:cs typeface="Arial" panose="020B0604020202020204" pitchFamily="34" charset="0"/>
              </a:rPr>
              <a:t>Any Questions?</a:t>
            </a:r>
            <a:endParaRPr lang="en-US" sz="3600" dirty="0">
              <a:solidFill>
                <a:srgbClr val="0099FF"/>
              </a:solidFill>
              <a:latin typeface="Arial" panose="020B0604020202020204" pitchFamily="34" charset="0"/>
              <a:cs typeface="Arial" panose="020B0604020202020204" pitchFamily="34" charset="0"/>
            </a:endParaRPr>
          </a:p>
        </p:txBody>
      </p:sp>
      <p:pic>
        <p:nvPicPr>
          <p:cNvPr id="1026" name="Picture 2" descr="https://cdn2.iconfinder.com/data/icons/freecns-cumulus/16/519660-164_QuestionMark-512.png"/>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79762" y="2773404"/>
            <a:ext cx="1677801" cy="1677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410769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60884" y="2502568"/>
            <a:ext cx="8855242" cy="2839453"/>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860884" y="2502567"/>
            <a:ext cx="8855242" cy="2839453"/>
          </a:xfrm>
        </p:spPr>
        <p:txBody>
          <a:bodyPr vert="horz" lIns="91440" tIns="45720" rIns="91440" bIns="45720" rtlCol="0" anchor="ctr">
            <a:noAutofit/>
          </a:bodyPr>
          <a:lstStyle/>
          <a:p>
            <a:pPr algn="ctr"/>
            <a:r>
              <a:rPr lang="en-US" sz="4000" dirty="0" smtClean="0">
                <a:solidFill>
                  <a:srgbClr val="0099FF"/>
                </a:solidFill>
                <a:latin typeface="Arial" panose="020B0604020202020204" pitchFamily="34" charset="0"/>
                <a:cs typeface="Arial" panose="020B0604020202020204" pitchFamily="34" charset="0"/>
              </a:rPr>
              <a:t>THEORY OF CHANGE:</a:t>
            </a:r>
            <a:br>
              <a:rPr lang="en-US" sz="4000" dirty="0" smtClean="0">
                <a:solidFill>
                  <a:srgbClr val="0099FF"/>
                </a:solidFill>
                <a:latin typeface="Arial" panose="020B0604020202020204" pitchFamily="34" charset="0"/>
                <a:cs typeface="Arial" panose="020B0604020202020204" pitchFamily="34" charset="0"/>
              </a:rPr>
            </a:br>
            <a:r>
              <a:rPr lang="en-US" sz="4000" dirty="0" smtClean="0">
                <a:solidFill>
                  <a:srgbClr val="0099FF"/>
                </a:solidFill>
                <a:latin typeface="Arial" panose="020B0604020202020204" pitchFamily="34" charset="0"/>
                <a:cs typeface="Arial" panose="020B0604020202020204" pitchFamily="34" charset="0"/>
              </a:rPr>
              <a:t/>
            </a:r>
            <a:br>
              <a:rPr lang="en-US" sz="4000" dirty="0" smtClean="0">
                <a:solidFill>
                  <a:srgbClr val="0099FF"/>
                </a:solidFill>
                <a:latin typeface="Arial" panose="020B0604020202020204" pitchFamily="34" charset="0"/>
                <a:cs typeface="Arial" panose="020B0604020202020204" pitchFamily="34" charset="0"/>
              </a:rPr>
            </a:br>
            <a:r>
              <a:rPr lang="en-US" sz="4000" dirty="0" smtClean="0">
                <a:solidFill>
                  <a:srgbClr val="0099FF"/>
                </a:solidFill>
                <a:latin typeface="Arial" panose="020B0604020202020204" pitchFamily="34" charset="0"/>
                <a:cs typeface="Arial" panose="020B0604020202020204" pitchFamily="34" charset="0"/>
              </a:rPr>
              <a:t>STRATEGIES, RISKS AND ASSUMPTIONS</a:t>
            </a:r>
            <a:endParaRPr lang="en-US" sz="2800" dirty="0">
              <a:solidFill>
                <a:schemeClr val="bg1">
                  <a:lumMod val="50000"/>
                </a:schemeClr>
              </a:solidFill>
              <a:latin typeface="Arial" panose="020B0604020202020204" pitchFamily="34" charset="0"/>
              <a:cs typeface="Arial" panose="020B0604020202020204" pitchFamily="34" charset="0"/>
            </a:endParaRPr>
          </a:p>
        </p:txBody>
      </p:sp>
      <p:sp>
        <p:nvSpPr>
          <p:cNvPr id="6" name="Rectangle 5"/>
          <p:cNvSpPr/>
          <p:nvPr/>
        </p:nvSpPr>
        <p:spPr>
          <a:xfrm>
            <a:off x="1860884" y="1612232"/>
            <a:ext cx="8855242" cy="890336"/>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bg1">
                    <a:lumMod val="65000"/>
                  </a:schemeClr>
                </a:solidFill>
                <a:latin typeface="Arial" panose="020B0604020202020204" pitchFamily="34" charset="0"/>
                <a:cs typeface="Arial" panose="020B0604020202020204" pitchFamily="34" charset="0"/>
              </a:rPr>
              <a:t>SESSION 6</a:t>
            </a:r>
            <a:endParaRPr lang="en-US" sz="2800" dirty="0">
              <a:solidFill>
                <a:schemeClr val="bg1">
                  <a:lumMod val="6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2799422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Session objectives</a:t>
            </a:r>
          </a:p>
        </p:txBody>
      </p:sp>
      <p:sp>
        <p:nvSpPr>
          <p:cNvPr id="2" name="TextBox 1"/>
          <p:cNvSpPr txBox="1"/>
          <p:nvPr/>
        </p:nvSpPr>
        <p:spPr>
          <a:xfrm>
            <a:off x="2090057" y="2231572"/>
            <a:ext cx="7848600" cy="2677656"/>
          </a:xfrm>
          <a:prstGeom prst="rect">
            <a:avLst/>
          </a:prstGeom>
          <a:noFill/>
        </p:spPr>
        <p:txBody>
          <a:bodyPr wrap="square" rtlCol="0">
            <a:spAutoFit/>
          </a:bodyPr>
          <a:lstStyle/>
          <a:p>
            <a:pPr marL="285750" indent="-285750">
              <a:buFont typeface="Arial" panose="020B0604020202020204" pitchFamily="34" charset="0"/>
              <a:buChar char="•"/>
            </a:pPr>
            <a:r>
              <a:rPr lang="en-US" sz="2400" dirty="0" smtClean="0">
                <a:latin typeface="Arial" panose="020B0604020202020204" pitchFamily="34" charset="0"/>
                <a:cs typeface="Arial" panose="020B0604020202020204" pitchFamily="34" charset="0"/>
              </a:rPr>
              <a:t>Define programme and implementation strategies</a:t>
            </a:r>
          </a:p>
          <a:p>
            <a:pPr marL="285750" indent="-285750">
              <a:buFont typeface="Arial" panose="020B0604020202020204" pitchFamily="34" charset="0"/>
              <a:buChar char="•"/>
            </a:pPr>
            <a:endParaRPr lang="en-US" sz="24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400" dirty="0" smtClean="0">
                <a:latin typeface="Arial" panose="020B0604020202020204" pitchFamily="34" charset="0"/>
                <a:cs typeface="Arial" panose="020B0604020202020204" pitchFamily="34" charset="0"/>
              </a:rPr>
              <a:t>Identify key assumptions and risks</a:t>
            </a:r>
          </a:p>
          <a:p>
            <a:pPr marL="285750" indent="-285750">
              <a:buFont typeface="Arial" panose="020B0604020202020204" pitchFamily="34" charset="0"/>
              <a:buChar char="•"/>
            </a:pPr>
            <a:endParaRPr lang="en-US" sz="24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400" dirty="0" smtClean="0">
                <a:latin typeface="Arial" panose="020B0604020202020204" pitchFamily="34" charset="0"/>
                <a:cs typeface="Arial" panose="020B0604020202020204" pitchFamily="34" charset="0"/>
              </a:rPr>
              <a:t>Assess the risk level</a:t>
            </a:r>
          </a:p>
          <a:p>
            <a:pPr marL="285750" indent="-285750">
              <a:buFont typeface="Arial" panose="020B0604020202020204" pitchFamily="34" charset="0"/>
              <a:buChar char="•"/>
            </a:pPr>
            <a:endParaRPr lang="en-US" sz="24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400" dirty="0" smtClean="0">
                <a:latin typeface="Arial" panose="020B0604020202020204" pitchFamily="34" charset="0"/>
                <a:cs typeface="Arial" panose="020B0604020202020204" pitchFamily="34" charset="0"/>
              </a:rPr>
              <a:t>Mitigate risks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919267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Oval 35"/>
          <p:cNvSpPr/>
          <p:nvPr/>
        </p:nvSpPr>
        <p:spPr>
          <a:xfrm>
            <a:off x="7068457" y="2076315"/>
            <a:ext cx="3831772" cy="3229924"/>
          </a:xfrm>
          <a:prstGeom prst="ellipse">
            <a:avLst/>
          </a:prstGeom>
          <a:solidFill>
            <a:schemeClr val="accent2">
              <a:lumMod val="20000"/>
              <a:lumOff val="80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b="1" dirty="0" smtClean="0">
                <a:solidFill>
                  <a:schemeClr val="tx1">
                    <a:lumMod val="75000"/>
                    <a:lumOff val="25000"/>
                  </a:schemeClr>
                </a:solidFill>
                <a:latin typeface="Arial" panose="020B0604020202020204" pitchFamily="34" charset="0"/>
                <a:cs typeface="Arial" panose="020B0604020202020204" pitchFamily="34" charset="0"/>
              </a:rPr>
              <a:t>Managing for results</a:t>
            </a:r>
            <a:endParaRPr lang="en-US" b="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Title 1"/>
          <p:cNvSpPr txBox="1">
            <a:spLocks/>
          </p:cNvSpPr>
          <p:nvPr/>
        </p:nvSpPr>
        <p:spPr>
          <a:xfrm>
            <a:off x="0" y="0"/>
            <a:ext cx="12192000" cy="770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rgbClr val="0099FF"/>
                </a:solidFill>
                <a:latin typeface="Arial" panose="020B0604020202020204" pitchFamily="34" charset="0"/>
                <a:cs typeface="Arial" panose="020B0604020202020204" pitchFamily="34" charset="0"/>
              </a:rPr>
              <a:t>What will UNICEF </a:t>
            </a:r>
            <a:r>
              <a:rPr lang="en-US" sz="2800" dirty="0" smtClean="0">
                <a:solidFill>
                  <a:srgbClr val="0099FF"/>
                </a:solidFill>
                <a:latin typeface="Arial" panose="020B0604020202020204" pitchFamily="34" charset="0"/>
                <a:cs typeface="Arial" panose="020B0604020202020204" pitchFamily="34" charset="0"/>
              </a:rPr>
              <a:t>do = </a:t>
            </a:r>
            <a:r>
              <a:rPr lang="en-US" sz="2800" dirty="0">
                <a:solidFill>
                  <a:schemeClr val="bg1">
                    <a:lumMod val="50000"/>
                  </a:schemeClr>
                </a:solidFill>
                <a:latin typeface="Arial" panose="020B0604020202020204" pitchFamily="34" charset="0"/>
                <a:cs typeface="Arial" panose="020B0604020202020204" pitchFamily="34" charset="0"/>
              </a:rPr>
              <a:t>P</a:t>
            </a:r>
            <a:r>
              <a:rPr lang="en-US" sz="2800" dirty="0" smtClean="0">
                <a:solidFill>
                  <a:schemeClr val="bg1">
                    <a:lumMod val="50000"/>
                  </a:schemeClr>
                </a:solidFill>
                <a:latin typeface="Arial" panose="020B0604020202020204" pitchFamily="34" charset="0"/>
                <a:cs typeface="Arial" panose="020B0604020202020204" pitchFamily="34" charset="0"/>
              </a:rPr>
              <a:t>rogramme Strategies + Implementation </a:t>
            </a:r>
            <a:r>
              <a:rPr lang="en-US" sz="2800" dirty="0">
                <a:solidFill>
                  <a:schemeClr val="bg1">
                    <a:lumMod val="50000"/>
                  </a:schemeClr>
                </a:solidFill>
                <a:latin typeface="Arial" panose="020B0604020202020204" pitchFamily="34" charset="0"/>
                <a:cs typeface="Arial" panose="020B0604020202020204" pitchFamily="34" charset="0"/>
              </a:rPr>
              <a:t>S</a:t>
            </a:r>
            <a:r>
              <a:rPr lang="en-US" sz="2800" dirty="0" smtClean="0">
                <a:solidFill>
                  <a:schemeClr val="bg1">
                    <a:lumMod val="50000"/>
                  </a:schemeClr>
                </a:solidFill>
                <a:latin typeface="Arial" panose="020B0604020202020204" pitchFamily="34" charset="0"/>
                <a:cs typeface="Arial" panose="020B0604020202020204" pitchFamily="34" charset="0"/>
              </a:rPr>
              <a:t>trategies</a:t>
            </a:r>
          </a:p>
        </p:txBody>
      </p:sp>
      <p:grpSp>
        <p:nvGrpSpPr>
          <p:cNvPr id="3" name="Group 2"/>
          <p:cNvGrpSpPr/>
          <p:nvPr/>
        </p:nvGrpSpPr>
        <p:grpSpPr>
          <a:xfrm>
            <a:off x="271382" y="868527"/>
            <a:ext cx="5566610" cy="5869158"/>
            <a:chOff x="271382" y="868527"/>
            <a:chExt cx="5566610" cy="5869158"/>
          </a:xfrm>
        </p:grpSpPr>
        <p:sp>
          <p:nvSpPr>
            <p:cNvPr id="2" name="Rectangle 1"/>
            <p:cNvSpPr/>
            <p:nvPr/>
          </p:nvSpPr>
          <p:spPr>
            <a:xfrm>
              <a:off x="271382" y="1314542"/>
              <a:ext cx="5566610" cy="5423143"/>
            </a:xfrm>
            <a:prstGeom prst="rect">
              <a:avLst/>
            </a:prstGeom>
            <a:noFill/>
            <a:ln>
              <a:solidFill>
                <a:srgbClr val="00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848897" y="868527"/>
              <a:ext cx="4411579" cy="461665"/>
            </a:xfrm>
            <a:prstGeom prst="rect">
              <a:avLst/>
            </a:prstGeom>
            <a:noFill/>
          </p:spPr>
          <p:txBody>
            <a:bodyPr wrap="square" rtlCol="0">
              <a:spAutoFit/>
            </a:bodyPr>
            <a:lstStyle/>
            <a:p>
              <a:pPr algn="ctr"/>
              <a:r>
                <a:rPr lang="en-US" sz="2400" dirty="0" smtClean="0">
                  <a:solidFill>
                    <a:srgbClr val="0099FF"/>
                  </a:solidFill>
                  <a:latin typeface="Arial" panose="020B0604020202020204" pitchFamily="34" charset="0"/>
                  <a:cs typeface="Arial" panose="020B0604020202020204" pitchFamily="34" charset="0"/>
                </a:rPr>
                <a:t>Programme Strategies</a:t>
              </a:r>
              <a:endParaRPr lang="en-US" sz="2400" dirty="0">
                <a:solidFill>
                  <a:srgbClr val="0099FF"/>
                </a:solidFill>
                <a:latin typeface="Arial" panose="020B0604020202020204" pitchFamily="34" charset="0"/>
                <a:cs typeface="Arial" panose="020B0604020202020204" pitchFamily="34" charset="0"/>
              </a:endParaRPr>
            </a:p>
          </p:txBody>
        </p:sp>
      </p:grpSp>
      <p:sp>
        <p:nvSpPr>
          <p:cNvPr id="7" name="Rectangle 6"/>
          <p:cNvSpPr/>
          <p:nvPr/>
        </p:nvSpPr>
        <p:spPr>
          <a:xfrm>
            <a:off x="1353099" y="1413048"/>
            <a:ext cx="4284211" cy="443568"/>
          </a:xfrm>
          <a:prstGeom prst="rect">
            <a:avLst/>
          </a:prstGeom>
          <a:solidFill>
            <a:schemeClr val="accent1">
              <a:lumMod val="20000"/>
              <a:lumOff val="8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002060"/>
                </a:solidFill>
                <a:latin typeface="Arial" panose="020B0604020202020204" pitchFamily="34" charset="0"/>
                <a:cs typeface="Arial" panose="020B0604020202020204" pitchFamily="34" charset="0"/>
              </a:rPr>
              <a:t>Protect</a:t>
            </a:r>
            <a:endParaRPr lang="en-US" dirty="0">
              <a:solidFill>
                <a:srgbClr val="002060"/>
              </a:solidFill>
              <a:latin typeface="Arial" panose="020B0604020202020204" pitchFamily="34" charset="0"/>
              <a:cs typeface="Arial" panose="020B0604020202020204" pitchFamily="34" charset="0"/>
            </a:endParaRPr>
          </a:p>
        </p:txBody>
      </p:sp>
      <p:sp>
        <p:nvSpPr>
          <p:cNvPr id="9" name="Rectangle 8"/>
          <p:cNvSpPr/>
          <p:nvPr/>
        </p:nvSpPr>
        <p:spPr>
          <a:xfrm>
            <a:off x="1353101" y="1815462"/>
            <a:ext cx="4284210" cy="456151"/>
          </a:xfrm>
          <a:prstGeom prst="rect">
            <a:avLst/>
          </a:prstGeom>
          <a:solidFill>
            <a:schemeClr val="accent1">
              <a:lumMod val="20000"/>
              <a:lumOff val="8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002060"/>
                </a:solidFill>
                <a:latin typeface="Arial" panose="020B0604020202020204" pitchFamily="34" charset="0"/>
                <a:cs typeface="Arial" panose="020B0604020202020204" pitchFamily="34" charset="0"/>
              </a:rPr>
              <a:t>Promote</a:t>
            </a:r>
            <a:endParaRPr lang="en-US" dirty="0">
              <a:solidFill>
                <a:srgbClr val="002060"/>
              </a:solidFill>
              <a:latin typeface="Arial" panose="020B0604020202020204" pitchFamily="34" charset="0"/>
              <a:cs typeface="Arial" panose="020B0604020202020204" pitchFamily="34" charset="0"/>
            </a:endParaRPr>
          </a:p>
        </p:txBody>
      </p:sp>
      <p:sp>
        <p:nvSpPr>
          <p:cNvPr id="10" name="Rectangle 9"/>
          <p:cNvSpPr/>
          <p:nvPr/>
        </p:nvSpPr>
        <p:spPr>
          <a:xfrm>
            <a:off x="1353101" y="2253444"/>
            <a:ext cx="4284210" cy="427917"/>
          </a:xfrm>
          <a:prstGeom prst="rect">
            <a:avLst/>
          </a:prstGeom>
          <a:solidFill>
            <a:schemeClr val="accent1">
              <a:lumMod val="20000"/>
              <a:lumOff val="8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Arial" panose="020B0604020202020204" pitchFamily="34" charset="0"/>
                <a:cs typeface="Arial" panose="020B0604020202020204" pitchFamily="34" charset="0"/>
              </a:rPr>
              <a:t>P</a:t>
            </a:r>
            <a:r>
              <a:rPr lang="en-US" dirty="0" smtClean="0">
                <a:solidFill>
                  <a:srgbClr val="002060"/>
                </a:solidFill>
                <a:latin typeface="Arial" panose="020B0604020202020204" pitchFamily="34" charset="0"/>
                <a:cs typeface="Arial" panose="020B0604020202020204" pitchFamily="34" charset="0"/>
              </a:rPr>
              <a:t>revent</a:t>
            </a:r>
            <a:endParaRPr lang="en-US" dirty="0">
              <a:solidFill>
                <a:srgbClr val="002060"/>
              </a:solidFill>
              <a:latin typeface="Arial" panose="020B0604020202020204" pitchFamily="34" charset="0"/>
              <a:cs typeface="Arial" panose="020B0604020202020204" pitchFamily="34" charset="0"/>
            </a:endParaRPr>
          </a:p>
        </p:txBody>
      </p:sp>
      <p:sp>
        <p:nvSpPr>
          <p:cNvPr id="11" name="Rectangle 10"/>
          <p:cNvSpPr/>
          <p:nvPr/>
        </p:nvSpPr>
        <p:spPr>
          <a:xfrm>
            <a:off x="1337496" y="2675613"/>
            <a:ext cx="4316066" cy="432915"/>
          </a:xfrm>
          <a:prstGeom prst="rect">
            <a:avLst/>
          </a:prstGeom>
          <a:solidFill>
            <a:schemeClr val="accent1">
              <a:lumMod val="20000"/>
              <a:lumOff val="8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002060"/>
                </a:solidFill>
                <a:latin typeface="Arial" panose="020B0604020202020204" pitchFamily="34" charset="0"/>
                <a:cs typeface="Arial" panose="020B0604020202020204" pitchFamily="34" charset="0"/>
              </a:rPr>
              <a:t>Care</a:t>
            </a:r>
            <a:endParaRPr lang="en-US" dirty="0">
              <a:solidFill>
                <a:srgbClr val="002060"/>
              </a:solidFill>
              <a:latin typeface="Arial" panose="020B0604020202020204" pitchFamily="34" charset="0"/>
              <a:cs typeface="Arial" panose="020B0604020202020204" pitchFamily="34" charset="0"/>
            </a:endParaRPr>
          </a:p>
        </p:txBody>
      </p:sp>
      <p:sp>
        <p:nvSpPr>
          <p:cNvPr id="25" name="Rectangle 24"/>
          <p:cNvSpPr/>
          <p:nvPr/>
        </p:nvSpPr>
        <p:spPr>
          <a:xfrm>
            <a:off x="399221" y="1413049"/>
            <a:ext cx="985583" cy="1682032"/>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000" dirty="0" smtClean="0">
                <a:solidFill>
                  <a:srgbClr val="002060"/>
                </a:solidFill>
                <a:latin typeface="Arial" panose="020B0604020202020204" pitchFamily="34" charset="0"/>
                <a:cs typeface="Arial" panose="020B0604020202020204" pitchFamily="34" charset="0"/>
              </a:rPr>
              <a:t>Programme</a:t>
            </a:r>
          </a:p>
          <a:p>
            <a:pPr algn="ctr"/>
            <a:r>
              <a:rPr lang="en-US" sz="2000" dirty="0" smtClean="0">
                <a:solidFill>
                  <a:srgbClr val="002060"/>
                </a:solidFill>
                <a:latin typeface="Arial" panose="020B0604020202020204" pitchFamily="34" charset="0"/>
                <a:cs typeface="Arial" panose="020B0604020202020204" pitchFamily="34" charset="0"/>
              </a:rPr>
              <a:t>Interventions</a:t>
            </a:r>
            <a:endParaRPr lang="en-US" sz="2000" dirty="0">
              <a:solidFill>
                <a:srgbClr val="002060"/>
              </a:solidFill>
              <a:latin typeface="Arial" panose="020B0604020202020204" pitchFamily="34" charset="0"/>
              <a:cs typeface="Arial" panose="020B0604020202020204" pitchFamily="34" charset="0"/>
            </a:endParaRPr>
          </a:p>
        </p:txBody>
      </p:sp>
      <p:sp>
        <p:nvSpPr>
          <p:cNvPr id="26" name="Rectangle 25"/>
          <p:cNvSpPr/>
          <p:nvPr/>
        </p:nvSpPr>
        <p:spPr>
          <a:xfrm>
            <a:off x="398723" y="3321424"/>
            <a:ext cx="954375" cy="3283897"/>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000" dirty="0" smtClean="0">
                <a:solidFill>
                  <a:srgbClr val="002060"/>
                </a:solidFill>
                <a:latin typeface="Arial" panose="020B0604020202020204" pitchFamily="34" charset="0"/>
                <a:cs typeface="Arial" panose="020B0604020202020204" pitchFamily="34" charset="0"/>
              </a:rPr>
              <a:t>Systems (MORES) </a:t>
            </a:r>
          </a:p>
          <a:p>
            <a:pPr algn="ctr"/>
            <a:r>
              <a:rPr lang="en-US" sz="2000" dirty="0" smtClean="0">
                <a:solidFill>
                  <a:srgbClr val="002060"/>
                </a:solidFill>
                <a:latin typeface="Arial" panose="020B0604020202020204" pitchFamily="34" charset="0"/>
                <a:cs typeface="Arial" panose="020B0604020202020204" pitchFamily="34" charset="0"/>
              </a:rPr>
              <a:t>Interventions</a:t>
            </a:r>
            <a:endParaRPr lang="en-US" sz="2000" dirty="0">
              <a:solidFill>
                <a:srgbClr val="002060"/>
              </a:solidFill>
              <a:latin typeface="Arial" panose="020B0604020202020204" pitchFamily="34" charset="0"/>
              <a:cs typeface="Arial" panose="020B0604020202020204" pitchFamily="34" charset="0"/>
            </a:endParaRPr>
          </a:p>
        </p:txBody>
      </p:sp>
      <p:sp>
        <p:nvSpPr>
          <p:cNvPr id="30" name="Oval 29"/>
          <p:cNvSpPr/>
          <p:nvPr/>
        </p:nvSpPr>
        <p:spPr>
          <a:xfrm>
            <a:off x="6387892" y="1164078"/>
            <a:ext cx="1737360" cy="173736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dirty="0" smtClean="0">
                <a:solidFill>
                  <a:schemeClr val="tx1">
                    <a:lumMod val="75000"/>
                    <a:lumOff val="25000"/>
                  </a:schemeClr>
                </a:solidFill>
                <a:latin typeface="Arial" panose="020B0604020202020204" pitchFamily="34" charset="0"/>
                <a:cs typeface="Arial" panose="020B0604020202020204" pitchFamily="34" charset="0"/>
              </a:rPr>
              <a:t>Evidence</a:t>
            </a:r>
          </a:p>
          <a:p>
            <a:pPr algn="ctr"/>
            <a:r>
              <a:rPr lang="en-US" dirty="0" smtClean="0">
                <a:solidFill>
                  <a:schemeClr val="tx1">
                    <a:lumMod val="75000"/>
                    <a:lumOff val="25000"/>
                  </a:schemeClr>
                </a:solidFill>
                <a:latin typeface="Arial" panose="020B0604020202020204" pitchFamily="34" charset="0"/>
                <a:cs typeface="Arial" panose="020B0604020202020204" pitchFamily="34" charset="0"/>
              </a:rPr>
              <a:t>Generation,</a:t>
            </a:r>
          </a:p>
          <a:p>
            <a:pPr algn="ctr"/>
            <a:r>
              <a:rPr lang="en-US" dirty="0" smtClean="0">
                <a:solidFill>
                  <a:schemeClr val="tx1">
                    <a:lumMod val="75000"/>
                    <a:lumOff val="25000"/>
                  </a:schemeClr>
                </a:solidFill>
                <a:latin typeface="Arial" panose="020B0604020202020204" pitchFamily="34" charset="0"/>
                <a:cs typeface="Arial" panose="020B0604020202020204" pitchFamily="34" charset="0"/>
              </a:rPr>
              <a:t>policy dialogue</a:t>
            </a:r>
          </a:p>
          <a:p>
            <a:pPr algn="ctr"/>
            <a:r>
              <a:rPr lang="en-US" dirty="0" smtClean="0">
                <a:solidFill>
                  <a:schemeClr val="tx1">
                    <a:lumMod val="75000"/>
                    <a:lumOff val="25000"/>
                  </a:schemeClr>
                </a:solidFill>
                <a:latin typeface="Arial" panose="020B0604020202020204" pitchFamily="34" charset="0"/>
                <a:cs typeface="Arial" panose="020B0604020202020204" pitchFamily="34" charset="0"/>
              </a:rPr>
              <a:t>and advocacy </a:t>
            </a:r>
            <a:endParaRPr lang="en-US"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1" name="Oval 30"/>
          <p:cNvSpPr/>
          <p:nvPr/>
        </p:nvSpPr>
        <p:spPr>
          <a:xfrm>
            <a:off x="10082572" y="1132794"/>
            <a:ext cx="1737360" cy="173736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dirty="0" smtClean="0">
                <a:solidFill>
                  <a:schemeClr val="tx1">
                    <a:lumMod val="75000"/>
                    <a:lumOff val="25000"/>
                  </a:schemeClr>
                </a:solidFill>
                <a:latin typeface="Arial" panose="020B0604020202020204" pitchFamily="34" charset="0"/>
                <a:cs typeface="Arial" panose="020B0604020202020204" pitchFamily="34" charset="0"/>
              </a:rPr>
              <a:t>Partnerships</a:t>
            </a:r>
            <a:endParaRPr lang="en-US"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2" name="Oval 31"/>
          <p:cNvSpPr/>
          <p:nvPr/>
        </p:nvSpPr>
        <p:spPr>
          <a:xfrm>
            <a:off x="5946050" y="2939984"/>
            <a:ext cx="1737360" cy="173736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dirty="0" smtClean="0">
                <a:solidFill>
                  <a:schemeClr val="tx1">
                    <a:lumMod val="75000"/>
                    <a:lumOff val="25000"/>
                  </a:schemeClr>
                </a:solidFill>
              </a:rPr>
              <a:t>C4D</a:t>
            </a:r>
            <a:endParaRPr lang="en-US" dirty="0">
              <a:solidFill>
                <a:schemeClr val="tx1">
                  <a:lumMod val="75000"/>
                  <a:lumOff val="25000"/>
                </a:schemeClr>
              </a:solidFill>
            </a:endParaRPr>
          </a:p>
        </p:txBody>
      </p:sp>
      <p:sp>
        <p:nvSpPr>
          <p:cNvPr id="33" name="Oval 32"/>
          <p:cNvSpPr/>
          <p:nvPr/>
        </p:nvSpPr>
        <p:spPr>
          <a:xfrm>
            <a:off x="8235232" y="727248"/>
            <a:ext cx="1737360" cy="173736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dirty="0" smtClean="0">
                <a:solidFill>
                  <a:schemeClr val="tx1">
                    <a:lumMod val="75000"/>
                    <a:lumOff val="25000"/>
                  </a:schemeClr>
                </a:solidFill>
              </a:rPr>
              <a:t>Identification</a:t>
            </a:r>
          </a:p>
          <a:p>
            <a:pPr algn="ctr"/>
            <a:r>
              <a:rPr lang="en-US" dirty="0" smtClean="0">
                <a:solidFill>
                  <a:schemeClr val="tx1">
                    <a:lumMod val="75000"/>
                    <a:lumOff val="25000"/>
                  </a:schemeClr>
                </a:solidFill>
              </a:rPr>
              <a:t>and promotion</a:t>
            </a:r>
          </a:p>
          <a:p>
            <a:pPr algn="ctr"/>
            <a:r>
              <a:rPr lang="en-US" dirty="0" smtClean="0">
                <a:solidFill>
                  <a:schemeClr val="tx1">
                    <a:lumMod val="75000"/>
                    <a:lumOff val="25000"/>
                  </a:schemeClr>
                </a:solidFill>
              </a:rPr>
              <a:t>of innovation</a:t>
            </a:r>
            <a:endParaRPr lang="en-US" dirty="0">
              <a:solidFill>
                <a:schemeClr val="tx1">
                  <a:lumMod val="75000"/>
                  <a:lumOff val="25000"/>
                </a:schemeClr>
              </a:solidFill>
            </a:endParaRPr>
          </a:p>
        </p:txBody>
      </p:sp>
      <p:sp>
        <p:nvSpPr>
          <p:cNvPr id="34" name="Oval 33"/>
          <p:cNvSpPr/>
          <p:nvPr/>
        </p:nvSpPr>
        <p:spPr>
          <a:xfrm>
            <a:off x="8125252" y="5068892"/>
            <a:ext cx="1737360" cy="173736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dirty="0" smtClean="0">
                <a:solidFill>
                  <a:schemeClr val="tx1">
                    <a:lumMod val="75000"/>
                    <a:lumOff val="25000"/>
                  </a:schemeClr>
                </a:solidFill>
              </a:rPr>
              <a:t>South-south</a:t>
            </a:r>
          </a:p>
          <a:p>
            <a:pPr algn="ctr"/>
            <a:r>
              <a:rPr lang="en-US" dirty="0" smtClean="0">
                <a:solidFill>
                  <a:schemeClr val="tx1">
                    <a:lumMod val="75000"/>
                    <a:lumOff val="25000"/>
                  </a:schemeClr>
                </a:solidFill>
              </a:rPr>
              <a:t>and triangular</a:t>
            </a:r>
          </a:p>
          <a:p>
            <a:pPr algn="ctr"/>
            <a:r>
              <a:rPr lang="en-US" dirty="0" smtClean="0">
                <a:solidFill>
                  <a:schemeClr val="tx1">
                    <a:lumMod val="75000"/>
                    <a:lumOff val="25000"/>
                  </a:schemeClr>
                </a:solidFill>
              </a:rPr>
              <a:t>cooperation</a:t>
            </a:r>
            <a:endParaRPr lang="en-US" dirty="0">
              <a:solidFill>
                <a:schemeClr val="tx1">
                  <a:lumMod val="75000"/>
                  <a:lumOff val="25000"/>
                </a:schemeClr>
              </a:solidFill>
            </a:endParaRPr>
          </a:p>
        </p:txBody>
      </p:sp>
      <p:sp>
        <p:nvSpPr>
          <p:cNvPr id="35" name="Oval 34"/>
          <p:cNvSpPr/>
          <p:nvPr/>
        </p:nvSpPr>
        <p:spPr>
          <a:xfrm>
            <a:off x="9972592" y="4744047"/>
            <a:ext cx="1737360" cy="173736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dirty="0" smtClean="0">
                <a:solidFill>
                  <a:schemeClr val="tx1">
                    <a:lumMod val="75000"/>
                    <a:lumOff val="25000"/>
                  </a:schemeClr>
                </a:solidFill>
                <a:latin typeface="Arial" panose="020B0604020202020204" pitchFamily="34" charset="0"/>
                <a:cs typeface="Arial" panose="020B0604020202020204" pitchFamily="34" charset="0"/>
              </a:rPr>
              <a:t>Support to</a:t>
            </a:r>
          </a:p>
          <a:p>
            <a:pPr algn="ctr"/>
            <a:r>
              <a:rPr lang="en-US" dirty="0" smtClean="0">
                <a:solidFill>
                  <a:schemeClr val="tx1">
                    <a:lumMod val="75000"/>
                    <a:lumOff val="25000"/>
                  </a:schemeClr>
                </a:solidFill>
                <a:latin typeface="Arial" panose="020B0604020202020204" pitchFamily="34" charset="0"/>
                <a:cs typeface="Arial" panose="020B0604020202020204" pitchFamily="34" charset="0"/>
              </a:rPr>
              <a:t>integration</a:t>
            </a:r>
          </a:p>
          <a:p>
            <a:pPr algn="ctr"/>
            <a:r>
              <a:rPr lang="en-US" dirty="0" smtClean="0">
                <a:solidFill>
                  <a:schemeClr val="tx1">
                    <a:lumMod val="75000"/>
                    <a:lumOff val="25000"/>
                  </a:schemeClr>
                </a:solidFill>
                <a:latin typeface="Arial" panose="020B0604020202020204" pitchFamily="34" charset="0"/>
                <a:cs typeface="Arial" panose="020B0604020202020204" pitchFamily="34" charset="0"/>
              </a:rPr>
              <a:t>and</a:t>
            </a:r>
          </a:p>
          <a:p>
            <a:pPr algn="ctr"/>
            <a:r>
              <a:rPr lang="en-US" dirty="0" smtClean="0">
                <a:solidFill>
                  <a:schemeClr val="tx1">
                    <a:lumMod val="75000"/>
                    <a:lumOff val="25000"/>
                  </a:schemeClr>
                </a:solidFill>
                <a:latin typeface="Arial" panose="020B0604020202020204" pitchFamily="34" charset="0"/>
                <a:cs typeface="Arial" panose="020B0604020202020204" pitchFamily="34" charset="0"/>
              </a:rPr>
              <a:t>cross-sectoral</a:t>
            </a:r>
          </a:p>
          <a:p>
            <a:pPr algn="ctr"/>
            <a:r>
              <a:rPr lang="en-US" dirty="0" smtClean="0">
                <a:solidFill>
                  <a:schemeClr val="tx1">
                    <a:lumMod val="75000"/>
                    <a:lumOff val="25000"/>
                  </a:schemeClr>
                </a:solidFill>
                <a:latin typeface="Arial" panose="020B0604020202020204" pitchFamily="34" charset="0"/>
                <a:cs typeface="Arial" panose="020B0604020202020204" pitchFamily="34" charset="0"/>
              </a:rPr>
              <a:t>linkages</a:t>
            </a:r>
            <a:endParaRPr lang="en-US"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7" name="Oval 36"/>
          <p:cNvSpPr/>
          <p:nvPr/>
        </p:nvSpPr>
        <p:spPr>
          <a:xfrm>
            <a:off x="10328700" y="2914313"/>
            <a:ext cx="1737360" cy="173736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dirty="0" smtClean="0">
                <a:solidFill>
                  <a:schemeClr val="tx1">
                    <a:lumMod val="75000"/>
                    <a:lumOff val="25000"/>
                  </a:schemeClr>
                </a:solidFill>
                <a:latin typeface="Arial" panose="020B0604020202020204" pitchFamily="34" charset="0"/>
                <a:cs typeface="Arial" panose="020B0604020202020204" pitchFamily="34" charset="0"/>
              </a:rPr>
              <a:t>Service delivery</a:t>
            </a:r>
            <a:endParaRPr lang="en-US"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27" name="Oval 26"/>
          <p:cNvSpPr/>
          <p:nvPr/>
        </p:nvSpPr>
        <p:spPr>
          <a:xfrm>
            <a:off x="6277912" y="4744047"/>
            <a:ext cx="1737360" cy="173736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dirty="0" smtClean="0">
                <a:solidFill>
                  <a:schemeClr val="tx1">
                    <a:lumMod val="75000"/>
                    <a:lumOff val="25000"/>
                  </a:schemeClr>
                </a:solidFill>
                <a:latin typeface="Arial" panose="020B0604020202020204" pitchFamily="34" charset="0"/>
                <a:cs typeface="Arial" panose="020B0604020202020204" pitchFamily="34" charset="0"/>
              </a:rPr>
              <a:t>Capacity</a:t>
            </a:r>
          </a:p>
          <a:p>
            <a:pPr algn="ctr"/>
            <a:r>
              <a:rPr lang="en-US" dirty="0" smtClean="0">
                <a:solidFill>
                  <a:schemeClr val="tx1">
                    <a:lumMod val="75000"/>
                    <a:lumOff val="25000"/>
                  </a:schemeClr>
                </a:solidFill>
                <a:latin typeface="Arial" panose="020B0604020202020204" pitchFamily="34" charset="0"/>
                <a:cs typeface="Arial" panose="020B0604020202020204" pitchFamily="34" charset="0"/>
              </a:rPr>
              <a:t>Building</a:t>
            </a:r>
            <a:endParaRPr lang="en-US"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29" name="Rectangle 28"/>
          <p:cNvSpPr/>
          <p:nvPr/>
        </p:nvSpPr>
        <p:spPr>
          <a:xfrm>
            <a:off x="1353097" y="3323421"/>
            <a:ext cx="1394405" cy="1166663"/>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sz="1600" dirty="0">
                <a:solidFill>
                  <a:srgbClr val="002060"/>
                </a:solidFill>
                <a:latin typeface="Arial" panose="020B0604020202020204" pitchFamily="34" charset="0"/>
                <a:cs typeface="Arial" panose="020B0604020202020204" pitchFamily="34" charset="0"/>
              </a:rPr>
              <a:t>Enabling Environment</a:t>
            </a:r>
          </a:p>
        </p:txBody>
      </p:sp>
      <p:sp>
        <p:nvSpPr>
          <p:cNvPr id="38" name="Rectangle 37"/>
          <p:cNvSpPr/>
          <p:nvPr/>
        </p:nvSpPr>
        <p:spPr>
          <a:xfrm>
            <a:off x="1353098" y="4488087"/>
            <a:ext cx="1378635" cy="923344"/>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sz="1600" dirty="0">
                <a:solidFill>
                  <a:srgbClr val="002060"/>
                </a:solidFill>
                <a:latin typeface="Arial" panose="020B0604020202020204" pitchFamily="34" charset="0"/>
                <a:cs typeface="Arial" panose="020B0604020202020204" pitchFamily="34" charset="0"/>
              </a:rPr>
              <a:t>Supply</a:t>
            </a:r>
          </a:p>
        </p:txBody>
      </p:sp>
      <p:sp>
        <p:nvSpPr>
          <p:cNvPr id="39" name="Rectangle 38"/>
          <p:cNvSpPr/>
          <p:nvPr/>
        </p:nvSpPr>
        <p:spPr>
          <a:xfrm>
            <a:off x="1353098" y="5411430"/>
            <a:ext cx="1394403" cy="872267"/>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sz="1600" dirty="0">
                <a:solidFill>
                  <a:srgbClr val="002060"/>
                </a:solidFill>
                <a:latin typeface="Arial" panose="020B0604020202020204" pitchFamily="34" charset="0"/>
                <a:cs typeface="Arial" panose="020B0604020202020204" pitchFamily="34" charset="0"/>
              </a:rPr>
              <a:t>Demand</a:t>
            </a:r>
          </a:p>
        </p:txBody>
      </p:sp>
      <p:sp>
        <p:nvSpPr>
          <p:cNvPr id="40" name="Rectangle 39"/>
          <p:cNvSpPr/>
          <p:nvPr/>
        </p:nvSpPr>
        <p:spPr>
          <a:xfrm>
            <a:off x="1353098" y="6283697"/>
            <a:ext cx="1378635" cy="321624"/>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sz="1600" dirty="0">
                <a:solidFill>
                  <a:srgbClr val="002060"/>
                </a:solidFill>
                <a:latin typeface="Arial" panose="020B0604020202020204" pitchFamily="34" charset="0"/>
                <a:cs typeface="Arial" panose="020B0604020202020204" pitchFamily="34" charset="0"/>
              </a:rPr>
              <a:t>Quality</a:t>
            </a:r>
          </a:p>
        </p:txBody>
      </p:sp>
      <p:sp>
        <p:nvSpPr>
          <p:cNvPr id="41" name="Rectangle 40"/>
          <p:cNvSpPr/>
          <p:nvPr/>
        </p:nvSpPr>
        <p:spPr>
          <a:xfrm>
            <a:off x="2731734" y="3321424"/>
            <a:ext cx="2905577" cy="292608"/>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en-US" sz="1300" dirty="0" smtClean="0">
                <a:solidFill>
                  <a:srgbClr val="002060"/>
                </a:solidFill>
                <a:latin typeface="Arial" panose="020B0604020202020204" pitchFamily="34" charset="0"/>
                <a:cs typeface="Arial" panose="020B0604020202020204" pitchFamily="34" charset="0"/>
              </a:rPr>
              <a:t>Social Norms</a:t>
            </a:r>
            <a:endParaRPr lang="en-US" sz="1300" dirty="0">
              <a:solidFill>
                <a:srgbClr val="002060"/>
              </a:solidFill>
              <a:latin typeface="Arial" panose="020B0604020202020204" pitchFamily="34" charset="0"/>
              <a:cs typeface="Arial" panose="020B0604020202020204" pitchFamily="34" charset="0"/>
            </a:endParaRPr>
          </a:p>
        </p:txBody>
      </p:sp>
      <p:sp>
        <p:nvSpPr>
          <p:cNvPr id="42" name="Rectangle 41"/>
          <p:cNvSpPr/>
          <p:nvPr/>
        </p:nvSpPr>
        <p:spPr>
          <a:xfrm>
            <a:off x="2731734" y="3614032"/>
            <a:ext cx="2905577" cy="292608"/>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en-US" sz="1300" dirty="0" smtClean="0">
                <a:solidFill>
                  <a:srgbClr val="002060"/>
                </a:solidFill>
                <a:latin typeface="Arial" panose="020B0604020202020204" pitchFamily="34" charset="0"/>
                <a:cs typeface="Arial" panose="020B0604020202020204" pitchFamily="34" charset="0"/>
              </a:rPr>
              <a:t>Legislation / Policy</a:t>
            </a:r>
            <a:endParaRPr lang="en-US" sz="1300" dirty="0">
              <a:solidFill>
                <a:srgbClr val="002060"/>
              </a:solidFill>
              <a:latin typeface="Arial" panose="020B0604020202020204" pitchFamily="34" charset="0"/>
              <a:cs typeface="Arial" panose="020B0604020202020204" pitchFamily="34" charset="0"/>
            </a:endParaRPr>
          </a:p>
        </p:txBody>
      </p:sp>
      <p:sp>
        <p:nvSpPr>
          <p:cNvPr id="43" name="Rectangle 42"/>
          <p:cNvSpPr/>
          <p:nvPr/>
        </p:nvSpPr>
        <p:spPr>
          <a:xfrm>
            <a:off x="2731734" y="3913743"/>
            <a:ext cx="2905577" cy="292608"/>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en-US" sz="1300" dirty="0" smtClean="0">
                <a:solidFill>
                  <a:srgbClr val="002060"/>
                </a:solidFill>
                <a:latin typeface="Arial" panose="020B0604020202020204" pitchFamily="34" charset="0"/>
                <a:cs typeface="Arial" panose="020B0604020202020204" pitchFamily="34" charset="0"/>
              </a:rPr>
              <a:t>Budget / Expenditure</a:t>
            </a:r>
            <a:endParaRPr lang="en-US" sz="1300" dirty="0">
              <a:solidFill>
                <a:srgbClr val="002060"/>
              </a:solidFill>
              <a:latin typeface="Arial" panose="020B0604020202020204" pitchFamily="34" charset="0"/>
              <a:cs typeface="Arial" panose="020B0604020202020204" pitchFamily="34" charset="0"/>
            </a:endParaRPr>
          </a:p>
        </p:txBody>
      </p:sp>
      <p:sp>
        <p:nvSpPr>
          <p:cNvPr id="44" name="Rectangle 43"/>
          <p:cNvSpPr/>
          <p:nvPr/>
        </p:nvSpPr>
        <p:spPr>
          <a:xfrm>
            <a:off x="2731734" y="4195479"/>
            <a:ext cx="2905577" cy="292608"/>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en-US" sz="1300" dirty="0" smtClean="0">
                <a:solidFill>
                  <a:srgbClr val="002060"/>
                </a:solidFill>
                <a:latin typeface="Arial" panose="020B0604020202020204" pitchFamily="34" charset="0"/>
                <a:cs typeface="Arial" panose="020B0604020202020204" pitchFamily="34" charset="0"/>
              </a:rPr>
              <a:t>Management / Coordination</a:t>
            </a:r>
            <a:endParaRPr lang="en-US" sz="1300" dirty="0">
              <a:solidFill>
                <a:srgbClr val="002060"/>
              </a:solidFill>
              <a:latin typeface="Arial" panose="020B0604020202020204" pitchFamily="34" charset="0"/>
              <a:cs typeface="Arial" panose="020B0604020202020204" pitchFamily="34" charset="0"/>
            </a:endParaRPr>
          </a:p>
        </p:txBody>
      </p:sp>
      <p:sp>
        <p:nvSpPr>
          <p:cNvPr id="45" name="Rectangle 44"/>
          <p:cNvSpPr/>
          <p:nvPr/>
        </p:nvSpPr>
        <p:spPr>
          <a:xfrm>
            <a:off x="2731733" y="4495190"/>
            <a:ext cx="2895921" cy="421086"/>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en-US" sz="1300" dirty="0" smtClean="0">
                <a:solidFill>
                  <a:srgbClr val="002060"/>
                </a:solidFill>
                <a:latin typeface="Arial" panose="020B0604020202020204" pitchFamily="34" charset="0"/>
                <a:cs typeface="Arial" panose="020B0604020202020204" pitchFamily="34" charset="0"/>
              </a:rPr>
              <a:t>Availability of Essential Commodities / inputs</a:t>
            </a:r>
            <a:endParaRPr lang="en-US" sz="1300" dirty="0">
              <a:solidFill>
                <a:srgbClr val="002060"/>
              </a:solidFill>
              <a:latin typeface="Arial" panose="020B0604020202020204" pitchFamily="34" charset="0"/>
              <a:cs typeface="Arial" panose="020B0604020202020204" pitchFamily="34" charset="0"/>
            </a:endParaRPr>
          </a:p>
        </p:txBody>
      </p:sp>
      <p:sp>
        <p:nvSpPr>
          <p:cNvPr id="46" name="Rectangle 45"/>
          <p:cNvSpPr/>
          <p:nvPr/>
        </p:nvSpPr>
        <p:spPr>
          <a:xfrm>
            <a:off x="2731733" y="4925649"/>
            <a:ext cx="2895921" cy="485781"/>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en-US" sz="1300" dirty="0" smtClean="0">
                <a:solidFill>
                  <a:srgbClr val="002060"/>
                </a:solidFill>
                <a:latin typeface="Arial" panose="020B0604020202020204" pitchFamily="34" charset="0"/>
                <a:cs typeface="Arial" panose="020B0604020202020204" pitchFamily="34" charset="0"/>
              </a:rPr>
              <a:t>Access to Adequately </a:t>
            </a:r>
            <a:r>
              <a:rPr lang="en-US" sz="1300" dirty="0">
                <a:solidFill>
                  <a:srgbClr val="002060"/>
                </a:solidFill>
                <a:latin typeface="Arial" panose="020B0604020202020204" pitchFamily="34" charset="0"/>
                <a:cs typeface="Arial" panose="020B0604020202020204" pitchFamily="34" charset="0"/>
              </a:rPr>
              <a:t>S</a:t>
            </a:r>
            <a:r>
              <a:rPr lang="en-US" sz="1300" dirty="0" smtClean="0">
                <a:solidFill>
                  <a:srgbClr val="002060"/>
                </a:solidFill>
                <a:latin typeface="Arial" panose="020B0604020202020204" pitchFamily="34" charset="0"/>
                <a:cs typeface="Arial" panose="020B0604020202020204" pitchFamily="34" charset="0"/>
              </a:rPr>
              <a:t>taffed </a:t>
            </a:r>
            <a:r>
              <a:rPr lang="en-US" sz="1300" dirty="0">
                <a:solidFill>
                  <a:srgbClr val="002060"/>
                </a:solidFill>
                <a:latin typeface="Arial" panose="020B0604020202020204" pitchFamily="34" charset="0"/>
                <a:cs typeface="Arial" panose="020B0604020202020204" pitchFamily="34" charset="0"/>
              </a:rPr>
              <a:t>S</a:t>
            </a:r>
            <a:r>
              <a:rPr lang="en-US" sz="1300" dirty="0" smtClean="0">
                <a:solidFill>
                  <a:srgbClr val="002060"/>
                </a:solidFill>
                <a:latin typeface="Arial" panose="020B0604020202020204" pitchFamily="34" charset="0"/>
                <a:cs typeface="Arial" panose="020B0604020202020204" pitchFamily="34" charset="0"/>
              </a:rPr>
              <a:t>ervices, Facilities, and Information</a:t>
            </a:r>
            <a:endParaRPr lang="en-US" sz="1300" dirty="0">
              <a:solidFill>
                <a:srgbClr val="002060"/>
              </a:solidFill>
              <a:latin typeface="Arial" panose="020B0604020202020204" pitchFamily="34" charset="0"/>
              <a:cs typeface="Arial" panose="020B0604020202020204" pitchFamily="34" charset="0"/>
            </a:endParaRPr>
          </a:p>
        </p:txBody>
      </p:sp>
      <p:sp>
        <p:nvSpPr>
          <p:cNvPr id="47" name="Rectangle 46"/>
          <p:cNvSpPr/>
          <p:nvPr/>
        </p:nvSpPr>
        <p:spPr>
          <a:xfrm>
            <a:off x="2747501" y="6283697"/>
            <a:ext cx="2889810" cy="321624"/>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en-US" sz="1300" dirty="0">
                <a:solidFill>
                  <a:srgbClr val="002060"/>
                </a:solidFill>
                <a:latin typeface="Arial" panose="020B0604020202020204" pitchFamily="34" charset="0"/>
                <a:cs typeface="Arial" panose="020B0604020202020204" pitchFamily="34" charset="0"/>
              </a:rPr>
              <a:t>Quality</a:t>
            </a:r>
          </a:p>
        </p:txBody>
      </p:sp>
      <p:sp>
        <p:nvSpPr>
          <p:cNvPr id="48" name="Rectangle 47"/>
          <p:cNvSpPr/>
          <p:nvPr/>
        </p:nvSpPr>
        <p:spPr>
          <a:xfrm>
            <a:off x="2731733" y="5400400"/>
            <a:ext cx="2905577" cy="292608"/>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en-US" sz="1300" dirty="0" smtClean="0">
                <a:solidFill>
                  <a:srgbClr val="002060"/>
                </a:solidFill>
                <a:latin typeface="Arial" panose="020B0604020202020204" pitchFamily="34" charset="0"/>
                <a:cs typeface="Arial" panose="020B0604020202020204" pitchFamily="34" charset="0"/>
              </a:rPr>
              <a:t>Financial Access</a:t>
            </a:r>
            <a:endParaRPr lang="en-US" sz="1300" dirty="0">
              <a:solidFill>
                <a:srgbClr val="002060"/>
              </a:solidFill>
              <a:latin typeface="Arial" panose="020B0604020202020204" pitchFamily="34" charset="0"/>
              <a:cs typeface="Arial" panose="020B0604020202020204" pitchFamily="34" charset="0"/>
            </a:endParaRPr>
          </a:p>
        </p:txBody>
      </p:sp>
      <p:sp>
        <p:nvSpPr>
          <p:cNvPr id="49" name="Rectangle 48"/>
          <p:cNvSpPr/>
          <p:nvPr/>
        </p:nvSpPr>
        <p:spPr>
          <a:xfrm>
            <a:off x="2731733" y="5693008"/>
            <a:ext cx="2905577" cy="292608"/>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en-US" sz="1300" dirty="0" smtClean="0">
                <a:solidFill>
                  <a:srgbClr val="002060"/>
                </a:solidFill>
                <a:latin typeface="Arial" panose="020B0604020202020204" pitchFamily="34" charset="0"/>
                <a:cs typeface="Arial" panose="020B0604020202020204" pitchFamily="34" charset="0"/>
              </a:rPr>
              <a:t>Social &amp; Cultural Practices / Beliefs</a:t>
            </a:r>
            <a:endParaRPr lang="en-US" sz="1300" dirty="0">
              <a:solidFill>
                <a:srgbClr val="002060"/>
              </a:solidFill>
              <a:latin typeface="Arial" panose="020B0604020202020204" pitchFamily="34" charset="0"/>
              <a:cs typeface="Arial" panose="020B0604020202020204" pitchFamily="34" charset="0"/>
            </a:endParaRPr>
          </a:p>
        </p:txBody>
      </p:sp>
      <p:sp>
        <p:nvSpPr>
          <p:cNvPr id="50" name="Rectangle 49"/>
          <p:cNvSpPr/>
          <p:nvPr/>
        </p:nvSpPr>
        <p:spPr>
          <a:xfrm>
            <a:off x="2731733" y="5985616"/>
            <a:ext cx="2905577" cy="299869"/>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en-US" sz="1300" dirty="0" smtClean="0">
                <a:solidFill>
                  <a:srgbClr val="002060"/>
                </a:solidFill>
                <a:latin typeface="Arial" panose="020B0604020202020204" pitchFamily="34" charset="0"/>
                <a:cs typeface="Arial" panose="020B0604020202020204" pitchFamily="34" charset="0"/>
              </a:rPr>
              <a:t>Timing &amp; Continuity of Use</a:t>
            </a:r>
            <a:endParaRPr lang="en-US" sz="1300"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1973432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0"/>
            <a:ext cx="12192000" cy="770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0099FF"/>
                </a:solidFill>
                <a:latin typeface="Arial" panose="020B0604020202020204" pitchFamily="34" charset="0"/>
                <a:cs typeface="Arial" panose="020B0604020202020204" pitchFamily="34" charset="0"/>
              </a:rPr>
              <a:t>Assumptions about factors that affect outcomes</a:t>
            </a:r>
            <a:endParaRPr lang="en-US" sz="3600" dirty="0" smtClean="0">
              <a:solidFill>
                <a:srgbClr val="0099FF"/>
              </a:solidFill>
              <a:latin typeface="Arial" panose="020B0604020202020204" pitchFamily="34" charset="0"/>
              <a:cs typeface="Arial" panose="020B0604020202020204" pitchFamily="34" charset="0"/>
            </a:endParaRPr>
          </a:p>
        </p:txBody>
      </p:sp>
      <p:sp>
        <p:nvSpPr>
          <p:cNvPr id="7" name="Rectangle 6"/>
          <p:cNvSpPr/>
          <p:nvPr/>
        </p:nvSpPr>
        <p:spPr>
          <a:xfrm>
            <a:off x="1028032" y="2631739"/>
            <a:ext cx="4650873" cy="138893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lumMod val="75000"/>
                    <a:lumOff val="25000"/>
                  </a:schemeClr>
                </a:solidFill>
                <a:latin typeface="Arial" panose="020B0604020202020204" pitchFamily="34" charset="0"/>
                <a:cs typeface="Arial" panose="020B0604020202020204" pitchFamily="34" charset="0"/>
              </a:rPr>
              <a:t>Assumptions</a:t>
            </a:r>
          </a:p>
          <a:p>
            <a:pPr algn="ctr"/>
            <a:r>
              <a:rPr lang="en-US" sz="2000" dirty="0" smtClean="0">
                <a:solidFill>
                  <a:srgbClr val="0099FF"/>
                </a:solidFill>
                <a:latin typeface="Arial" panose="020B0604020202020204" pitchFamily="34" charset="0"/>
                <a:cs typeface="Arial" panose="020B0604020202020204" pitchFamily="34" charset="0"/>
              </a:rPr>
              <a:t>Programme factors</a:t>
            </a:r>
          </a:p>
          <a:p>
            <a:pPr algn="ctr"/>
            <a:r>
              <a:rPr lang="en-US" dirty="0" smtClean="0">
                <a:solidFill>
                  <a:schemeClr val="tx1">
                    <a:lumMod val="50000"/>
                    <a:lumOff val="50000"/>
                  </a:schemeClr>
                </a:solidFill>
                <a:latin typeface="Arial" panose="020B0604020202020204" pitchFamily="34" charset="0"/>
                <a:cs typeface="Arial" panose="020B0604020202020204" pitchFamily="34" charset="0"/>
              </a:rPr>
              <a:t>Within control of the programme</a:t>
            </a:r>
            <a:endParaRPr lang="en-US"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8" name="Rectangle 7"/>
          <p:cNvSpPr/>
          <p:nvPr/>
        </p:nvSpPr>
        <p:spPr>
          <a:xfrm>
            <a:off x="6689559" y="2631739"/>
            <a:ext cx="4502432" cy="138893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lumMod val="75000"/>
                    <a:lumOff val="25000"/>
                  </a:schemeClr>
                </a:solidFill>
                <a:latin typeface="Arial" panose="020B0604020202020204" pitchFamily="34" charset="0"/>
                <a:cs typeface="Arial" panose="020B0604020202020204" pitchFamily="34" charset="0"/>
              </a:rPr>
              <a:t>Risks</a:t>
            </a:r>
          </a:p>
          <a:p>
            <a:pPr algn="ctr"/>
            <a:r>
              <a:rPr lang="en-US" sz="2000" dirty="0" smtClean="0">
                <a:solidFill>
                  <a:srgbClr val="0099FF"/>
                </a:solidFill>
                <a:latin typeface="Arial" panose="020B0604020202020204" pitchFamily="34" charset="0"/>
                <a:cs typeface="Arial" panose="020B0604020202020204" pitchFamily="34" charset="0"/>
              </a:rPr>
              <a:t>Non programme factors</a:t>
            </a:r>
          </a:p>
          <a:p>
            <a:pPr algn="ctr"/>
            <a:r>
              <a:rPr lang="en-US" dirty="0" smtClean="0">
                <a:solidFill>
                  <a:schemeClr val="tx1">
                    <a:lumMod val="50000"/>
                    <a:lumOff val="50000"/>
                  </a:schemeClr>
                </a:solidFill>
                <a:latin typeface="Arial" panose="020B0604020202020204" pitchFamily="34" charset="0"/>
                <a:cs typeface="Arial" panose="020B0604020202020204" pitchFamily="34" charset="0"/>
              </a:rPr>
              <a:t>Beyond control of the programme but with significant impact on results</a:t>
            </a:r>
            <a:endParaRPr lang="en-US"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9" name="Rectangle 8"/>
          <p:cNvSpPr/>
          <p:nvPr/>
        </p:nvSpPr>
        <p:spPr>
          <a:xfrm>
            <a:off x="1203160" y="4059718"/>
            <a:ext cx="4475746" cy="2169825"/>
          </a:xfrm>
          <a:prstGeom prst="rect">
            <a:avLst/>
          </a:prstGeom>
        </p:spPr>
        <p:txBody>
          <a:bodyPr wrap="square">
            <a:spAutoFit/>
          </a:bodyPr>
          <a:lstStyle/>
          <a:p>
            <a:pPr marL="336550" lvl="2" indent="-336550">
              <a:buFont typeface="Arial" panose="020B0604020202020204" pitchFamily="34" charset="0"/>
              <a:buChar char="•"/>
            </a:pPr>
            <a:r>
              <a:rPr lang="en-US" sz="2000" dirty="0">
                <a:latin typeface="Arial" panose="020B0604020202020204" pitchFamily="34" charset="0"/>
                <a:cs typeface="Arial" panose="020B0604020202020204" pitchFamily="34" charset="0"/>
              </a:rPr>
              <a:t>Partners’ contributions</a:t>
            </a:r>
          </a:p>
          <a:p>
            <a:pPr marL="336550" lvl="2" indent="-336550">
              <a:buFont typeface="Arial" panose="020B0604020202020204" pitchFamily="34" charset="0"/>
              <a:buChar char="•"/>
            </a:pPr>
            <a:r>
              <a:rPr lang="en-US" sz="2000" dirty="0" smtClean="0">
                <a:latin typeface="Arial" panose="020B0604020202020204" pitchFamily="34" charset="0"/>
                <a:cs typeface="Arial" panose="020B0604020202020204" pitchFamily="34" charset="0"/>
              </a:rPr>
              <a:t>Programme resources</a:t>
            </a:r>
          </a:p>
          <a:p>
            <a:pPr marL="336550" lvl="2" indent="-336550">
              <a:buFont typeface="Arial" panose="020B0604020202020204" pitchFamily="34" charset="0"/>
              <a:buChar char="•"/>
            </a:pPr>
            <a:endParaRPr lang="en-US" sz="500" dirty="0">
              <a:latin typeface="Arial" panose="020B0604020202020204" pitchFamily="34" charset="0"/>
              <a:cs typeface="Arial" panose="020B0604020202020204" pitchFamily="34" charset="0"/>
            </a:endParaRPr>
          </a:p>
          <a:p>
            <a:pPr marL="336550" lvl="2" indent="-336550">
              <a:buFont typeface="Arial" panose="020B0604020202020204" pitchFamily="34" charset="0"/>
              <a:buChar char="•"/>
            </a:pPr>
            <a:r>
              <a:rPr lang="en-US" sz="2000" dirty="0">
                <a:latin typeface="Arial" panose="020B0604020202020204" pitchFamily="34" charset="0"/>
                <a:cs typeface="Arial" panose="020B0604020202020204" pitchFamily="34" charset="0"/>
              </a:rPr>
              <a:t>Programme </a:t>
            </a:r>
            <a:r>
              <a:rPr lang="en-US" sz="2000" dirty="0" smtClean="0">
                <a:latin typeface="Arial" panose="020B0604020202020204" pitchFamily="34" charset="0"/>
                <a:cs typeface="Arial" panose="020B0604020202020204" pitchFamily="34" charset="0"/>
              </a:rPr>
              <a:t>implementation/delivery</a:t>
            </a:r>
          </a:p>
          <a:p>
            <a:pPr marL="336550" lvl="2" indent="-336550">
              <a:buFont typeface="Arial" panose="020B0604020202020204" pitchFamily="34" charset="0"/>
              <a:buChar char="•"/>
            </a:pPr>
            <a:endParaRPr lang="en-US" sz="500" dirty="0">
              <a:latin typeface="Arial" panose="020B0604020202020204" pitchFamily="34" charset="0"/>
              <a:cs typeface="Arial" panose="020B0604020202020204" pitchFamily="34" charset="0"/>
            </a:endParaRPr>
          </a:p>
          <a:p>
            <a:pPr marL="336550" lvl="2" indent="-336550">
              <a:buFont typeface="Arial" panose="020B0604020202020204" pitchFamily="34" charset="0"/>
              <a:buChar char="•"/>
            </a:pPr>
            <a:r>
              <a:rPr lang="en-US" sz="2000" dirty="0" smtClean="0">
                <a:latin typeface="Arial" panose="020B0604020202020204" pitchFamily="34" charset="0"/>
                <a:cs typeface="Arial" panose="020B0604020202020204" pitchFamily="34" charset="0"/>
              </a:rPr>
              <a:t>Governance </a:t>
            </a:r>
            <a:r>
              <a:rPr lang="en-US" sz="2000" dirty="0">
                <a:latin typeface="Arial" panose="020B0604020202020204" pitchFamily="34" charset="0"/>
                <a:cs typeface="Arial" panose="020B0604020202020204" pitchFamily="34" charset="0"/>
              </a:rPr>
              <a:t>and Programme management: Managing for results</a:t>
            </a:r>
          </a:p>
        </p:txBody>
      </p:sp>
      <p:sp>
        <p:nvSpPr>
          <p:cNvPr id="10" name="Rectangle 9"/>
          <p:cNvSpPr/>
          <p:nvPr/>
        </p:nvSpPr>
        <p:spPr>
          <a:xfrm>
            <a:off x="6689559" y="4059717"/>
            <a:ext cx="4502432" cy="2708434"/>
          </a:xfrm>
          <a:prstGeom prst="rect">
            <a:avLst/>
          </a:prstGeom>
        </p:spPr>
        <p:txBody>
          <a:bodyPr wrap="square">
            <a:spAutoFit/>
          </a:bodyPr>
          <a:lstStyle/>
          <a:p>
            <a:pPr marL="336550" lvl="2" indent="-336550">
              <a:buFont typeface="Arial" panose="020B0604020202020204" pitchFamily="34" charset="0"/>
              <a:buChar char="•"/>
            </a:pPr>
            <a:r>
              <a:rPr lang="en-US" sz="2000" dirty="0">
                <a:latin typeface="Arial" panose="020B0604020202020204" pitchFamily="34" charset="0"/>
                <a:cs typeface="Arial" panose="020B0604020202020204" pitchFamily="34" charset="0"/>
              </a:rPr>
              <a:t>Operating environment: Demographics, industry climate, political climate, economic climate, conflict, emergency, etc</a:t>
            </a:r>
            <a:r>
              <a:rPr lang="en-US" sz="2000" dirty="0" smtClean="0">
                <a:latin typeface="Arial" panose="020B0604020202020204" pitchFamily="34" charset="0"/>
                <a:cs typeface="Arial" panose="020B0604020202020204" pitchFamily="34" charset="0"/>
              </a:rPr>
              <a:t>.</a:t>
            </a:r>
          </a:p>
          <a:p>
            <a:pPr marL="0" lvl="2"/>
            <a:endParaRPr lang="en-US" sz="1000" dirty="0">
              <a:latin typeface="Arial" panose="020B0604020202020204" pitchFamily="34" charset="0"/>
              <a:cs typeface="Arial" panose="020B0604020202020204" pitchFamily="34" charset="0"/>
            </a:endParaRPr>
          </a:p>
          <a:p>
            <a:pPr marL="336550" lvl="2" indent="-336550">
              <a:buFont typeface="Arial" panose="020B0604020202020204" pitchFamily="34" charset="0"/>
              <a:buChar char="•"/>
            </a:pPr>
            <a:r>
              <a:rPr lang="en-US" sz="2000" dirty="0">
                <a:latin typeface="Arial" panose="020B0604020202020204" pitchFamily="34" charset="0"/>
                <a:cs typeface="Arial" panose="020B0604020202020204" pitchFamily="34" charset="0"/>
              </a:rPr>
              <a:t>Generate opportunities to be exploited and risks that should be known, monitored, managed and mitigated</a:t>
            </a:r>
          </a:p>
        </p:txBody>
      </p:sp>
      <p:grpSp>
        <p:nvGrpSpPr>
          <p:cNvPr id="3" name="Group 2"/>
          <p:cNvGrpSpPr/>
          <p:nvPr/>
        </p:nvGrpSpPr>
        <p:grpSpPr>
          <a:xfrm>
            <a:off x="2999873" y="976151"/>
            <a:ext cx="6304550" cy="1510379"/>
            <a:chOff x="2999873" y="976151"/>
            <a:chExt cx="6304550" cy="1510379"/>
          </a:xfrm>
        </p:grpSpPr>
        <p:grpSp>
          <p:nvGrpSpPr>
            <p:cNvPr id="6" name="Group 5"/>
            <p:cNvGrpSpPr/>
            <p:nvPr/>
          </p:nvGrpSpPr>
          <p:grpSpPr>
            <a:xfrm rot="5400000">
              <a:off x="5485605" y="-1332287"/>
              <a:ext cx="1333085" cy="6304550"/>
              <a:chOff x="2646947" y="2085474"/>
              <a:chExt cx="1684421" cy="3433009"/>
            </a:xfrm>
          </p:grpSpPr>
          <p:sp>
            <p:nvSpPr>
              <p:cNvPr id="2" name="Bent Arrow 1"/>
              <p:cNvSpPr/>
              <p:nvPr/>
            </p:nvSpPr>
            <p:spPr>
              <a:xfrm>
                <a:off x="2646947" y="2085474"/>
                <a:ext cx="1684421" cy="1748589"/>
              </a:xfrm>
              <a:prstGeom prst="ben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Bent Arrow 4"/>
              <p:cNvSpPr/>
              <p:nvPr/>
            </p:nvSpPr>
            <p:spPr>
              <a:xfrm flipV="1">
                <a:off x="2646947" y="3834062"/>
                <a:ext cx="1684421" cy="1684421"/>
              </a:xfrm>
              <a:prstGeom prst="ben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11" name="TextBox 10"/>
            <p:cNvSpPr txBox="1"/>
            <p:nvPr/>
          </p:nvSpPr>
          <p:spPr>
            <a:xfrm>
              <a:off x="4237739" y="976151"/>
              <a:ext cx="3710973" cy="646331"/>
            </a:xfrm>
            <a:prstGeom prst="rect">
              <a:avLst/>
            </a:prstGeom>
            <a:noFill/>
          </p:spPr>
          <p:txBody>
            <a:bodyPr wrap="square" rtlCol="0">
              <a:spAutoFit/>
            </a:bodyPr>
            <a:lstStyle/>
            <a:p>
              <a:pPr algn="ctr"/>
              <a:r>
                <a:rPr lang="en-US" sz="3600" b="1" spc="600" dirty="0" smtClean="0">
                  <a:solidFill>
                    <a:schemeClr val="bg1"/>
                  </a:solidFill>
                  <a:latin typeface="Arial" panose="020B0604020202020204" pitchFamily="34" charset="0"/>
                  <a:cs typeface="Arial" panose="020B0604020202020204" pitchFamily="34" charset="0"/>
                </a:rPr>
                <a:t>FACTORS</a:t>
              </a:r>
              <a:endParaRPr lang="en-US" sz="3600" b="1" spc="600" dirty="0">
                <a:solidFill>
                  <a:schemeClr val="bg1"/>
                </a:solidFill>
                <a:latin typeface="Arial" panose="020B0604020202020204" pitchFamily="34" charset="0"/>
                <a:cs typeface="Arial" panose="020B0604020202020204" pitchFamily="34" charset="0"/>
              </a:endParaRPr>
            </a:p>
          </p:txBody>
        </p:sp>
        <p:sp>
          <p:nvSpPr>
            <p:cNvPr id="12" name="TextBox 11"/>
            <p:cNvSpPr txBox="1"/>
            <p:nvPr/>
          </p:nvSpPr>
          <p:spPr>
            <a:xfrm>
              <a:off x="4205654" y="984266"/>
              <a:ext cx="3710973" cy="646331"/>
            </a:xfrm>
            <a:prstGeom prst="rect">
              <a:avLst/>
            </a:prstGeom>
            <a:noFill/>
          </p:spPr>
          <p:txBody>
            <a:bodyPr wrap="square" rtlCol="0">
              <a:spAutoFit/>
            </a:bodyPr>
            <a:lstStyle/>
            <a:p>
              <a:pPr algn="ctr"/>
              <a:r>
                <a:rPr lang="en-US" sz="3600" spc="600" dirty="0" smtClean="0">
                  <a:solidFill>
                    <a:schemeClr val="tx1">
                      <a:lumMod val="50000"/>
                      <a:lumOff val="50000"/>
                    </a:schemeClr>
                  </a:solidFill>
                  <a:latin typeface="Arial" panose="020B0604020202020204" pitchFamily="34" charset="0"/>
                  <a:cs typeface="Arial" panose="020B0604020202020204" pitchFamily="34" charset="0"/>
                </a:rPr>
                <a:t>FACTORS</a:t>
              </a:r>
              <a:endParaRPr lang="en-US" sz="3600" spc="600" dirty="0">
                <a:solidFill>
                  <a:schemeClr val="tx1">
                    <a:lumMod val="50000"/>
                    <a:lumOff val="50000"/>
                  </a:schemeClr>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04571760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0"/>
            <a:ext cx="12192000" cy="770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smtClean="0">
                <a:solidFill>
                  <a:srgbClr val="0099FF"/>
                </a:solidFill>
                <a:latin typeface="Arial" panose="020B0604020202020204" pitchFamily="34" charset="0"/>
                <a:cs typeface="Arial" panose="020B0604020202020204" pitchFamily="34" charset="0"/>
              </a:rPr>
              <a:t>Risk Assessment and Mitigation Strategies</a:t>
            </a:r>
          </a:p>
        </p:txBody>
      </p:sp>
      <p:sp>
        <p:nvSpPr>
          <p:cNvPr id="13" name="ColumnHeader"/>
          <p:cNvSpPr>
            <a:spLocks noChangeArrowheads="1"/>
          </p:cNvSpPr>
          <p:nvPr/>
        </p:nvSpPr>
        <p:spPr bwMode="gray">
          <a:xfrm>
            <a:off x="245791" y="1177113"/>
            <a:ext cx="5425666" cy="447459"/>
          </a:xfrm>
          <a:prstGeom prst="rect">
            <a:avLst/>
          </a:prstGeom>
          <a:ln>
            <a:headEnd type="none" w="lg" len="lg"/>
            <a:tailEnd type="none" w="lg" len="lg"/>
          </a:ln>
        </p:spPr>
        <p:style>
          <a:lnRef idx="2">
            <a:schemeClr val="accent5"/>
          </a:lnRef>
          <a:fillRef idx="1">
            <a:schemeClr val="lt1"/>
          </a:fillRef>
          <a:effectRef idx="0">
            <a:schemeClr val="accent5"/>
          </a:effectRef>
          <a:fontRef idx="minor">
            <a:schemeClr val="dk1"/>
          </a:fontRef>
        </p:style>
        <p:txBody>
          <a:bodyPr wrap="square" tIns="84406" bIns="84406" anchor="b">
            <a:spAutoFit/>
          </a:bodyPr>
          <a:lstStyle/>
          <a:p>
            <a:pPr algn="ctr"/>
            <a:r>
              <a:rPr lang="en-US" dirty="0">
                <a:latin typeface="Arial" panose="020B0604020202020204" pitchFamily="34" charset="0"/>
                <a:cs typeface="Arial" panose="020B0604020202020204" pitchFamily="34" charset="0"/>
              </a:rPr>
              <a:t>Risks are assessed along 2 dimensions</a:t>
            </a:r>
          </a:p>
        </p:txBody>
      </p:sp>
      <p:sp>
        <p:nvSpPr>
          <p:cNvPr id="14" name="ColumnHeader"/>
          <p:cNvSpPr>
            <a:spLocks noChangeArrowheads="1"/>
          </p:cNvSpPr>
          <p:nvPr/>
        </p:nvSpPr>
        <p:spPr bwMode="gray">
          <a:xfrm>
            <a:off x="6957069" y="1177113"/>
            <a:ext cx="4886587" cy="447459"/>
          </a:xfrm>
          <a:prstGeom prst="rect">
            <a:avLst/>
          </a:prstGeom>
          <a:ln>
            <a:headEnd type="none" w="lg" len="lg"/>
            <a:tailEnd type="none" w="lg" len="lg"/>
          </a:ln>
        </p:spPr>
        <p:style>
          <a:lnRef idx="2">
            <a:schemeClr val="accent5"/>
          </a:lnRef>
          <a:fillRef idx="1">
            <a:schemeClr val="lt1"/>
          </a:fillRef>
          <a:effectRef idx="0">
            <a:schemeClr val="accent5"/>
          </a:effectRef>
          <a:fontRef idx="minor">
            <a:schemeClr val="dk1"/>
          </a:fontRef>
        </p:style>
        <p:txBody>
          <a:bodyPr wrap="square" tIns="84406" bIns="84406" anchor="b">
            <a:spAutoFit/>
          </a:bodyPr>
          <a:lstStyle/>
          <a:p>
            <a:pPr algn="ctr"/>
            <a:r>
              <a:rPr lang="fr-FR" dirty="0" err="1">
                <a:solidFill>
                  <a:schemeClr val="dk1"/>
                </a:solidFill>
                <a:latin typeface="Arial" panose="020B0604020202020204" pitchFamily="34" charset="0"/>
                <a:cs typeface="Arial" panose="020B0604020202020204" pitchFamily="34" charset="0"/>
              </a:rPr>
              <a:t>Leading</a:t>
            </a:r>
            <a:r>
              <a:rPr lang="fr-FR" dirty="0">
                <a:solidFill>
                  <a:schemeClr val="dk1"/>
                </a:solidFill>
                <a:latin typeface="Arial" panose="020B0604020202020204" pitchFamily="34" charset="0"/>
                <a:cs typeface="Arial" panose="020B0604020202020204" pitchFamily="34" charset="0"/>
              </a:rPr>
              <a:t> to </a:t>
            </a:r>
            <a:r>
              <a:rPr lang="fr-FR" dirty="0" err="1">
                <a:solidFill>
                  <a:schemeClr val="dk1"/>
                </a:solidFill>
                <a:latin typeface="Arial" panose="020B0604020202020204" pitchFamily="34" charset="0"/>
                <a:cs typeface="Arial" panose="020B0604020202020204" pitchFamily="34" charset="0"/>
              </a:rPr>
              <a:t>overall</a:t>
            </a:r>
            <a:r>
              <a:rPr lang="fr-FR" dirty="0">
                <a:solidFill>
                  <a:schemeClr val="dk1"/>
                </a:solidFill>
                <a:latin typeface="Arial" panose="020B0604020202020204" pitchFamily="34" charset="0"/>
                <a:cs typeface="Arial" panose="020B0604020202020204" pitchFamily="34" charset="0"/>
              </a:rPr>
              <a:t> </a:t>
            </a:r>
            <a:r>
              <a:rPr lang="fr-FR" dirty="0" err="1">
                <a:solidFill>
                  <a:schemeClr val="dk1"/>
                </a:solidFill>
                <a:latin typeface="Arial" panose="020B0604020202020204" pitchFamily="34" charset="0"/>
                <a:cs typeface="Arial" panose="020B0604020202020204" pitchFamily="34" charset="0"/>
              </a:rPr>
              <a:t>risk</a:t>
            </a:r>
            <a:r>
              <a:rPr lang="fr-FR" dirty="0">
                <a:solidFill>
                  <a:schemeClr val="dk1"/>
                </a:solidFill>
                <a:latin typeface="Arial" panose="020B0604020202020204" pitchFamily="34" charset="0"/>
                <a:cs typeface="Arial" panose="020B0604020202020204" pitchFamily="34" charset="0"/>
              </a:rPr>
              <a:t> </a:t>
            </a:r>
            <a:r>
              <a:rPr lang="fr-FR" dirty="0" err="1">
                <a:solidFill>
                  <a:schemeClr val="dk1"/>
                </a:solidFill>
                <a:latin typeface="Arial" panose="020B0604020202020204" pitchFamily="34" charset="0"/>
                <a:cs typeface="Arial" panose="020B0604020202020204" pitchFamily="34" charset="0"/>
              </a:rPr>
              <a:t>level</a:t>
            </a:r>
            <a:endParaRPr lang="en-US" dirty="0">
              <a:solidFill>
                <a:schemeClr val="dk1"/>
              </a:solidFill>
              <a:latin typeface="Arial" panose="020B0604020202020204" pitchFamily="34" charset="0"/>
              <a:cs typeface="Arial" panose="020B0604020202020204" pitchFamily="34" charset="0"/>
            </a:endParaRPr>
          </a:p>
        </p:txBody>
      </p:sp>
      <p:sp>
        <p:nvSpPr>
          <p:cNvPr id="15" name="FlowTriangle"/>
          <p:cNvSpPr>
            <a:spLocks noChangeArrowheads="1"/>
          </p:cNvSpPr>
          <p:nvPr/>
        </p:nvSpPr>
        <p:spPr bwMode="gray">
          <a:xfrm rot="5400000">
            <a:off x="4745838" y="3905598"/>
            <a:ext cx="3029446" cy="246185"/>
          </a:xfrm>
          <a:prstGeom prst="triangle">
            <a:avLst>
              <a:gd name="adj" fmla="val 50000"/>
            </a:avLst>
          </a:prstGeom>
          <a:solidFill>
            <a:srgbClr val="B2B2B2"/>
          </a:solidFill>
          <a:ln w="9525" algn="ctr">
            <a:solidFill>
              <a:srgbClr val="B2B2B2"/>
            </a:solidFill>
            <a:miter lim="800000"/>
            <a:headEnd/>
            <a:tailEnd/>
          </a:ln>
        </p:spPr>
        <p:txBody>
          <a:bodyPr rot="10800000" vert="eaVert" wrap="none" anchor="ctr"/>
          <a:lstStyle/>
          <a:p>
            <a:pPr algn="ctr"/>
            <a:endParaRPr lang="en-US" sz="1292" b="1">
              <a:solidFill>
                <a:srgbClr val="000000"/>
              </a:solidFill>
              <a:latin typeface="Arial" panose="020B0604020202020204" pitchFamily="34" charset="0"/>
              <a:cs typeface="Arial" panose="020B0604020202020204" pitchFamily="34" charset="0"/>
            </a:endParaRPr>
          </a:p>
        </p:txBody>
      </p:sp>
      <p:sp>
        <p:nvSpPr>
          <p:cNvPr id="17" name="Isosceles Triangle 16"/>
          <p:cNvSpPr/>
          <p:nvPr/>
        </p:nvSpPr>
        <p:spPr>
          <a:xfrm flipV="1">
            <a:off x="7362924" y="2187591"/>
            <a:ext cx="333276" cy="2990336"/>
          </a:xfrm>
          <a:prstGeom prst="triangle">
            <a:avLst/>
          </a:prstGeom>
          <a:solidFill>
            <a:srgbClr val="E2E2E2"/>
          </a:solidFill>
          <a:ln w="9525">
            <a:solidFill>
              <a:srgbClr val="E2E2E2"/>
            </a:solidFill>
          </a:ln>
          <a:effectLst/>
        </p:spPr>
        <p:style>
          <a:lnRef idx="2">
            <a:schemeClr val="accent1">
              <a:shade val="50000"/>
            </a:schemeClr>
          </a:lnRef>
          <a:fillRef idx="1">
            <a:schemeClr val="accent1"/>
          </a:fillRef>
          <a:effectRef idx="0">
            <a:schemeClr val="accent1"/>
          </a:effectRef>
          <a:fontRef idx="minor">
            <a:schemeClr val="lt1"/>
          </a:fontRef>
        </p:style>
        <p:txBody>
          <a:bodyPr vert="vert" tIns="83077" bIns="83077" rtlCol="0" anchor="ctr" anchorCtr="0"/>
          <a:lstStyle/>
          <a:p>
            <a:r>
              <a:rPr lang="fr-FR" sz="1292" b="1" dirty="0" err="1" smtClean="0">
                <a:solidFill>
                  <a:schemeClr val="tx1"/>
                </a:solidFill>
                <a:latin typeface="Arial" panose="020B0604020202020204" pitchFamily="34" charset="0"/>
                <a:cs typeface="Arial" panose="020B0604020202020204" pitchFamily="34" charset="0"/>
              </a:rPr>
              <a:t>Lijellihood</a:t>
            </a:r>
            <a:endParaRPr lang="en-US" sz="1292" b="1" dirty="0" err="1">
              <a:solidFill>
                <a:schemeClr val="tx1"/>
              </a:solidFill>
              <a:latin typeface="Arial" panose="020B0604020202020204" pitchFamily="34" charset="0"/>
              <a:cs typeface="Arial" panose="020B0604020202020204" pitchFamily="34" charset="0"/>
            </a:endParaRPr>
          </a:p>
        </p:txBody>
      </p:sp>
      <p:sp>
        <p:nvSpPr>
          <p:cNvPr id="18" name="Isosceles Triangle 17"/>
          <p:cNvSpPr/>
          <p:nvPr/>
        </p:nvSpPr>
        <p:spPr>
          <a:xfrm rot="5400000" flipV="1">
            <a:off x="9960163" y="4292752"/>
            <a:ext cx="372336" cy="2995513"/>
          </a:xfrm>
          <a:prstGeom prst="triangle">
            <a:avLst/>
          </a:prstGeom>
          <a:solidFill>
            <a:srgbClr val="E2E2E2"/>
          </a:solidFill>
          <a:ln w="9525">
            <a:solidFill>
              <a:srgbClr val="E2E2E2"/>
            </a:solidFill>
          </a:ln>
          <a:effectLst/>
        </p:spPr>
        <p:style>
          <a:lnRef idx="2">
            <a:schemeClr val="accent1">
              <a:shade val="50000"/>
            </a:schemeClr>
          </a:lnRef>
          <a:fillRef idx="1">
            <a:schemeClr val="accent1"/>
          </a:fillRef>
          <a:effectRef idx="0">
            <a:schemeClr val="accent1"/>
          </a:effectRef>
          <a:fontRef idx="minor">
            <a:schemeClr val="lt1"/>
          </a:fontRef>
        </p:style>
        <p:txBody>
          <a:bodyPr vert="vert" tIns="83077" bIns="83077" rtlCol="0" anchor="ctr" anchorCtr="0"/>
          <a:lstStyle/>
          <a:p>
            <a:r>
              <a:rPr lang="fr-FR" sz="1292" b="1" dirty="0">
                <a:solidFill>
                  <a:schemeClr val="tx1"/>
                </a:solidFill>
                <a:latin typeface="Arial" panose="020B0604020202020204" pitchFamily="34" charset="0"/>
                <a:cs typeface="Arial" panose="020B0604020202020204" pitchFamily="34" charset="0"/>
              </a:rPr>
              <a:t>Impact</a:t>
            </a:r>
            <a:endParaRPr lang="en-US" sz="1292" b="1" dirty="0" err="1">
              <a:solidFill>
                <a:schemeClr val="tx1"/>
              </a:solidFill>
              <a:latin typeface="Arial" panose="020B0604020202020204" pitchFamily="34" charset="0"/>
              <a:cs typeface="Arial" panose="020B0604020202020204" pitchFamily="34" charset="0"/>
            </a:endParaRPr>
          </a:p>
        </p:txBody>
      </p:sp>
      <p:grpSp>
        <p:nvGrpSpPr>
          <p:cNvPr id="19" name="Group 33"/>
          <p:cNvGrpSpPr/>
          <p:nvPr/>
        </p:nvGrpSpPr>
        <p:grpSpPr>
          <a:xfrm>
            <a:off x="7909460" y="2191713"/>
            <a:ext cx="3734626" cy="3155608"/>
            <a:chOff x="5832770" y="2511486"/>
            <a:chExt cx="3171081" cy="2863014"/>
          </a:xfrm>
        </p:grpSpPr>
        <p:pic>
          <p:nvPicPr>
            <p:cNvPr id="20" name="Picture 2"/>
            <p:cNvPicPr>
              <a:picLocks noChangeAspect="1" noChangeArrowheads="1"/>
            </p:cNvPicPr>
            <p:nvPr/>
          </p:nvPicPr>
          <p:blipFill>
            <a:blip r:embed="rId2" cstate="print"/>
            <a:srcRect l="5594" t="11880"/>
            <a:stretch>
              <a:fillRect/>
            </a:stretch>
          </p:blipFill>
          <p:spPr bwMode="auto">
            <a:xfrm>
              <a:off x="5832770" y="2511486"/>
              <a:ext cx="3171081" cy="2682451"/>
            </a:xfrm>
            <a:prstGeom prst="rect">
              <a:avLst/>
            </a:prstGeom>
            <a:noFill/>
            <a:ln w="9525">
              <a:noFill/>
              <a:miter lim="800000"/>
              <a:headEnd/>
              <a:tailEnd/>
            </a:ln>
          </p:spPr>
        </p:pic>
        <p:pic>
          <p:nvPicPr>
            <p:cNvPr id="21" name="Picture 2"/>
            <p:cNvPicPr>
              <a:picLocks noChangeAspect="1" noChangeArrowheads="1"/>
            </p:cNvPicPr>
            <p:nvPr/>
          </p:nvPicPr>
          <p:blipFill>
            <a:blip r:embed="rId2" cstate="print"/>
            <a:srcRect l="24278" t="6413" b="87655"/>
            <a:stretch>
              <a:fillRect/>
            </a:stretch>
          </p:blipFill>
          <p:spPr bwMode="auto">
            <a:xfrm>
              <a:off x="6460352" y="5193937"/>
              <a:ext cx="2543499" cy="180563"/>
            </a:xfrm>
            <a:prstGeom prst="rect">
              <a:avLst/>
            </a:prstGeom>
            <a:noFill/>
            <a:ln w="9525">
              <a:noFill/>
              <a:miter lim="800000"/>
              <a:headEnd/>
              <a:tailEnd/>
            </a:ln>
          </p:spPr>
        </p:pic>
      </p:grpSp>
      <p:grpSp>
        <p:nvGrpSpPr>
          <p:cNvPr id="22" name="Group 40"/>
          <p:cNvGrpSpPr/>
          <p:nvPr/>
        </p:nvGrpSpPr>
        <p:grpSpPr>
          <a:xfrm>
            <a:off x="7696200" y="6093767"/>
            <a:ext cx="703385" cy="575496"/>
            <a:chOff x="6393874" y="6096001"/>
            <a:chExt cx="762000" cy="623454"/>
          </a:xfrm>
        </p:grpSpPr>
        <p:sp>
          <p:nvSpPr>
            <p:cNvPr id="23" name="Rectangle 22"/>
            <p:cNvSpPr/>
            <p:nvPr/>
          </p:nvSpPr>
          <p:spPr>
            <a:xfrm>
              <a:off x="6393874" y="6096001"/>
              <a:ext cx="762000" cy="207818"/>
            </a:xfrm>
            <a:prstGeom prst="rect">
              <a:avLst/>
            </a:prstGeom>
            <a:solidFill>
              <a:srgbClr val="FF0000"/>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83077" bIns="83077" rtlCol="0" anchor="ctr" anchorCtr="0"/>
            <a:lstStyle/>
            <a:p>
              <a:pPr algn="ctr"/>
              <a:r>
                <a:rPr lang="fr-FR" sz="1292" b="1" dirty="0">
                  <a:solidFill>
                    <a:schemeClr val="tx1"/>
                  </a:solidFill>
                  <a:latin typeface="Arial" panose="020B0604020202020204" pitchFamily="34" charset="0"/>
                  <a:cs typeface="Arial" panose="020B0604020202020204" pitchFamily="34" charset="0"/>
                </a:rPr>
                <a:t>High</a:t>
              </a:r>
              <a:endParaRPr lang="en-US" sz="1292" b="1" dirty="0" err="1">
                <a:solidFill>
                  <a:schemeClr val="tx1"/>
                </a:solidFill>
                <a:latin typeface="Arial" panose="020B0604020202020204" pitchFamily="34" charset="0"/>
                <a:cs typeface="Arial" panose="020B0604020202020204" pitchFamily="34" charset="0"/>
              </a:endParaRPr>
            </a:p>
          </p:txBody>
        </p:sp>
        <p:sp>
          <p:nvSpPr>
            <p:cNvPr id="24" name="Rectangle 23"/>
            <p:cNvSpPr/>
            <p:nvPr/>
          </p:nvSpPr>
          <p:spPr>
            <a:xfrm>
              <a:off x="6393874" y="6303819"/>
              <a:ext cx="762000" cy="207818"/>
            </a:xfrm>
            <a:prstGeom prst="rect">
              <a:avLst/>
            </a:prstGeom>
            <a:solidFill>
              <a:srgbClr val="FF9900"/>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tIns="83077" bIns="83077" rtlCol="0" anchor="ctr" anchorCtr="0"/>
            <a:lstStyle/>
            <a:p>
              <a:pPr algn="ctr"/>
              <a:r>
                <a:rPr lang="fr-FR" sz="1292" b="1" dirty="0">
                  <a:solidFill>
                    <a:schemeClr val="tx1"/>
                  </a:solidFill>
                  <a:latin typeface="Arial" panose="020B0604020202020204" pitchFamily="34" charset="0"/>
                  <a:cs typeface="Arial" panose="020B0604020202020204" pitchFamily="34" charset="0"/>
                </a:rPr>
                <a:t>Medium</a:t>
              </a:r>
              <a:endParaRPr lang="en-US" sz="1292" b="1" dirty="0" err="1">
                <a:solidFill>
                  <a:schemeClr val="tx1"/>
                </a:solidFill>
                <a:latin typeface="Arial" panose="020B0604020202020204" pitchFamily="34" charset="0"/>
                <a:cs typeface="Arial" panose="020B0604020202020204" pitchFamily="34" charset="0"/>
              </a:endParaRPr>
            </a:p>
          </p:txBody>
        </p:sp>
        <p:sp>
          <p:nvSpPr>
            <p:cNvPr id="25" name="Rectangle 24"/>
            <p:cNvSpPr/>
            <p:nvPr/>
          </p:nvSpPr>
          <p:spPr>
            <a:xfrm>
              <a:off x="6393874" y="6511637"/>
              <a:ext cx="762000" cy="207818"/>
            </a:xfrm>
            <a:prstGeom prst="rect">
              <a:avLst/>
            </a:prstGeom>
            <a:solidFill>
              <a:srgbClr val="92D050"/>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tIns="83077" bIns="83077" rtlCol="0" anchor="ctr" anchorCtr="0"/>
            <a:lstStyle/>
            <a:p>
              <a:pPr algn="ctr"/>
              <a:r>
                <a:rPr lang="fr-FR" sz="1292" b="1" dirty="0">
                  <a:solidFill>
                    <a:schemeClr val="tx1"/>
                  </a:solidFill>
                  <a:latin typeface="Arial" panose="020B0604020202020204" pitchFamily="34" charset="0"/>
                  <a:cs typeface="Arial" panose="020B0604020202020204" pitchFamily="34" charset="0"/>
                </a:rPr>
                <a:t>Low</a:t>
              </a:r>
              <a:endParaRPr lang="en-US" sz="1292" b="1" dirty="0" err="1">
                <a:solidFill>
                  <a:schemeClr val="tx1"/>
                </a:solidFill>
                <a:latin typeface="Arial" panose="020B0604020202020204" pitchFamily="34" charset="0"/>
                <a:cs typeface="Arial" panose="020B0604020202020204" pitchFamily="34" charset="0"/>
              </a:endParaRPr>
            </a:p>
          </p:txBody>
        </p:sp>
      </p:grpSp>
      <p:grpSp>
        <p:nvGrpSpPr>
          <p:cNvPr id="26" name="Group 25"/>
          <p:cNvGrpSpPr/>
          <p:nvPr/>
        </p:nvGrpSpPr>
        <p:grpSpPr>
          <a:xfrm>
            <a:off x="551331" y="2147955"/>
            <a:ext cx="4728496" cy="1828800"/>
            <a:chOff x="457200" y="2327565"/>
            <a:chExt cx="4115399" cy="1981200"/>
          </a:xfrm>
        </p:grpSpPr>
        <p:grpSp>
          <p:nvGrpSpPr>
            <p:cNvPr id="27" name="Group 26"/>
            <p:cNvGrpSpPr/>
            <p:nvPr/>
          </p:nvGrpSpPr>
          <p:grpSpPr>
            <a:xfrm>
              <a:off x="457200" y="2552071"/>
              <a:ext cx="4115399" cy="1532186"/>
              <a:chOff x="457200" y="2525341"/>
              <a:chExt cx="4115399" cy="1532186"/>
            </a:xfrm>
          </p:grpSpPr>
          <p:sp>
            <p:nvSpPr>
              <p:cNvPr id="29" name="Rounded Rectangle 28"/>
              <p:cNvSpPr/>
              <p:nvPr/>
            </p:nvSpPr>
            <p:spPr>
              <a:xfrm>
                <a:off x="457200" y="2525341"/>
                <a:ext cx="4115399" cy="748143"/>
              </a:xfrm>
              <a:prstGeom prst="round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83077" rIns="0" bIns="83077" rtlCol="0" anchor="ctr" anchorCtr="0"/>
              <a:lstStyle/>
              <a:p>
                <a:pPr algn="ctr"/>
                <a:r>
                  <a:rPr lang="fr-FR" sz="1662" b="1" u="sng" dirty="0" err="1" smtClean="0">
                    <a:solidFill>
                      <a:schemeClr val="tx1"/>
                    </a:solidFill>
                    <a:latin typeface="Arial" panose="020B0604020202020204" pitchFamily="34" charset="0"/>
                    <a:cs typeface="Arial" panose="020B0604020202020204" pitchFamily="34" charset="0"/>
                  </a:rPr>
                  <a:t>Likelihood</a:t>
                </a:r>
                <a:endParaRPr lang="fr-FR" sz="1662" b="1" u="sng" dirty="0">
                  <a:solidFill>
                    <a:schemeClr val="tx1"/>
                  </a:solidFill>
                  <a:latin typeface="Arial" panose="020B0604020202020204" pitchFamily="34" charset="0"/>
                  <a:cs typeface="Arial" panose="020B0604020202020204" pitchFamily="34" charset="0"/>
                </a:endParaRPr>
              </a:p>
              <a:p>
                <a:pPr algn="ctr"/>
                <a:endParaRPr lang="fr-FR" sz="800" b="1" dirty="0">
                  <a:solidFill>
                    <a:schemeClr val="bg1">
                      <a:lumMod val="50000"/>
                    </a:schemeClr>
                  </a:solidFill>
                  <a:latin typeface="Arial" panose="020B0604020202020204" pitchFamily="34" charset="0"/>
                  <a:cs typeface="Arial" panose="020B0604020202020204" pitchFamily="34" charset="0"/>
                </a:endParaRPr>
              </a:p>
              <a:p>
                <a:pPr algn="ctr"/>
                <a:r>
                  <a:rPr lang="fr-FR" sz="1400" i="1" dirty="0">
                    <a:solidFill>
                      <a:schemeClr val="bg1">
                        <a:lumMod val="50000"/>
                      </a:schemeClr>
                    </a:solidFill>
                    <a:latin typeface="Arial" panose="020B0604020202020204" pitchFamily="34" charset="0"/>
                    <a:cs typeface="Arial" panose="020B0604020202020204" pitchFamily="34" charset="0"/>
                  </a:rPr>
                  <a:t>"</a:t>
                </a:r>
                <a:r>
                  <a:rPr lang="fr-FR" sz="1400" i="1" dirty="0" err="1">
                    <a:solidFill>
                      <a:schemeClr val="bg1">
                        <a:lumMod val="50000"/>
                      </a:schemeClr>
                    </a:solidFill>
                    <a:latin typeface="Arial" panose="020B0604020202020204" pitchFamily="34" charset="0"/>
                    <a:cs typeface="Arial" panose="020B0604020202020204" pitchFamily="34" charset="0"/>
                  </a:rPr>
                  <a:t>What</a:t>
                </a:r>
                <a:r>
                  <a:rPr lang="fr-FR" sz="1400" i="1" dirty="0">
                    <a:solidFill>
                      <a:schemeClr val="bg1">
                        <a:lumMod val="50000"/>
                      </a:schemeClr>
                    </a:solidFill>
                    <a:latin typeface="Arial" panose="020B0604020202020204" pitchFamily="34" charset="0"/>
                    <a:cs typeface="Arial" panose="020B0604020202020204" pitchFamily="34" charset="0"/>
                  </a:rPr>
                  <a:t> </a:t>
                </a:r>
                <a:r>
                  <a:rPr lang="fr-FR" sz="1400" i="1" dirty="0" err="1">
                    <a:solidFill>
                      <a:schemeClr val="bg1">
                        <a:lumMod val="50000"/>
                      </a:schemeClr>
                    </a:solidFill>
                    <a:latin typeface="Arial" panose="020B0604020202020204" pitchFamily="34" charset="0"/>
                    <a:cs typeface="Arial" panose="020B0604020202020204" pitchFamily="34" charset="0"/>
                  </a:rPr>
                  <a:t>is</a:t>
                </a:r>
                <a:r>
                  <a:rPr lang="fr-FR" sz="1400" i="1" dirty="0">
                    <a:solidFill>
                      <a:schemeClr val="bg1">
                        <a:lumMod val="50000"/>
                      </a:schemeClr>
                    </a:solidFill>
                    <a:latin typeface="Arial" panose="020B0604020202020204" pitchFamily="34" charset="0"/>
                    <a:cs typeface="Arial" panose="020B0604020202020204" pitchFamily="34" charset="0"/>
                  </a:rPr>
                  <a:t> the </a:t>
                </a:r>
                <a:r>
                  <a:rPr lang="fr-FR" sz="1400" i="1" dirty="0" err="1">
                    <a:solidFill>
                      <a:schemeClr val="bg1">
                        <a:lumMod val="50000"/>
                      </a:schemeClr>
                    </a:solidFill>
                    <a:latin typeface="Arial" panose="020B0604020202020204" pitchFamily="34" charset="0"/>
                    <a:cs typeface="Arial" panose="020B0604020202020204" pitchFamily="34" charset="0"/>
                  </a:rPr>
                  <a:t>likelihood</a:t>
                </a:r>
                <a:r>
                  <a:rPr lang="fr-FR" sz="1400" i="1" dirty="0">
                    <a:solidFill>
                      <a:schemeClr val="bg1">
                        <a:lumMod val="50000"/>
                      </a:schemeClr>
                    </a:solidFill>
                    <a:latin typeface="Arial" panose="020B0604020202020204" pitchFamily="34" charset="0"/>
                    <a:cs typeface="Arial" panose="020B0604020202020204" pitchFamily="34" charset="0"/>
                  </a:rPr>
                  <a:t> of the </a:t>
                </a:r>
                <a:r>
                  <a:rPr lang="fr-FR" sz="1400" i="1" dirty="0" err="1">
                    <a:solidFill>
                      <a:schemeClr val="bg1">
                        <a:lumMod val="50000"/>
                      </a:schemeClr>
                    </a:solidFill>
                    <a:latin typeface="Arial" panose="020B0604020202020204" pitchFamily="34" charset="0"/>
                    <a:cs typeface="Arial" panose="020B0604020202020204" pitchFamily="34" charset="0"/>
                  </a:rPr>
                  <a:t>risk</a:t>
                </a:r>
                <a:r>
                  <a:rPr lang="fr-FR" sz="1400" i="1" dirty="0">
                    <a:solidFill>
                      <a:schemeClr val="bg1">
                        <a:lumMod val="50000"/>
                      </a:schemeClr>
                    </a:solidFill>
                    <a:latin typeface="Arial" panose="020B0604020202020204" pitchFamily="34" charset="0"/>
                    <a:cs typeface="Arial" panose="020B0604020202020204" pitchFamily="34" charset="0"/>
                  </a:rPr>
                  <a:t> </a:t>
                </a:r>
              </a:p>
              <a:p>
                <a:pPr algn="ctr"/>
                <a:r>
                  <a:rPr lang="fr-FR" sz="1400" i="1" dirty="0" err="1">
                    <a:solidFill>
                      <a:schemeClr val="bg1">
                        <a:lumMod val="50000"/>
                      </a:schemeClr>
                    </a:solidFill>
                    <a:latin typeface="Arial" panose="020B0604020202020204" pitchFamily="34" charset="0"/>
                    <a:cs typeface="Arial" panose="020B0604020202020204" pitchFamily="34" charset="0"/>
                  </a:rPr>
                  <a:t>materializing</a:t>
                </a:r>
                <a:r>
                  <a:rPr lang="fr-FR" sz="1400" i="1" dirty="0">
                    <a:solidFill>
                      <a:schemeClr val="bg1">
                        <a:lumMod val="50000"/>
                      </a:schemeClr>
                    </a:solidFill>
                    <a:latin typeface="Arial" panose="020B0604020202020204" pitchFamily="34" charset="0"/>
                    <a:cs typeface="Arial" panose="020B0604020202020204" pitchFamily="34" charset="0"/>
                  </a:rPr>
                  <a:t> </a:t>
                </a:r>
                <a:r>
                  <a:rPr lang="fr-FR" sz="1400" i="1" dirty="0" err="1">
                    <a:solidFill>
                      <a:schemeClr val="bg1">
                        <a:lumMod val="50000"/>
                      </a:schemeClr>
                    </a:solidFill>
                    <a:latin typeface="Arial" panose="020B0604020202020204" pitchFamily="34" charset="0"/>
                    <a:cs typeface="Arial" panose="020B0604020202020204" pitchFamily="34" charset="0"/>
                  </a:rPr>
                  <a:t>given</a:t>
                </a:r>
                <a:r>
                  <a:rPr lang="fr-FR" sz="1400" i="1" dirty="0">
                    <a:solidFill>
                      <a:schemeClr val="bg1">
                        <a:lumMod val="50000"/>
                      </a:schemeClr>
                    </a:solidFill>
                    <a:latin typeface="Arial" panose="020B0604020202020204" pitchFamily="34" charset="0"/>
                    <a:cs typeface="Arial" panose="020B0604020202020204" pitchFamily="34" charset="0"/>
                  </a:rPr>
                  <a:t> </a:t>
                </a:r>
                <a:r>
                  <a:rPr lang="fr-FR" sz="1400" i="1" dirty="0" err="1">
                    <a:solidFill>
                      <a:schemeClr val="bg1">
                        <a:lumMod val="50000"/>
                      </a:schemeClr>
                    </a:solidFill>
                    <a:latin typeface="Arial" panose="020B0604020202020204" pitchFamily="34" charset="0"/>
                    <a:cs typeface="Arial" panose="020B0604020202020204" pitchFamily="34" charset="0"/>
                  </a:rPr>
                  <a:t>our</a:t>
                </a:r>
                <a:r>
                  <a:rPr lang="fr-FR" sz="1400" i="1" dirty="0">
                    <a:solidFill>
                      <a:schemeClr val="bg1">
                        <a:lumMod val="50000"/>
                      </a:schemeClr>
                    </a:solidFill>
                    <a:latin typeface="Arial" panose="020B0604020202020204" pitchFamily="34" charset="0"/>
                    <a:cs typeface="Arial" panose="020B0604020202020204" pitchFamily="34" charset="0"/>
                  </a:rPr>
                  <a:t> </a:t>
                </a:r>
                <a:r>
                  <a:rPr lang="fr-FR" sz="1400" i="1" dirty="0" err="1">
                    <a:solidFill>
                      <a:schemeClr val="bg1">
                        <a:lumMod val="50000"/>
                      </a:schemeClr>
                    </a:solidFill>
                    <a:latin typeface="Arial" panose="020B0604020202020204" pitchFamily="34" charset="0"/>
                    <a:cs typeface="Arial" panose="020B0604020202020204" pitchFamily="34" charset="0"/>
                  </a:rPr>
                  <a:t>existing</a:t>
                </a:r>
                <a:r>
                  <a:rPr lang="fr-FR" sz="1400" i="1" dirty="0">
                    <a:solidFill>
                      <a:schemeClr val="bg1">
                        <a:lumMod val="50000"/>
                      </a:schemeClr>
                    </a:solidFill>
                    <a:latin typeface="Arial" panose="020B0604020202020204" pitchFamily="34" charset="0"/>
                    <a:cs typeface="Arial" panose="020B0604020202020204" pitchFamily="34" charset="0"/>
                  </a:rPr>
                  <a:t> </a:t>
                </a:r>
                <a:r>
                  <a:rPr lang="fr-FR" sz="1400" i="1" dirty="0" err="1">
                    <a:solidFill>
                      <a:schemeClr val="bg1">
                        <a:lumMod val="50000"/>
                      </a:schemeClr>
                    </a:solidFill>
                    <a:latin typeface="Arial" panose="020B0604020202020204" pitchFamily="34" charset="0"/>
                    <a:cs typeface="Arial" panose="020B0604020202020204" pitchFamily="34" charset="0"/>
                  </a:rPr>
                  <a:t>controls</a:t>
                </a:r>
                <a:r>
                  <a:rPr lang="fr-FR" sz="1400" i="1" dirty="0">
                    <a:solidFill>
                      <a:schemeClr val="bg1">
                        <a:lumMod val="50000"/>
                      </a:schemeClr>
                    </a:solidFill>
                    <a:latin typeface="Arial" panose="020B0604020202020204" pitchFamily="34" charset="0"/>
                    <a:cs typeface="Arial" panose="020B0604020202020204" pitchFamily="34" charset="0"/>
                  </a:rPr>
                  <a:t>?"</a:t>
                </a:r>
                <a:r>
                  <a:rPr lang="fr-FR" sz="1600" b="1" dirty="0">
                    <a:solidFill>
                      <a:schemeClr val="bg1">
                        <a:lumMod val="50000"/>
                      </a:schemeClr>
                    </a:solidFill>
                    <a:latin typeface="Arial" panose="020B0604020202020204" pitchFamily="34" charset="0"/>
                    <a:cs typeface="Arial" panose="020B0604020202020204" pitchFamily="34" charset="0"/>
                  </a:rPr>
                  <a:t> </a:t>
                </a:r>
                <a:endParaRPr lang="en-US" sz="1600" b="1" dirty="0" err="1">
                  <a:solidFill>
                    <a:schemeClr val="bg1">
                      <a:lumMod val="50000"/>
                    </a:schemeClr>
                  </a:solidFill>
                  <a:latin typeface="Arial" panose="020B0604020202020204" pitchFamily="34" charset="0"/>
                  <a:cs typeface="Arial" panose="020B0604020202020204" pitchFamily="34" charset="0"/>
                </a:endParaRPr>
              </a:p>
            </p:txBody>
          </p:sp>
          <p:grpSp>
            <p:nvGrpSpPr>
              <p:cNvPr id="30" name="Group 29"/>
              <p:cNvGrpSpPr/>
              <p:nvPr/>
            </p:nvGrpSpPr>
            <p:grpSpPr>
              <a:xfrm>
                <a:off x="741518" y="3518845"/>
                <a:ext cx="3546761" cy="538682"/>
                <a:chOff x="741518" y="3518845"/>
                <a:chExt cx="3546761" cy="538682"/>
              </a:xfrm>
            </p:grpSpPr>
            <p:sp>
              <p:nvSpPr>
                <p:cNvPr id="31" name="Isosceles Triangle 30"/>
                <p:cNvSpPr/>
                <p:nvPr/>
              </p:nvSpPr>
              <p:spPr>
                <a:xfrm rot="5400000" flipV="1">
                  <a:off x="2245559" y="2014806"/>
                  <a:ext cx="538682" cy="3546759"/>
                </a:xfrm>
                <a:prstGeom prst="triangle">
                  <a:avLst/>
                </a:prstGeom>
                <a:gradFill>
                  <a:gsLst>
                    <a:gs pos="19000">
                      <a:srgbClr val="92D050"/>
                    </a:gs>
                    <a:gs pos="50000">
                      <a:srgbClr val="FFC000"/>
                    </a:gs>
                    <a:gs pos="100000">
                      <a:srgbClr val="FF0000"/>
                    </a:gs>
                  </a:gsLst>
                  <a:lin ang="5400000" scaled="0"/>
                </a:gradFill>
                <a:ln w="9525">
                  <a:solidFill>
                    <a:srgbClr val="E2E2E2"/>
                  </a:solid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83077" rIns="0" bIns="83077" rtlCol="0" anchor="ctr" anchorCtr="0"/>
                <a:lstStyle/>
                <a:p>
                  <a:endParaRPr lang="en-US" sz="1292" b="1" dirty="0">
                    <a:solidFill>
                      <a:schemeClr val="tx1"/>
                    </a:solidFill>
                    <a:latin typeface="Arial" panose="020B0604020202020204" pitchFamily="34" charset="0"/>
                    <a:cs typeface="Arial" panose="020B0604020202020204" pitchFamily="34" charset="0"/>
                  </a:endParaRPr>
                </a:p>
              </p:txBody>
            </p:sp>
            <p:sp>
              <p:nvSpPr>
                <p:cNvPr id="32" name="Rectangle 31"/>
                <p:cNvSpPr/>
                <p:nvPr/>
              </p:nvSpPr>
              <p:spPr>
                <a:xfrm>
                  <a:off x="741518" y="3622227"/>
                  <a:ext cx="960153" cy="331914"/>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83077" bIns="83077" rtlCol="0" anchor="ctr" anchorCtr="0"/>
                <a:lstStyle/>
                <a:p>
                  <a:pPr algn="ctr"/>
                  <a:r>
                    <a:rPr lang="en-US" sz="1400" b="1" dirty="0">
                      <a:solidFill>
                        <a:schemeClr val="tx1"/>
                      </a:solidFill>
                      <a:latin typeface="Arial" panose="020B0604020202020204" pitchFamily="34" charset="0"/>
                      <a:cs typeface="Arial" panose="020B0604020202020204" pitchFamily="34" charset="0"/>
                    </a:rPr>
                    <a:t>Minimal</a:t>
                  </a:r>
                </a:p>
              </p:txBody>
            </p:sp>
            <p:sp>
              <p:nvSpPr>
                <p:cNvPr id="33" name="Rectangle 32"/>
                <p:cNvSpPr/>
                <p:nvPr/>
              </p:nvSpPr>
              <p:spPr>
                <a:xfrm>
                  <a:off x="3408817" y="3622228"/>
                  <a:ext cx="879462" cy="331914"/>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83077" bIns="83077" rtlCol="0" anchor="ctr" anchorCtr="0"/>
                <a:lstStyle/>
                <a:p>
                  <a:pPr algn="ctr"/>
                  <a:r>
                    <a:rPr lang="en-US" sz="1400" b="1" dirty="0">
                      <a:solidFill>
                        <a:schemeClr val="tx1"/>
                      </a:solidFill>
                      <a:latin typeface="Arial" panose="020B0604020202020204" pitchFamily="34" charset="0"/>
                      <a:cs typeface="Arial" panose="020B0604020202020204" pitchFamily="34" charset="0"/>
                    </a:rPr>
                    <a:t>Critical</a:t>
                  </a:r>
                </a:p>
              </p:txBody>
            </p:sp>
          </p:grpSp>
        </p:grpSp>
        <p:sp>
          <p:nvSpPr>
            <p:cNvPr id="28" name="Rounded Rectangle 27"/>
            <p:cNvSpPr/>
            <p:nvPr/>
          </p:nvSpPr>
          <p:spPr>
            <a:xfrm>
              <a:off x="457200" y="2327565"/>
              <a:ext cx="4115399" cy="1981200"/>
            </a:xfrm>
            <a:prstGeom prst="roundRect">
              <a:avLst/>
            </a:prstGeom>
            <a:noFill/>
            <a:ln w="28575">
              <a:solidFill>
                <a:srgbClr val="0099FF"/>
              </a:solidFill>
            </a:ln>
            <a:effectLst/>
          </p:spPr>
          <p:style>
            <a:lnRef idx="2">
              <a:schemeClr val="accent1">
                <a:shade val="50000"/>
              </a:schemeClr>
            </a:lnRef>
            <a:fillRef idx="1">
              <a:schemeClr val="accent1"/>
            </a:fillRef>
            <a:effectRef idx="0">
              <a:schemeClr val="accent1"/>
            </a:effectRef>
            <a:fontRef idx="minor">
              <a:schemeClr val="lt1"/>
            </a:fontRef>
          </p:style>
          <p:txBody>
            <a:bodyPr tIns="83077" bIns="83077" rtlCol="0" anchor="ctr" anchorCtr="0"/>
            <a:lstStyle/>
            <a:p>
              <a:pPr algn="ctr"/>
              <a:endParaRPr lang="en-US" sz="1292" dirty="0" err="1">
                <a:solidFill>
                  <a:schemeClr val="tx1"/>
                </a:solidFill>
                <a:latin typeface="Arial" panose="020B0604020202020204" pitchFamily="34" charset="0"/>
                <a:cs typeface="Arial" panose="020B0604020202020204" pitchFamily="34" charset="0"/>
              </a:endParaRPr>
            </a:p>
          </p:txBody>
        </p:sp>
      </p:grpSp>
      <p:grpSp>
        <p:nvGrpSpPr>
          <p:cNvPr id="34" name="Group 33"/>
          <p:cNvGrpSpPr/>
          <p:nvPr/>
        </p:nvGrpSpPr>
        <p:grpSpPr>
          <a:xfrm>
            <a:off x="551331" y="4147875"/>
            <a:ext cx="4728496" cy="1828800"/>
            <a:chOff x="457200" y="4494145"/>
            <a:chExt cx="4115399" cy="1981200"/>
          </a:xfrm>
        </p:grpSpPr>
        <p:grpSp>
          <p:nvGrpSpPr>
            <p:cNvPr id="35" name="Group 34"/>
            <p:cNvGrpSpPr/>
            <p:nvPr/>
          </p:nvGrpSpPr>
          <p:grpSpPr>
            <a:xfrm>
              <a:off x="457200" y="4724397"/>
              <a:ext cx="4115399" cy="1520698"/>
              <a:chOff x="457200" y="4724397"/>
              <a:chExt cx="4115399" cy="1520698"/>
            </a:xfrm>
          </p:grpSpPr>
          <p:sp>
            <p:nvSpPr>
              <p:cNvPr id="37" name="Rounded Rectangle 36"/>
              <p:cNvSpPr/>
              <p:nvPr/>
            </p:nvSpPr>
            <p:spPr>
              <a:xfrm>
                <a:off x="457200" y="4724397"/>
                <a:ext cx="4115399" cy="885638"/>
              </a:xfrm>
              <a:prstGeom prst="round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83077" rIns="0" bIns="83077" rtlCol="0" anchor="ctr" anchorCtr="0"/>
              <a:lstStyle/>
              <a:p>
                <a:pPr algn="ctr"/>
                <a:r>
                  <a:rPr lang="fr-FR" sz="1662" b="1" u="sng" dirty="0">
                    <a:solidFill>
                      <a:schemeClr val="tx1"/>
                    </a:solidFill>
                    <a:latin typeface="Arial" panose="020B0604020202020204" pitchFamily="34" charset="0"/>
                    <a:cs typeface="Arial" panose="020B0604020202020204" pitchFamily="34" charset="0"/>
                  </a:rPr>
                  <a:t>Impact</a:t>
                </a:r>
              </a:p>
              <a:p>
                <a:pPr algn="ctr"/>
                <a:endParaRPr lang="fr-FR" sz="800" b="1" dirty="0">
                  <a:solidFill>
                    <a:schemeClr val="bg1">
                      <a:lumMod val="50000"/>
                    </a:schemeClr>
                  </a:solidFill>
                  <a:latin typeface="Arial" panose="020B0604020202020204" pitchFamily="34" charset="0"/>
                  <a:cs typeface="Arial" panose="020B0604020202020204" pitchFamily="34" charset="0"/>
                </a:endParaRPr>
              </a:p>
              <a:p>
                <a:pPr algn="ctr"/>
                <a:r>
                  <a:rPr lang="fr-FR" sz="1400" i="1" dirty="0">
                    <a:solidFill>
                      <a:schemeClr val="bg1">
                        <a:lumMod val="50000"/>
                      </a:schemeClr>
                    </a:solidFill>
                    <a:latin typeface="Arial" panose="020B0604020202020204" pitchFamily="34" charset="0"/>
                    <a:cs typeface="Arial" panose="020B0604020202020204" pitchFamily="34" charset="0"/>
                  </a:rPr>
                  <a:t>"</a:t>
                </a:r>
                <a:r>
                  <a:rPr lang="fr-FR" sz="1400" i="1" dirty="0" err="1">
                    <a:solidFill>
                      <a:schemeClr val="bg1">
                        <a:lumMod val="50000"/>
                      </a:schemeClr>
                    </a:solidFill>
                    <a:latin typeface="Arial" panose="020B0604020202020204" pitchFamily="34" charset="0"/>
                    <a:cs typeface="Arial" panose="020B0604020202020204" pitchFamily="34" charset="0"/>
                  </a:rPr>
                  <a:t>What</a:t>
                </a:r>
                <a:r>
                  <a:rPr lang="fr-FR" sz="1400" i="1" dirty="0">
                    <a:solidFill>
                      <a:schemeClr val="bg1">
                        <a:lumMod val="50000"/>
                      </a:schemeClr>
                    </a:solidFill>
                    <a:latin typeface="Arial" panose="020B0604020202020204" pitchFamily="34" charset="0"/>
                    <a:cs typeface="Arial" panose="020B0604020202020204" pitchFamily="34" charset="0"/>
                  </a:rPr>
                  <a:t> </a:t>
                </a:r>
                <a:r>
                  <a:rPr lang="fr-FR" sz="1400" i="1" dirty="0" err="1">
                    <a:solidFill>
                      <a:schemeClr val="bg1">
                        <a:lumMod val="50000"/>
                      </a:schemeClr>
                    </a:solidFill>
                    <a:latin typeface="Arial" panose="020B0604020202020204" pitchFamily="34" charset="0"/>
                    <a:cs typeface="Arial" panose="020B0604020202020204" pitchFamily="34" charset="0"/>
                  </a:rPr>
                  <a:t>is</a:t>
                </a:r>
                <a:r>
                  <a:rPr lang="fr-FR" sz="1400" i="1" dirty="0">
                    <a:solidFill>
                      <a:schemeClr val="bg1">
                        <a:lumMod val="50000"/>
                      </a:schemeClr>
                    </a:solidFill>
                    <a:latin typeface="Arial" panose="020B0604020202020204" pitchFamily="34" charset="0"/>
                    <a:cs typeface="Arial" panose="020B0604020202020204" pitchFamily="34" charset="0"/>
                  </a:rPr>
                  <a:t> the impact of the </a:t>
                </a:r>
                <a:r>
                  <a:rPr lang="fr-FR" sz="1400" i="1" dirty="0" err="1">
                    <a:solidFill>
                      <a:schemeClr val="bg1">
                        <a:lumMod val="50000"/>
                      </a:schemeClr>
                    </a:solidFill>
                    <a:latin typeface="Arial" panose="020B0604020202020204" pitchFamily="34" charset="0"/>
                    <a:cs typeface="Arial" panose="020B0604020202020204" pitchFamily="34" charset="0"/>
                  </a:rPr>
                  <a:t>risk</a:t>
                </a:r>
                <a:r>
                  <a:rPr lang="fr-FR" sz="1400" i="1" dirty="0">
                    <a:solidFill>
                      <a:schemeClr val="bg1">
                        <a:lumMod val="50000"/>
                      </a:schemeClr>
                    </a:solidFill>
                    <a:latin typeface="Arial" panose="020B0604020202020204" pitchFamily="34" charset="0"/>
                    <a:cs typeface="Arial" panose="020B0604020202020204" pitchFamily="34" charset="0"/>
                  </a:rPr>
                  <a:t> </a:t>
                </a:r>
                <a:r>
                  <a:rPr lang="fr-FR" sz="1400" i="1" dirty="0" err="1">
                    <a:solidFill>
                      <a:schemeClr val="bg1">
                        <a:lumMod val="50000"/>
                      </a:schemeClr>
                    </a:solidFill>
                    <a:latin typeface="Arial" panose="020B0604020202020204" pitchFamily="34" charset="0"/>
                    <a:cs typeface="Arial" panose="020B0604020202020204" pitchFamily="34" charset="0"/>
                  </a:rPr>
                  <a:t>materializing</a:t>
                </a:r>
                <a:r>
                  <a:rPr lang="fr-FR" sz="1400" i="1" dirty="0">
                    <a:solidFill>
                      <a:schemeClr val="bg1">
                        <a:lumMod val="50000"/>
                      </a:schemeClr>
                    </a:solidFill>
                    <a:latin typeface="Arial" panose="020B0604020202020204" pitchFamily="34" charset="0"/>
                    <a:cs typeface="Arial" panose="020B0604020202020204" pitchFamily="34" charset="0"/>
                  </a:rPr>
                  <a:t> </a:t>
                </a:r>
              </a:p>
              <a:p>
                <a:pPr algn="ctr"/>
                <a:r>
                  <a:rPr lang="fr-FR" sz="1400" i="1" dirty="0">
                    <a:solidFill>
                      <a:schemeClr val="bg1">
                        <a:lumMod val="50000"/>
                      </a:schemeClr>
                    </a:solidFill>
                    <a:latin typeface="Arial" panose="020B0604020202020204" pitchFamily="34" charset="0"/>
                    <a:cs typeface="Arial" panose="020B0604020202020204" pitchFamily="34" charset="0"/>
                  </a:rPr>
                  <a:t>on the </a:t>
                </a:r>
                <a:r>
                  <a:rPr lang="fr-FR" sz="1400" i="1" dirty="0" err="1">
                    <a:solidFill>
                      <a:schemeClr val="bg1">
                        <a:lumMod val="50000"/>
                      </a:schemeClr>
                    </a:solidFill>
                    <a:latin typeface="Arial" panose="020B0604020202020204" pitchFamily="34" charset="0"/>
                    <a:cs typeface="Arial" panose="020B0604020202020204" pitchFamily="34" charset="0"/>
                  </a:rPr>
                  <a:t>grant's</a:t>
                </a:r>
                <a:r>
                  <a:rPr lang="fr-FR" sz="1400" i="1" dirty="0">
                    <a:solidFill>
                      <a:schemeClr val="bg1">
                        <a:lumMod val="50000"/>
                      </a:schemeClr>
                    </a:solidFill>
                    <a:latin typeface="Arial" panose="020B0604020202020204" pitchFamily="34" charset="0"/>
                    <a:cs typeface="Arial" panose="020B0604020202020204" pitchFamily="34" charset="0"/>
                  </a:rPr>
                  <a:t> objectives &amp; impact?"</a:t>
                </a:r>
                <a:r>
                  <a:rPr lang="fr-FR" sz="1600" b="1" dirty="0">
                    <a:solidFill>
                      <a:schemeClr val="bg1">
                        <a:lumMod val="50000"/>
                      </a:schemeClr>
                    </a:solidFill>
                    <a:latin typeface="Arial" panose="020B0604020202020204" pitchFamily="34" charset="0"/>
                    <a:cs typeface="Arial" panose="020B0604020202020204" pitchFamily="34" charset="0"/>
                  </a:rPr>
                  <a:t> </a:t>
                </a:r>
                <a:endParaRPr lang="en-US" sz="1600" b="1" dirty="0" err="1">
                  <a:solidFill>
                    <a:schemeClr val="bg1">
                      <a:lumMod val="50000"/>
                    </a:schemeClr>
                  </a:solidFill>
                  <a:latin typeface="Arial" panose="020B0604020202020204" pitchFamily="34" charset="0"/>
                  <a:cs typeface="Arial" panose="020B0604020202020204" pitchFamily="34" charset="0"/>
                </a:endParaRPr>
              </a:p>
            </p:txBody>
          </p:sp>
          <p:grpSp>
            <p:nvGrpSpPr>
              <p:cNvPr id="38" name="Group 37"/>
              <p:cNvGrpSpPr/>
              <p:nvPr/>
            </p:nvGrpSpPr>
            <p:grpSpPr>
              <a:xfrm>
                <a:off x="741520" y="5706413"/>
                <a:ext cx="3546759" cy="538682"/>
                <a:chOff x="741520" y="3518845"/>
                <a:chExt cx="3546759" cy="538682"/>
              </a:xfrm>
            </p:grpSpPr>
            <p:sp>
              <p:nvSpPr>
                <p:cNvPr id="39" name="Isosceles Triangle 38"/>
                <p:cNvSpPr/>
                <p:nvPr/>
              </p:nvSpPr>
              <p:spPr>
                <a:xfrm rot="5400000" flipV="1">
                  <a:off x="2245559" y="2014806"/>
                  <a:ext cx="538682" cy="3546759"/>
                </a:xfrm>
                <a:prstGeom prst="triangle">
                  <a:avLst/>
                </a:prstGeom>
                <a:gradFill>
                  <a:gsLst>
                    <a:gs pos="19000">
                      <a:srgbClr val="92D050"/>
                    </a:gs>
                    <a:gs pos="50000">
                      <a:srgbClr val="FFC000"/>
                    </a:gs>
                    <a:gs pos="100000">
                      <a:srgbClr val="FF0000"/>
                    </a:gs>
                  </a:gsLst>
                  <a:lin ang="5400000" scaled="0"/>
                </a:gradFill>
                <a:ln w="9525">
                  <a:solidFill>
                    <a:srgbClr val="E2E2E2"/>
                  </a:solid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83077" rIns="0" bIns="83077" rtlCol="0" anchor="ctr" anchorCtr="0"/>
                <a:lstStyle/>
                <a:p>
                  <a:endParaRPr lang="en-US" sz="1292" b="1" dirty="0">
                    <a:solidFill>
                      <a:schemeClr val="tx1"/>
                    </a:solidFill>
                    <a:latin typeface="Arial" panose="020B0604020202020204" pitchFamily="34" charset="0"/>
                    <a:cs typeface="Arial" panose="020B0604020202020204" pitchFamily="34" charset="0"/>
                  </a:endParaRPr>
                </a:p>
              </p:txBody>
            </p:sp>
            <p:sp>
              <p:nvSpPr>
                <p:cNvPr id="40" name="Rectangle 39"/>
                <p:cNvSpPr/>
                <p:nvPr/>
              </p:nvSpPr>
              <p:spPr>
                <a:xfrm>
                  <a:off x="741520" y="3622228"/>
                  <a:ext cx="879462" cy="331914"/>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83077" bIns="83077" rtlCol="0" anchor="ctr" anchorCtr="0"/>
                <a:lstStyle/>
                <a:p>
                  <a:pPr algn="ctr"/>
                  <a:r>
                    <a:rPr lang="en-US" sz="1400" b="1" dirty="0">
                      <a:solidFill>
                        <a:schemeClr val="tx1"/>
                      </a:solidFill>
                      <a:latin typeface="Arial" panose="020B0604020202020204" pitchFamily="34" charset="0"/>
                      <a:cs typeface="Arial" panose="020B0604020202020204" pitchFamily="34" charset="0"/>
                    </a:rPr>
                    <a:t>Mild</a:t>
                  </a:r>
                </a:p>
              </p:txBody>
            </p:sp>
            <p:sp>
              <p:nvSpPr>
                <p:cNvPr id="41" name="Rectangle 40"/>
                <p:cNvSpPr/>
                <p:nvPr/>
              </p:nvSpPr>
              <p:spPr>
                <a:xfrm>
                  <a:off x="3408817" y="3622228"/>
                  <a:ext cx="879462" cy="331914"/>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83077" bIns="83077" rtlCol="0" anchor="ctr" anchorCtr="0"/>
                <a:lstStyle/>
                <a:p>
                  <a:pPr algn="ctr"/>
                  <a:r>
                    <a:rPr lang="en-US" sz="1400" b="1" dirty="0">
                      <a:solidFill>
                        <a:schemeClr val="tx1"/>
                      </a:solidFill>
                      <a:latin typeface="Arial" panose="020B0604020202020204" pitchFamily="34" charset="0"/>
                      <a:cs typeface="Arial" panose="020B0604020202020204" pitchFamily="34" charset="0"/>
                    </a:rPr>
                    <a:t>Severe</a:t>
                  </a:r>
                </a:p>
              </p:txBody>
            </p:sp>
          </p:grpSp>
        </p:grpSp>
        <p:sp>
          <p:nvSpPr>
            <p:cNvPr id="36" name="Rounded Rectangle 35"/>
            <p:cNvSpPr/>
            <p:nvPr/>
          </p:nvSpPr>
          <p:spPr>
            <a:xfrm>
              <a:off x="457200" y="4494145"/>
              <a:ext cx="4115399" cy="1981200"/>
            </a:xfrm>
            <a:prstGeom prst="roundRect">
              <a:avLst/>
            </a:prstGeom>
            <a:noFill/>
            <a:ln w="28575">
              <a:solidFill>
                <a:srgbClr val="0099FF"/>
              </a:solidFill>
            </a:ln>
            <a:effectLst/>
          </p:spPr>
          <p:style>
            <a:lnRef idx="2">
              <a:schemeClr val="accent1">
                <a:shade val="50000"/>
              </a:schemeClr>
            </a:lnRef>
            <a:fillRef idx="1">
              <a:schemeClr val="accent1"/>
            </a:fillRef>
            <a:effectRef idx="0">
              <a:schemeClr val="accent1"/>
            </a:effectRef>
            <a:fontRef idx="minor">
              <a:schemeClr val="lt1"/>
            </a:fontRef>
          </p:style>
          <p:txBody>
            <a:bodyPr tIns="83077" bIns="83077" rtlCol="0" anchor="ctr" anchorCtr="0"/>
            <a:lstStyle/>
            <a:p>
              <a:pPr algn="ctr"/>
              <a:endParaRPr lang="en-US" sz="1292" dirty="0" err="1">
                <a:solidFill>
                  <a:schemeClr val="tx1"/>
                </a:solidFill>
                <a:latin typeface="Arial" panose="020B0604020202020204" pitchFamily="34" charset="0"/>
                <a:cs typeface="Arial" panose="020B0604020202020204" pitchFamily="34" charset="0"/>
              </a:endParaRPr>
            </a:p>
          </p:txBody>
        </p:sp>
      </p:grpSp>
      <p:sp>
        <p:nvSpPr>
          <p:cNvPr id="42" name="FlowTriangle"/>
          <p:cNvSpPr>
            <a:spLocks noChangeArrowheads="1"/>
          </p:cNvSpPr>
          <p:nvPr/>
        </p:nvSpPr>
        <p:spPr bwMode="gray">
          <a:xfrm rot="5400000">
            <a:off x="6094858" y="1177889"/>
            <a:ext cx="438809" cy="437258"/>
          </a:xfrm>
          <a:prstGeom prst="triangle">
            <a:avLst>
              <a:gd name="adj" fmla="val 50000"/>
            </a:avLst>
          </a:prstGeom>
          <a:solidFill>
            <a:srgbClr val="0099FF"/>
          </a:solidFill>
          <a:ln w="9525" algn="ctr">
            <a:solidFill>
              <a:srgbClr val="B2B2B2"/>
            </a:solidFill>
            <a:miter lim="800000"/>
            <a:headEnd/>
            <a:tailEnd/>
          </a:ln>
        </p:spPr>
        <p:txBody>
          <a:bodyPr rot="10800000" vert="eaVert" wrap="none" anchor="ctr"/>
          <a:lstStyle/>
          <a:p>
            <a:pPr algn="ctr"/>
            <a:endParaRPr lang="en-US" sz="1292" b="1">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537172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0"/>
            <a:ext cx="12192000" cy="770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smtClean="0">
                <a:solidFill>
                  <a:srgbClr val="0099FF"/>
                </a:solidFill>
                <a:latin typeface="Arial" panose="020B0604020202020204" pitchFamily="34" charset="0"/>
                <a:cs typeface="Arial" panose="020B0604020202020204" pitchFamily="34" charset="0"/>
              </a:rPr>
              <a:t>Group Work</a:t>
            </a:r>
          </a:p>
        </p:txBody>
      </p:sp>
      <p:sp>
        <p:nvSpPr>
          <p:cNvPr id="5" name="Content Placeholder 4"/>
          <p:cNvSpPr txBox="1">
            <a:spLocks/>
          </p:cNvSpPr>
          <p:nvPr/>
        </p:nvSpPr>
        <p:spPr>
          <a:xfrm>
            <a:off x="2767854" y="1891465"/>
            <a:ext cx="6492688" cy="406448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AutoNum type="arabicPeriod"/>
            </a:pPr>
            <a:r>
              <a:rPr lang="en-US" sz="2400" dirty="0" smtClean="0">
                <a:latin typeface="Arial" panose="020B0604020202020204" pitchFamily="34" charset="0"/>
                <a:ea typeface="Times New Roman" panose="02020603050405020304" pitchFamily="18" charset="0"/>
                <a:cs typeface="Arial" panose="020B0604020202020204" pitchFamily="34" charset="0"/>
              </a:rPr>
              <a:t>Identify the </a:t>
            </a:r>
            <a:r>
              <a:rPr lang="en-US" sz="2400" dirty="0" smtClean="0">
                <a:solidFill>
                  <a:srgbClr val="0099FF"/>
                </a:solidFill>
                <a:latin typeface="Arial" panose="020B0604020202020204" pitchFamily="34" charset="0"/>
                <a:ea typeface="Times New Roman" panose="02020603050405020304" pitchFamily="18" charset="0"/>
                <a:cs typeface="Arial" panose="020B0604020202020204" pitchFamily="34" charset="0"/>
              </a:rPr>
              <a:t>programme interventions and implementation strategies </a:t>
            </a:r>
            <a:r>
              <a:rPr lang="en-US" sz="2400" dirty="0" smtClean="0">
                <a:latin typeface="Arial" panose="020B0604020202020204" pitchFamily="34" charset="0"/>
                <a:ea typeface="Times New Roman" panose="02020603050405020304" pitchFamily="18" charset="0"/>
                <a:cs typeface="Arial" panose="020B0604020202020204" pitchFamily="34" charset="0"/>
              </a:rPr>
              <a:t>that will support actions to bring about change and deliver results</a:t>
            </a:r>
          </a:p>
          <a:p>
            <a:pPr marL="457200" indent="-457200">
              <a:buFont typeface="+mj-lt"/>
              <a:buAutoNum type="arabicPeriod"/>
            </a:pPr>
            <a:endParaRPr lang="en-US" sz="2400" dirty="0" smtClean="0">
              <a:latin typeface="Arial" panose="020B0604020202020204" pitchFamily="34" charset="0"/>
              <a:cs typeface="Arial" panose="020B0604020202020204" pitchFamily="34" charset="0"/>
            </a:endParaRPr>
          </a:p>
          <a:p>
            <a:pPr marL="457200" indent="-457200">
              <a:buFont typeface="+mj-lt"/>
              <a:buAutoNum type="arabicPeriod"/>
            </a:pPr>
            <a:r>
              <a:rPr lang="en-US" sz="2400" dirty="0" smtClean="0">
                <a:latin typeface="Arial" panose="020B0604020202020204" pitchFamily="34" charset="0"/>
                <a:cs typeface="Arial" panose="020B0604020202020204" pitchFamily="34" charset="0"/>
              </a:rPr>
              <a:t>List </a:t>
            </a:r>
            <a:r>
              <a:rPr lang="en-US" sz="2400" dirty="0" smtClean="0">
                <a:solidFill>
                  <a:srgbClr val="0099FF"/>
                </a:solidFill>
                <a:latin typeface="Arial" panose="020B0604020202020204" pitchFamily="34" charset="0"/>
                <a:cs typeface="Arial" panose="020B0604020202020204" pitchFamily="34" charset="0"/>
              </a:rPr>
              <a:t>key assumptions</a:t>
            </a:r>
          </a:p>
          <a:p>
            <a:pPr marL="457200" indent="-457200">
              <a:buFont typeface="+mj-lt"/>
              <a:buAutoNum type="arabicPeriod"/>
            </a:pPr>
            <a:endParaRPr lang="en-US" sz="2400" dirty="0" smtClean="0">
              <a:latin typeface="Arial" panose="020B0604020202020204" pitchFamily="34" charset="0"/>
              <a:cs typeface="Arial" panose="020B0604020202020204" pitchFamily="34" charset="0"/>
            </a:endParaRPr>
          </a:p>
          <a:p>
            <a:pPr marL="457200" indent="-457200">
              <a:buFont typeface="+mj-lt"/>
              <a:buAutoNum type="arabicPeriod"/>
            </a:pPr>
            <a:r>
              <a:rPr lang="en-US" sz="2400" dirty="0" smtClean="0">
                <a:latin typeface="Arial" panose="020B0604020202020204" pitchFamily="34" charset="0"/>
                <a:cs typeface="Arial" panose="020B0604020202020204" pitchFamily="34" charset="0"/>
              </a:rPr>
              <a:t>Identify and assess, and develop mitigation strategies for </a:t>
            </a:r>
            <a:r>
              <a:rPr lang="en-US" sz="2400" dirty="0" smtClean="0">
                <a:solidFill>
                  <a:srgbClr val="0099FF"/>
                </a:solidFill>
                <a:latin typeface="Arial" panose="020B0604020202020204" pitchFamily="34" charset="0"/>
                <a:cs typeface="Arial" panose="020B0604020202020204" pitchFamily="34" charset="0"/>
              </a:rPr>
              <a:t>2 to 3 risks</a:t>
            </a:r>
            <a:endParaRPr lang="en-US" sz="2400" dirty="0">
              <a:latin typeface="Arial" panose="020B0604020202020204" pitchFamily="34" charset="0"/>
              <a:cs typeface="Arial" panose="020B0604020202020204" pitchFamily="34" charset="0"/>
            </a:endParaRPr>
          </a:p>
        </p:txBody>
      </p:sp>
      <p:pic>
        <p:nvPicPr>
          <p:cNvPr id="6" name="Picture 2" descr="http://cdn2.hubspot.net/hub/390757/file-1027248010-png/images/people-connect-icon.png?t=1455723441285&amp;width=28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42027"/>
            <a:ext cx="2705100" cy="22669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http://1.bp.blogspot.com/-ywKlrpnUnqo/Tc8Axuwu_mI/AAAAAAAAARY/V1EBr_BYHMs/s1600/Post-it_Yellow.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83271" y="3275838"/>
            <a:ext cx="1125071" cy="112376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9583271" y="1984645"/>
            <a:ext cx="2505635" cy="1200329"/>
          </a:xfrm>
          <a:prstGeom prst="rect">
            <a:avLst/>
          </a:prstGeom>
        </p:spPr>
        <p:txBody>
          <a:bodyPr wrap="square">
            <a:spAutoFit/>
          </a:bodyPr>
          <a:lstStyle/>
          <a:p>
            <a:pPr algn="ctr"/>
            <a:r>
              <a:rPr lang="en-US" i="1" dirty="0">
                <a:solidFill>
                  <a:srgbClr val="0099FF"/>
                </a:solidFill>
                <a:latin typeface="Arial" panose="020B0604020202020204" pitchFamily="34" charset="0"/>
                <a:ea typeface="Times New Roman" panose="02020603050405020304" pitchFamily="18" charset="0"/>
                <a:cs typeface="Arial" panose="020B0604020202020204" pitchFamily="34" charset="0"/>
              </a:rPr>
              <a:t>Include 1 and 2 in the outcome chain using different color VIPP cards</a:t>
            </a:r>
          </a:p>
        </p:txBody>
      </p:sp>
      <p:pic>
        <p:nvPicPr>
          <p:cNvPr id="10" name="Picture 6" descr="http://1.bp.blogspot.com/-ywKlrpnUnqo/Tc8Axuwu_mI/AAAAAAAAARY/V1EBr_BYHMs/s1600/Post-it_Yellow.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145806" y="3562709"/>
            <a:ext cx="1125071" cy="11237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http://1.bp.blogspot.com/-ywKlrpnUnqo/Tc8Axuwu_mI/AAAAAAAAARY/V1EBr_BYHMs/s1600/Post-it_Yellow.png"/>
          <p:cNvPicPr>
            <a:picLocks noChangeAspect="1" noChangeArrowheads="1"/>
          </p:cNvPicPr>
          <p:nvPr/>
        </p:nvPicPr>
        <p:blipFill>
          <a:blip r:embed="rId3" cstate="print">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10759249" y="3347098"/>
            <a:ext cx="1125071" cy="1123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16233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277470" y="3227295"/>
            <a:ext cx="10914529" cy="770021"/>
          </a:xfrm>
        </p:spPr>
        <p:txBody>
          <a:bodyPr>
            <a:normAutofit/>
          </a:bodyPr>
          <a:lstStyle/>
          <a:p>
            <a:pPr algn="ctr"/>
            <a:r>
              <a:rPr lang="en-US" sz="3600" dirty="0" smtClean="0">
                <a:solidFill>
                  <a:srgbClr val="0099FF"/>
                </a:solidFill>
                <a:latin typeface="Arial" panose="020B0604020202020204" pitchFamily="34" charset="0"/>
                <a:cs typeface="Arial" panose="020B0604020202020204" pitchFamily="34" charset="0"/>
              </a:rPr>
              <a:t>Any Questions?</a:t>
            </a:r>
            <a:endParaRPr lang="en-US" sz="3600" dirty="0">
              <a:solidFill>
                <a:srgbClr val="0099FF"/>
              </a:solidFill>
              <a:latin typeface="Arial" panose="020B0604020202020204" pitchFamily="34" charset="0"/>
              <a:cs typeface="Arial" panose="020B0604020202020204" pitchFamily="34" charset="0"/>
            </a:endParaRPr>
          </a:p>
        </p:txBody>
      </p:sp>
      <p:pic>
        <p:nvPicPr>
          <p:cNvPr id="1026" name="Picture 2" descr="https://cdn2.iconfinder.com/data/icons/freecns-cumulus/16/519660-164_QuestionMark-512.png"/>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79762" y="2773404"/>
            <a:ext cx="1677801" cy="1677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97974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04801" y="1684422"/>
            <a:ext cx="5670884" cy="394635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800" dirty="0" smtClean="0">
                <a:solidFill>
                  <a:srgbClr val="0099FF"/>
                </a:solidFill>
              </a:rPr>
              <a:t>DAY 1</a:t>
            </a:r>
            <a:endParaRPr lang="en-US" sz="2800" dirty="0">
              <a:solidFill>
                <a:srgbClr val="0099FF"/>
              </a:solidFill>
            </a:endParaRPr>
          </a:p>
        </p:txBody>
      </p:sp>
      <p:sp>
        <p:nvSpPr>
          <p:cNvPr id="26" name="Rectangle 25"/>
          <p:cNvSpPr/>
          <p:nvPr/>
        </p:nvSpPr>
        <p:spPr>
          <a:xfrm>
            <a:off x="6120065" y="1684421"/>
            <a:ext cx="5670884" cy="394635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800" dirty="0" smtClean="0">
                <a:solidFill>
                  <a:srgbClr val="0099FF"/>
                </a:solidFill>
              </a:rPr>
              <a:t>DAY 2</a:t>
            </a:r>
            <a:endParaRPr lang="en-US" sz="2800" dirty="0">
              <a:solidFill>
                <a:srgbClr val="0099FF"/>
              </a:solidFill>
            </a:endParaRPr>
          </a:p>
        </p:txBody>
      </p:sp>
      <p:sp>
        <p:nvSpPr>
          <p:cNvPr id="2"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Agenda</a:t>
            </a:r>
            <a:endParaRPr lang="en-US" sz="3600" dirty="0">
              <a:solidFill>
                <a:srgbClr val="0099FF"/>
              </a:solidFill>
              <a:latin typeface="Arial" panose="020B0604020202020204" pitchFamily="34" charset="0"/>
              <a:cs typeface="Arial" panose="020B0604020202020204" pitchFamily="34" charset="0"/>
            </a:endParaRPr>
          </a:p>
        </p:txBody>
      </p:sp>
      <p:sp>
        <p:nvSpPr>
          <p:cNvPr id="7" name="Rectangle 6"/>
          <p:cNvSpPr/>
          <p:nvPr/>
        </p:nvSpPr>
        <p:spPr>
          <a:xfrm>
            <a:off x="505325" y="2566736"/>
            <a:ext cx="1684421" cy="1299410"/>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solidFill>
                  <a:schemeClr val="bg1">
                    <a:lumMod val="65000"/>
                  </a:schemeClr>
                </a:solidFill>
                <a:latin typeface="Arial" panose="020B0604020202020204" pitchFamily="34" charset="0"/>
                <a:cs typeface="Arial" panose="020B0604020202020204" pitchFamily="34" charset="0"/>
              </a:rPr>
              <a:t>Key Drivers and Principles of RBM</a:t>
            </a:r>
            <a:endParaRPr lang="en-US" dirty="0">
              <a:solidFill>
                <a:schemeClr val="bg1">
                  <a:lumMod val="65000"/>
                </a:schemeClr>
              </a:solidFill>
              <a:latin typeface="Arial" panose="020B0604020202020204" pitchFamily="34" charset="0"/>
              <a:cs typeface="Arial" panose="020B0604020202020204" pitchFamily="34" charset="0"/>
            </a:endParaRPr>
          </a:p>
        </p:txBody>
      </p:sp>
      <p:sp>
        <p:nvSpPr>
          <p:cNvPr id="14" name="Rectangle 13"/>
          <p:cNvSpPr/>
          <p:nvPr/>
        </p:nvSpPr>
        <p:spPr>
          <a:xfrm>
            <a:off x="2326104" y="2566736"/>
            <a:ext cx="1684421" cy="1299410"/>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solidFill>
                  <a:schemeClr val="bg1">
                    <a:lumMod val="65000"/>
                  </a:schemeClr>
                </a:solidFill>
                <a:latin typeface="Arial" panose="020B0604020202020204" pitchFamily="34" charset="0"/>
                <a:cs typeface="Arial" panose="020B0604020202020204" pitchFamily="34" charset="0"/>
              </a:rPr>
              <a:t>Problem Analysis</a:t>
            </a:r>
            <a:endParaRPr lang="en-US" dirty="0">
              <a:solidFill>
                <a:schemeClr val="bg1">
                  <a:lumMod val="65000"/>
                </a:schemeClr>
              </a:solidFill>
              <a:latin typeface="Arial" panose="020B0604020202020204" pitchFamily="34" charset="0"/>
              <a:cs typeface="Arial" panose="020B0604020202020204" pitchFamily="34" charset="0"/>
            </a:endParaRPr>
          </a:p>
        </p:txBody>
      </p:sp>
      <p:sp>
        <p:nvSpPr>
          <p:cNvPr id="15" name="Rectangle 14"/>
          <p:cNvSpPr/>
          <p:nvPr/>
        </p:nvSpPr>
        <p:spPr>
          <a:xfrm>
            <a:off x="4146883" y="2566736"/>
            <a:ext cx="1684421" cy="1299410"/>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solidFill>
                  <a:schemeClr val="bg1">
                    <a:lumMod val="65000"/>
                  </a:schemeClr>
                </a:solidFill>
                <a:latin typeface="Arial" panose="020B0604020202020204" pitchFamily="34" charset="0"/>
                <a:cs typeface="Arial" panose="020B0604020202020204" pitchFamily="34" charset="0"/>
              </a:rPr>
              <a:t>Application of Lenses</a:t>
            </a:r>
            <a:endParaRPr lang="en-US" dirty="0">
              <a:solidFill>
                <a:schemeClr val="bg1">
                  <a:lumMod val="65000"/>
                </a:schemeClr>
              </a:solidFill>
              <a:latin typeface="Arial" panose="020B0604020202020204" pitchFamily="34" charset="0"/>
              <a:cs typeface="Arial" panose="020B0604020202020204" pitchFamily="34" charset="0"/>
            </a:endParaRPr>
          </a:p>
        </p:txBody>
      </p:sp>
      <p:sp>
        <p:nvSpPr>
          <p:cNvPr id="16" name="Rectangle 15"/>
          <p:cNvSpPr/>
          <p:nvPr/>
        </p:nvSpPr>
        <p:spPr>
          <a:xfrm>
            <a:off x="505324" y="4066672"/>
            <a:ext cx="1684421" cy="1299410"/>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solidFill>
                  <a:schemeClr val="bg1">
                    <a:lumMod val="65000"/>
                  </a:schemeClr>
                </a:solidFill>
                <a:latin typeface="Arial" panose="020B0604020202020204" pitchFamily="34" charset="0"/>
                <a:cs typeface="Arial" panose="020B0604020202020204" pitchFamily="34" charset="0"/>
              </a:rPr>
              <a:t>Outcome Chain</a:t>
            </a:r>
            <a:endParaRPr lang="en-US" dirty="0">
              <a:solidFill>
                <a:schemeClr val="bg1">
                  <a:lumMod val="65000"/>
                </a:schemeClr>
              </a:solidFill>
              <a:latin typeface="Arial" panose="020B0604020202020204" pitchFamily="34" charset="0"/>
              <a:cs typeface="Arial" panose="020B0604020202020204" pitchFamily="34" charset="0"/>
            </a:endParaRPr>
          </a:p>
        </p:txBody>
      </p:sp>
      <p:sp>
        <p:nvSpPr>
          <p:cNvPr id="17" name="Rectangle 16"/>
          <p:cNvSpPr/>
          <p:nvPr/>
        </p:nvSpPr>
        <p:spPr>
          <a:xfrm>
            <a:off x="2334125" y="4066672"/>
            <a:ext cx="1684421" cy="1299410"/>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solidFill>
                  <a:schemeClr val="bg1">
                    <a:lumMod val="65000"/>
                  </a:schemeClr>
                </a:solidFill>
                <a:latin typeface="Arial" panose="020B0604020202020204" pitchFamily="34" charset="0"/>
                <a:cs typeface="Arial" panose="020B0604020202020204" pitchFamily="34" charset="0"/>
              </a:rPr>
              <a:t>Prioritization</a:t>
            </a:r>
            <a:endParaRPr lang="en-US" dirty="0">
              <a:solidFill>
                <a:schemeClr val="bg1">
                  <a:lumMod val="65000"/>
                </a:schemeClr>
              </a:solidFill>
              <a:latin typeface="Arial" panose="020B0604020202020204" pitchFamily="34" charset="0"/>
              <a:cs typeface="Arial" panose="020B0604020202020204" pitchFamily="34" charset="0"/>
            </a:endParaRPr>
          </a:p>
        </p:txBody>
      </p:sp>
      <p:sp>
        <p:nvSpPr>
          <p:cNvPr id="18" name="Rectangle 17"/>
          <p:cNvSpPr/>
          <p:nvPr/>
        </p:nvSpPr>
        <p:spPr>
          <a:xfrm>
            <a:off x="4154904" y="4066672"/>
            <a:ext cx="1684421" cy="1299410"/>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solidFill>
                  <a:schemeClr val="bg1">
                    <a:lumMod val="65000"/>
                  </a:schemeClr>
                </a:solidFill>
                <a:latin typeface="Arial" panose="020B0604020202020204" pitchFamily="34" charset="0"/>
                <a:cs typeface="Arial" panose="020B0604020202020204" pitchFamily="34" charset="0"/>
              </a:rPr>
              <a:t>Strategies, Risks and Assumptions</a:t>
            </a:r>
            <a:endParaRPr lang="en-US" dirty="0">
              <a:solidFill>
                <a:schemeClr val="bg1">
                  <a:lumMod val="65000"/>
                </a:schemeClr>
              </a:solidFill>
              <a:latin typeface="Arial" panose="020B0604020202020204" pitchFamily="34" charset="0"/>
              <a:cs typeface="Arial" panose="020B0604020202020204" pitchFamily="34" charset="0"/>
            </a:endParaRPr>
          </a:p>
        </p:txBody>
      </p:sp>
      <p:sp>
        <p:nvSpPr>
          <p:cNvPr id="19" name="Rectangle 18"/>
          <p:cNvSpPr/>
          <p:nvPr/>
        </p:nvSpPr>
        <p:spPr>
          <a:xfrm>
            <a:off x="6344651" y="2566736"/>
            <a:ext cx="1684421" cy="12994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Results Framework</a:t>
            </a:r>
            <a:endParaRPr lang="en-US" dirty="0">
              <a:latin typeface="Arial" panose="020B0604020202020204" pitchFamily="34" charset="0"/>
              <a:cs typeface="Arial" panose="020B0604020202020204" pitchFamily="34" charset="0"/>
            </a:endParaRPr>
          </a:p>
        </p:txBody>
      </p:sp>
      <p:sp>
        <p:nvSpPr>
          <p:cNvPr id="20" name="Rectangle 19"/>
          <p:cNvSpPr/>
          <p:nvPr/>
        </p:nvSpPr>
        <p:spPr>
          <a:xfrm>
            <a:off x="8165430" y="2566736"/>
            <a:ext cx="1684421" cy="12994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Group Presentations</a:t>
            </a:r>
            <a:endParaRPr lang="en-US" dirty="0">
              <a:latin typeface="Arial" panose="020B0604020202020204" pitchFamily="34" charset="0"/>
              <a:cs typeface="Arial" panose="020B0604020202020204" pitchFamily="34" charset="0"/>
            </a:endParaRPr>
          </a:p>
        </p:txBody>
      </p:sp>
      <p:sp>
        <p:nvSpPr>
          <p:cNvPr id="21" name="Rectangle 20"/>
          <p:cNvSpPr/>
          <p:nvPr/>
        </p:nvSpPr>
        <p:spPr>
          <a:xfrm>
            <a:off x="9994231" y="2566736"/>
            <a:ext cx="1684421" cy="1299410"/>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dirty="0" smtClean="0">
                <a:latin typeface="Arial" panose="020B0604020202020204" pitchFamily="34" charset="0"/>
                <a:cs typeface="Arial" panose="020B0604020202020204" pitchFamily="34" charset="0"/>
              </a:rPr>
              <a:t>Implementation</a:t>
            </a:r>
            <a:endParaRPr lang="en-US" dirty="0">
              <a:latin typeface="Arial" panose="020B0604020202020204" pitchFamily="34" charset="0"/>
              <a:cs typeface="Arial" panose="020B0604020202020204" pitchFamily="34" charset="0"/>
            </a:endParaRPr>
          </a:p>
        </p:txBody>
      </p:sp>
      <p:sp>
        <p:nvSpPr>
          <p:cNvPr id="22" name="Rectangle 21"/>
          <p:cNvSpPr/>
          <p:nvPr/>
        </p:nvSpPr>
        <p:spPr>
          <a:xfrm>
            <a:off x="6352673" y="4066672"/>
            <a:ext cx="1684421" cy="12994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Monitoring and Evaluation</a:t>
            </a:r>
            <a:endParaRPr lang="en-US" dirty="0">
              <a:latin typeface="Arial" panose="020B0604020202020204" pitchFamily="34" charset="0"/>
              <a:cs typeface="Arial" panose="020B0604020202020204" pitchFamily="34" charset="0"/>
            </a:endParaRPr>
          </a:p>
        </p:txBody>
      </p:sp>
      <p:sp>
        <p:nvSpPr>
          <p:cNvPr id="23" name="Rectangle 22"/>
          <p:cNvSpPr/>
          <p:nvPr/>
        </p:nvSpPr>
        <p:spPr>
          <a:xfrm>
            <a:off x="8173452" y="4066672"/>
            <a:ext cx="1684421" cy="12994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Results Based Budgeting</a:t>
            </a:r>
            <a:endParaRPr lang="en-US" dirty="0">
              <a:latin typeface="Arial" panose="020B0604020202020204" pitchFamily="34" charset="0"/>
              <a:cs typeface="Arial" panose="020B0604020202020204" pitchFamily="34" charset="0"/>
            </a:endParaRPr>
          </a:p>
        </p:txBody>
      </p:sp>
      <p:sp>
        <p:nvSpPr>
          <p:cNvPr id="24" name="Rectangle 23"/>
          <p:cNvSpPr/>
          <p:nvPr/>
        </p:nvSpPr>
        <p:spPr>
          <a:xfrm>
            <a:off x="9994231" y="4066672"/>
            <a:ext cx="1684421" cy="12994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Reporting</a:t>
            </a:r>
            <a:endParaRPr lang="en-US" dirty="0">
              <a:latin typeface="Arial" panose="020B0604020202020204" pitchFamily="34" charset="0"/>
              <a:cs typeface="Arial" panose="020B0604020202020204" pitchFamily="34" charset="0"/>
            </a:endParaRPr>
          </a:p>
        </p:txBody>
      </p:sp>
      <p:pic>
        <p:nvPicPr>
          <p:cNvPr id="1026" name="Picture 2" descr="http://premierel.com/images/check_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3491" y="2332693"/>
            <a:ext cx="468086" cy="4680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premierel.com/images/check_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42292" y="2366210"/>
            <a:ext cx="468086" cy="468086"/>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http://premierel.com/images/check_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55050" y="2344726"/>
            <a:ext cx="468086" cy="468086"/>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http://premierel.com/images/check_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3491" y="3891068"/>
            <a:ext cx="468086" cy="46808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http://premierel.com/images/check_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4539" y="3906822"/>
            <a:ext cx="468086" cy="468086"/>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http://premierel.com/images/check_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55050" y="3891068"/>
            <a:ext cx="468086" cy="468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936153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60884" y="2502568"/>
            <a:ext cx="8855242" cy="2839453"/>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860884" y="2502567"/>
            <a:ext cx="8855242" cy="2839453"/>
          </a:xfrm>
        </p:spPr>
        <p:txBody>
          <a:bodyPr vert="horz" lIns="91440" tIns="45720" rIns="91440" bIns="45720" rtlCol="0" anchor="ctr">
            <a:noAutofit/>
          </a:bodyPr>
          <a:lstStyle/>
          <a:p>
            <a:pPr algn="ctr"/>
            <a:r>
              <a:rPr lang="en-US" sz="4000" dirty="0" smtClean="0">
                <a:solidFill>
                  <a:srgbClr val="0099FF"/>
                </a:solidFill>
                <a:latin typeface="Arial" panose="020B0604020202020204" pitchFamily="34" charset="0"/>
                <a:cs typeface="Arial" panose="020B0604020202020204" pitchFamily="34" charset="0"/>
              </a:rPr>
              <a:t>THE RESULTS FRAMEWORK</a:t>
            </a:r>
            <a:endParaRPr lang="en-US" sz="2800" dirty="0">
              <a:solidFill>
                <a:schemeClr val="bg1">
                  <a:lumMod val="50000"/>
                </a:schemeClr>
              </a:solidFill>
              <a:latin typeface="Arial" panose="020B0604020202020204" pitchFamily="34" charset="0"/>
              <a:cs typeface="Arial" panose="020B0604020202020204" pitchFamily="34" charset="0"/>
            </a:endParaRPr>
          </a:p>
        </p:txBody>
      </p:sp>
      <p:sp>
        <p:nvSpPr>
          <p:cNvPr id="6" name="Rectangle 5"/>
          <p:cNvSpPr/>
          <p:nvPr/>
        </p:nvSpPr>
        <p:spPr>
          <a:xfrm>
            <a:off x="1860884" y="1612232"/>
            <a:ext cx="8855242" cy="890336"/>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bg1">
                    <a:lumMod val="65000"/>
                  </a:schemeClr>
                </a:solidFill>
                <a:latin typeface="Arial" panose="020B0604020202020204" pitchFamily="34" charset="0"/>
                <a:cs typeface="Arial" panose="020B0604020202020204" pitchFamily="34" charset="0"/>
              </a:rPr>
              <a:t>SESSION 7</a:t>
            </a:r>
            <a:endParaRPr lang="en-US" sz="2800" dirty="0">
              <a:solidFill>
                <a:schemeClr val="bg1">
                  <a:lumMod val="6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1022325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Session objectives</a:t>
            </a:r>
          </a:p>
        </p:txBody>
      </p:sp>
      <p:sp>
        <p:nvSpPr>
          <p:cNvPr id="3" name="Text Placeholder 2"/>
          <p:cNvSpPr txBox="1">
            <a:spLocks/>
          </p:cNvSpPr>
          <p:nvPr/>
        </p:nvSpPr>
        <p:spPr>
          <a:xfrm>
            <a:off x="1459290" y="1663700"/>
            <a:ext cx="10732710" cy="4889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smtClean="0">
                <a:latin typeface="Arial" panose="020B0604020202020204" pitchFamily="34" charset="0"/>
                <a:cs typeface="Arial" panose="020B0604020202020204" pitchFamily="34" charset="0"/>
              </a:rPr>
              <a:t>Draw linkages between the results chain and the Theory of Change</a:t>
            </a:r>
          </a:p>
          <a:p>
            <a:endParaRPr lang="en-US" sz="2400" smtClean="0">
              <a:latin typeface="Arial" panose="020B0604020202020204" pitchFamily="34" charset="0"/>
              <a:cs typeface="Arial" panose="020B0604020202020204" pitchFamily="34" charset="0"/>
            </a:endParaRPr>
          </a:p>
          <a:p>
            <a:r>
              <a:rPr lang="en-US" sz="2400" smtClean="0">
                <a:latin typeface="Arial" panose="020B0604020202020204" pitchFamily="34" charset="0"/>
                <a:cs typeface="Arial" panose="020B0604020202020204" pitchFamily="34" charset="0"/>
              </a:rPr>
              <a:t>Understand the differences in the level of results and how to formulate results statements</a:t>
            </a:r>
          </a:p>
          <a:p>
            <a:endParaRPr lang="en-US" sz="2400" smtClean="0">
              <a:latin typeface="Arial" panose="020B0604020202020204" pitchFamily="34" charset="0"/>
              <a:cs typeface="Arial" panose="020B0604020202020204" pitchFamily="34" charset="0"/>
            </a:endParaRPr>
          </a:p>
          <a:p>
            <a:r>
              <a:rPr lang="en-US" sz="2400" smtClean="0">
                <a:latin typeface="Arial" panose="020B0604020202020204" pitchFamily="34" charset="0"/>
                <a:cs typeface="Arial" panose="020B0604020202020204" pitchFamily="34" charset="0"/>
              </a:rPr>
              <a:t>Understand how to incorporate a Measurement Framework</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7735756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What is a result</a:t>
            </a:r>
          </a:p>
        </p:txBody>
      </p:sp>
      <p:sp>
        <p:nvSpPr>
          <p:cNvPr id="3" name="Rectangle 2"/>
          <p:cNvSpPr txBox="1">
            <a:spLocks noChangeArrowheads="1"/>
          </p:cNvSpPr>
          <p:nvPr/>
        </p:nvSpPr>
        <p:spPr>
          <a:xfrm>
            <a:off x="1942609" y="1082186"/>
            <a:ext cx="8362028" cy="1463677"/>
          </a:xfrm>
          <a:prstGeom prst="rect">
            <a:avLst/>
          </a:prstGeom>
          <a:solidFill>
            <a:srgbClr val="0070C0"/>
          </a:solidFill>
          <a:ln>
            <a:noFill/>
          </a:ln>
        </p:spPr>
        <p:txBody>
          <a:bodyPr lIns="0" rIns="0" bIns="0" anchor="ct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000" dirty="0" smtClean="0">
                <a:solidFill>
                  <a:schemeClr val="bg1"/>
                </a:solidFill>
                <a:latin typeface="Arial" panose="020B0604020202020204" pitchFamily="34" charset="0"/>
                <a:cs typeface="Arial" panose="020B0604020202020204" pitchFamily="34" charset="0"/>
              </a:rPr>
              <a:t>A result is a </a:t>
            </a:r>
            <a:r>
              <a:rPr lang="en-US" sz="2000" b="1" u="sng" dirty="0" smtClean="0">
                <a:solidFill>
                  <a:schemeClr val="bg1"/>
                </a:solidFill>
                <a:latin typeface="Arial" panose="020B0604020202020204" pitchFamily="34" charset="0"/>
                <a:cs typeface="Arial" panose="020B0604020202020204" pitchFamily="34" charset="0"/>
              </a:rPr>
              <a:t>measurable or describable change</a:t>
            </a:r>
            <a:r>
              <a:rPr lang="en-US" sz="2000" dirty="0" smtClean="0">
                <a:solidFill>
                  <a:schemeClr val="bg1"/>
                </a:solidFill>
                <a:latin typeface="Arial" panose="020B0604020202020204" pitchFamily="34" charset="0"/>
                <a:cs typeface="Arial" panose="020B0604020202020204" pitchFamily="34" charset="0"/>
              </a:rPr>
              <a:t> arising</a:t>
            </a:r>
          </a:p>
          <a:p>
            <a:r>
              <a:rPr lang="en-US" sz="2000" dirty="0" smtClean="0">
                <a:solidFill>
                  <a:schemeClr val="bg1"/>
                </a:solidFill>
                <a:latin typeface="Arial" panose="020B0604020202020204" pitchFamily="34" charset="0"/>
                <a:cs typeface="Arial" panose="020B0604020202020204" pitchFamily="34" charset="0"/>
              </a:rPr>
              <a:t> from a </a:t>
            </a:r>
            <a:r>
              <a:rPr lang="en-US" sz="2000" b="1" u="sng" dirty="0" smtClean="0">
                <a:solidFill>
                  <a:schemeClr val="bg1"/>
                </a:solidFill>
                <a:latin typeface="Arial" panose="020B0604020202020204" pitchFamily="34" charset="0"/>
                <a:cs typeface="Arial" panose="020B0604020202020204" pitchFamily="34" charset="0"/>
              </a:rPr>
              <a:t>cause and effect</a:t>
            </a:r>
            <a:r>
              <a:rPr lang="en-US" sz="2000" dirty="0" smtClean="0">
                <a:solidFill>
                  <a:schemeClr val="bg1"/>
                </a:solidFill>
                <a:latin typeface="Arial" panose="020B0604020202020204" pitchFamily="34" charset="0"/>
                <a:cs typeface="Arial" panose="020B0604020202020204" pitchFamily="34" charset="0"/>
              </a:rPr>
              <a:t> relationship for which you want to be </a:t>
            </a:r>
            <a:r>
              <a:rPr lang="en-US" sz="2000" b="1" u="sng" dirty="0" smtClean="0">
                <a:solidFill>
                  <a:schemeClr val="bg1"/>
                </a:solidFill>
                <a:latin typeface="Arial" panose="020B0604020202020204" pitchFamily="34" charset="0"/>
                <a:cs typeface="Arial" panose="020B0604020202020204" pitchFamily="34" charset="0"/>
              </a:rPr>
              <a:t>held accountable</a:t>
            </a:r>
            <a:endParaRPr lang="en-US" sz="1800" b="1" u="sng" dirty="0" smtClean="0">
              <a:solidFill>
                <a:schemeClr val="bg1"/>
              </a:solidFill>
              <a:latin typeface="Arial" panose="020B0604020202020204" pitchFamily="34" charset="0"/>
              <a:cs typeface="Arial" panose="020B0604020202020204" pitchFamily="34" charset="0"/>
            </a:endParaRPr>
          </a:p>
        </p:txBody>
      </p:sp>
      <p:sp>
        <p:nvSpPr>
          <p:cNvPr id="4" name="Rectangle 2"/>
          <p:cNvSpPr txBox="1">
            <a:spLocks noChangeArrowheads="1"/>
          </p:cNvSpPr>
          <p:nvPr/>
        </p:nvSpPr>
        <p:spPr>
          <a:xfrm>
            <a:off x="2615575" y="4631071"/>
            <a:ext cx="1737360" cy="1737360"/>
          </a:xfrm>
          <a:prstGeom prst="ellipse">
            <a:avLst/>
          </a:prstGeom>
          <a:solidFill>
            <a:schemeClr val="bg1">
              <a:lumMod val="75000"/>
            </a:schemeClr>
          </a:solidFill>
          <a:ln>
            <a:noFill/>
          </a:ln>
        </p:spPr>
        <p:txBody>
          <a:bodyPr lIns="0" rIns="0" bIns="0" anchor="ct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000" dirty="0" smtClean="0">
                <a:solidFill>
                  <a:schemeClr val="tx1">
                    <a:lumMod val="75000"/>
                    <a:lumOff val="25000"/>
                  </a:schemeClr>
                </a:solidFill>
                <a:latin typeface="Arial" panose="020B0604020202020204" pitchFamily="34" charset="0"/>
                <a:cs typeface="Arial" panose="020B0604020202020204" pitchFamily="34" charset="0"/>
              </a:rPr>
              <a:t>A subject of change</a:t>
            </a:r>
            <a:endParaRPr lang="en-US" sz="18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5" name="Rectangle 2"/>
          <p:cNvSpPr txBox="1">
            <a:spLocks noChangeArrowheads="1"/>
          </p:cNvSpPr>
          <p:nvPr/>
        </p:nvSpPr>
        <p:spPr>
          <a:xfrm>
            <a:off x="5144389" y="4631071"/>
            <a:ext cx="1737360" cy="1737360"/>
          </a:xfrm>
          <a:prstGeom prst="ellipse">
            <a:avLst/>
          </a:prstGeom>
          <a:solidFill>
            <a:schemeClr val="tx1">
              <a:lumMod val="50000"/>
              <a:lumOff val="50000"/>
            </a:schemeClr>
          </a:solidFill>
          <a:ln>
            <a:noFill/>
          </a:ln>
        </p:spPr>
        <p:txBody>
          <a:bodyPr lIns="0" rIns="0" bIns="0" anchor="ct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000" dirty="0" smtClean="0">
                <a:solidFill>
                  <a:schemeClr val="bg1"/>
                </a:solidFill>
                <a:latin typeface="Arial" panose="020B0604020202020204" pitchFamily="34" charset="0"/>
                <a:cs typeface="Arial" panose="020B0604020202020204" pitchFamily="34" charset="0"/>
              </a:rPr>
              <a:t>A dimension of change</a:t>
            </a:r>
            <a:endParaRPr lang="en-US" sz="1800" b="1" dirty="0" smtClean="0">
              <a:solidFill>
                <a:schemeClr val="bg1"/>
              </a:solidFill>
              <a:latin typeface="Arial" panose="020B0604020202020204" pitchFamily="34" charset="0"/>
              <a:cs typeface="Arial" panose="020B0604020202020204" pitchFamily="34" charset="0"/>
            </a:endParaRPr>
          </a:p>
        </p:txBody>
      </p:sp>
      <p:sp>
        <p:nvSpPr>
          <p:cNvPr id="6" name="Rectangle 2"/>
          <p:cNvSpPr txBox="1">
            <a:spLocks noChangeArrowheads="1"/>
          </p:cNvSpPr>
          <p:nvPr/>
        </p:nvSpPr>
        <p:spPr>
          <a:xfrm>
            <a:off x="7673203" y="4631071"/>
            <a:ext cx="1737360" cy="1737360"/>
          </a:xfrm>
          <a:prstGeom prst="ellipse">
            <a:avLst/>
          </a:prstGeom>
          <a:solidFill>
            <a:schemeClr val="tx1">
              <a:lumMod val="85000"/>
              <a:lumOff val="15000"/>
            </a:schemeClr>
          </a:solidFill>
          <a:ln>
            <a:noFill/>
          </a:ln>
        </p:spPr>
        <p:txBody>
          <a:bodyPr lIns="0" rIns="0" bIns="0" anchor="ct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000" dirty="0" smtClean="0">
                <a:solidFill>
                  <a:schemeClr val="bg1"/>
                </a:solidFill>
                <a:latin typeface="Arial" panose="020B0604020202020204" pitchFamily="34" charset="0"/>
                <a:cs typeface="Arial" panose="020B0604020202020204" pitchFamily="34" charset="0"/>
              </a:rPr>
              <a:t>A qualifier of change</a:t>
            </a:r>
            <a:endParaRPr lang="en-US" sz="1800" b="1" dirty="0" smtClean="0">
              <a:solidFill>
                <a:schemeClr val="bg1"/>
              </a:solidFill>
              <a:latin typeface="Arial" panose="020B0604020202020204" pitchFamily="34" charset="0"/>
              <a:cs typeface="Arial" panose="020B0604020202020204" pitchFamily="34" charset="0"/>
            </a:endParaRPr>
          </a:p>
        </p:txBody>
      </p:sp>
      <p:sp>
        <p:nvSpPr>
          <p:cNvPr id="7" name="Text Box 3"/>
          <p:cNvSpPr txBox="1">
            <a:spLocks noChangeArrowheads="1"/>
          </p:cNvSpPr>
          <p:nvPr/>
        </p:nvSpPr>
        <p:spPr bwMode="auto">
          <a:xfrm>
            <a:off x="2631138" y="2939400"/>
            <a:ext cx="6371674" cy="400110"/>
          </a:xfrm>
          <a:prstGeom prst="rect">
            <a:avLst/>
          </a:prstGeom>
          <a:ln w="12700">
            <a:noFill/>
            <a:headEnd/>
            <a:tailEnd/>
          </a:ln>
        </p:spPr>
        <p:style>
          <a:lnRef idx="2">
            <a:schemeClr val="accent5"/>
          </a:lnRef>
          <a:fillRef idx="1">
            <a:schemeClr val="lt1"/>
          </a:fillRef>
          <a:effectRef idx="0">
            <a:schemeClr val="accent5"/>
          </a:effectRef>
          <a:fontRef idx="minor">
            <a:schemeClr val="dk1"/>
          </a:fontRef>
        </p:style>
        <p:txBody>
          <a:bodyPr wrap="square">
            <a:spAutoFit/>
          </a:bodyPr>
          <a:lstStyle/>
          <a:p>
            <a:pPr algn="ctr"/>
            <a:r>
              <a:rPr lang="en-US" sz="2000" dirty="0" smtClean="0">
                <a:solidFill>
                  <a:srgbClr val="333399"/>
                </a:solidFill>
                <a:latin typeface="Arial"/>
                <a:ea typeface="+mj-ea"/>
                <a:cs typeface="Arial"/>
              </a:rPr>
              <a:t>A RESULTS MUST HAVE</a:t>
            </a:r>
            <a:endParaRPr lang="en-US" sz="2000" dirty="0">
              <a:latin typeface="Arial"/>
              <a:cs typeface="Arial"/>
            </a:endParaRPr>
          </a:p>
        </p:txBody>
      </p:sp>
      <p:sp>
        <p:nvSpPr>
          <p:cNvPr id="9" name="Rectangle 8"/>
          <p:cNvSpPr/>
          <p:nvPr/>
        </p:nvSpPr>
        <p:spPr>
          <a:xfrm>
            <a:off x="1942609" y="2686754"/>
            <a:ext cx="8362027" cy="3822295"/>
          </a:xfrm>
          <a:prstGeom prst="rect">
            <a:avLst/>
          </a:prstGeom>
          <a:noFill/>
          <a:ln>
            <a:solidFill>
              <a:schemeClr val="bg1">
                <a:lumMod val="6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0" name="Picture 2" descr="http://png.clipart.me/graphics/thumbs/227/a-symbol-toddler-boy-or-girl-holds-the-hand-of-his-or-her-mom_2272351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0288" y="3620841"/>
            <a:ext cx="647934" cy="867769"/>
          </a:xfrm>
          <a:prstGeom prst="rect">
            <a:avLst/>
          </a:prstGeom>
          <a:noFill/>
          <a:extLst>
            <a:ext uri="{909E8E84-426E-40DD-AFC4-6F175D3DCCD1}">
              <a14:hiddenFill xmlns:a14="http://schemas.microsoft.com/office/drawing/2010/main">
                <a:solidFill>
                  <a:srgbClr val="FFFFFF"/>
                </a:solidFill>
              </a14:hiddenFill>
            </a:ext>
          </a:extLst>
        </p:spPr>
      </p:pic>
      <p:sp>
        <p:nvSpPr>
          <p:cNvPr id="11" name="Oval 10"/>
          <p:cNvSpPr/>
          <p:nvPr/>
        </p:nvSpPr>
        <p:spPr>
          <a:xfrm>
            <a:off x="5562592" y="3628501"/>
            <a:ext cx="900953" cy="852447"/>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Left-Right Arrow 11"/>
          <p:cNvSpPr/>
          <p:nvPr/>
        </p:nvSpPr>
        <p:spPr>
          <a:xfrm>
            <a:off x="5676585" y="3886636"/>
            <a:ext cx="672966" cy="336176"/>
          </a:xfrm>
          <a:prstGeom prst="lef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6" descr="http://simpleicon.com/wp-content/uploads/tag-2.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40855" y="3637174"/>
            <a:ext cx="809011" cy="8090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51175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6 principles for formulating results</a:t>
            </a:r>
          </a:p>
        </p:txBody>
      </p:sp>
      <p:grpSp>
        <p:nvGrpSpPr>
          <p:cNvPr id="12" name="Group 11"/>
          <p:cNvGrpSpPr/>
          <p:nvPr/>
        </p:nvGrpSpPr>
        <p:grpSpPr>
          <a:xfrm>
            <a:off x="128336" y="2151530"/>
            <a:ext cx="1920240" cy="3488718"/>
            <a:chOff x="128336" y="2151530"/>
            <a:chExt cx="1920240" cy="3488718"/>
          </a:xfrm>
        </p:grpSpPr>
        <p:sp>
          <p:nvSpPr>
            <p:cNvPr id="5" name="Rectangle 4"/>
            <p:cNvSpPr/>
            <p:nvPr/>
          </p:nvSpPr>
          <p:spPr>
            <a:xfrm>
              <a:off x="128336" y="3537128"/>
              <a:ext cx="1920240" cy="2103120"/>
            </a:xfrm>
            <a:prstGeom prst="rect">
              <a:avLst/>
            </a:prstGeom>
            <a:noFill/>
          </p:spPr>
          <p:txBody>
            <a:bodyPr wrap="square">
              <a:noAutofit/>
            </a:bodyPr>
            <a:lstStyle/>
            <a:p>
              <a:pPr algn="ctr"/>
              <a:r>
                <a:rPr lang="en-US" altLang="ko-KR" dirty="0">
                  <a:latin typeface="Arial" panose="020B0604020202020204" pitchFamily="34" charset="0"/>
                  <a:ea typeface="Gulim" pitchFamily="50" charset="-127"/>
                  <a:cs typeface="Arial" panose="020B0604020202020204" pitchFamily="34" charset="0"/>
                </a:rPr>
                <a:t>Clarity on the level (output, outcome or impact) and accountabilities</a:t>
              </a:r>
              <a:endParaRPr lang="en-US" dirty="0"/>
            </a:p>
          </p:txBody>
        </p:sp>
        <p:pic>
          <p:nvPicPr>
            <p:cNvPr id="1026" name="Picture 2" descr="https://image.freepik.com/free-icon/hierarchy-derivatives_318-39548.png"/>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37687" y="2151530"/>
              <a:ext cx="1101538" cy="110153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 name="Group 12"/>
          <p:cNvGrpSpPr/>
          <p:nvPr/>
        </p:nvGrpSpPr>
        <p:grpSpPr>
          <a:xfrm>
            <a:off x="2027230" y="2042879"/>
            <a:ext cx="2189770" cy="3597369"/>
            <a:chOff x="2027230" y="2042879"/>
            <a:chExt cx="2189770" cy="3597369"/>
          </a:xfrm>
        </p:grpSpPr>
        <p:sp>
          <p:nvSpPr>
            <p:cNvPr id="6" name="Rectangle 5"/>
            <p:cNvSpPr/>
            <p:nvPr/>
          </p:nvSpPr>
          <p:spPr>
            <a:xfrm>
              <a:off x="2121654" y="3537128"/>
              <a:ext cx="1920240" cy="2103120"/>
            </a:xfrm>
            <a:prstGeom prst="rect">
              <a:avLst/>
            </a:prstGeom>
            <a:noFill/>
          </p:spPr>
          <p:txBody>
            <a:bodyPr wrap="square">
              <a:noAutofit/>
            </a:bodyPr>
            <a:lstStyle/>
            <a:p>
              <a:pPr algn="ctr">
                <a:spcBef>
                  <a:spcPts val="1200"/>
                </a:spcBef>
                <a:spcAft>
                  <a:spcPts val="600"/>
                </a:spcAft>
              </a:pPr>
              <a:r>
                <a:rPr lang="en-US" dirty="0" err="1">
                  <a:latin typeface="Arial" panose="020B0604020202020204" pitchFamily="34" charset="0"/>
                  <a:cs typeface="Arial" panose="020B0604020202020204" pitchFamily="34" charset="0"/>
                </a:rPr>
                <a:t>SMARTer</a:t>
              </a:r>
              <a:r>
                <a:rPr lang="en-US" dirty="0">
                  <a:latin typeface="Arial" panose="020B0604020202020204" pitchFamily="34" charset="0"/>
                  <a:cs typeface="Arial" panose="020B0604020202020204" pitchFamily="34" charset="0"/>
                </a:rPr>
                <a:t> results, supplemented by SMART indicators</a:t>
              </a:r>
            </a:p>
          </p:txBody>
        </p:sp>
        <p:pic>
          <p:nvPicPr>
            <p:cNvPr id="1028" name="Picture 4" descr="https://www.pai.com/files/styles/product_tool_full/public/images/toolbox/3(38)-investment-management-services-checklist_0.png?itok=3P_sZxaQ"/>
            <p:cNvPicPr>
              <a:picLocks noChangeAspect="1" noChangeArrowheads="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027230" y="2042879"/>
              <a:ext cx="2189770" cy="131883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 name="Group 14"/>
          <p:cNvGrpSpPr/>
          <p:nvPr/>
        </p:nvGrpSpPr>
        <p:grpSpPr>
          <a:xfrm>
            <a:off x="4114972" y="2500170"/>
            <a:ext cx="1920240" cy="3140078"/>
            <a:chOff x="4114972" y="2500170"/>
            <a:chExt cx="1920240" cy="3140078"/>
          </a:xfrm>
        </p:grpSpPr>
        <p:sp>
          <p:nvSpPr>
            <p:cNvPr id="7" name="Rectangle 6"/>
            <p:cNvSpPr/>
            <p:nvPr/>
          </p:nvSpPr>
          <p:spPr>
            <a:xfrm>
              <a:off x="4114972" y="3537128"/>
              <a:ext cx="1920240" cy="2103120"/>
            </a:xfrm>
            <a:prstGeom prst="rect">
              <a:avLst/>
            </a:prstGeom>
            <a:noFill/>
          </p:spPr>
          <p:txBody>
            <a:bodyPr wrap="square">
              <a:noAutofit/>
            </a:bodyPr>
            <a:lstStyle/>
            <a:p>
              <a:pPr algn="ctr">
                <a:spcBef>
                  <a:spcPts val="1200"/>
                </a:spcBef>
                <a:spcAft>
                  <a:spcPts val="600"/>
                </a:spcAft>
              </a:pPr>
              <a:r>
                <a:rPr lang="en-US" dirty="0">
                  <a:latin typeface="Arial" panose="020B0604020202020204" pitchFamily="34" charset="0"/>
                  <a:cs typeface="Arial" panose="020B0604020202020204" pitchFamily="34" charset="0"/>
                </a:rPr>
                <a:t>Coherent results chains, applying the </a:t>
              </a:r>
              <a:r>
                <a:rPr lang="en-US" b="1" dirty="0">
                  <a:latin typeface="Arial" panose="020B0604020202020204" pitchFamily="34" charset="0"/>
                  <a:cs typeface="Arial" panose="020B0604020202020204" pitchFamily="34" charset="0"/>
                </a:rPr>
                <a:t>if-then logic </a:t>
              </a:r>
              <a:r>
                <a:rPr lang="en-US" dirty="0">
                  <a:latin typeface="Arial" panose="020B0604020202020204" pitchFamily="34" charset="0"/>
                  <a:cs typeface="Arial" panose="020B0604020202020204" pitchFamily="34" charset="0"/>
                </a:rPr>
                <a:t>otherwise asking the question – </a:t>
              </a:r>
              <a:r>
                <a:rPr lang="en-US" b="1" dirty="0">
                  <a:latin typeface="Arial" panose="020B0604020202020204" pitchFamily="34" charset="0"/>
                  <a:cs typeface="Arial" panose="020B0604020202020204" pitchFamily="34" charset="0"/>
                </a:rPr>
                <a:t>so what </a:t>
              </a:r>
              <a:r>
                <a:rPr lang="en-US" dirty="0">
                  <a:latin typeface="Arial" panose="020B0604020202020204" pitchFamily="34" charset="0"/>
                  <a:cs typeface="Arial" panose="020B0604020202020204" pitchFamily="34" charset="0"/>
                </a:rPr>
                <a:t>between levels</a:t>
              </a:r>
            </a:p>
          </p:txBody>
        </p:sp>
        <p:sp>
          <p:nvSpPr>
            <p:cNvPr id="3" name="Right Arrow 2"/>
            <p:cNvSpPr/>
            <p:nvPr/>
          </p:nvSpPr>
          <p:spPr>
            <a:xfrm>
              <a:off x="4537770" y="2540653"/>
              <a:ext cx="707143" cy="323430"/>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4362958" y="2500171"/>
              <a:ext cx="484094" cy="404253"/>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5275143" y="2500170"/>
              <a:ext cx="484094" cy="404253"/>
            </a:xfrm>
            <a:prstGeom prst="rect">
              <a:avLst/>
            </a:prstGeom>
            <a:solidFill>
              <a:srgbClr val="00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p:cNvGrpSpPr/>
          <p:nvPr/>
        </p:nvGrpSpPr>
        <p:grpSpPr>
          <a:xfrm>
            <a:off x="6108290" y="1907332"/>
            <a:ext cx="1920240" cy="3732916"/>
            <a:chOff x="6108290" y="1907332"/>
            <a:chExt cx="1920240" cy="3732916"/>
          </a:xfrm>
        </p:grpSpPr>
        <p:sp>
          <p:nvSpPr>
            <p:cNvPr id="9" name="Rectangle 8"/>
            <p:cNvSpPr/>
            <p:nvPr/>
          </p:nvSpPr>
          <p:spPr>
            <a:xfrm>
              <a:off x="6108290" y="3537128"/>
              <a:ext cx="1920240" cy="2103120"/>
            </a:xfrm>
            <a:prstGeom prst="rect">
              <a:avLst/>
            </a:prstGeom>
            <a:noFill/>
          </p:spPr>
          <p:txBody>
            <a:bodyPr wrap="square">
              <a:noAutofit/>
            </a:bodyPr>
            <a:lstStyle/>
            <a:p>
              <a:pPr algn="ctr">
                <a:spcBef>
                  <a:spcPts val="1200"/>
                </a:spcBef>
                <a:spcAft>
                  <a:spcPts val="600"/>
                </a:spcAft>
              </a:pPr>
              <a:r>
                <a:rPr lang="en-US" dirty="0">
                  <a:latin typeface="Arial" panose="020B0604020202020204" pitchFamily="34" charset="0"/>
                  <a:cs typeface="Arial" panose="020B0604020202020204" pitchFamily="34" charset="0"/>
                </a:rPr>
                <a:t>Uses change language, that places emphasis on the subject of change</a:t>
              </a:r>
            </a:p>
          </p:txBody>
        </p:sp>
        <p:pic>
          <p:nvPicPr>
            <p:cNvPr id="1030" name="Picture 6" descr="https://lh3.googleusercontent.com/-_JxyYQXE4Do/AAAAAAAAAAI/AAAAAAAAAAA/wJr01209Tns/photo.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73446" y="1907332"/>
              <a:ext cx="1589928" cy="158992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 name="Group 19"/>
          <p:cNvGrpSpPr/>
          <p:nvPr/>
        </p:nvGrpSpPr>
        <p:grpSpPr>
          <a:xfrm>
            <a:off x="8101608" y="1931939"/>
            <a:ext cx="1920240" cy="3708309"/>
            <a:chOff x="8101608" y="1931939"/>
            <a:chExt cx="1920240" cy="3708309"/>
          </a:xfrm>
        </p:grpSpPr>
        <p:pic>
          <p:nvPicPr>
            <p:cNvPr id="17" name="Picture 6" descr="http://www.sustainablecitiesinstitute.org/Images/SCI/Icons/200by200/EquityEngagement.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006478" y="2343571"/>
              <a:ext cx="717450" cy="71745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8101608" y="3537128"/>
              <a:ext cx="1920240" cy="2103120"/>
            </a:xfrm>
            <a:prstGeom prst="rect">
              <a:avLst/>
            </a:prstGeom>
            <a:noFill/>
          </p:spPr>
          <p:txBody>
            <a:bodyPr wrap="square">
              <a:noAutofit/>
            </a:bodyPr>
            <a:lstStyle/>
            <a:p>
              <a:pPr algn="ctr">
                <a:spcBef>
                  <a:spcPts val="1200"/>
                </a:spcBef>
                <a:spcAft>
                  <a:spcPts val="600"/>
                </a:spcAft>
              </a:pPr>
              <a:r>
                <a:rPr lang="en-US" dirty="0" smtClean="0">
                  <a:latin typeface="Arial" panose="020B0604020202020204" pitchFamily="34" charset="0"/>
                  <a:cs typeface="Arial" panose="020B0604020202020204" pitchFamily="34" charset="0"/>
                </a:rPr>
                <a:t>Considers equity</a:t>
              </a:r>
              <a:r>
                <a:rPr lang="en-US" dirty="0">
                  <a:latin typeface="Arial" panose="020B0604020202020204" pitchFamily="34" charset="0"/>
                  <a:cs typeface="Arial" panose="020B0604020202020204" pitchFamily="34" charset="0"/>
                </a:rPr>
                <a:t>, human rights, </a:t>
              </a:r>
              <a:r>
                <a:rPr lang="en-US" dirty="0" smtClean="0">
                  <a:latin typeface="Arial" panose="020B0604020202020204" pitchFamily="34" charset="0"/>
                  <a:cs typeface="Arial" panose="020B0604020202020204" pitchFamily="34" charset="0"/>
                </a:rPr>
                <a:t>gender, determinants and risks</a:t>
              </a:r>
              <a:endParaRPr lang="en-US" dirty="0">
                <a:latin typeface="Arial" panose="020B0604020202020204" pitchFamily="34" charset="0"/>
                <a:cs typeface="Arial" panose="020B0604020202020204" pitchFamily="34" charset="0"/>
              </a:endParaRPr>
            </a:p>
          </p:txBody>
        </p:sp>
        <p:pic>
          <p:nvPicPr>
            <p:cNvPr id="16" name="Picture 4" descr="http://content.www.goverb.com/wp-content/uploads/2015/05/icon_human-rights.png"/>
            <p:cNvPicPr>
              <a:picLocks noChangeAspect="1" noChangeArrowheads="1"/>
            </p:cNvPicPr>
            <p:nvPr/>
          </p:nvPicPr>
          <p:blipFill>
            <a:blip r:embed="rId7"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8500998" y="1931939"/>
              <a:ext cx="852954" cy="85295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8" descr="http://static.tumblr.com/8f32443caf12a03ca78c17d9a265688b/gjgkcqp/AzMn5u6dw/tumblr_static_d1nl79t3o9c88oo8gw0ss0o04.jpg"/>
            <p:cNvPicPr>
              <a:picLocks noChangeAspect="1" noChangeArrowheads="1"/>
            </p:cNvPicPr>
            <p:nvPr/>
          </p:nvPicPr>
          <p:blipFill>
            <a:blip r:embed="rId8" cstate="print">
              <a:clrChange>
                <a:clrFrom>
                  <a:srgbClr val="FFFFFF"/>
                </a:clrFrom>
                <a:clrTo>
                  <a:srgbClr val="FFFFFF">
                    <a:alpha val="0"/>
                  </a:srgbClr>
                </a:clrTo>
              </a:clrChange>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16031132">
              <a:off x="8232492" y="2517049"/>
              <a:ext cx="919080" cy="73526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1" name="Group 20"/>
          <p:cNvGrpSpPr/>
          <p:nvPr/>
        </p:nvGrpSpPr>
        <p:grpSpPr>
          <a:xfrm>
            <a:off x="10094927" y="2216380"/>
            <a:ext cx="1920240" cy="3423868"/>
            <a:chOff x="10094927" y="2216380"/>
            <a:chExt cx="1920240" cy="3423868"/>
          </a:xfrm>
        </p:grpSpPr>
        <p:sp>
          <p:nvSpPr>
            <p:cNvPr id="11" name="Rectangle 10"/>
            <p:cNvSpPr/>
            <p:nvPr/>
          </p:nvSpPr>
          <p:spPr>
            <a:xfrm>
              <a:off x="10094927" y="3537128"/>
              <a:ext cx="1920240" cy="2103120"/>
            </a:xfrm>
            <a:prstGeom prst="rect">
              <a:avLst/>
            </a:prstGeom>
            <a:noFill/>
          </p:spPr>
          <p:txBody>
            <a:bodyPr wrap="square">
              <a:noAutofit/>
            </a:bodyPr>
            <a:lstStyle/>
            <a:p>
              <a:pPr algn="ctr">
                <a:spcBef>
                  <a:spcPts val="1200"/>
                </a:spcBef>
                <a:spcAft>
                  <a:spcPts val="600"/>
                </a:spcAft>
              </a:pPr>
              <a:r>
                <a:rPr lang="en-US" altLang="ko-KR" dirty="0">
                  <a:latin typeface="Arial" panose="020B0604020202020204" pitchFamily="34" charset="0"/>
                  <a:ea typeface="Gulim" pitchFamily="50" charset="-127"/>
                  <a:cs typeface="Arial" panose="020B0604020202020204" pitchFamily="34" charset="0"/>
                </a:rPr>
                <a:t>Clear relationship with issues identified in the </a:t>
              </a:r>
              <a:r>
                <a:rPr lang="en-US" altLang="ko-KR" dirty="0" err="1">
                  <a:latin typeface="Arial" panose="020B0604020202020204" pitchFamily="34" charset="0"/>
                  <a:ea typeface="Gulim" pitchFamily="50" charset="-127"/>
                  <a:cs typeface="Arial" panose="020B0604020202020204" pitchFamily="34" charset="0"/>
                </a:rPr>
                <a:t>SitAn</a:t>
              </a:r>
              <a:endParaRPr lang="en-US" dirty="0">
                <a:latin typeface="Arial" panose="020B0604020202020204" pitchFamily="34" charset="0"/>
                <a:cs typeface="Arial" panose="020B0604020202020204" pitchFamily="34" charset="0"/>
              </a:endParaRPr>
            </a:p>
          </p:txBody>
        </p:sp>
        <p:pic>
          <p:nvPicPr>
            <p:cNvPr id="1032" name="Picture 8" descr="http://www.employerflexible.com/images/home-it-icon.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621846" y="2216380"/>
              <a:ext cx="899781" cy="89978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1104057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Hierarchy of Results</a:t>
            </a:r>
          </a:p>
        </p:txBody>
      </p:sp>
      <p:grpSp>
        <p:nvGrpSpPr>
          <p:cNvPr id="4" name="Group 3"/>
          <p:cNvGrpSpPr/>
          <p:nvPr/>
        </p:nvGrpSpPr>
        <p:grpSpPr>
          <a:xfrm>
            <a:off x="368968" y="1132192"/>
            <a:ext cx="11470106" cy="1645920"/>
            <a:chOff x="368968" y="1132192"/>
            <a:chExt cx="11470106" cy="1645920"/>
          </a:xfrm>
        </p:grpSpPr>
        <p:sp>
          <p:nvSpPr>
            <p:cNvPr id="2" name="Rectangle 1"/>
            <p:cNvSpPr/>
            <p:nvPr/>
          </p:nvSpPr>
          <p:spPr>
            <a:xfrm>
              <a:off x="368968" y="1132192"/>
              <a:ext cx="11470106" cy="16459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p:cNvSpPr txBox="1"/>
            <p:nvPr/>
          </p:nvSpPr>
          <p:spPr>
            <a:xfrm>
              <a:off x="5438274" y="1441943"/>
              <a:ext cx="6144126"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smtClean="0">
                  <a:latin typeface="Arial" panose="020B0604020202020204" pitchFamily="34" charset="0"/>
                  <a:cs typeface="Arial" panose="020B0604020202020204" pitchFamily="34" charset="0"/>
                </a:rPr>
                <a:t>Long term changes in the rights / deprivation  / inequities in situation of children and women</a:t>
              </a:r>
            </a:p>
            <a:p>
              <a:pPr marL="285750" indent="-285750">
                <a:buFont typeface="Arial" panose="020B0604020202020204" pitchFamily="34" charset="0"/>
                <a:buChar char="•"/>
              </a:pPr>
              <a:r>
                <a:rPr lang="en-US" sz="2000" dirty="0" smtClean="0">
                  <a:latin typeface="Arial" panose="020B0604020202020204" pitchFamily="34" charset="0"/>
                  <a:cs typeface="Arial" panose="020B0604020202020204" pitchFamily="34" charset="0"/>
                </a:rPr>
                <a:t>Nationally owned</a:t>
              </a:r>
              <a:endParaRPr lang="en-US" sz="2000" dirty="0">
                <a:latin typeface="Arial" panose="020B0604020202020204" pitchFamily="34" charset="0"/>
                <a:cs typeface="Arial" panose="020B0604020202020204" pitchFamily="34" charset="0"/>
              </a:endParaRPr>
            </a:p>
          </p:txBody>
        </p:sp>
        <p:sp>
          <p:nvSpPr>
            <p:cNvPr id="5" name="TextBox 4"/>
            <p:cNvSpPr txBox="1"/>
            <p:nvPr/>
          </p:nvSpPr>
          <p:spPr>
            <a:xfrm>
              <a:off x="753979" y="1626608"/>
              <a:ext cx="1989221" cy="646331"/>
            </a:xfrm>
            <a:prstGeom prst="rect">
              <a:avLst/>
            </a:prstGeom>
            <a:noFill/>
          </p:spPr>
          <p:txBody>
            <a:bodyPr wrap="square" rtlCol="0">
              <a:spAutoFit/>
            </a:bodyPr>
            <a:lstStyle/>
            <a:p>
              <a:pPr algn="ctr"/>
              <a:r>
                <a:rPr lang="en-US" sz="3600" dirty="0" smtClean="0">
                  <a:latin typeface="Arial" panose="020B0604020202020204" pitchFamily="34" charset="0"/>
                  <a:cs typeface="Arial" panose="020B0604020202020204" pitchFamily="34" charset="0"/>
                </a:rPr>
                <a:t>IMPACT</a:t>
              </a:r>
              <a:endParaRPr lang="en-US" sz="3600" dirty="0">
                <a:latin typeface="Arial" panose="020B0604020202020204" pitchFamily="34" charset="0"/>
                <a:cs typeface="Arial" panose="020B0604020202020204" pitchFamily="34" charset="0"/>
              </a:endParaRPr>
            </a:p>
          </p:txBody>
        </p:sp>
      </p:grpSp>
      <p:grpSp>
        <p:nvGrpSpPr>
          <p:cNvPr id="6" name="Group 5"/>
          <p:cNvGrpSpPr/>
          <p:nvPr/>
        </p:nvGrpSpPr>
        <p:grpSpPr>
          <a:xfrm>
            <a:off x="1267327" y="3064338"/>
            <a:ext cx="10507578" cy="1645920"/>
            <a:chOff x="1267327" y="3064338"/>
            <a:chExt cx="10507578" cy="1645920"/>
          </a:xfrm>
        </p:grpSpPr>
        <p:sp>
          <p:nvSpPr>
            <p:cNvPr id="7" name="Rectangle 6"/>
            <p:cNvSpPr/>
            <p:nvPr/>
          </p:nvSpPr>
          <p:spPr>
            <a:xfrm>
              <a:off x="1267327" y="3064338"/>
              <a:ext cx="10507578" cy="164592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p:cNvSpPr txBox="1"/>
            <p:nvPr/>
          </p:nvSpPr>
          <p:spPr>
            <a:xfrm>
              <a:off x="5438274" y="3226908"/>
              <a:ext cx="6336630" cy="1323439"/>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Changes in </a:t>
              </a:r>
              <a:r>
                <a:rPr lang="en-US" sz="2000" dirty="0" smtClean="0">
                  <a:latin typeface="Arial" panose="020B0604020202020204" pitchFamily="34" charset="0"/>
                  <a:cs typeface="Arial" panose="020B0604020202020204" pitchFamily="34" charset="0"/>
                </a:rPr>
                <a:t>behavior </a:t>
              </a:r>
              <a:r>
                <a:rPr lang="en-US" sz="2000" dirty="0">
                  <a:latin typeface="Arial" panose="020B0604020202020204" pitchFamily="34" charset="0"/>
                  <a:cs typeface="Arial" panose="020B0604020202020204" pitchFamily="34" charset="0"/>
                </a:rPr>
                <a:t>or performance of targeted institutions or individuals </a:t>
              </a:r>
              <a:r>
                <a:rPr lang="en-US" sz="2000" dirty="0" smtClean="0">
                  <a:latin typeface="Arial" panose="020B0604020202020204" pitchFamily="34" charset="0"/>
                  <a:cs typeface="Arial" panose="020B0604020202020204" pitchFamily="34" charset="0"/>
                </a:rPr>
                <a:t>manifesting in coverage and equity of services / interventions </a:t>
              </a:r>
              <a:endParaRPr lang="en-US"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UNICEF contributes to these changes</a:t>
              </a:r>
            </a:p>
          </p:txBody>
        </p:sp>
        <p:sp>
          <p:nvSpPr>
            <p:cNvPr id="10" name="TextBox 9"/>
            <p:cNvSpPr txBox="1"/>
            <p:nvPr/>
          </p:nvSpPr>
          <p:spPr>
            <a:xfrm>
              <a:off x="1524000" y="3487471"/>
              <a:ext cx="2711116" cy="646331"/>
            </a:xfrm>
            <a:prstGeom prst="rect">
              <a:avLst/>
            </a:prstGeom>
            <a:noFill/>
          </p:spPr>
          <p:txBody>
            <a:bodyPr wrap="square" rtlCol="0">
              <a:spAutoFit/>
            </a:bodyPr>
            <a:lstStyle/>
            <a:p>
              <a:pPr algn="ctr"/>
              <a:r>
                <a:rPr lang="en-US" sz="3600" dirty="0" smtClean="0">
                  <a:latin typeface="Arial" panose="020B0604020202020204" pitchFamily="34" charset="0"/>
                  <a:cs typeface="Arial" panose="020B0604020202020204" pitchFamily="34" charset="0"/>
                </a:rPr>
                <a:t>OUTCOME</a:t>
              </a:r>
              <a:endParaRPr lang="en-US" sz="3600" dirty="0">
                <a:latin typeface="Arial" panose="020B0604020202020204" pitchFamily="34" charset="0"/>
                <a:cs typeface="Arial" panose="020B0604020202020204" pitchFamily="34" charset="0"/>
              </a:endParaRPr>
            </a:p>
          </p:txBody>
        </p:sp>
      </p:grpSp>
      <p:grpSp>
        <p:nvGrpSpPr>
          <p:cNvPr id="14" name="Group 13"/>
          <p:cNvGrpSpPr/>
          <p:nvPr/>
        </p:nvGrpSpPr>
        <p:grpSpPr>
          <a:xfrm>
            <a:off x="2149642" y="4996484"/>
            <a:ext cx="9657347" cy="1645920"/>
            <a:chOff x="2149642" y="4996484"/>
            <a:chExt cx="9657347" cy="1645920"/>
          </a:xfrm>
        </p:grpSpPr>
        <p:sp>
          <p:nvSpPr>
            <p:cNvPr id="11" name="Rectangle 10"/>
            <p:cNvSpPr/>
            <p:nvPr/>
          </p:nvSpPr>
          <p:spPr>
            <a:xfrm>
              <a:off x="2149642" y="4996484"/>
              <a:ext cx="9625262" cy="164592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TextBox 11"/>
            <p:cNvSpPr txBox="1"/>
            <p:nvPr/>
          </p:nvSpPr>
          <p:spPr>
            <a:xfrm>
              <a:off x="5438274" y="5181081"/>
              <a:ext cx="6368715" cy="1323439"/>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Changes in capacities of individuals or </a:t>
              </a:r>
              <a:r>
                <a:rPr lang="en-US" sz="2000" dirty="0" smtClean="0">
                  <a:latin typeface="Arial" panose="020B0604020202020204" pitchFamily="34" charset="0"/>
                  <a:cs typeface="Arial" panose="020B0604020202020204" pitchFamily="34" charset="0"/>
                </a:rPr>
                <a:t>institutions including new </a:t>
              </a:r>
              <a:r>
                <a:rPr lang="en-US" sz="2000" dirty="0">
                  <a:latin typeface="Arial" panose="020B0604020202020204" pitchFamily="34" charset="0"/>
                  <a:cs typeface="Arial" panose="020B0604020202020204" pitchFamily="34" charset="0"/>
                </a:rPr>
                <a:t>products, skills, abilities and services </a:t>
              </a:r>
            </a:p>
            <a:p>
              <a:pPr marL="285750" indent="-285750">
                <a:buFont typeface="Arial" panose="020B0604020202020204" pitchFamily="34" charset="0"/>
                <a:buChar char="•"/>
              </a:pPr>
              <a:r>
                <a:rPr lang="en-US" sz="2000" dirty="0" smtClean="0">
                  <a:latin typeface="Arial" panose="020B0604020202020204" pitchFamily="34" charset="0"/>
                  <a:cs typeface="Arial" panose="020B0604020202020204" pitchFamily="34" charset="0"/>
                </a:rPr>
                <a:t>Attributable </a:t>
              </a:r>
              <a:r>
                <a:rPr lang="en-US" sz="2000" dirty="0">
                  <a:latin typeface="Arial" panose="020B0604020202020204" pitchFamily="34" charset="0"/>
                  <a:cs typeface="Arial" panose="020B0604020202020204" pitchFamily="34" charset="0"/>
                </a:rPr>
                <a:t>to programme funds and management –  therefore high degree of accountability</a:t>
              </a:r>
            </a:p>
          </p:txBody>
        </p:sp>
        <p:sp>
          <p:nvSpPr>
            <p:cNvPr id="13" name="TextBox 12"/>
            <p:cNvSpPr txBox="1"/>
            <p:nvPr/>
          </p:nvSpPr>
          <p:spPr>
            <a:xfrm>
              <a:off x="2294022" y="5496278"/>
              <a:ext cx="2711116" cy="646331"/>
            </a:xfrm>
            <a:prstGeom prst="rect">
              <a:avLst/>
            </a:prstGeom>
            <a:noFill/>
          </p:spPr>
          <p:txBody>
            <a:bodyPr wrap="square" rtlCol="0">
              <a:spAutoFit/>
            </a:bodyPr>
            <a:lstStyle/>
            <a:p>
              <a:pPr algn="ctr"/>
              <a:r>
                <a:rPr lang="en-US" sz="3600" dirty="0" smtClean="0">
                  <a:latin typeface="Arial" panose="020B0604020202020204" pitchFamily="34" charset="0"/>
                  <a:cs typeface="Arial" panose="020B0604020202020204" pitchFamily="34" charset="0"/>
                </a:rPr>
                <a:t>OUTPUT</a:t>
              </a:r>
              <a:endParaRPr lang="en-US" sz="36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4253701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8968" y="1132192"/>
            <a:ext cx="11470106" cy="16459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extBox 4"/>
          <p:cNvSpPr txBox="1"/>
          <p:nvPr/>
        </p:nvSpPr>
        <p:spPr>
          <a:xfrm>
            <a:off x="753979" y="1626608"/>
            <a:ext cx="1989221" cy="646331"/>
          </a:xfrm>
          <a:prstGeom prst="rect">
            <a:avLst/>
          </a:prstGeom>
          <a:noFill/>
        </p:spPr>
        <p:txBody>
          <a:bodyPr wrap="square" rtlCol="0">
            <a:spAutoFit/>
          </a:bodyPr>
          <a:lstStyle/>
          <a:p>
            <a:pPr algn="ctr"/>
            <a:r>
              <a:rPr lang="en-US" sz="3600" dirty="0" smtClean="0">
                <a:latin typeface="Arial" panose="020B0604020202020204" pitchFamily="34" charset="0"/>
                <a:cs typeface="Arial" panose="020B0604020202020204" pitchFamily="34" charset="0"/>
              </a:rPr>
              <a:t>IMPACT</a:t>
            </a:r>
            <a:endParaRPr lang="en-US" sz="3600" dirty="0">
              <a:latin typeface="Arial" panose="020B0604020202020204" pitchFamily="34" charset="0"/>
              <a:cs typeface="Arial" panose="020B0604020202020204" pitchFamily="34" charset="0"/>
            </a:endParaRPr>
          </a:p>
        </p:txBody>
      </p:sp>
      <p:sp>
        <p:nvSpPr>
          <p:cNvPr id="7" name="Rectangle 6"/>
          <p:cNvSpPr/>
          <p:nvPr/>
        </p:nvSpPr>
        <p:spPr>
          <a:xfrm>
            <a:off x="1267327" y="3064338"/>
            <a:ext cx="10507578" cy="164592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Box 9"/>
          <p:cNvSpPr txBox="1"/>
          <p:nvPr/>
        </p:nvSpPr>
        <p:spPr>
          <a:xfrm>
            <a:off x="1524000" y="3487471"/>
            <a:ext cx="2711116" cy="646331"/>
          </a:xfrm>
          <a:prstGeom prst="rect">
            <a:avLst/>
          </a:prstGeom>
          <a:noFill/>
        </p:spPr>
        <p:txBody>
          <a:bodyPr wrap="square" rtlCol="0">
            <a:spAutoFit/>
          </a:bodyPr>
          <a:lstStyle/>
          <a:p>
            <a:pPr algn="ctr"/>
            <a:r>
              <a:rPr lang="en-US" sz="3600" dirty="0" smtClean="0">
                <a:latin typeface="Arial" panose="020B0604020202020204" pitchFamily="34" charset="0"/>
                <a:cs typeface="Arial" panose="020B0604020202020204" pitchFamily="34" charset="0"/>
              </a:rPr>
              <a:t>OUTCOME</a:t>
            </a:r>
            <a:endParaRPr lang="en-US" sz="3600" dirty="0">
              <a:latin typeface="Arial" panose="020B0604020202020204" pitchFamily="34" charset="0"/>
              <a:cs typeface="Arial" panose="020B0604020202020204" pitchFamily="34" charset="0"/>
            </a:endParaRPr>
          </a:p>
        </p:txBody>
      </p:sp>
      <p:sp>
        <p:nvSpPr>
          <p:cNvPr id="11" name="Rectangle 10"/>
          <p:cNvSpPr/>
          <p:nvPr/>
        </p:nvSpPr>
        <p:spPr>
          <a:xfrm>
            <a:off x="2149642" y="4996484"/>
            <a:ext cx="9625262" cy="164592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TextBox 12"/>
          <p:cNvSpPr txBox="1"/>
          <p:nvPr/>
        </p:nvSpPr>
        <p:spPr>
          <a:xfrm>
            <a:off x="2294022" y="5496278"/>
            <a:ext cx="2711116" cy="646331"/>
          </a:xfrm>
          <a:prstGeom prst="rect">
            <a:avLst/>
          </a:prstGeom>
          <a:noFill/>
        </p:spPr>
        <p:txBody>
          <a:bodyPr wrap="square" rtlCol="0">
            <a:spAutoFit/>
          </a:bodyPr>
          <a:lstStyle/>
          <a:p>
            <a:pPr algn="ctr"/>
            <a:r>
              <a:rPr lang="en-US" sz="3600" dirty="0" smtClean="0">
                <a:latin typeface="Arial" panose="020B0604020202020204" pitchFamily="34" charset="0"/>
                <a:cs typeface="Arial" panose="020B0604020202020204" pitchFamily="34" charset="0"/>
              </a:rPr>
              <a:t>OUTPUT</a:t>
            </a:r>
            <a:endParaRPr lang="en-US" sz="3600" dirty="0">
              <a:latin typeface="Arial" panose="020B0604020202020204" pitchFamily="34" charset="0"/>
              <a:cs typeface="Arial" panose="020B0604020202020204" pitchFamily="34" charset="0"/>
            </a:endParaRPr>
          </a:p>
        </p:txBody>
      </p:sp>
      <p:grpSp>
        <p:nvGrpSpPr>
          <p:cNvPr id="9" name="Group 8"/>
          <p:cNvGrpSpPr/>
          <p:nvPr/>
        </p:nvGrpSpPr>
        <p:grpSpPr>
          <a:xfrm>
            <a:off x="7259054" y="1454022"/>
            <a:ext cx="4297680" cy="2349826"/>
            <a:chOff x="7259054" y="1454022"/>
            <a:chExt cx="4297680" cy="2349826"/>
          </a:xfrm>
        </p:grpSpPr>
        <p:sp>
          <p:nvSpPr>
            <p:cNvPr id="20" name="Up Arrow 19"/>
            <p:cNvSpPr/>
            <p:nvPr/>
          </p:nvSpPr>
          <p:spPr>
            <a:xfrm>
              <a:off x="7948062" y="2459862"/>
              <a:ext cx="2919663" cy="1343986"/>
            </a:xfrm>
            <a:prstGeom prst="upArrow">
              <a:avLst>
                <a:gd name="adj1" fmla="val 100000"/>
                <a:gd name="adj2" fmla="val 50000"/>
              </a:avLst>
            </a:prstGeom>
            <a:gradFill flip="none" rotWithShape="1">
              <a:gsLst>
                <a:gs pos="0">
                  <a:srgbClr val="0099FF"/>
                </a:gs>
                <a:gs pos="65000">
                  <a:schemeClr val="bg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7259054" y="1454022"/>
              <a:ext cx="4297680" cy="1005840"/>
            </a:xfrm>
            <a:prstGeom prst="rect">
              <a:avLst/>
            </a:prstGeom>
            <a:solidFill>
              <a:schemeClr val="bg1"/>
            </a:solidFill>
          </p:spPr>
          <p:txBody>
            <a:bodyPr wrap="square" rtlCol="0" anchor="ctr">
              <a:noAutofit/>
            </a:bodyPr>
            <a:lstStyle/>
            <a:p>
              <a:pPr algn="ctr"/>
              <a:r>
                <a:rPr lang="en-US" sz="2400" dirty="0" smtClean="0">
                  <a:latin typeface="Arial" panose="020B0604020202020204" pitchFamily="34" charset="0"/>
                  <a:cs typeface="Arial" panose="020B0604020202020204" pitchFamily="34" charset="0"/>
                </a:rPr>
                <a:t>Improved Literacy</a:t>
              </a:r>
              <a:endParaRPr lang="en-US" sz="2400" dirty="0">
                <a:latin typeface="Arial" panose="020B0604020202020204" pitchFamily="34" charset="0"/>
                <a:cs typeface="Arial" panose="020B0604020202020204" pitchFamily="34" charset="0"/>
              </a:endParaRPr>
            </a:p>
          </p:txBody>
        </p:sp>
      </p:grpSp>
      <p:grpSp>
        <p:nvGrpSpPr>
          <p:cNvPr id="6" name="Group 5"/>
          <p:cNvGrpSpPr/>
          <p:nvPr/>
        </p:nvGrpSpPr>
        <p:grpSpPr>
          <a:xfrm>
            <a:off x="7259054" y="3391548"/>
            <a:ext cx="4297680" cy="2335485"/>
            <a:chOff x="7259054" y="3391548"/>
            <a:chExt cx="4297680" cy="2335485"/>
          </a:xfrm>
        </p:grpSpPr>
        <p:sp>
          <p:nvSpPr>
            <p:cNvPr id="4" name="Up Arrow 3"/>
            <p:cNvSpPr/>
            <p:nvPr/>
          </p:nvSpPr>
          <p:spPr>
            <a:xfrm>
              <a:off x="8076399" y="4397389"/>
              <a:ext cx="2919663" cy="1329644"/>
            </a:xfrm>
            <a:prstGeom prst="upArrow">
              <a:avLst>
                <a:gd name="adj1" fmla="val 100000"/>
                <a:gd name="adj2" fmla="val 50000"/>
              </a:avLst>
            </a:prstGeom>
            <a:gradFill flip="none" rotWithShape="1">
              <a:gsLst>
                <a:gs pos="0">
                  <a:srgbClr val="0099FF"/>
                </a:gs>
                <a:gs pos="65000">
                  <a:schemeClr val="bg1">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7259054" y="3391548"/>
              <a:ext cx="4297680" cy="1005840"/>
            </a:xfrm>
            <a:prstGeom prst="rect">
              <a:avLst/>
            </a:prstGeom>
            <a:solidFill>
              <a:schemeClr val="bg1"/>
            </a:solidFill>
          </p:spPr>
          <p:txBody>
            <a:bodyPr wrap="square" rtlCol="0" anchor="ctr">
              <a:noAutofit/>
            </a:bodyPr>
            <a:lstStyle/>
            <a:p>
              <a:pPr algn="ctr"/>
              <a:r>
                <a:rPr lang="en-US" sz="2400" dirty="0" smtClean="0">
                  <a:latin typeface="Arial" panose="020B0604020202020204" pitchFamily="34" charset="0"/>
                  <a:cs typeface="Arial" panose="020B0604020202020204" pitchFamily="34" charset="0"/>
                </a:rPr>
                <a:t>Increased Enrolment</a:t>
              </a:r>
              <a:endParaRPr lang="en-US" sz="2400" dirty="0">
                <a:latin typeface="Arial" panose="020B0604020202020204" pitchFamily="34" charset="0"/>
                <a:cs typeface="Arial" panose="020B0604020202020204" pitchFamily="34" charset="0"/>
              </a:endParaRPr>
            </a:p>
          </p:txBody>
        </p:sp>
      </p:grpSp>
      <p:sp>
        <p:nvSpPr>
          <p:cNvPr id="16" name="TextBox 15"/>
          <p:cNvSpPr txBox="1"/>
          <p:nvPr/>
        </p:nvSpPr>
        <p:spPr>
          <a:xfrm>
            <a:off x="7259054" y="5314734"/>
            <a:ext cx="4297680" cy="1005840"/>
          </a:xfrm>
          <a:prstGeom prst="rect">
            <a:avLst/>
          </a:prstGeom>
          <a:solidFill>
            <a:schemeClr val="bg1"/>
          </a:solidFill>
        </p:spPr>
        <p:txBody>
          <a:bodyPr wrap="square" rtlCol="0" anchor="ctr">
            <a:noAutofit/>
          </a:bodyPr>
          <a:lstStyle/>
          <a:p>
            <a:pPr algn="ctr"/>
            <a:r>
              <a:rPr lang="en-US" sz="2400" dirty="0" smtClean="0">
                <a:latin typeface="Arial" panose="020B0604020202020204" pitchFamily="34" charset="0"/>
                <a:cs typeface="Arial" panose="020B0604020202020204" pitchFamily="34" charset="0"/>
              </a:rPr>
              <a:t>Increased access to quality schools</a:t>
            </a:r>
            <a:endParaRPr lang="en-US" sz="2400" dirty="0">
              <a:latin typeface="Arial" panose="020B0604020202020204" pitchFamily="34" charset="0"/>
              <a:cs typeface="Arial" panose="020B0604020202020204" pitchFamily="34" charset="0"/>
            </a:endParaRPr>
          </a:p>
        </p:txBody>
      </p:sp>
      <p:sp>
        <p:nvSpPr>
          <p:cNvPr id="17" name="Title 1"/>
          <p:cNvSpPr txBox="1">
            <a:spLocks/>
          </p:cNvSpPr>
          <p:nvPr/>
        </p:nvSpPr>
        <p:spPr>
          <a:xfrm>
            <a:off x="0" y="0"/>
            <a:ext cx="12192000" cy="770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smtClean="0">
                <a:solidFill>
                  <a:srgbClr val="0099FF"/>
                </a:solidFill>
                <a:latin typeface="Arial" panose="020B0604020202020204" pitchFamily="34" charset="0"/>
                <a:cs typeface="Arial" panose="020B0604020202020204" pitchFamily="34" charset="0"/>
              </a:rPr>
              <a:t>Hierarchy of Results - Example</a:t>
            </a:r>
          </a:p>
        </p:txBody>
      </p:sp>
    </p:spTree>
    <p:extLst>
      <p:ext uri="{BB962C8B-B14F-4D97-AF65-F5344CB8AC3E}">
        <p14:creationId xmlns:p14="http://schemas.microsoft.com/office/powerpoint/2010/main" val="3987482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Results Chain</a:t>
            </a:r>
          </a:p>
        </p:txBody>
      </p:sp>
      <p:sp>
        <p:nvSpPr>
          <p:cNvPr id="19" name="Rectangle 45" descr="Wide upward diagonal"/>
          <p:cNvSpPr>
            <a:spLocks noChangeArrowheads="1"/>
          </p:cNvSpPr>
          <p:nvPr/>
        </p:nvSpPr>
        <p:spPr bwMode="auto">
          <a:xfrm>
            <a:off x="8256018" y="4608095"/>
            <a:ext cx="1219200" cy="609600"/>
          </a:xfrm>
          <a:prstGeom prst="rect">
            <a:avLst/>
          </a:prstGeom>
          <a:solidFill>
            <a:schemeClr val="accent1">
              <a:lumMod val="20000"/>
              <a:lumOff val="80000"/>
            </a:schemeClr>
          </a:solidFill>
          <a:ln w="9525">
            <a:noFill/>
            <a:miter lim="800000"/>
            <a:headEnd/>
            <a:tailEnd/>
          </a:ln>
          <a:effectLst/>
        </p:spPr>
        <p:txBody>
          <a:bodyPr wrap="none" anchor="ctr"/>
          <a:lstStyle/>
          <a:p>
            <a:pPr algn="ctr" defTabSz="457200">
              <a:defRPr/>
            </a:pPr>
            <a:r>
              <a:rPr lang="en-US" sz="2000" b="1" dirty="0">
                <a:solidFill>
                  <a:prstClr val="black"/>
                </a:solidFill>
                <a:latin typeface="Arial" panose="020B0604020202020204" pitchFamily="34" charset="0"/>
                <a:cs typeface="Arial" panose="020B0604020202020204" pitchFamily="34" charset="0"/>
              </a:rPr>
              <a:t>Result</a:t>
            </a:r>
          </a:p>
        </p:txBody>
      </p:sp>
      <p:sp>
        <p:nvSpPr>
          <p:cNvPr id="20" name="Rectangle 44" descr="Wide upward diagonal"/>
          <p:cNvSpPr>
            <a:spLocks noChangeArrowheads="1"/>
          </p:cNvSpPr>
          <p:nvPr/>
        </p:nvSpPr>
        <p:spPr bwMode="auto">
          <a:xfrm>
            <a:off x="6732018" y="4608095"/>
            <a:ext cx="1219200" cy="609600"/>
          </a:xfrm>
          <a:prstGeom prst="rect">
            <a:avLst/>
          </a:prstGeom>
          <a:solidFill>
            <a:schemeClr val="accent1">
              <a:lumMod val="20000"/>
              <a:lumOff val="80000"/>
            </a:schemeClr>
          </a:solidFill>
          <a:ln w="9525">
            <a:noFill/>
            <a:miter lim="800000"/>
            <a:headEnd/>
            <a:tailEnd/>
          </a:ln>
          <a:effectLst/>
        </p:spPr>
        <p:txBody>
          <a:bodyPr wrap="none" anchor="ctr"/>
          <a:lstStyle/>
          <a:p>
            <a:pPr algn="ctr" defTabSz="457200">
              <a:defRPr/>
            </a:pPr>
            <a:r>
              <a:rPr lang="en-US" sz="2000" b="1" dirty="0">
                <a:solidFill>
                  <a:prstClr val="black"/>
                </a:solidFill>
                <a:latin typeface="Arial" panose="020B0604020202020204" pitchFamily="34" charset="0"/>
                <a:cs typeface="Arial" panose="020B0604020202020204" pitchFamily="34" charset="0"/>
              </a:rPr>
              <a:t>Result</a:t>
            </a:r>
          </a:p>
        </p:txBody>
      </p:sp>
      <p:sp>
        <p:nvSpPr>
          <p:cNvPr id="21" name="Rectangle 43" descr="Wide upward diagonal"/>
          <p:cNvSpPr>
            <a:spLocks noChangeArrowheads="1"/>
          </p:cNvSpPr>
          <p:nvPr/>
        </p:nvSpPr>
        <p:spPr bwMode="auto">
          <a:xfrm>
            <a:off x="5131818" y="4608095"/>
            <a:ext cx="1219200" cy="609600"/>
          </a:xfrm>
          <a:prstGeom prst="rect">
            <a:avLst/>
          </a:prstGeom>
          <a:solidFill>
            <a:schemeClr val="accent1">
              <a:lumMod val="20000"/>
              <a:lumOff val="80000"/>
            </a:schemeClr>
          </a:solidFill>
          <a:ln w="9525">
            <a:noFill/>
            <a:miter lim="800000"/>
            <a:headEnd/>
            <a:tailEnd/>
          </a:ln>
          <a:effectLst/>
        </p:spPr>
        <p:txBody>
          <a:bodyPr wrap="none" anchor="ctr"/>
          <a:lstStyle/>
          <a:p>
            <a:pPr algn="ctr" defTabSz="457200">
              <a:defRPr/>
            </a:pPr>
            <a:r>
              <a:rPr lang="en-US" sz="2000" b="1" dirty="0">
                <a:solidFill>
                  <a:prstClr val="black"/>
                </a:solidFill>
                <a:latin typeface="Arial" panose="020B0604020202020204" pitchFamily="34" charset="0"/>
                <a:cs typeface="Arial" panose="020B0604020202020204" pitchFamily="34" charset="0"/>
              </a:rPr>
              <a:t>Result</a:t>
            </a:r>
          </a:p>
        </p:txBody>
      </p:sp>
      <p:sp>
        <p:nvSpPr>
          <p:cNvPr id="23" name="Rectangle 5"/>
          <p:cNvSpPr>
            <a:spLocks noChangeArrowheads="1"/>
          </p:cNvSpPr>
          <p:nvPr/>
        </p:nvSpPr>
        <p:spPr bwMode="auto">
          <a:xfrm>
            <a:off x="5131818" y="2322095"/>
            <a:ext cx="1219200" cy="609600"/>
          </a:xfrm>
          <a:prstGeom prst="rect">
            <a:avLst/>
          </a:prstGeom>
          <a:solidFill>
            <a:schemeClr val="accent1">
              <a:lumMod val="60000"/>
              <a:lumOff val="40000"/>
            </a:schemeClr>
          </a:solidFill>
          <a:ln w="9525">
            <a:noFill/>
            <a:miter lim="800000"/>
            <a:headEnd/>
            <a:tailEnd/>
          </a:ln>
          <a:effectLst/>
        </p:spPr>
        <p:txBody>
          <a:bodyPr wrap="none" anchor="ctr"/>
          <a:lstStyle/>
          <a:p>
            <a:pPr algn="ctr" defTabSz="457200" eaLnBrk="0" hangingPunct="0">
              <a:defRPr/>
            </a:pPr>
            <a:r>
              <a:rPr lang="en-US" sz="2000" b="1" dirty="0">
                <a:solidFill>
                  <a:prstClr val="black"/>
                </a:solidFill>
                <a:latin typeface="Arial" panose="020B0604020202020204" pitchFamily="34" charset="0"/>
                <a:cs typeface="Arial" panose="020B0604020202020204" pitchFamily="34" charset="0"/>
              </a:rPr>
              <a:t>Result</a:t>
            </a:r>
          </a:p>
        </p:txBody>
      </p:sp>
      <p:sp>
        <p:nvSpPr>
          <p:cNvPr id="24" name="Rectangle 6"/>
          <p:cNvSpPr>
            <a:spLocks noChangeArrowheads="1"/>
          </p:cNvSpPr>
          <p:nvPr/>
        </p:nvSpPr>
        <p:spPr bwMode="auto">
          <a:xfrm>
            <a:off x="7189218" y="2322095"/>
            <a:ext cx="1219200" cy="609600"/>
          </a:xfrm>
          <a:prstGeom prst="rect">
            <a:avLst/>
          </a:prstGeom>
          <a:solidFill>
            <a:schemeClr val="accent1">
              <a:lumMod val="60000"/>
              <a:lumOff val="40000"/>
            </a:schemeClr>
          </a:solidFill>
          <a:ln w="9525">
            <a:noFill/>
            <a:miter lim="800000"/>
            <a:headEnd/>
            <a:tailEnd/>
          </a:ln>
          <a:effectLst/>
        </p:spPr>
        <p:txBody>
          <a:bodyPr wrap="none" anchor="ctr"/>
          <a:lstStyle/>
          <a:p>
            <a:pPr algn="ctr" defTabSz="457200" eaLnBrk="0" hangingPunct="0">
              <a:defRPr/>
            </a:pPr>
            <a:r>
              <a:rPr lang="en-US" sz="2000" b="1" dirty="0">
                <a:solidFill>
                  <a:prstClr val="black"/>
                </a:solidFill>
                <a:latin typeface="Arial" panose="020B0604020202020204" pitchFamily="34" charset="0"/>
                <a:cs typeface="Arial" panose="020B0604020202020204" pitchFamily="34" charset="0"/>
              </a:rPr>
              <a:t>Result</a:t>
            </a:r>
          </a:p>
        </p:txBody>
      </p:sp>
      <p:sp>
        <p:nvSpPr>
          <p:cNvPr id="25" name="Rectangle 7"/>
          <p:cNvSpPr>
            <a:spLocks noChangeArrowheads="1"/>
          </p:cNvSpPr>
          <p:nvPr/>
        </p:nvSpPr>
        <p:spPr bwMode="auto">
          <a:xfrm>
            <a:off x="4446018" y="3388895"/>
            <a:ext cx="1219200" cy="609600"/>
          </a:xfrm>
          <a:prstGeom prst="rect">
            <a:avLst/>
          </a:prstGeom>
          <a:solidFill>
            <a:schemeClr val="accent1">
              <a:lumMod val="40000"/>
              <a:lumOff val="60000"/>
            </a:schemeClr>
          </a:solidFill>
          <a:ln w="9525">
            <a:noFill/>
            <a:miter lim="800000"/>
            <a:headEnd/>
            <a:tailEnd/>
          </a:ln>
          <a:effectLst/>
        </p:spPr>
        <p:txBody>
          <a:bodyPr wrap="none" anchor="ctr"/>
          <a:lstStyle/>
          <a:p>
            <a:pPr algn="ctr" defTabSz="457200" eaLnBrk="0" hangingPunct="0">
              <a:defRPr/>
            </a:pPr>
            <a:r>
              <a:rPr lang="en-US" sz="2000" b="1" dirty="0">
                <a:solidFill>
                  <a:prstClr val="black"/>
                </a:solidFill>
                <a:latin typeface="Arial" panose="020B0604020202020204" pitchFamily="34" charset="0"/>
                <a:cs typeface="Arial" panose="020B0604020202020204" pitchFamily="34" charset="0"/>
              </a:rPr>
              <a:t>Result</a:t>
            </a:r>
          </a:p>
        </p:txBody>
      </p:sp>
      <p:sp>
        <p:nvSpPr>
          <p:cNvPr id="26" name="Rectangle 8"/>
          <p:cNvSpPr>
            <a:spLocks noChangeArrowheads="1"/>
          </p:cNvSpPr>
          <p:nvPr/>
        </p:nvSpPr>
        <p:spPr bwMode="auto">
          <a:xfrm>
            <a:off x="6046218" y="3388895"/>
            <a:ext cx="1219200" cy="609600"/>
          </a:xfrm>
          <a:prstGeom prst="rect">
            <a:avLst/>
          </a:prstGeom>
          <a:solidFill>
            <a:schemeClr val="accent1">
              <a:lumMod val="40000"/>
              <a:lumOff val="60000"/>
            </a:schemeClr>
          </a:solidFill>
          <a:ln w="9525">
            <a:noFill/>
            <a:miter lim="800000"/>
            <a:headEnd/>
            <a:tailEnd/>
          </a:ln>
          <a:effectLst/>
        </p:spPr>
        <p:txBody>
          <a:bodyPr wrap="none" anchor="ctr"/>
          <a:lstStyle/>
          <a:p>
            <a:pPr algn="ctr" defTabSz="457200" eaLnBrk="0" hangingPunct="0">
              <a:defRPr/>
            </a:pPr>
            <a:r>
              <a:rPr lang="en-US" sz="2000" b="1" dirty="0">
                <a:solidFill>
                  <a:prstClr val="black"/>
                </a:solidFill>
                <a:latin typeface="Arial" panose="020B0604020202020204" pitchFamily="34" charset="0"/>
                <a:cs typeface="Arial" panose="020B0604020202020204" pitchFamily="34" charset="0"/>
              </a:rPr>
              <a:t>Result</a:t>
            </a:r>
          </a:p>
        </p:txBody>
      </p:sp>
      <p:sp>
        <p:nvSpPr>
          <p:cNvPr id="27" name="Rectangle 9"/>
          <p:cNvSpPr>
            <a:spLocks noChangeArrowheads="1"/>
          </p:cNvSpPr>
          <p:nvPr/>
        </p:nvSpPr>
        <p:spPr bwMode="auto">
          <a:xfrm>
            <a:off x="7722618" y="3388895"/>
            <a:ext cx="1219200" cy="609600"/>
          </a:xfrm>
          <a:prstGeom prst="rect">
            <a:avLst/>
          </a:prstGeom>
          <a:solidFill>
            <a:schemeClr val="accent1">
              <a:lumMod val="40000"/>
              <a:lumOff val="60000"/>
            </a:schemeClr>
          </a:solidFill>
          <a:ln w="9525">
            <a:noFill/>
            <a:miter lim="800000"/>
            <a:headEnd/>
            <a:tailEnd/>
          </a:ln>
          <a:effectLst/>
        </p:spPr>
        <p:txBody>
          <a:bodyPr wrap="none" anchor="ctr"/>
          <a:lstStyle/>
          <a:p>
            <a:pPr algn="ctr" defTabSz="457200" eaLnBrk="0" hangingPunct="0">
              <a:defRPr/>
            </a:pPr>
            <a:r>
              <a:rPr lang="en-US" sz="2000" b="1">
                <a:solidFill>
                  <a:prstClr val="black"/>
                </a:solidFill>
                <a:latin typeface="Arial" panose="020B0604020202020204" pitchFamily="34" charset="0"/>
                <a:cs typeface="Arial" panose="020B0604020202020204" pitchFamily="34" charset="0"/>
              </a:rPr>
              <a:t>Result</a:t>
            </a:r>
          </a:p>
        </p:txBody>
      </p:sp>
      <p:sp>
        <p:nvSpPr>
          <p:cNvPr id="28" name="Rectangle 10" descr="Wide upward diagonal"/>
          <p:cNvSpPr>
            <a:spLocks noChangeArrowheads="1"/>
          </p:cNvSpPr>
          <p:nvPr/>
        </p:nvSpPr>
        <p:spPr bwMode="auto">
          <a:xfrm>
            <a:off x="3684018" y="4608095"/>
            <a:ext cx="1219200" cy="609600"/>
          </a:xfrm>
          <a:prstGeom prst="rect">
            <a:avLst/>
          </a:prstGeom>
          <a:solidFill>
            <a:schemeClr val="accent1">
              <a:lumMod val="20000"/>
              <a:lumOff val="80000"/>
            </a:schemeClr>
          </a:solidFill>
          <a:ln w="9525">
            <a:noFill/>
            <a:miter lim="800000"/>
            <a:headEnd/>
            <a:tailEnd/>
          </a:ln>
          <a:effectLst/>
        </p:spPr>
        <p:txBody>
          <a:bodyPr wrap="none" anchor="ctr"/>
          <a:lstStyle/>
          <a:p>
            <a:pPr algn="ctr" defTabSz="457200">
              <a:defRPr/>
            </a:pPr>
            <a:r>
              <a:rPr lang="en-US" sz="2000" b="1" dirty="0">
                <a:solidFill>
                  <a:prstClr val="black"/>
                </a:solidFill>
                <a:latin typeface="Arial" panose="020B0604020202020204" pitchFamily="34" charset="0"/>
                <a:cs typeface="Arial" panose="020B0604020202020204" pitchFamily="34" charset="0"/>
              </a:rPr>
              <a:t>Result</a:t>
            </a:r>
          </a:p>
        </p:txBody>
      </p:sp>
      <p:sp>
        <p:nvSpPr>
          <p:cNvPr id="29" name="Line 14"/>
          <p:cNvSpPr>
            <a:spLocks noChangeShapeType="1"/>
          </p:cNvSpPr>
          <p:nvPr/>
        </p:nvSpPr>
        <p:spPr bwMode="auto">
          <a:xfrm flipH="1" flipV="1">
            <a:off x="6732018" y="3998495"/>
            <a:ext cx="381000" cy="609600"/>
          </a:xfrm>
          <a:prstGeom prst="line">
            <a:avLst/>
          </a:prstGeom>
          <a:noFill/>
          <a:ln w="28575">
            <a:solidFill>
              <a:schemeClr val="bg1">
                <a:lumMod val="75000"/>
              </a:schemeClr>
            </a:solidFill>
            <a:miter lim="800000"/>
            <a:headEnd/>
            <a:tailEnd type="triangle" w="med" len="med"/>
          </a:ln>
          <a:effectLst/>
        </p:spPr>
        <p:txBody>
          <a:bodyPr wrap="none"/>
          <a:lstStyle/>
          <a:p>
            <a:pPr defTabSz="457200"/>
            <a:endParaRPr lang="en-GB">
              <a:solidFill>
                <a:prstClr val="black"/>
              </a:solidFill>
              <a:latin typeface="Arial" panose="020B0604020202020204" pitchFamily="34" charset="0"/>
              <a:cs typeface="Arial" panose="020B0604020202020204" pitchFamily="34" charset="0"/>
            </a:endParaRPr>
          </a:p>
        </p:txBody>
      </p:sp>
      <p:sp>
        <p:nvSpPr>
          <p:cNvPr id="30" name="Line 15"/>
          <p:cNvSpPr>
            <a:spLocks noChangeShapeType="1"/>
          </p:cNvSpPr>
          <p:nvPr/>
        </p:nvSpPr>
        <p:spPr bwMode="auto">
          <a:xfrm flipH="1" flipV="1">
            <a:off x="8332218" y="3998495"/>
            <a:ext cx="533400" cy="609600"/>
          </a:xfrm>
          <a:prstGeom prst="line">
            <a:avLst/>
          </a:prstGeom>
          <a:noFill/>
          <a:ln w="28575">
            <a:solidFill>
              <a:schemeClr val="bg1">
                <a:lumMod val="75000"/>
              </a:schemeClr>
            </a:solidFill>
            <a:miter lim="800000"/>
            <a:headEnd/>
            <a:tailEnd type="triangle" w="med" len="med"/>
          </a:ln>
          <a:effectLst/>
        </p:spPr>
        <p:txBody>
          <a:bodyPr wrap="none"/>
          <a:lstStyle/>
          <a:p>
            <a:pPr defTabSz="457200"/>
            <a:endParaRPr lang="en-GB">
              <a:solidFill>
                <a:prstClr val="black"/>
              </a:solidFill>
              <a:latin typeface="Arial" panose="020B0604020202020204" pitchFamily="34" charset="0"/>
              <a:cs typeface="Arial" panose="020B0604020202020204" pitchFamily="34" charset="0"/>
            </a:endParaRPr>
          </a:p>
        </p:txBody>
      </p:sp>
      <p:sp>
        <p:nvSpPr>
          <p:cNvPr id="31" name="Line 16"/>
          <p:cNvSpPr>
            <a:spLocks noChangeShapeType="1"/>
          </p:cNvSpPr>
          <p:nvPr/>
        </p:nvSpPr>
        <p:spPr bwMode="auto">
          <a:xfrm flipV="1">
            <a:off x="5055618" y="2931695"/>
            <a:ext cx="381000" cy="457200"/>
          </a:xfrm>
          <a:prstGeom prst="line">
            <a:avLst/>
          </a:prstGeom>
          <a:noFill/>
          <a:ln w="28575">
            <a:solidFill>
              <a:schemeClr val="bg1">
                <a:lumMod val="75000"/>
              </a:schemeClr>
            </a:solidFill>
            <a:miter lim="800000"/>
            <a:headEnd/>
            <a:tailEnd type="triangle" w="med" len="med"/>
          </a:ln>
          <a:effectLst/>
        </p:spPr>
        <p:txBody>
          <a:bodyPr wrap="none"/>
          <a:lstStyle/>
          <a:p>
            <a:pPr defTabSz="457200"/>
            <a:endParaRPr lang="en-GB">
              <a:solidFill>
                <a:prstClr val="black"/>
              </a:solidFill>
              <a:latin typeface="Arial" panose="020B0604020202020204" pitchFamily="34" charset="0"/>
              <a:cs typeface="Arial" panose="020B0604020202020204" pitchFamily="34" charset="0"/>
            </a:endParaRPr>
          </a:p>
        </p:txBody>
      </p:sp>
      <p:sp>
        <p:nvSpPr>
          <p:cNvPr id="32" name="Line 17"/>
          <p:cNvSpPr>
            <a:spLocks noChangeShapeType="1"/>
          </p:cNvSpPr>
          <p:nvPr/>
        </p:nvSpPr>
        <p:spPr bwMode="auto">
          <a:xfrm flipH="1" flipV="1">
            <a:off x="7943280" y="2957095"/>
            <a:ext cx="312738" cy="431800"/>
          </a:xfrm>
          <a:prstGeom prst="line">
            <a:avLst/>
          </a:prstGeom>
          <a:noFill/>
          <a:ln w="28575">
            <a:solidFill>
              <a:schemeClr val="bg1">
                <a:lumMod val="75000"/>
              </a:schemeClr>
            </a:solidFill>
            <a:miter lim="800000"/>
            <a:headEnd/>
            <a:tailEnd type="triangle" w="med" len="med"/>
          </a:ln>
          <a:effectLst/>
        </p:spPr>
        <p:txBody>
          <a:bodyPr wrap="none"/>
          <a:lstStyle/>
          <a:p>
            <a:pPr defTabSz="457200"/>
            <a:endParaRPr lang="en-GB">
              <a:solidFill>
                <a:prstClr val="black"/>
              </a:solidFill>
              <a:latin typeface="Arial" panose="020B0604020202020204" pitchFamily="34" charset="0"/>
              <a:cs typeface="Arial" panose="020B0604020202020204" pitchFamily="34" charset="0"/>
            </a:endParaRPr>
          </a:p>
        </p:txBody>
      </p:sp>
      <p:sp>
        <p:nvSpPr>
          <p:cNvPr id="33" name="Line 18"/>
          <p:cNvSpPr>
            <a:spLocks noChangeShapeType="1"/>
          </p:cNvSpPr>
          <p:nvPr/>
        </p:nvSpPr>
        <p:spPr bwMode="auto">
          <a:xfrm flipV="1">
            <a:off x="6884418" y="2931695"/>
            <a:ext cx="762000" cy="457200"/>
          </a:xfrm>
          <a:prstGeom prst="line">
            <a:avLst/>
          </a:prstGeom>
          <a:noFill/>
          <a:ln w="28575">
            <a:solidFill>
              <a:schemeClr val="bg1">
                <a:lumMod val="75000"/>
              </a:schemeClr>
            </a:solidFill>
            <a:miter lim="800000"/>
            <a:headEnd/>
            <a:tailEnd type="triangle" w="med" len="med"/>
          </a:ln>
          <a:effectLst/>
        </p:spPr>
        <p:txBody>
          <a:bodyPr wrap="none"/>
          <a:lstStyle/>
          <a:p>
            <a:pPr defTabSz="457200"/>
            <a:endParaRPr lang="en-GB">
              <a:solidFill>
                <a:prstClr val="black"/>
              </a:solidFill>
              <a:latin typeface="Arial" panose="020B0604020202020204" pitchFamily="34" charset="0"/>
              <a:cs typeface="Arial" panose="020B0604020202020204" pitchFamily="34" charset="0"/>
            </a:endParaRPr>
          </a:p>
        </p:txBody>
      </p:sp>
      <p:sp>
        <p:nvSpPr>
          <p:cNvPr id="34" name="Line 19"/>
          <p:cNvSpPr>
            <a:spLocks noChangeShapeType="1"/>
          </p:cNvSpPr>
          <p:nvPr/>
        </p:nvSpPr>
        <p:spPr bwMode="auto">
          <a:xfrm flipV="1">
            <a:off x="4522218" y="3998495"/>
            <a:ext cx="457200" cy="609600"/>
          </a:xfrm>
          <a:prstGeom prst="line">
            <a:avLst/>
          </a:prstGeom>
          <a:noFill/>
          <a:ln w="28575">
            <a:solidFill>
              <a:schemeClr val="bg1">
                <a:lumMod val="75000"/>
              </a:schemeClr>
            </a:solidFill>
            <a:miter lim="800000"/>
            <a:headEnd/>
            <a:tailEnd type="triangle" w="med" len="med"/>
          </a:ln>
          <a:effectLst/>
        </p:spPr>
        <p:txBody>
          <a:bodyPr wrap="none"/>
          <a:lstStyle/>
          <a:p>
            <a:pPr defTabSz="457200"/>
            <a:endParaRPr lang="en-GB">
              <a:solidFill>
                <a:prstClr val="black"/>
              </a:solidFill>
              <a:latin typeface="Arial" panose="020B0604020202020204" pitchFamily="34" charset="0"/>
              <a:cs typeface="Arial" panose="020B0604020202020204" pitchFamily="34" charset="0"/>
            </a:endParaRPr>
          </a:p>
        </p:txBody>
      </p:sp>
      <p:sp>
        <p:nvSpPr>
          <p:cNvPr id="35" name="Line 20"/>
          <p:cNvSpPr>
            <a:spLocks noChangeShapeType="1"/>
          </p:cNvSpPr>
          <p:nvPr/>
        </p:nvSpPr>
        <p:spPr bwMode="auto">
          <a:xfrm flipH="1" flipV="1">
            <a:off x="5208018" y="3998495"/>
            <a:ext cx="381000" cy="609600"/>
          </a:xfrm>
          <a:prstGeom prst="line">
            <a:avLst/>
          </a:prstGeom>
          <a:noFill/>
          <a:ln w="28575">
            <a:solidFill>
              <a:schemeClr val="bg1">
                <a:lumMod val="75000"/>
              </a:schemeClr>
            </a:solidFill>
            <a:miter lim="800000"/>
            <a:headEnd/>
            <a:tailEnd type="triangle" w="med" len="med"/>
          </a:ln>
          <a:effectLst/>
        </p:spPr>
        <p:txBody>
          <a:bodyPr wrap="none"/>
          <a:lstStyle/>
          <a:p>
            <a:pPr defTabSz="457200"/>
            <a:endParaRPr lang="en-GB">
              <a:solidFill>
                <a:prstClr val="black"/>
              </a:solidFill>
              <a:latin typeface="Arial" panose="020B0604020202020204" pitchFamily="34" charset="0"/>
              <a:cs typeface="Arial" panose="020B0604020202020204" pitchFamily="34" charset="0"/>
            </a:endParaRPr>
          </a:p>
        </p:txBody>
      </p:sp>
      <p:sp>
        <p:nvSpPr>
          <p:cNvPr id="47" name="Line 34"/>
          <p:cNvSpPr>
            <a:spLocks noChangeShapeType="1"/>
          </p:cNvSpPr>
          <p:nvPr/>
        </p:nvSpPr>
        <p:spPr bwMode="auto">
          <a:xfrm>
            <a:off x="1931418" y="2169695"/>
            <a:ext cx="9235440" cy="1588"/>
          </a:xfrm>
          <a:prstGeom prst="line">
            <a:avLst/>
          </a:prstGeom>
          <a:noFill/>
          <a:ln w="9525" cap="rnd">
            <a:solidFill>
              <a:schemeClr val="tx1"/>
            </a:solidFill>
            <a:prstDash val="sysDot"/>
            <a:miter lim="800000"/>
            <a:headEnd/>
            <a:tailEnd/>
          </a:ln>
        </p:spPr>
        <p:txBody>
          <a:bodyPr wrap="none"/>
          <a:lstStyle/>
          <a:p>
            <a:pPr defTabSz="457200"/>
            <a:endParaRPr lang="en-GB">
              <a:solidFill>
                <a:prstClr val="black"/>
              </a:solidFill>
              <a:latin typeface="Arial" panose="020B0604020202020204" pitchFamily="34" charset="0"/>
              <a:cs typeface="Arial" panose="020B0604020202020204" pitchFamily="34" charset="0"/>
            </a:endParaRPr>
          </a:p>
        </p:txBody>
      </p:sp>
      <p:sp>
        <p:nvSpPr>
          <p:cNvPr id="48" name="Line 35"/>
          <p:cNvSpPr>
            <a:spLocks noChangeShapeType="1"/>
          </p:cNvSpPr>
          <p:nvPr/>
        </p:nvSpPr>
        <p:spPr bwMode="auto">
          <a:xfrm>
            <a:off x="1931418" y="3188369"/>
            <a:ext cx="9235440" cy="1588"/>
          </a:xfrm>
          <a:prstGeom prst="line">
            <a:avLst/>
          </a:prstGeom>
          <a:noFill/>
          <a:ln w="9525" cap="rnd">
            <a:solidFill>
              <a:schemeClr val="tx1"/>
            </a:solidFill>
            <a:prstDash val="sysDot"/>
            <a:miter lim="800000"/>
            <a:headEnd/>
            <a:tailEnd/>
          </a:ln>
        </p:spPr>
        <p:txBody>
          <a:bodyPr wrap="none"/>
          <a:lstStyle/>
          <a:p>
            <a:pPr defTabSz="457200"/>
            <a:endParaRPr lang="en-GB">
              <a:solidFill>
                <a:prstClr val="black"/>
              </a:solidFill>
              <a:latin typeface="Arial" panose="020B0604020202020204" pitchFamily="34" charset="0"/>
              <a:cs typeface="Arial" panose="020B0604020202020204" pitchFamily="34" charset="0"/>
            </a:endParaRPr>
          </a:p>
        </p:txBody>
      </p:sp>
      <p:sp>
        <p:nvSpPr>
          <p:cNvPr id="49" name="Line 36"/>
          <p:cNvSpPr>
            <a:spLocks noChangeShapeType="1"/>
          </p:cNvSpPr>
          <p:nvPr/>
        </p:nvSpPr>
        <p:spPr bwMode="auto">
          <a:xfrm>
            <a:off x="1931418" y="4328695"/>
            <a:ext cx="9235440" cy="1588"/>
          </a:xfrm>
          <a:prstGeom prst="line">
            <a:avLst/>
          </a:prstGeom>
          <a:noFill/>
          <a:ln w="9525" cap="rnd">
            <a:solidFill>
              <a:schemeClr val="tx1"/>
            </a:solidFill>
            <a:prstDash val="sysDot"/>
            <a:miter lim="800000"/>
            <a:headEnd/>
            <a:tailEnd/>
          </a:ln>
        </p:spPr>
        <p:txBody>
          <a:bodyPr wrap="none"/>
          <a:lstStyle/>
          <a:p>
            <a:pPr defTabSz="457200"/>
            <a:endParaRPr lang="en-GB">
              <a:solidFill>
                <a:prstClr val="black"/>
              </a:solidFill>
              <a:latin typeface="Arial" panose="020B0604020202020204" pitchFamily="34" charset="0"/>
              <a:cs typeface="Arial" panose="020B0604020202020204" pitchFamily="34" charset="0"/>
            </a:endParaRPr>
          </a:p>
        </p:txBody>
      </p:sp>
      <p:sp>
        <p:nvSpPr>
          <p:cNvPr id="51" name="Rectangle 47"/>
          <p:cNvSpPr>
            <a:spLocks noChangeArrowheads="1"/>
          </p:cNvSpPr>
          <p:nvPr/>
        </p:nvSpPr>
        <p:spPr bwMode="auto">
          <a:xfrm>
            <a:off x="3150618" y="5573295"/>
            <a:ext cx="1219200" cy="609600"/>
          </a:xfrm>
          <a:prstGeom prst="rect">
            <a:avLst/>
          </a:prstGeom>
          <a:solidFill>
            <a:srgbClr val="FFCC99"/>
          </a:solidFill>
          <a:ln w="9525">
            <a:noFill/>
            <a:miter lim="800000"/>
            <a:headEnd/>
            <a:tailEnd/>
          </a:ln>
          <a:effectLst/>
        </p:spPr>
        <p:txBody>
          <a:bodyPr wrap="none" anchor="ctr"/>
          <a:lstStyle/>
          <a:p>
            <a:pPr algn="ctr" defTabSz="457200">
              <a:defRPr/>
            </a:pPr>
            <a:r>
              <a:rPr lang="en-US" sz="1600" b="1" dirty="0">
                <a:solidFill>
                  <a:prstClr val="black"/>
                </a:solidFill>
                <a:latin typeface="Arial" panose="020B0604020202020204" pitchFamily="34" charset="0"/>
                <a:cs typeface="Arial" panose="020B0604020202020204" pitchFamily="34" charset="0"/>
              </a:rPr>
              <a:t>Activities</a:t>
            </a:r>
          </a:p>
          <a:p>
            <a:pPr algn="ctr" defTabSz="457200">
              <a:defRPr/>
            </a:pPr>
            <a:r>
              <a:rPr lang="en-US" sz="1600" b="1" dirty="0">
                <a:solidFill>
                  <a:prstClr val="black"/>
                </a:solidFill>
                <a:latin typeface="Arial" panose="020B0604020202020204" pitchFamily="34" charset="0"/>
                <a:cs typeface="Arial" panose="020B0604020202020204" pitchFamily="34" charset="0"/>
              </a:rPr>
              <a:t>Inputs</a:t>
            </a:r>
          </a:p>
        </p:txBody>
      </p:sp>
      <p:sp>
        <p:nvSpPr>
          <p:cNvPr id="52" name="Rectangle 48"/>
          <p:cNvSpPr>
            <a:spLocks noChangeArrowheads="1"/>
          </p:cNvSpPr>
          <p:nvPr/>
        </p:nvSpPr>
        <p:spPr bwMode="auto">
          <a:xfrm>
            <a:off x="6122418" y="5573295"/>
            <a:ext cx="1219200" cy="609600"/>
          </a:xfrm>
          <a:prstGeom prst="rect">
            <a:avLst/>
          </a:prstGeom>
          <a:solidFill>
            <a:srgbClr val="FFCC99"/>
          </a:solidFill>
          <a:ln w="9525">
            <a:noFill/>
            <a:miter lim="800000"/>
            <a:headEnd/>
            <a:tailEnd/>
          </a:ln>
          <a:effectLst/>
        </p:spPr>
        <p:txBody>
          <a:bodyPr wrap="none" anchor="ctr"/>
          <a:lstStyle/>
          <a:p>
            <a:pPr algn="ctr" defTabSz="457200">
              <a:defRPr/>
            </a:pPr>
            <a:r>
              <a:rPr lang="en-US" sz="1600" b="1" dirty="0">
                <a:solidFill>
                  <a:prstClr val="black"/>
                </a:solidFill>
                <a:latin typeface="Arial" panose="020B0604020202020204" pitchFamily="34" charset="0"/>
                <a:cs typeface="Arial" panose="020B0604020202020204" pitchFamily="34" charset="0"/>
              </a:rPr>
              <a:t>Activities</a:t>
            </a:r>
          </a:p>
          <a:p>
            <a:pPr algn="ctr" defTabSz="457200">
              <a:defRPr/>
            </a:pPr>
            <a:r>
              <a:rPr lang="en-US" sz="1600" b="1" dirty="0">
                <a:solidFill>
                  <a:prstClr val="black"/>
                </a:solidFill>
                <a:latin typeface="Arial" panose="020B0604020202020204" pitchFamily="34" charset="0"/>
                <a:cs typeface="Arial" panose="020B0604020202020204" pitchFamily="34" charset="0"/>
              </a:rPr>
              <a:t>Inputs</a:t>
            </a:r>
          </a:p>
        </p:txBody>
      </p:sp>
      <p:sp>
        <p:nvSpPr>
          <p:cNvPr id="53" name="Rectangle 49"/>
          <p:cNvSpPr>
            <a:spLocks noChangeArrowheads="1"/>
          </p:cNvSpPr>
          <p:nvPr/>
        </p:nvSpPr>
        <p:spPr bwMode="auto">
          <a:xfrm>
            <a:off x="7570218" y="5573295"/>
            <a:ext cx="1219200" cy="609600"/>
          </a:xfrm>
          <a:prstGeom prst="rect">
            <a:avLst/>
          </a:prstGeom>
          <a:solidFill>
            <a:srgbClr val="FFCC99"/>
          </a:solidFill>
          <a:ln w="9525">
            <a:noFill/>
            <a:miter lim="800000"/>
            <a:headEnd/>
            <a:tailEnd/>
          </a:ln>
          <a:effectLst/>
        </p:spPr>
        <p:txBody>
          <a:bodyPr wrap="none" anchor="ctr"/>
          <a:lstStyle/>
          <a:p>
            <a:pPr algn="ctr" defTabSz="457200"/>
            <a:endParaRPr lang="en-US" altLang="ko-KR" sz="1600" b="1">
              <a:solidFill>
                <a:prstClr val="black"/>
              </a:solidFill>
              <a:latin typeface="Arial" panose="020B0604020202020204" pitchFamily="34" charset="0"/>
              <a:ea typeface="굴림" pitchFamily="50" charset="-127"/>
              <a:cs typeface="Arial" panose="020B0604020202020204" pitchFamily="34" charset="0"/>
            </a:endParaRPr>
          </a:p>
          <a:p>
            <a:pPr algn="ctr" defTabSz="457200"/>
            <a:r>
              <a:rPr lang="en-US" altLang="ko-KR" sz="1600" b="1">
                <a:solidFill>
                  <a:prstClr val="black"/>
                </a:solidFill>
                <a:latin typeface="Arial" panose="020B0604020202020204" pitchFamily="34" charset="0"/>
                <a:ea typeface="굴림" pitchFamily="50" charset="-127"/>
                <a:cs typeface="Arial" panose="020B0604020202020204" pitchFamily="34" charset="0"/>
              </a:rPr>
              <a:t>Activities</a:t>
            </a:r>
          </a:p>
          <a:p>
            <a:pPr algn="ctr" defTabSz="457200"/>
            <a:r>
              <a:rPr lang="en-US" altLang="ko-KR" sz="1600" b="1">
                <a:solidFill>
                  <a:prstClr val="black"/>
                </a:solidFill>
                <a:latin typeface="Arial" panose="020B0604020202020204" pitchFamily="34" charset="0"/>
                <a:ea typeface="굴림" pitchFamily="50" charset="-127"/>
                <a:cs typeface="Arial" panose="020B0604020202020204" pitchFamily="34" charset="0"/>
              </a:rPr>
              <a:t>Inputs</a:t>
            </a:r>
          </a:p>
          <a:p>
            <a:pPr algn="ctr" defTabSz="457200"/>
            <a:endParaRPr lang="en-US" altLang="ko-KR" sz="1600" b="1">
              <a:solidFill>
                <a:prstClr val="black"/>
              </a:solidFill>
              <a:latin typeface="Arial" panose="020B0604020202020204" pitchFamily="34" charset="0"/>
              <a:ea typeface="굴림" pitchFamily="50" charset="-127"/>
              <a:cs typeface="Arial" panose="020B0604020202020204" pitchFamily="34" charset="0"/>
            </a:endParaRPr>
          </a:p>
        </p:txBody>
      </p:sp>
      <p:sp>
        <p:nvSpPr>
          <p:cNvPr id="54" name="Rectangle 50"/>
          <p:cNvSpPr>
            <a:spLocks noChangeArrowheads="1"/>
          </p:cNvSpPr>
          <p:nvPr/>
        </p:nvSpPr>
        <p:spPr bwMode="auto">
          <a:xfrm>
            <a:off x="9018018" y="5573295"/>
            <a:ext cx="1219200" cy="609600"/>
          </a:xfrm>
          <a:prstGeom prst="rect">
            <a:avLst/>
          </a:prstGeom>
          <a:solidFill>
            <a:srgbClr val="FFCC99"/>
          </a:solidFill>
          <a:ln w="9525">
            <a:noFill/>
            <a:miter lim="800000"/>
            <a:headEnd/>
            <a:tailEnd/>
          </a:ln>
          <a:effectLst/>
        </p:spPr>
        <p:txBody>
          <a:bodyPr wrap="none" anchor="ctr"/>
          <a:lstStyle/>
          <a:p>
            <a:pPr algn="ctr" defTabSz="457200" eaLnBrk="0" hangingPunct="0">
              <a:defRPr/>
            </a:pPr>
            <a:r>
              <a:rPr lang="en-US" sz="1600" b="1" dirty="0">
                <a:solidFill>
                  <a:prstClr val="black"/>
                </a:solidFill>
                <a:latin typeface="Arial" panose="020B0604020202020204" pitchFamily="34" charset="0"/>
                <a:cs typeface="Arial" panose="020B0604020202020204" pitchFamily="34" charset="0"/>
              </a:rPr>
              <a:t>Activities</a:t>
            </a:r>
          </a:p>
          <a:p>
            <a:pPr algn="ctr" defTabSz="457200" eaLnBrk="0" hangingPunct="0">
              <a:defRPr/>
            </a:pPr>
            <a:r>
              <a:rPr lang="en-US" sz="1600" b="1" dirty="0">
                <a:solidFill>
                  <a:prstClr val="black"/>
                </a:solidFill>
                <a:latin typeface="Arial" panose="020B0604020202020204" pitchFamily="34" charset="0"/>
                <a:cs typeface="Arial" panose="020B0604020202020204" pitchFamily="34" charset="0"/>
              </a:rPr>
              <a:t>Inputs</a:t>
            </a:r>
          </a:p>
        </p:txBody>
      </p:sp>
      <p:sp>
        <p:nvSpPr>
          <p:cNvPr id="55" name="Rectangle 51"/>
          <p:cNvSpPr>
            <a:spLocks noChangeArrowheads="1"/>
          </p:cNvSpPr>
          <p:nvPr/>
        </p:nvSpPr>
        <p:spPr bwMode="auto">
          <a:xfrm>
            <a:off x="4674618" y="5573295"/>
            <a:ext cx="1219200" cy="609600"/>
          </a:xfrm>
          <a:prstGeom prst="rect">
            <a:avLst/>
          </a:prstGeom>
          <a:solidFill>
            <a:srgbClr val="FFCC99"/>
          </a:solidFill>
          <a:ln w="9525">
            <a:noFill/>
            <a:miter lim="800000"/>
            <a:headEnd/>
            <a:tailEnd/>
          </a:ln>
          <a:effectLst/>
        </p:spPr>
        <p:txBody>
          <a:bodyPr wrap="none" anchor="ctr"/>
          <a:lstStyle/>
          <a:p>
            <a:pPr algn="ctr" defTabSz="457200">
              <a:defRPr/>
            </a:pPr>
            <a:r>
              <a:rPr lang="en-US" sz="1600" b="1">
                <a:solidFill>
                  <a:prstClr val="black"/>
                </a:solidFill>
                <a:latin typeface="Arial" panose="020B0604020202020204" pitchFamily="34" charset="0"/>
                <a:cs typeface="Arial" panose="020B0604020202020204" pitchFamily="34" charset="0"/>
              </a:rPr>
              <a:t>Activities</a:t>
            </a:r>
          </a:p>
          <a:p>
            <a:pPr algn="ctr" defTabSz="457200">
              <a:defRPr/>
            </a:pPr>
            <a:r>
              <a:rPr lang="en-US" sz="1600" b="1">
                <a:solidFill>
                  <a:prstClr val="black"/>
                </a:solidFill>
                <a:latin typeface="Arial" panose="020B0604020202020204" pitchFamily="34" charset="0"/>
                <a:cs typeface="Arial" panose="020B0604020202020204" pitchFamily="34" charset="0"/>
              </a:rPr>
              <a:t>Inputs</a:t>
            </a:r>
          </a:p>
        </p:txBody>
      </p:sp>
      <p:sp>
        <p:nvSpPr>
          <p:cNvPr id="59" name="Line 55"/>
          <p:cNvSpPr>
            <a:spLocks noChangeShapeType="1"/>
          </p:cNvSpPr>
          <p:nvPr/>
        </p:nvSpPr>
        <p:spPr bwMode="auto">
          <a:xfrm flipV="1">
            <a:off x="3760218" y="5312611"/>
            <a:ext cx="381000" cy="228600"/>
          </a:xfrm>
          <a:prstGeom prst="line">
            <a:avLst/>
          </a:prstGeom>
          <a:noFill/>
          <a:ln w="28575">
            <a:solidFill>
              <a:schemeClr val="bg1">
                <a:lumMod val="75000"/>
              </a:schemeClr>
            </a:solidFill>
            <a:round/>
            <a:headEnd/>
            <a:tailEnd type="triangle" w="med" len="med"/>
          </a:ln>
          <a:effectLst/>
        </p:spPr>
        <p:txBody>
          <a:bodyPr/>
          <a:lstStyle/>
          <a:p>
            <a:pPr defTabSz="457200"/>
            <a:endParaRPr lang="en-GB">
              <a:solidFill>
                <a:prstClr val="black"/>
              </a:solidFill>
              <a:latin typeface="Arial" panose="020B0604020202020204" pitchFamily="34" charset="0"/>
              <a:cs typeface="Arial" panose="020B0604020202020204" pitchFamily="34" charset="0"/>
            </a:endParaRPr>
          </a:p>
        </p:txBody>
      </p:sp>
      <p:sp>
        <p:nvSpPr>
          <p:cNvPr id="60" name="Line 56"/>
          <p:cNvSpPr>
            <a:spLocks noChangeShapeType="1"/>
          </p:cNvSpPr>
          <p:nvPr/>
        </p:nvSpPr>
        <p:spPr bwMode="auto">
          <a:xfrm flipV="1">
            <a:off x="5284218" y="5312611"/>
            <a:ext cx="304800" cy="228600"/>
          </a:xfrm>
          <a:prstGeom prst="line">
            <a:avLst/>
          </a:prstGeom>
          <a:noFill/>
          <a:ln w="28575">
            <a:solidFill>
              <a:schemeClr val="bg1">
                <a:lumMod val="75000"/>
              </a:schemeClr>
            </a:solidFill>
            <a:round/>
            <a:headEnd/>
            <a:tailEnd type="triangle" w="med" len="med"/>
          </a:ln>
          <a:effectLst/>
        </p:spPr>
        <p:txBody>
          <a:bodyPr/>
          <a:lstStyle/>
          <a:p>
            <a:pPr defTabSz="457200"/>
            <a:endParaRPr lang="en-GB">
              <a:solidFill>
                <a:prstClr val="black"/>
              </a:solidFill>
              <a:latin typeface="Arial" panose="020B0604020202020204" pitchFamily="34" charset="0"/>
              <a:cs typeface="Arial" panose="020B0604020202020204" pitchFamily="34" charset="0"/>
            </a:endParaRPr>
          </a:p>
        </p:txBody>
      </p:sp>
      <p:sp>
        <p:nvSpPr>
          <p:cNvPr id="61" name="Line 57"/>
          <p:cNvSpPr>
            <a:spLocks noChangeShapeType="1"/>
          </p:cNvSpPr>
          <p:nvPr/>
        </p:nvSpPr>
        <p:spPr bwMode="auto">
          <a:xfrm flipV="1">
            <a:off x="6884418" y="5312611"/>
            <a:ext cx="228600" cy="228600"/>
          </a:xfrm>
          <a:prstGeom prst="line">
            <a:avLst/>
          </a:prstGeom>
          <a:noFill/>
          <a:ln w="28575">
            <a:solidFill>
              <a:schemeClr val="bg1">
                <a:lumMod val="75000"/>
              </a:schemeClr>
            </a:solidFill>
            <a:round/>
            <a:headEnd/>
            <a:tailEnd type="triangle" w="med" len="med"/>
          </a:ln>
          <a:effectLst/>
        </p:spPr>
        <p:txBody>
          <a:bodyPr/>
          <a:lstStyle/>
          <a:p>
            <a:pPr defTabSz="457200"/>
            <a:endParaRPr lang="en-GB">
              <a:solidFill>
                <a:prstClr val="black"/>
              </a:solidFill>
              <a:latin typeface="Arial" panose="020B0604020202020204" pitchFamily="34" charset="0"/>
              <a:cs typeface="Arial" panose="020B0604020202020204" pitchFamily="34" charset="0"/>
            </a:endParaRPr>
          </a:p>
        </p:txBody>
      </p:sp>
      <p:sp>
        <p:nvSpPr>
          <p:cNvPr id="62" name="Line 58"/>
          <p:cNvSpPr>
            <a:spLocks noChangeShapeType="1"/>
          </p:cNvSpPr>
          <p:nvPr/>
        </p:nvSpPr>
        <p:spPr bwMode="auto">
          <a:xfrm flipH="1" flipV="1">
            <a:off x="7646418" y="5312611"/>
            <a:ext cx="381000" cy="228600"/>
          </a:xfrm>
          <a:prstGeom prst="line">
            <a:avLst/>
          </a:prstGeom>
          <a:noFill/>
          <a:ln w="28575">
            <a:solidFill>
              <a:schemeClr val="bg1">
                <a:lumMod val="75000"/>
              </a:schemeClr>
            </a:solidFill>
            <a:round/>
            <a:headEnd/>
            <a:tailEnd type="triangle" w="med" len="med"/>
          </a:ln>
          <a:effectLst/>
        </p:spPr>
        <p:txBody>
          <a:bodyPr/>
          <a:lstStyle/>
          <a:p>
            <a:pPr defTabSz="457200"/>
            <a:endParaRPr lang="en-GB">
              <a:solidFill>
                <a:prstClr val="black"/>
              </a:solidFill>
              <a:latin typeface="Arial" panose="020B0604020202020204" pitchFamily="34" charset="0"/>
              <a:cs typeface="Arial" panose="020B0604020202020204" pitchFamily="34" charset="0"/>
            </a:endParaRPr>
          </a:p>
        </p:txBody>
      </p:sp>
      <p:sp>
        <p:nvSpPr>
          <p:cNvPr id="63" name="Line 59"/>
          <p:cNvSpPr>
            <a:spLocks noChangeShapeType="1"/>
          </p:cNvSpPr>
          <p:nvPr/>
        </p:nvSpPr>
        <p:spPr bwMode="auto">
          <a:xfrm flipH="1" flipV="1">
            <a:off x="9170418" y="5312611"/>
            <a:ext cx="304800" cy="228600"/>
          </a:xfrm>
          <a:prstGeom prst="line">
            <a:avLst/>
          </a:prstGeom>
          <a:noFill/>
          <a:ln w="28575">
            <a:solidFill>
              <a:schemeClr val="bg1">
                <a:lumMod val="75000"/>
              </a:schemeClr>
            </a:solidFill>
            <a:round/>
            <a:headEnd/>
            <a:tailEnd type="triangle" w="med" len="med"/>
          </a:ln>
          <a:effectLst/>
        </p:spPr>
        <p:txBody>
          <a:bodyPr/>
          <a:lstStyle/>
          <a:p>
            <a:pPr defTabSz="457200"/>
            <a:endParaRPr lang="en-GB">
              <a:solidFill>
                <a:prstClr val="black"/>
              </a:solidFill>
              <a:latin typeface="Arial" panose="020B0604020202020204" pitchFamily="34" charset="0"/>
              <a:cs typeface="Arial" panose="020B0604020202020204" pitchFamily="34" charset="0"/>
            </a:endParaRPr>
          </a:p>
        </p:txBody>
      </p:sp>
      <p:sp>
        <p:nvSpPr>
          <p:cNvPr id="67" name="Line 14"/>
          <p:cNvSpPr>
            <a:spLocks noChangeShapeType="1"/>
          </p:cNvSpPr>
          <p:nvPr/>
        </p:nvSpPr>
        <p:spPr bwMode="auto">
          <a:xfrm flipV="1">
            <a:off x="6122418" y="3998495"/>
            <a:ext cx="381000" cy="609600"/>
          </a:xfrm>
          <a:prstGeom prst="line">
            <a:avLst/>
          </a:prstGeom>
          <a:noFill/>
          <a:ln w="28575">
            <a:solidFill>
              <a:schemeClr val="bg1">
                <a:lumMod val="75000"/>
              </a:schemeClr>
            </a:solidFill>
            <a:miter lim="800000"/>
            <a:headEnd/>
            <a:tailEnd type="triangle" w="med" len="med"/>
          </a:ln>
          <a:effectLst/>
        </p:spPr>
        <p:txBody>
          <a:bodyPr wrap="none"/>
          <a:lstStyle/>
          <a:p>
            <a:pPr defTabSz="457200"/>
            <a:endParaRPr lang="en-GB">
              <a:solidFill>
                <a:prstClr val="black"/>
              </a:solidFill>
              <a:latin typeface="Arial" panose="020B0604020202020204" pitchFamily="34" charset="0"/>
              <a:cs typeface="Arial" panose="020B0604020202020204" pitchFamily="34" charset="0"/>
            </a:endParaRPr>
          </a:p>
        </p:txBody>
      </p:sp>
      <p:sp>
        <p:nvSpPr>
          <p:cNvPr id="68" name="Line 14"/>
          <p:cNvSpPr>
            <a:spLocks noChangeShapeType="1"/>
          </p:cNvSpPr>
          <p:nvPr/>
        </p:nvSpPr>
        <p:spPr bwMode="auto">
          <a:xfrm flipV="1">
            <a:off x="7722618" y="3998495"/>
            <a:ext cx="381000" cy="609600"/>
          </a:xfrm>
          <a:prstGeom prst="line">
            <a:avLst/>
          </a:prstGeom>
          <a:noFill/>
          <a:ln w="28575">
            <a:solidFill>
              <a:schemeClr val="bg1">
                <a:lumMod val="75000"/>
              </a:schemeClr>
            </a:solidFill>
            <a:miter lim="800000"/>
            <a:headEnd/>
            <a:tailEnd type="triangle" w="med" len="med"/>
          </a:ln>
          <a:effectLst/>
        </p:spPr>
        <p:txBody>
          <a:bodyPr wrap="none"/>
          <a:lstStyle/>
          <a:p>
            <a:pPr defTabSz="457200"/>
            <a:endParaRPr lang="en-GB">
              <a:solidFill>
                <a:prstClr val="black"/>
              </a:solidFill>
              <a:latin typeface="Arial" panose="020B0604020202020204" pitchFamily="34" charset="0"/>
              <a:cs typeface="Arial" panose="020B0604020202020204" pitchFamily="34" charset="0"/>
            </a:endParaRPr>
          </a:p>
        </p:txBody>
      </p:sp>
      <p:sp>
        <p:nvSpPr>
          <p:cNvPr id="69" name="Line 14"/>
          <p:cNvSpPr>
            <a:spLocks noChangeShapeType="1"/>
          </p:cNvSpPr>
          <p:nvPr/>
        </p:nvSpPr>
        <p:spPr bwMode="auto">
          <a:xfrm flipH="1" flipV="1">
            <a:off x="5970018" y="2931695"/>
            <a:ext cx="457200" cy="457200"/>
          </a:xfrm>
          <a:prstGeom prst="line">
            <a:avLst/>
          </a:prstGeom>
          <a:noFill/>
          <a:ln w="28575">
            <a:solidFill>
              <a:schemeClr val="bg1">
                <a:lumMod val="75000"/>
              </a:schemeClr>
            </a:solidFill>
            <a:miter lim="800000"/>
            <a:headEnd/>
            <a:tailEnd type="triangle" w="med" len="med"/>
          </a:ln>
          <a:effectLst/>
        </p:spPr>
        <p:txBody>
          <a:bodyPr wrap="none"/>
          <a:lstStyle/>
          <a:p>
            <a:pPr defTabSz="457200"/>
            <a:endParaRPr lang="en-GB">
              <a:solidFill>
                <a:prstClr val="black"/>
              </a:solidFill>
              <a:latin typeface="Arial" panose="020B0604020202020204" pitchFamily="34" charset="0"/>
              <a:cs typeface="Arial" panose="020B0604020202020204" pitchFamily="34" charset="0"/>
            </a:endParaRPr>
          </a:p>
        </p:txBody>
      </p:sp>
      <p:sp>
        <p:nvSpPr>
          <p:cNvPr id="70" name="Line 36"/>
          <p:cNvSpPr>
            <a:spLocks noChangeShapeType="1"/>
          </p:cNvSpPr>
          <p:nvPr/>
        </p:nvSpPr>
        <p:spPr bwMode="auto">
          <a:xfrm>
            <a:off x="1885698" y="6282907"/>
            <a:ext cx="9235440" cy="1588"/>
          </a:xfrm>
          <a:prstGeom prst="line">
            <a:avLst/>
          </a:prstGeom>
          <a:noFill/>
          <a:ln w="9525" cap="rnd">
            <a:solidFill>
              <a:schemeClr val="tx1"/>
            </a:solidFill>
            <a:prstDash val="sysDot"/>
            <a:miter lim="800000"/>
            <a:headEnd/>
            <a:tailEnd/>
          </a:ln>
        </p:spPr>
        <p:txBody>
          <a:bodyPr wrap="none"/>
          <a:lstStyle/>
          <a:p>
            <a:pPr defTabSz="457200"/>
            <a:endParaRPr lang="en-GB">
              <a:solidFill>
                <a:prstClr val="black"/>
              </a:solidFill>
              <a:latin typeface="Arial" panose="020B0604020202020204" pitchFamily="34" charset="0"/>
              <a:cs typeface="Arial" panose="020B0604020202020204" pitchFamily="34" charset="0"/>
            </a:endParaRPr>
          </a:p>
        </p:txBody>
      </p:sp>
      <p:cxnSp>
        <p:nvCxnSpPr>
          <p:cNvPr id="5" name="Elbow Connector 4"/>
          <p:cNvCxnSpPr>
            <a:stCxn id="54" idx="3"/>
            <a:endCxn id="19" idx="3"/>
          </p:cNvCxnSpPr>
          <p:nvPr/>
        </p:nvCxnSpPr>
        <p:spPr>
          <a:xfrm flipH="1" flipV="1">
            <a:off x="9475218" y="4912895"/>
            <a:ext cx="762000" cy="965200"/>
          </a:xfrm>
          <a:prstGeom prst="bentConnector3">
            <a:avLst>
              <a:gd name="adj1" fmla="val -30000"/>
            </a:avLst>
          </a:prstGeom>
          <a:ln w="571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Elbow Connector 74"/>
          <p:cNvCxnSpPr>
            <a:stCxn id="19" idx="3"/>
            <a:endCxn id="27" idx="3"/>
          </p:cNvCxnSpPr>
          <p:nvPr/>
        </p:nvCxnSpPr>
        <p:spPr>
          <a:xfrm flipH="1" flipV="1">
            <a:off x="8941818" y="3693695"/>
            <a:ext cx="533400" cy="1219200"/>
          </a:xfrm>
          <a:prstGeom prst="bentConnector3">
            <a:avLst>
              <a:gd name="adj1" fmla="val -42857"/>
            </a:avLst>
          </a:prstGeom>
          <a:ln w="571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6" name="Elbow Connector 75"/>
          <p:cNvCxnSpPr>
            <a:stCxn id="27" idx="3"/>
            <a:endCxn id="24" idx="3"/>
          </p:cNvCxnSpPr>
          <p:nvPr/>
        </p:nvCxnSpPr>
        <p:spPr>
          <a:xfrm flipH="1" flipV="1">
            <a:off x="8408418" y="2626895"/>
            <a:ext cx="533400" cy="1066800"/>
          </a:xfrm>
          <a:prstGeom prst="bentConnector3">
            <a:avLst>
              <a:gd name="adj1" fmla="val -42857"/>
            </a:avLst>
          </a:prstGeom>
          <a:ln w="571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9253919" y="3365918"/>
            <a:ext cx="731520" cy="731520"/>
          </a:xfrm>
          <a:prstGeom prst="ellipse">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dirty="0" smtClean="0">
                <a:solidFill>
                  <a:schemeClr val="tx1"/>
                </a:solidFill>
                <a:latin typeface="Arial" panose="020B0604020202020204" pitchFamily="34" charset="0"/>
                <a:cs typeface="Arial" panose="020B0604020202020204" pitchFamily="34" charset="0"/>
              </a:rPr>
              <a:t>IF</a:t>
            </a:r>
          </a:p>
          <a:p>
            <a:pPr algn="ctr"/>
            <a:r>
              <a:rPr lang="en-US" sz="1600" dirty="0" smtClean="0">
                <a:solidFill>
                  <a:schemeClr val="tx1"/>
                </a:solidFill>
                <a:latin typeface="Arial" panose="020B0604020202020204" pitchFamily="34" charset="0"/>
                <a:cs typeface="Arial" panose="020B0604020202020204" pitchFamily="34" charset="0"/>
              </a:rPr>
              <a:t>THEN</a:t>
            </a:r>
            <a:endParaRPr lang="en-US" sz="1600" dirty="0">
              <a:solidFill>
                <a:schemeClr val="tx1"/>
              </a:solidFill>
              <a:latin typeface="Arial" panose="020B0604020202020204" pitchFamily="34" charset="0"/>
              <a:cs typeface="Arial" panose="020B0604020202020204" pitchFamily="34" charset="0"/>
            </a:endParaRPr>
          </a:p>
        </p:txBody>
      </p:sp>
      <p:sp>
        <p:nvSpPr>
          <p:cNvPr id="78" name="Oval 77"/>
          <p:cNvSpPr/>
          <p:nvPr/>
        </p:nvSpPr>
        <p:spPr>
          <a:xfrm>
            <a:off x="9932418" y="4547686"/>
            <a:ext cx="731520" cy="731520"/>
          </a:xfrm>
          <a:prstGeom prst="ellipse">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dirty="0" smtClean="0">
                <a:solidFill>
                  <a:schemeClr val="tx1"/>
                </a:solidFill>
                <a:latin typeface="Arial" panose="020B0604020202020204" pitchFamily="34" charset="0"/>
                <a:cs typeface="Arial" panose="020B0604020202020204" pitchFamily="34" charset="0"/>
              </a:rPr>
              <a:t>IF</a:t>
            </a:r>
          </a:p>
          <a:p>
            <a:pPr algn="ctr"/>
            <a:r>
              <a:rPr lang="en-US" sz="1600" dirty="0" smtClean="0">
                <a:solidFill>
                  <a:schemeClr val="tx1"/>
                </a:solidFill>
                <a:latin typeface="Arial" panose="020B0604020202020204" pitchFamily="34" charset="0"/>
                <a:cs typeface="Arial" panose="020B0604020202020204" pitchFamily="34" charset="0"/>
              </a:rPr>
              <a:t>THEN</a:t>
            </a:r>
            <a:endParaRPr lang="en-US" sz="1600" dirty="0">
              <a:solidFill>
                <a:schemeClr val="tx1"/>
              </a:solidFill>
              <a:latin typeface="Arial" panose="020B0604020202020204" pitchFamily="34" charset="0"/>
              <a:cs typeface="Arial" panose="020B0604020202020204" pitchFamily="34" charset="0"/>
            </a:endParaRPr>
          </a:p>
        </p:txBody>
      </p:sp>
      <p:sp>
        <p:nvSpPr>
          <p:cNvPr id="79" name="Oval 78"/>
          <p:cNvSpPr/>
          <p:nvPr/>
        </p:nvSpPr>
        <p:spPr>
          <a:xfrm>
            <a:off x="8713218" y="2302294"/>
            <a:ext cx="731520" cy="731520"/>
          </a:xfrm>
          <a:prstGeom prst="ellipse">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dirty="0" smtClean="0">
                <a:solidFill>
                  <a:schemeClr val="tx1"/>
                </a:solidFill>
                <a:latin typeface="Arial" panose="020B0604020202020204" pitchFamily="34" charset="0"/>
                <a:cs typeface="Arial" panose="020B0604020202020204" pitchFamily="34" charset="0"/>
              </a:rPr>
              <a:t>IF</a:t>
            </a:r>
          </a:p>
          <a:p>
            <a:pPr algn="ctr"/>
            <a:r>
              <a:rPr lang="en-US" sz="1600" dirty="0" smtClean="0">
                <a:solidFill>
                  <a:schemeClr val="tx1"/>
                </a:solidFill>
                <a:latin typeface="Arial" panose="020B0604020202020204" pitchFamily="34" charset="0"/>
                <a:cs typeface="Arial" panose="020B0604020202020204" pitchFamily="34" charset="0"/>
              </a:rPr>
              <a:t>THEN</a:t>
            </a:r>
            <a:endParaRPr lang="en-US" sz="1600" dirty="0">
              <a:solidFill>
                <a:schemeClr val="tx1"/>
              </a:solidFill>
              <a:latin typeface="Arial" panose="020B0604020202020204" pitchFamily="34" charset="0"/>
              <a:cs typeface="Arial" panose="020B0604020202020204" pitchFamily="34" charset="0"/>
            </a:endParaRPr>
          </a:p>
        </p:txBody>
      </p:sp>
      <p:grpSp>
        <p:nvGrpSpPr>
          <p:cNvPr id="2" name="Group 1"/>
          <p:cNvGrpSpPr/>
          <p:nvPr/>
        </p:nvGrpSpPr>
        <p:grpSpPr>
          <a:xfrm>
            <a:off x="5512818" y="1219995"/>
            <a:ext cx="3352800" cy="1406900"/>
            <a:chOff x="4652210" y="1219995"/>
            <a:chExt cx="3352800" cy="1406900"/>
          </a:xfrm>
        </p:grpSpPr>
        <p:sp>
          <p:nvSpPr>
            <p:cNvPr id="22" name="Rectangle 4"/>
            <p:cNvSpPr>
              <a:spLocks noChangeArrowheads="1"/>
            </p:cNvSpPr>
            <p:nvPr/>
          </p:nvSpPr>
          <p:spPr bwMode="auto">
            <a:xfrm>
              <a:off x="5338010" y="1407695"/>
              <a:ext cx="1219200" cy="609600"/>
            </a:xfrm>
            <a:prstGeom prst="rect">
              <a:avLst/>
            </a:prstGeom>
            <a:solidFill>
              <a:schemeClr val="accent1">
                <a:lumMod val="75000"/>
              </a:schemeClr>
            </a:solidFill>
            <a:ln w="9525">
              <a:noFill/>
              <a:miter lim="800000"/>
              <a:headEnd/>
              <a:tailEnd/>
            </a:ln>
            <a:effectLst/>
          </p:spPr>
          <p:txBody>
            <a:bodyPr wrap="none" anchor="ctr"/>
            <a:lstStyle/>
            <a:p>
              <a:pPr algn="ctr" defTabSz="457200" eaLnBrk="0" hangingPunct="0">
                <a:defRPr/>
              </a:pPr>
              <a:r>
                <a:rPr lang="en-US" sz="2000" b="1" dirty="0">
                  <a:solidFill>
                    <a:schemeClr val="bg1"/>
                  </a:solidFill>
                  <a:latin typeface="Arial" panose="020B0604020202020204" pitchFamily="34" charset="0"/>
                  <a:cs typeface="Arial" panose="020B0604020202020204" pitchFamily="34" charset="0"/>
                </a:rPr>
                <a:t>Result</a:t>
              </a:r>
            </a:p>
          </p:txBody>
        </p:sp>
        <p:sp>
          <p:nvSpPr>
            <p:cNvPr id="36" name="Line 21"/>
            <p:cNvSpPr>
              <a:spLocks noChangeShapeType="1"/>
            </p:cNvSpPr>
            <p:nvPr/>
          </p:nvSpPr>
          <p:spPr bwMode="auto">
            <a:xfrm flipV="1">
              <a:off x="4652210" y="2017295"/>
              <a:ext cx="685800" cy="304800"/>
            </a:xfrm>
            <a:prstGeom prst="line">
              <a:avLst/>
            </a:prstGeom>
            <a:noFill/>
            <a:ln w="28575">
              <a:solidFill>
                <a:schemeClr val="bg1">
                  <a:lumMod val="75000"/>
                </a:schemeClr>
              </a:solidFill>
              <a:miter lim="800000"/>
              <a:headEnd/>
              <a:tailEnd type="triangle" w="med" len="med"/>
            </a:ln>
            <a:effectLst/>
          </p:spPr>
          <p:txBody>
            <a:bodyPr wrap="none"/>
            <a:lstStyle/>
            <a:p>
              <a:pPr defTabSz="457200"/>
              <a:endParaRPr lang="en-GB">
                <a:solidFill>
                  <a:prstClr val="black"/>
                </a:solidFill>
                <a:latin typeface="Arial" panose="020B0604020202020204" pitchFamily="34" charset="0"/>
                <a:cs typeface="Arial" panose="020B0604020202020204" pitchFamily="34" charset="0"/>
              </a:endParaRPr>
            </a:p>
          </p:txBody>
        </p:sp>
        <p:sp>
          <p:nvSpPr>
            <p:cNvPr id="37" name="Line 22"/>
            <p:cNvSpPr>
              <a:spLocks noChangeShapeType="1"/>
            </p:cNvSpPr>
            <p:nvPr/>
          </p:nvSpPr>
          <p:spPr bwMode="auto">
            <a:xfrm flipH="1" flipV="1">
              <a:off x="6557210" y="2017295"/>
              <a:ext cx="609600" cy="304800"/>
            </a:xfrm>
            <a:prstGeom prst="line">
              <a:avLst/>
            </a:prstGeom>
            <a:noFill/>
            <a:ln w="28575">
              <a:solidFill>
                <a:schemeClr val="bg1">
                  <a:lumMod val="75000"/>
                </a:schemeClr>
              </a:solidFill>
              <a:miter lim="800000"/>
              <a:headEnd/>
              <a:tailEnd type="triangle" w="med" len="med"/>
            </a:ln>
            <a:effectLst/>
          </p:spPr>
          <p:txBody>
            <a:bodyPr wrap="none"/>
            <a:lstStyle/>
            <a:p>
              <a:pPr defTabSz="457200"/>
              <a:endParaRPr lang="en-GB">
                <a:solidFill>
                  <a:prstClr val="black"/>
                </a:solidFill>
                <a:latin typeface="Arial" panose="020B0604020202020204" pitchFamily="34" charset="0"/>
                <a:cs typeface="Arial" panose="020B0604020202020204" pitchFamily="34" charset="0"/>
              </a:endParaRPr>
            </a:p>
          </p:txBody>
        </p:sp>
        <p:cxnSp>
          <p:nvCxnSpPr>
            <p:cNvPr id="77" name="Elbow Connector 76"/>
            <p:cNvCxnSpPr>
              <a:stCxn id="24" idx="3"/>
              <a:endCxn id="22" idx="3"/>
            </p:cNvCxnSpPr>
            <p:nvPr/>
          </p:nvCxnSpPr>
          <p:spPr>
            <a:xfrm flipH="1" flipV="1">
              <a:off x="6557210" y="1712495"/>
              <a:ext cx="1071282" cy="914400"/>
            </a:xfrm>
            <a:prstGeom prst="bentConnector3">
              <a:avLst>
                <a:gd name="adj1" fmla="val -21339"/>
              </a:avLst>
            </a:prstGeom>
            <a:ln w="571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0" name="Oval 79"/>
            <p:cNvSpPr/>
            <p:nvPr/>
          </p:nvSpPr>
          <p:spPr>
            <a:xfrm>
              <a:off x="7273490" y="1219995"/>
              <a:ext cx="731520" cy="731520"/>
            </a:xfrm>
            <a:prstGeom prst="ellipse">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dirty="0" smtClean="0">
                  <a:solidFill>
                    <a:schemeClr val="tx1"/>
                  </a:solidFill>
                  <a:latin typeface="Arial" panose="020B0604020202020204" pitchFamily="34" charset="0"/>
                  <a:cs typeface="Arial" panose="020B0604020202020204" pitchFamily="34" charset="0"/>
                </a:rPr>
                <a:t>IF</a:t>
              </a:r>
            </a:p>
            <a:p>
              <a:pPr algn="ctr"/>
              <a:r>
                <a:rPr lang="en-US" sz="1600" dirty="0" smtClean="0">
                  <a:solidFill>
                    <a:schemeClr val="tx1"/>
                  </a:solidFill>
                  <a:latin typeface="Arial" panose="020B0604020202020204" pitchFamily="34" charset="0"/>
                  <a:cs typeface="Arial" panose="020B0604020202020204" pitchFamily="34" charset="0"/>
                </a:rPr>
                <a:t>THEN</a:t>
              </a:r>
              <a:endParaRPr lang="en-US" sz="1600" dirty="0">
                <a:solidFill>
                  <a:schemeClr val="tx1"/>
                </a:solidFill>
                <a:latin typeface="Arial" panose="020B0604020202020204" pitchFamily="34" charset="0"/>
                <a:cs typeface="Arial" panose="020B0604020202020204" pitchFamily="34" charset="0"/>
              </a:endParaRPr>
            </a:p>
          </p:txBody>
        </p:sp>
      </p:grpSp>
      <p:sp>
        <p:nvSpPr>
          <p:cNvPr id="56" name="Right Arrow 55"/>
          <p:cNvSpPr/>
          <p:nvPr/>
        </p:nvSpPr>
        <p:spPr>
          <a:xfrm>
            <a:off x="2525778" y="1745885"/>
            <a:ext cx="2133600" cy="9101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Risks and Assumptions </a:t>
            </a:r>
            <a:endParaRPr lang="en-US" dirty="0"/>
          </a:p>
        </p:txBody>
      </p:sp>
      <p:sp>
        <p:nvSpPr>
          <p:cNvPr id="57" name="Right Arrow 56"/>
          <p:cNvSpPr/>
          <p:nvPr/>
        </p:nvSpPr>
        <p:spPr>
          <a:xfrm>
            <a:off x="2006119" y="2691331"/>
            <a:ext cx="2133600" cy="9101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Risks and Assumptions </a:t>
            </a:r>
            <a:endParaRPr lang="en-US" dirty="0"/>
          </a:p>
        </p:txBody>
      </p:sp>
      <p:sp>
        <p:nvSpPr>
          <p:cNvPr id="58" name="Right Arrow 57"/>
          <p:cNvSpPr/>
          <p:nvPr/>
        </p:nvSpPr>
        <p:spPr>
          <a:xfrm>
            <a:off x="1531439" y="3905184"/>
            <a:ext cx="2133600" cy="9101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Risks and Assumptions </a:t>
            </a:r>
            <a:endParaRPr lang="en-US" dirty="0"/>
          </a:p>
        </p:txBody>
      </p:sp>
      <p:sp>
        <p:nvSpPr>
          <p:cNvPr id="64" name="Right Arrow 63"/>
          <p:cNvSpPr/>
          <p:nvPr/>
        </p:nvSpPr>
        <p:spPr>
          <a:xfrm>
            <a:off x="1055118" y="4929260"/>
            <a:ext cx="2133600" cy="9101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Risks and Assumptions </a:t>
            </a:r>
            <a:endParaRPr lang="en-US" dirty="0"/>
          </a:p>
        </p:txBody>
      </p:sp>
    </p:spTree>
    <p:extLst>
      <p:ext uri="{BB962C8B-B14F-4D97-AF65-F5344CB8AC3E}">
        <p14:creationId xmlns:p14="http://schemas.microsoft.com/office/powerpoint/2010/main" val="18464043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What is an indicator</a:t>
            </a:r>
          </a:p>
        </p:txBody>
      </p:sp>
      <p:sp>
        <p:nvSpPr>
          <p:cNvPr id="14" name="Content Placeholder 2"/>
          <p:cNvSpPr>
            <a:spLocks noGrp="1"/>
          </p:cNvSpPr>
          <p:nvPr>
            <p:ph idx="1"/>
          </p:nvPr>
        </p:nvSpPr>
        <p:spPr>
          <a:xfrm>
            <a:off x="2266682" y="1202689"/>
            <a:ext cx="9182448" cy="1136152"/>
          </a:xfrm>
          <a:solidFill>
            <a:schemeClr val="bg1"/>
          </a:solidFill>
        </p:spPr>
        <p:txBody>
          <a:bodyPr>
            <a:normAutofit/>
          </a:bodyPr>
          <a:lstStyle/>
          <a:p>
            <a:pPr marL="0" indent="0">
              <a:spcAft>
                <a:spcPct val="45000"/>
              </a:spcAft>
              <a:buNone/>
            </a:pPr>
            <a:r>
              <a:rPr lang="en-US" sz="2400" dirty="0" smtClean="0">
                <a:latin typeface="Arial" panose="020B0604020202020204" pitchFamily="34" charset="0"/>
                <a:cs typeface="Arial" panose="020B0604020202020204" pitchFamily="34" charset="0"/>
              </a:rPr>
              <a:t>Indicators are </a:t>
            </a:r>
            <a:r>
              <a:rPr lang="en-US" sz="2400" dirty="0" smtClean="0">
                <a:solidFill>
                  <a:srgbClr val="0099FF"/>
                </a:solidFill>
                <a:latin typeface="Arial" panose="020B0604020202020204" pitchFamily="34" charset="0"/>
                <a:cs typeface="Arial" panose="020B0604020202020204" pitchFamily="34" charset="0"/>
              </a:rPr>
              <a:t>measures</a:t>
            </a:r>
            <a:r>
              <a:rPr lang="en-US" sz="2400" dirty="0" smtClean="0">
                <a:latin typeface="Arial" panose="020B0604020202020204" pitchFamily="34" charset="0"/>
                <a:cs typeface="Arial" panose="020B0604020202020204" pitchFamily="34" charset="0"/>
              </a:rPr>
              <a:t> used to monitor </a:t>
            </a:r>
            <a:r>
              <a:rPr lang="en-US" sz="2400" dirty="0" smtClean="0">
                <a:solidFill>
                  <a:srgbClr val="0099FF"/>
                </a:solidFill>
                <a:latin typeface="Arial" panose="020B0604020202020204" pitchFamily="34" charset="0"/>
                <a:cs typeface="Arial" panose="020B0604020202020204" pitchFamily="34" charset="0"/>
              </a:rPr>
              <a:t>progress</a:t>
            </a:r>
            <a:r>
              <a:rPr lang="en-US" sz="2400" dirty="0" smtClean="0">
                <a:latin typeface="Arial" panose="020B0604020202020204" pitchFamily="34" charset="0"/>
                <a:cs typeface="Arial" panose="020B0604020202020204" pitchFamily="34" charset="0"/>
              </a:rPr>
              <a:t> made towards the achievement of </a:t>
            </a:r>
            <a:r>
              <a:rPr lang="en-US" sz="2400" dirty="0" smtClean="0">
                <a:solidFill>
                  <a:srgbClr val="0099FF"/>
                </a:solidFill>
                <a:latin typeface="Arial" panose="020B0604020202020204" pitchFamily="34" charset="0"/>
                <a:cs typeface="Arial" panose="020B0604020202020204" pitchFamily="34" charset="0"/>
              </a:rPr>
              <a:t>intended results </a:t>
            </a:r>
            <a:r>
              <a:rPr lang="en-US" sz="2400" dirty="0" smtClean="0">
                <a:latin typeface="Arial" panose="020B0604020202020204" pitchFamily="34" charset="0"/>
                <a:cs typeface="Arial" panose="020B0604020202020204" pitchFamily="34" charset="0"/>
              </a:rPr>
              <a:t>or the application of desired processes.</a:t>
            </a:r>
            <a:endParaRPr lang="en-US" sz="800" dirty="0" smtClean="0">
              <a:latin typeface="Arial" panose="020B0604020202020204" pitchFamily="34" charset="0"/>
              <a:cs typeface="Arial" panose="020B0604020202020204" pitchFamily="34" charset="0"/>
            </a:endParaRPr>
          </a:p>
        </p:txBody>
      </p:sp>
      <p:sp>
        <p:nvSpPr>
          <p:cNvPr id="15" name="Rectangle 3"/>
          <p:cNvSpPr txBox="1">
            <a:spLocks noChangeArrowheads="1"/>
          </p:cNvSpPr>
          <p:nvPr/>
        </p:nvSpPr>
        <p:spPr>
          <a:xfrm>
            <a:off x="1194389" y="3799116"/>
            <a:ext cx="10667053" cy="2794868"/>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10000"/>
              </a:lnSpc>
              <a:spcBef>
                <a:spcPct val="50000"/>
              </a:spcBef>
            </a:pPr>
            <a:r>
              <a:rPr lang="en-US" sz="1800" dirty="0" smtClean="0">
                <a:solidFill>
                  <a:srgbClr val="0099FF"/>
                </a:solidFill>
                <a:latin typeface="Arial" panose="020B0604020202020204" pitchFamily="34" charset="0"/>
                <a:cs typeface="Arial" panose="020B0604020202020204" pitchFamily="34" charset="0"/>
              </a:rPr>
              <a:t>Result statement</a:t>
            </a:r>
            <a:r>
              <a:rPr lang="en-US" sz="1800" dirty="0" smtClean="0">
                <a:solidFill>
                  <a:srgbClr val="FF0000"/>
                </a:solidFill>
                <a:latin typeface="Arial" panose="020B0604020202020204" pitchFamily="34" charset="0"/>
                <a:cs typeface="Arial" panose="020B0604020202020204" pitchFamily="34" charset="0"/>
              </a:rPr>
              <a:t>:</a:t>
            </a:r>
            <a:r>
              <a:rPr lang="en-US" sz="1800" dirty="0" smtClean="0">
                <a:latin typeface="Arial" panose="020B0604020202020204" pitchFamily="34" charset="0"/>
                <a:cs typeface="Arial" panose="020B0604020202020204" pitchFamily="34" charset="0"/>
              </a:rPr>
              <a:t> Within 3 years, 90% of girls enrolled in catch-up education courses are mainstreamed into primary schools </a:t>
            </a:r>
          </a:p>
          <a:p>
            <a:pPr lvl="1">
              <a:lnSpc>
                <a:spcPct val="110000"/>
              </a:lnSpc>
              <a:spcBef>
                <a:spcPct val="50000"/>
              </a:spcBef>
            </a:pPr>
            <a:r>
              <a:rPr lang="en-US" sz="1800" dirty="0" smtClean="0">
                <a:solidFill>
                  <a:srgbClr val="0099FF"/>
                </a:solidFill>
                <a:latin typeface="Arial" panose="020B0604020202020204" pitchFamily="34" charset="0"/>
                <a:cs typeface="Arial" panose="020B0604020202020204" pitchFamily="34" charset="0"/>
              </a:rPr>
              <a:t>Indicator: </a:t>
            </a:r>
            <a:r>
              <a:rPr lang="en-US" sz="1800" dirty="0" smtClean="0">
                <a:latin typeface="Arial" panose="020B0604020202020204" pitchFamily="34" charset="0"/>
                <a:cs typeface="Arial" panose="020B0604020202020204" pitchFamily="34" charset="0"/>
              </a:rPr>
              <a:t>% of girls enrolled in catch-up education courses mainstreamed into primary schools</a:t>
            </a:r>
            <a:r>
              <a:rPr lang="en-US" sz="1800" dirty="0" smtClean="0">
                <a:solidFill>
                  <a:srgbClr val="FF0000"/>
                </a:solidFill>
                <a:latin typeface="Arial" panose="020B0604020202020204" pitchFamily="34" charset="0"/>
                <a:cs typeface="Arial" panose="020B0604020202020204" pitchFamily="34" charset="0"/>
              </a:rPr>
              <a:t> </a:t>
            </a:r>
          </a:p>
          <a:p>
            <a:pPr lvl="1">
              <a:lnSpc>
                <a:spcPct val="110000"/>
              </a:lnSpc>
              <a:spcBef>
                <a:spcPct val="50000"/>
              </a:spcBef>
            </a:pPr>
            <a:r>
              <a:rPr lang="en-US" sz="1800" dirty="0" smtClean="0">
                <a:solidFill>
                  <a:srgbClr val="0099FF"/>
                </a:solidFill>
                <a:latin typeface="Arial" panose="020B0604020202020204" pitchFamily="34" charset="0"/>
                <a:cs typeface="Arial" panose="020B0604020202020204" pitchFamily="34" charset="0"/>
              </a:rPr>
              <a:t>Target Year 1</a:t>
            </a:r>
            <a:r>
              <a:rPr lang="en-US" sz="1800" dirty="0" smtClean="0">
                <a:solidFill>
                  <a:srgbClr val="FF0000"/>
                </a:solidFill>
                <a:latin typeface="Arial" panose="020B0604020202020204" pitchFamily="34" charset="0"/>
                <a:cs typeface="Arial" panose="020B0604020202020204" pitchFamily="34" charset="0"/>
              </a:rPr>
              <a:t>:</a:t>
            </a:r>
            <a:r>
              <a:rPr lang="en-US" sz="1800" dirty="0" smtClean="0">
                <a:latin typeface="Arial" panose="020B0604020202020204" pitchFamily="34" charset="0"/>
                <a:cs typeface="Arial" panose="020B0604020202020204" pitchFamily="34" charset="0"/>
              </a:rPr>
              <a:t> 45% of girls enrolled in catch-up education courses are mainstreamed into primary schools </a:t>
            </a:r>
          </a:p>
          <a:p>
            <a:pPr lvl="1">
              <a:lnSpc>
                <a:spcPct val="110000"/>
              </a:lnSpc>
              <a:spcBef>
                <a:spcPct val="50000"/>
              </a:spcBef>
            </a:pPr>
            <a:r>
              <a:rPr lang="en-US" sz="1800" dirty="0" smtClean="0">
                <a:solidFill>
                  <a:srgbClr val="0099FF"/>
                </a:solidFill>
                <a:latin typeface="Arial" panose="020B0604020202020204" pitchFamily="34" charset="0"/>
                <a:cs typeface="Arial" panose="020B0604020202020204" pitchFamily="34" charset="0"/>
              </a:rPr>
              <a:t>Performance of project in Year 1</a:t>
            </a:r>
            <a:r>
              <a:rPr lang="en-US" sz="1800" dirty="0" smtClean="0">
                <a:solidFill>
                  <a:srgbClr val="FF0000"/>
                </a:solidFill>
                <a:latin typeface="Arial" panose="020B0604020202020204" pitchFamily="34" charset="0"/>
                <a:cs typeface="Arial" panose="020B0604020202020204" pitchFamily="34" charset="0"/>
              </a:rPr>
              <a:t>:</a:t>
            </a:r>
            <a:r>
              <a:rPr lang="en-US" sz="1800" dirty="0" smtClean="0">
                <a:latin typeface="Arial" panose="020B0604020202020204" pitchFamily="34" charset="0"/>
                <a:cs typeface="Arial" panose="020B0604020202020204" pitchFamily="34" charset="0"/>
              </a:rPr>
              <a:t> 65% of girls enrolled in catch-up education courses are mainstreamed into primary schools</a:t>
            </a:r>
            <a:endParaRPr lang="fr-FR" sz="1800" dirty="0" smtClean="0">
              <a:latin typeface="Arial" panose="020B0604020202020204" pitchFamily="34" charset="0"/>
              <a:cs typeface="Arial" panose="020B0604020202020204" pitchFamily="34" charset="0"/>
            </a:endParaRPr>
          </a:p>
        </p:txBody>
      </p:sp>
      <p:pic>
        <p:nvPicPr>
          <p:cNvPr id="2050" name="Picture 2" descr="http://get.leadintelligence.co.uk/files/TechnologyIcon_3.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639" y="1160126"/>
            <a:ext cx="1299738" cy="129973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266682" y="2388733"/>
            <a:ext cx="9813701" cy="931532"/>
          </a:xfrm>
          <a:prstGeom prst="rect">
            <a:avLst/>
          </a:prstGeom>
          <a:solidFill>
            <a:schemeClr val="bg1"/>
          </a:solidFill>
        </p:spPr>
        <p:txBody>
          <a:bodyPr vert="horz" lIns="91440" tIns="45720" rIns="91440" bIns="45720" rtlCol="0">
            <a:normAutofit/>
          </a:bodyPr>
          <a:lstStyle/>
          <a:p>
            <a:pPr>
              <a:lnSpc>
                <a:spcPct val="90000"/>
              </a:lnSpc>
              <a:spcBef>
                <a:spcPts val="1000"/>
              </a:spcBef>
              <a:spcAft>
                <a:spcPct val="45000"/>
              </a:spcAft>
              <a:buFont typeface="Arial" panose="020B0604020202020204" pitchFamily="34" charset="0"/>
              <a:buNone/>
            </a:pPr>
            <a:r>
              <a:rPr lang="en-US" sz="2400" dirty="0">
                <a:latin typeface="Arial" panose="020B0604020202020204" pitchFamily="34" charset="0"/>
                <a:cs typeface="Arial" panose="020B0604020202020204" pitchFamily="34" charset="0"/>
              </a:rPr>
              <a:t>An indicator is </a:t>
            </a:r>
            <a:r>
              <a:rPr lang="en-US" sz="2400" dirty="0">
                <a:solidFill>
                  <a:srgbClr val="0099FF"/>
                </a:solidFill>
                <a:latin typeface="Arial" panose="020B0604020202020204" pitchFamily="34" charset="0"/>
                <a:cs typeface="Arial" panose="020B0604020202020204" pitchFamily="34" charset="0"/>
              </a:rPr>
              <a:t>neutral</a:t>
            </a:r>
            <a:r>
              <a:rPr lang="en-US" sz="2400" dirty="0">
                <a:latin typeface="Arial" panose="020B0604020202020204" pitchFamily="34" charset="0"/>
                <a:cs typeface="Arial" panose="020B0604020202020204" pitchFamily="34" charset="0"/>
              </a:rPr>
              <a:t>, does not </a:t>
            </a:r>
            <a:r>
              <a:rPr lang="en-US" sz="2400" dirty="0">
                <a:solidFill>
                  <a:srgbClr val="0099FF"/>
                </a:solidFill>
                <a:latin typeface="Arial" panose="020B0604020202020204" pitchFamily="34" charset="0"/>
                <a:cs typeface="Arial" panose="020B0604020202020204" pitchFamily="34" charset="0"/>
              </a:rPr>
              <a:t>pre-judge</a:t>
            </a:r>
            <a:r>
              <a:rPr lang="en-US" sz="2400" dirty="0">
                <a:latin typeface="Arial" panose="020B0604020202020204" pitchFamily="34" charset="0"/>
                <a:cs typeface="Arial" panose="020B0604020202020204" pitchFamily="34" charset="0"/>
              </a:rPr>
              <a:t> or </a:t>
            </a:r>
            <a:r>
              <a:rPr lang="en-US" sz="2400" dirty="0">
                <a:solidFill>
                  <a:srgbClr val="0099FF"/>
                </a:solidFill>
                <a:latin typeface="Arial" panose="020B0604020202020204" pitchFamily="34" charset="0"/>
                <a:cs typeface="Arial" panose="020B0604020202020204" pitchFamily="34" charset="0"/>
              </a:rPr>
              <a:t>set targets</a:t>
            </a:r>
            <a:r>
              <a:rPr lang="en-US" sz="2400" dirty="0">
                <a:latin typeface="Arial" panose="020B0604020202020204" pitchFamily="34" charset="0"/>
                <a:cs typeface="Arial" panose="020B0604020202020204" pitchFamily="34" charset="0"/>
              </a:rPr>
              <a:t>, is therefore “empty of data”, i.e., data still has to be collected</a:t>
            </a:r>
          </a:p>
        </p:txBody>
      </p:sp>
      <p:sp>
        <p:nvSpPr>
          <p:cNvPr id="3" name="TextBox 2"/>
          <p:cNvSpPr txBox="1"/>
          <p:nvPr/>
        </p:nvSpPr>
        <p:spPr>
          <a:xfrm rot="16200000">
            <a:off x="-315052" y="4723782"/>
            <a:ext cx="2434107" cy="584775"/>
          </a:xfrm>
          <a:prstGeom prst="rect">
            <a:avLst/>
          </a:prstGeom>
          <a:noFill/>
        </p:spPr>
        <p:txBody>
          <a:bodyPr wrap="square" rtlCol="0">
            <a:spAutoFit/>
          </a:bodyPr>
          <a:lstStyle/>
          <a:p>
            <a:r>
              <a:rPr lang="en-US" sz="3200" dirty="0" smtClean="0">
                <a:solidFill>
                  <a:schemeClr val="bg1">
                    <a:lumMod val="85000"/>
                  </a:schemeClr>
                </a:solidFill>
                <a:latin typeface="Arial" panose="020B0604020202020204" pitchFamily="34" charset="0"/>
                <a:cs typeface="Arial" panose="020B0604020202020204" pitchFamily="34" charset="0"/>
              </a:rPr>
              <a:t>EXAMPLE</a:t>
            </a:r>
            <a:endParaRPr lang="en-US" sz="3200" dirty="0">
              <a:solidFill>
                <a:schemeClr val="bg1">
                  <a:lumMod val="8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277716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224117" y="952966"/>
            <a:ext cx="11624445" cy="1938992"/>
          </a:xfrm>
          <a:prstGeom prst="rect">
            <a:avLst/>
          </a:prstGeom>
        </p:spPr>
        <p:txBody>
          <a:bodyPr wrap="square">
            <a:spAutoFit/>
          </a:bodyPr>
          <a:lstStyle/>
          <a:p>
            <a:pPr marL="285750" indent="-285750">
              <a:buClr>
                <a:schemeClr val="tx1"/>
              </a:buClr>
              <a:buFont typeface="Wingdings" pitchFamily="2" charset="2"/>
              <a:buChar char="§"/>
            </a:pPr>
            <a:r>
              <a:rPr lang="en-US" sz="2400" dirty="0" smtClean="0">
                <a:latin typeface="Arial" panose="020B0604020202020204" pitchFamily="34" charset="0"/>
                <a:cs typeface="Arial" panose="020B0604020202020204" pitchFamily="34" charset="0"/>
              </a:rPr>
              <a:t>…measure </a:t>
            </a:r>
            <a:r>
              <a:rPr lang="en-US" sz="2400" dirty="0">
                <a:latin typeface="Arial" panose="020B0604020202020204" pitchFamily="34" charset="0"/>
                <a:cs typeface="Arial" panose="020B0604020202020204" pitchFamily="34" charset="0"/>
              </a:rPr>
              <a:t>impacts, outcomes, </a:t>
            </a:r>
            <a:r>
              <a:rPr lang="en-US" sz="2400" dirty="0" smtClean="0">
                <a:latin typeface="Arial" panose="020B0604020202020204" pitchFamily="34" charset="0"/>
                <a:cs typeface="Arial" panose="020B0604020202020204" pitchFamily="34" charset="0"/>
              </a:rPr>
              <a:t>outputs</a:t>
            </a:r>
            <a:r>
              <a:rPr lang="en-US" sz="2400" dirty="0">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due to the performance of a project or </a:t>
            </a:r>
            <a:r>
              <a:rPr lang="en-US" sz="2400" dirty="0" smtClean="0">
                <a:latin typeface="Arial" panose="020B0604020202020204" pitchFamily="34" charset="0"/>
                <a:cs typeface="Arial" panose="020B0604020202020204" pitchFamily="34" charset="0"/>
              </a:rPr>
              <a:t>programme.</a:t>
            </a:r>
            <a:endParaRPr lang="en-US" sz="2400" dirty="0">
              <a:latin typeface="Arial" panose="020B0604020202020204" pitchFamily="34" charset="0"/>
              <a:cs typeface="Arial" panose="020B0604020202020204" pitchFamily="34" charset="0"/>
            </a:endParaRPr>
          </a:p>
          <a:p>
            <a:pPr marL="285750" indent="-285750">
              <a:buClr>
                <a:schemeClr val="tx1"/>
              </a:buClr>
              <a:buFont typeface="Wingdings" pitchFamily="2" charset="2"/>
              <a:buChar char="§"/>
            </a:pPr>
            <a:r>
              <a:rPr lang="en-US" sz="2400" dirty="0" smtClean="0">
                <a:latin typeface="Arial" panose="020B0604020202020204" pitchFamily="34" charset="0"/>
                <a:cs typeface="Arial" panose="020B0604020202020204" pitchFamily="34" charset="0"/>
              </a:rPr>
              <a:t>….compare results </a:t>
            </a:r>
            <a:r>
              <a:rPr lang="en-US" sz="2400" dirty="0">
                <a:latin typeface="Arial" panose="020B0604020202020204" pitchFamily="34" charset="0"/>
                <a:cs typeface="Arial" panose="020B0604020202020204" pitchFamily="34" charset="0"/>
              </a:rPr>
              <a:t>achieved with results expected or planned</a:t>
            </a:r>
          </a:p>
          <a:p>
            <a:pPr marL="285750" indent="-285750">
              <a:buClr>
                <a:schemeClr val="tx1"/>
              </a:buClr>
              <a:buFont typeface="Wingdings" pitchFamily="2" charset="2"/>
              <a:buChar char="§"/>
            </a:pPr>
            <a:r>
              <a:rPr lang="en-US" sz="2400" dirty="0" smtClean="0">
                <a:latin typeface="Arial" panose="020B0604020202020204" pitchFamily="34" charset="0"/>
                <a:cs typeface="Arial" panose="020B0604020202020204" pitchFamily="34" charset="0"/>
              </a:rPr>
              <a:t>….allow </a:t>
            </a:r>
            <a:r>
              <a:rPr lang="en-US" sz="2400" dirty="0">
                <a:latin typeface="Arial" panose="020B0604020202020204" pitchFamily="34" charset="0"/>
                <a:cs typeface="Arial" panose="020B0604020202020204" pitchFamily="34" charset="0"/>
              </a:rPr>
              <a:t>performance to be judged, evaluated</a:t>
            </a:r>
          </a:p>
          <a:p>
            <a:pPr marL="285750" indent="-285750">
              <a:buClr>
                <a:schemeClr val="tx1"/>
              </a:buClr>
              <a:buFont typeface="Wingdings" pitchFamily="2" charset="2"/>
              <a:buChar char="§"/>
            </a:pPr>
            <a:r>
              <a:rPr lang="en-US" sz="2400" dirty="0" smtClean="0">
                <a:latin typeface="Arial" panose="020B0604020202020204" pitchFamily="34" charset="0"/>
                <a:cs typeface="Arial" panose="020B0604020202020204" pitchFamily="34" charset="0"/>
              </a:rPr>
              <a:t>….allow </a:t>
            </a:r>
            <a:r>
              <a:rPr lang="en-US" sz="2400" dirty="0">
                <a:latin typeface="Arial" panose="020B0604020202020204" pitchFamily="34" charset="0"/>
                <a:cs typeface="Arial" panose="020B0604020202020204" pitchFamily="34" charset="0"/>
              </a:rPr>
              <a:t>programmes to be adjusted</a:t>
            </a:r>
          </a:p>
        </p:txBody>
      </p:sp>
      <p:sp>
        <p:nvSpPr>
          <p:cNvPr id="6" name="Slide Number Placeholder 5"/>
          <p:cNvSpPr>
            <a:spLocks noGrp="1"/>
          </p:cNvSpPr>
          <p:nvPr>
            <p:ph type="sldNum" sz="quarter" idx="12"/>
          </p:nvPr>
        </p:nvSpPr>
        <p:spPr>
          <a:xfrm>
            <a:off x="1976718" y="1374962"/>
            <a:ext cx="809625" cy="285750"/>
          </a:xfrm>
          <a:prstGeom prst="rect">
            <a:avLst/>
          </a:prstGeom>
        </p:spPr>
        <p:txBody>
          <a:bodyPr/>
          <a:lstStyle/>
          <a:p>
            <a:pPr>
              <a:defRPr/>
            </a:pPr>
            <a:fld id="{FFAF7A0F-8730-4DBC-9867-3F6375553456}" type="slidenum">
              <a:rPr lang="en-US"/>
              <a:pPr>
                <a:defRPr/>
              </a:pPr>
              <a:t>57</a:t>
            </a:fld>
            <a:endParaRPr lang="en-US"/>
          </a:p>
        </p:txBody>
      </p:sp>
      <p:sp>
        <p:nvSpPr>
          <p:cNvPr id="8" name="Text Box 3"/>
          <p:cNvSpPr txBox="1">
            <a:spLocks noChangeArrowheads="1"/>
          </p:cNvSpPr>
          <p:nvPr/>
        </p:nvSpPr>
        <p:spPr bwMode="auto">
          <a:xfrm>
            <a:off x="422613" y="4181032"/>
            <a:ext cx="2117610" cy="579438"/>
          </a:xfrm>
          <a:prstGeom prst="rect">
            <a:avLst/>
          </a:prstGeom>
          <a:solidFill>
            <a:schemeClr val="bg1">
              <a:lumMod val="85000"/>
            </a:schemeClr>
          </a:solidFill>
          <a:ln w="9525">
            <a:noFill/>
            <a:miter lim="800000"/>
            <a:headEnd/>
            <a:tailEnd/>
          </a:ln>
        </p:spPr>
        <p:txBody>
          <a:bodyPr wrap="square">
            <a:spAutoFit/>
          </a:bodyPr>
          <a:lstStyle/>
          <a:p>
            <a:pPr marL="231775" indent="-231775" algn="ctr" eaLnBrk="0" hangingPunct="0">
              <a:spcBef>
                <a:spcPct val="50000"/>
              </a:spcBef>
            </a:pPr>
            <a:r>
              <a:rPr lang="en-US" sz="3200" dirty="0">
                <a:latin typeface="Arial" panose="020B0604020202020204" pitchFamily="34" charset="0"/>
                <a:cs typeface="Arial" panose="020B0604020202020204" pitchFamily="34" charset="0"/>
              </a:rPr>
              <a:t>Situation</a:t>
            </a:r>
          </a:p>
        </p:txBody>
      </p:sp>
      <p:sp>
        <p:nvSpPr>
          <p:cNvPr id="9" name="Line 6"/>
          <p:cNvSpPr>
            <a:spLocks noChangeShapeType="1"/>
          </p:cNvSpPr>
          <p:nvPr/>
        </p:nvSpPr>
        <p:spPr bwMode="auto">
          <a:xfrm>
            <a:off x="1228299" y="5695671"/>
            <a:ext cx="9206619" cy="6326"/>
          </a:xfrm>
          <a:prstGeom prst="line">
            <a:avLst/>
          </a:prstGeom>
          <a:noFill/>
          <a:ln w="203200">
            <a:solidFill>
              <a:srgbClr val="0099FF"/>
            </a:solidFill>
            <a:round/>
            <a:headEnd/>
            <a:tailEnd type="triangle" w="med" len="med"/>
          </a:ln>
        </p:spPr>
        <p:txBody>
          <a:bodyPr/>
          <a:lstStyle/>
          <a:p>
            <a:endParaRPr lang="en-US"/>
          </a:p>
        </p:txBody>
      </p:sp>
      <p:sp>
        <p:nvSpPr>
          <p:cNvPr id="10" name="Text Box 7"/>
          <p:cNvSpPr txBox="1">
            <a:spLocks noChangeArrowheads="1"/>
          </p:cNvSpPr>
          <p:nvPr/>
        </p:nvSpPr>
        <p:spPr bwMode="auto">
          <a:xfrm>
            <a:off x="422613" y="6049544"/>
            <a:ext cx="2438400" cy="400110"/>
          </a:xfrm>
          <a:prstGeom prst="rect">
            <a:avLst/>
          </a:prstGeom>
          <a:noFill/>
          <a:ln w="9525">
            <a:noFill/>
            <a:miter lim="800000"/>
            <a:headEnd/>
            <a:tailEnd/>
          </a:ln>
        </p:spPr>
        <p:txBody>
          <a:bodyPr>
            <a:spAutoFit/>
          </a:bodyPr>
          <a:lstStyle/>
          <a:p>
            <a:pPr>
              <a:spcBef>
                <a:spcPct val="50000"/>
              </a:spcBef>
            </a:pPr>
            <a:r>
              <a:rPr lang="en-US" sz="2000" dirty="0">
                <a:latin typeface="Arial" pitchFamily="34" charset="0"/>
              </a:rPr>
              <a:t>Start of </a:t>
            </a:r>
            <a:r>
              <a:rPr lang="en-US" sz="2000" dirty="0" err="1">
                <a:latin typeface="Arial" pitchFamily="34" charset="0"/>
              </a:rPr>
              <a:t>programme</a:t>
            </a:r>
            <a:endParaRPr lang="en-US" sz="2000" dirty="0">
              <a:latin typeface="Arial" pitchFamily="34" charset="0"/>
            </a:endParaRPr>
          </a:p>
        </p:txBody>
      </p:sp>
      <p:sp>
        <p:nvSpPr>
          <p:cNvPr id="11" name="Text Box 8"/>
          <p:cNvSpPr txBox="1">
            <a:spLocks noChangeArrowheads="1"/>
          </p:cNvSpPr>
          <p:nvPr/>
        </p:nvSpPr>
        <p:spPr bwMode="auto">
          <a:xfrm>
            <a:off x="8910918" y="6079093"/>
            <a:ext cx="2438400" cy="400110"/>
          </a:xfrm>
          <a:prstGeom prst="rect">
            <a:avLst/>
          </a:prstGeom>
          <a:noFill/>
          <a:ln w="9525">
            <a:noFill/>
            <a:miter lim="800000"/>
            <a:headEnd/>
            <a:tailEnd/>
          </a:ln>
        </p:spPr>
        <p:txBody>
          <a:bodyPr>
            <a:spAutoFit/>
          </a:bodyPr>
          <a:lstStyle/>
          <a:p>
            <a:pPr>
              <a:spcBef>
                <a:spcPct val="50000"/>
              </a:spcBef>
            </a:pPr>
            <a:r>
              <a:rPr lang="en-US" sz="2000" dirty="0">
                <a:latin typeface="Arial" pitchFamily="34" charset="0"/>
              </a:rPr>
              <a:t>End of programme</a:t>
            </a:r>
          </a:p>
        </p:txBody>
      </p:sp>
      <p:sp>
        <p:nvSpPr>
          <p:cNvPr id="12" name="Line 9"/>
          <p:cNvSpPr>
            <a:spLocks noChangeShapeType="1"/>
          </p:cNvSpPr>
          <p:nvPr/>
        </p:nvSpPr>
        <p:spPr bwMode="auto">
          <a:xfrm flipV="1">
            <a:off x="1393290" y="2595913"/>
            <a:ext cx="8321671" cy="2925985"/>
          </a:xfrm>
          <a:prstGeom prst="line">
            <a:avLst/>
          </a:prstGeom>
          <a:noFill/>
          <a:ln w="76200">
            <a:solidFill>
              <a:srgbClr val="00B050"/>
            </a:solidFill>
            <a:round/>
            <a:headEnd/>
            <a:tailEnd/>
          </a:ln>
        </p:spPr>
        <p:txBody>
          <a:bodyPr/>
          <a:lstStyle/>
          <a:p>
            <a:endParaRPr lang="en-US"/>
          </a:p>
        </p:txBody>
      </p:sp>
      <p:sp>
        <p:nvSpPr>
          <p:cNvPr id="13" name="Line 10"/>
          <p:cNvSpPr>
            <a:spLocks noChangeShapeType="1"/>
          </p:cNvSpPr>
          <p:nvPr/>
        </p:nvSpPr>
        <p:spPr bwMode="auto">
          <a:xfrm flipV="1">
            <a:off x="1641813" y="3644597"/>
            <a:ext cx="8073148" cy="1926374"/>
          </a:xfrm>
          <a:prstGeom prst="line">
            <a:avLst/>
          </a:prstGeom>
          <a:noFill/>
          <a:ln w="76200">
            <a:solidFill>
              <a:srgbClr val="C00000"/>
            </a:solidFill>
            <a:round/>
            <a:headEnd/>
            <a:tailEnd/>
          </a:ln>
        </p:spPr>
        <p:txBody>
          <a:bodyPr/>
          <a:lstStyle/>
          <a:p>
            <a:endParaRPr lang="en-US"/>
          </a:p>
        </p:txBody>
      </p:sp>
      <p:sp>
        <p:nvSpPr>
          <p:cNvPr id="14" name="Text Box 11"/>
          <p:cNvSpPr txBox="1">
            <a:spLocks noChangeArrowheads="1"/>
          </p:cNvSpPr>
          <p:nvPr/>
        </p:nvSpPr>
        <p:spPr bwMode="auto">
          <a:xfrm>
            <a:off x="9714962" y="2288871"/>
            <a:ext cx="2286000" cy="579438"/>
          </a:xfrm>
          <a:prstGeom prst="rect">
            <a:avLst/>
          </a:prstGeom>
          <a:solidFill>
            <a:schemeClr val="bg1">
              <a:lumMod val="85000"/>
            </a:schemeClr>
          </a:solidFill>
          <a:ln w="9525">
            <a:noFill/>
            <a:miter lim="800000"/>
            <a:headEnd/>
            <a:tailEnd/>
          </a:ln>
        </p:spPr>
        <p:txBody>
          <a:bodyPr wrap="square">
            <a:spAutoFit/>
          </a:bodyPr>
          <a:lstStyle>
            <a:defPPr>
              <a:defRPr lang="en-US"/>
            </a:defPPr>
            <a:lvl1pPr marL="231775" indent="-231775" algn="ctr" eaLnBrk="0" hangingPunct="0">
              <a:spcBef>
                <a:spcPct val="50000"/>
              </a:spcBef>
              <a:defRPr sz="3200">
                <a:latin typeface="Arial" panose="020B0604020202020204" pitchFamily="34" charset="0"/>
                <a:cs typeface="Arial" panose="020B0604020202020204" pitchFamily="34" charset="0"/>
              </a:defRPr>
            </a:lvl1pPr>
          </a:lstStyle>
          <a:p>
            <a:r>
              <a:rPr lang="en-US" dirty="0"/>
              <a:t>Results</a:t>
            </a:r>
          </a:p>
        </p:txBody>
      </p:sp>
      <p:sp>
        <p:nvSpPr>
          <p:cNvPr id="15" name="Line 12"/>
          <p:cNvSpPr>
            <a:spLocks noChangeShapeType="1"/>
          </p:cNvSpPr>
          <p:nvPr/>
        </p:nvSpPr>
        <p:spPr bwMode="auto">
          <a:xfrm flipV="1">
            <a:off x="8910918" y="2653996"/>
            <a:ext cx="804042" cy="1926373"/>
          </a:xfrm>
          <a:prstGeom prst="line">
            <a:avLst/>
          </a:prstGeom>
          <a:noFill/>
          <a:ln w="38100">
            <a:solidFill>
              <a:schemeClr val="tx1"/>
            </a:solidFill>
            <a:round/>
            <a:headEnd/>
            <a:tailEnd type="triangle" w="med" len="med"/>
          </a:ln>
        </p:spPr>
        <p:txBody>
          <a:bodyPr/>
          <a:lstStyle/>
          <a:p>
            <a:endParaRPr lang="en-US"/>
          </a:p>
        </p:txBody>
      </p:sp>
      <p:sp>
        <p:nvSpPr>
          <p:cNvPr id="16" name="AutoShape 13"/>
          <p:cNvSpPr>
            <a:spLocks/>
          </p:cNvSpPr>
          <p:nvPr/>
        </p:nvSpPr>
        <p:spPr bwMode="auto">
          <a:xfrm>
            <a:off x="9732087" y="2615577"/>
            <a:ext cx="304800" cy="990600"/>
          </a:xfrm>
          <a:prstGeom prst="rightBrace">
            <a:avLst>
              <a:gd name="adj1" fmla="val 27083"/>
              <a:gd name="adj2" fmla="val 50000"/>
            </a:avLst>
          </a:prstGeom>
          <a:noFill/>
          <a:ln w="9525">
            <a:solidFill>
              <a:schemeClr val="tx1"/>
            </a:solidFill>
            <a:round/>
            <a:headEnd/>
            <a:tailEnd/>
          </a:ln>
        </p:spPr>
        <p:txBody>
          <a:bodyPr wrap="none" anchor="ctr"/>
          <a:lstStyle/>
          <a:p>
            <a:endParaRPr lang="en-US"/>
          </a:p>
        </p:txBody>
      </p:sp>
      <p:sp>
        <p:nvSpPr>
          <p:cNvPr id="17" name="Line 14"/>
          <p:cNvSpPr>
            <a:spLocks noChangeShapeType="1"/>
          </p:cNvSpPr>
          <p:nvPr/>
        </p:nvSpPr>
        <p:spPr bwMode="auto">
          <a:xfrm flipH="1" flipV="1">
            <a:off x="6424457" y="4406597"/>
            <a:ext cx="1219200" cy="533400"/>
          </a:xfrm>
          <a:prstGeom prst="line">
            <a:avLst/>
          </a:prstGeom>
          <a:noFill/>
          <a:ln w="38100">
            <a:solidFill>
              <a:schemeClr val="tx1"/>
            </a:solidFill>
            <a:round/>
            <a:headEnd/>
            <a:tailEnd type="triangle" w="med" len="med"/>
          </a:ln>
        </p:spPr>
        <p:txBody>
          <a:bodyPr/>
          <a:lstStyle/>
          <a:p>
            <a:endParaRPr lang="en-US"/>
          </a:p>
        </p:txBody>
      </p:sp>
      <p:sp>
        <p:nvSpPr>
          <p:cNvPr id="18" name="Line 15"/>
          <p:cNvSpPr>
            <a:spLocks noChangeShapeType="1"/>
          </p:cNvSpPr>
          <p:nvPr/>
        </p:nvSpPr>
        <p:spPr bwMode="auto">
          <a:xfrm flipV="1">
            <a:off x="6387151" y="2606256"/>
            <a:ext cx="3327809" cy="1800341"/>
          </a:xfrm>
          <a:prstGeom prst="line">
            <a:avLst/>
          </a:prstGeom>
          <a:noFill/>
          <a:ln w="38100">
            <a:solidFill>
              <a:srgbClr val="FF0000"/>
            </a:solidFill>
            <a:prstDash val="dash"/>
            <a:round/>
            <a:headEnd/>
            <a:tailEnd/>
          </a:ln>
        </p:spPr>
        <p:txBody>
          <a:bodyPr/>
          <a:lstStyle/>
          <a:p>
            <a:endParaRPr lang="en-US"/>
          </a:p>
        </p:txBody>
      </p:sp>
      <p:sp>
        <p:nvSpPr>
          <p:cNvPr id="20"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Performance Indicators</a:t>
            </a:r>
          </a:p>
        </p:txBody>
      </p:sp>
      <p:sp>
        <p:nvSpPr>
          <p:cNvPr id="7" name="Text Box 2"/>
          <p:cNvSpPr txBox="1">
            <a:spLocks noChangeArrowheads="1"/>
          </p:cNvSpPr>
          <p:nvPr/>
        </p:nvSpPr>
        <p:spPr bwMode="auto">
          <a:xfrm>
            <a:off x="7466267" y="4558356"/>
            <a:ext cx="2286000" cy="646331"/>
          </a:xfrm>
          <a:prstGeom prst="rect">
            <a:avLst/>
          </a:prstGeom>
          <a:solidFill>
            <a:srgbClr val="0099FF"/>
          </a:solidFill>
          <a:ln>
            <a:solidFill>
              <a:srgbClr val="0099FF"/>
            </a:solidFill>
            <a:headEnd/>
            <a:tailEnd/>
          </a:ln>
        </p:spPr>
        <p:style>
          <a:lnRef idx="2">
            <a:schemeClr val="accent5"/>
          </a:lnRef>
          <a:fillRef idx="1">
            <a:schemeClr val="lt1"/>
          </a:fillRef>
          <a:effectRef idx="0">
            <a:schemeClr val="accent5"/>
          </a:effectRef>
          <a:fontRef idx="minor">
            <a:schemeClr val="dk1"/>
          </a:fontRef>
        </p:style>
        <p:txBody>
          <a:bodyPr>
            <a:spAutoFit/>
          </a:bodyPr>
          <a:lstStyle/>
          <a:p>
            <a:pPr marL="231775" indent="-231775" algn="ctr" eaLnBrk="0" hangingPunct="0"/>
            <a:r>
              <a:rPr lang="en-US" dirty="0">
                <a:solidFill>
                  <a:schemeClr val="bg1"/>
                </a:solidFill>
                <a:latin typeface="Arial" panose="020B0604020202020204" pitchFamily="34" charset="0"/>
                <a:cs typeface="Arial" panose="020B0604020202020204" pitchFamily="34" charset="0"/>
              </a:rPr>
              <a:t>Performance</a:t>
            </a:r>
          </a:p>
          <a:p>
            <a:pPr marL="231775" indent="-231775" algn="ctr" eaLnBrk="0" hangingPunct="0"/>
            <a:r>
              <a:rPr lang="en-US" dirty="0">
                <a:solidFill>
                  <a:schemeClr val="bg1"/>
                </a:solidFill>
                <a:latin typeface="Arial" panose="020B0604020202020204" pitchFamily="34" charset="0"/>
                <a:cs typeface="Arial" panose="020B0604020202020204" pitchFamily="34" charset="0"/>
              </a:rPr>
              <a:t> indicators</a:t>
            </a:r>
            <a:endParaRPr lang="en-US"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799199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Quality Criteria for Indicators</a:t>
            </a:r>
          </a:p>
        </p:txBody>
      </p:sp>
      <p:sp>
        <p:nvSpPr>
          <p:cNvPr id="2" name="Rectangle 1"/>
          <p:cNvSpPr/>
          <p:nvPr/>
        </p:nvSpPr>
        <p:spPr>
          <a:xfrm>
            <a:off x="1963821" y="1106905"/>
            <a:ext cx="3048000" cy="1203158"/>
          </a:xfrm>
          <a:prstGeom prst="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99FF"/>
                </a:solidFill>
                <a:latin typeface="Arial" panose="020B0604020202020204" pitchFamily="34" charset="0"/>
                <a:cs typeface="Arial" panose="020B0604020202020204" pitchFamily="34" charset="0"/>
              </a:rPr>
              <a:t>Ratio of indicators to result</a:t>
            </a:r>
            <a:endParaRPr lang="en-US" sz="2000" dirty="0">
              <a:solidFill>
                <a:srgbClr val="0099FF"/>
              </a:solidFill>
              <a:latin typeface="Arial" panose="020B0604020202020204" pitchFamily="34" charset="0"/>
              <a:cs typeface="Arial" panose="020B0604020202020204" pitchFamily="34" charset="0"/>
            </a:endParaRPr>
          </a:p>
        </p:txBody>
      </p:sp>
      <p:sp>
        <p:nvSpPr>
          <p:cNvPr id="5" name="Rectangle 4"/>
          <p:cNvSpPr/>
          <p:nvPr/>
        </p:nvSpPr>
        <p:spPr>
          <a:xfrm>
            <a:off x="1963821" y="2510590"/>
            <a:ext cx="3048000" cy="1203158"/>
          </a:xfrm>
          <a:prstGeom prst="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99FF"/>
                </a:solidFill>
                <a:latin typeface="Arial" panose="020B0604020202020204" pitchFamily="34" charset="0"/>
                <a:cs typeface="Arial" panose="020B0604020202020204" pitchFamily="34" charset="0"/>
              </a:rPr>
              <a:t>Level of indicators</a:t>
            </a:r>
            <a:endParaRPr lang="en-US" sz="2000" dirty="0">
              <a:solidFill>
                <a:srgbClr val="0099FF"/>
              </a:solidFill>
              <a:latin typeface="Arial" panose="020B0604020202020204" pitchFamily="34" charset="0"/>
              <a:cs typeface="Arial" panose="020B0604020202020204" pitchFamily="34" charset="0"/>
            </a:endParaRPr>
          </a:p>
        </p:txBody>
      </p:sp>
      <p:sp>
        <p:nvSpPr>
          <p:cNvPr id="6" name="Rectangle 5"/>
          <p:cNvSpPr/>
          <p:nvPr/>
        </p:nvSpPr>
        <p:spPr>
          <a:xfrm>
            <a:off x="1963821" y="3914275"/>
            <a:ext cx="3048000" cy="1203158"/>
          </a:xfrm>
          <a:prstGeom prst="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99FF"/>
                </a:solidFill>
                <a:latin typeface="Arial" panose="020B0604020202020204" pitchFamily="34" charset="0"/>
                <a:cs typeface="Arial" panose="020B0604020202020204" pitchFamily="34" charset="0"/>
              </a:rPr>
              <a:t>Measurability of indicators</a:t>
            </a:r>
            <a:endParaRPr lang="en-US" sz="2000" dirty="0">
              <a:solidFill>
                <a:srgbClr val="0099FF"/>
              </a:solidFill>
              <a:latin typeface="Arial" panose="020B0604020202020204" pitchFamily="34" charset="0"/>
              <a:cs typeface="Arial" panose="020B0604020202020204" pitchFamily="34" charset="0"/>
            </a:endParaRPr>
          </a:p>
        </p:txBody>
      </p:sp>
      <p:sp>
        <p:nvSpPr>
          <p:cNvPr id="7" name="Rectangle 6"/>
          <p:cNvSpPr/>
          <p:nvPr/>
        </p:nvSpPr>
        <p:spPr>
          <a:xfrm>
            <a:off x="1963821" y="5317960"/>
            <a:ext cx="3048000" cy="1203158"/>
          </a:xfrm>
          <a:prstGeom prst="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rgbClr val="0099FF"/>
                </a:solidFill>
                <a:latin typeface="Arial" panose="020B0604020202020204" pitchFamily="34" charset="0"/>
                <a:cs typeface="Arial" panose="020B0604020202020204" pitchFamily="34" charset="0"/>
              </a:rPr>
              <a:t>Quality of indicators</a:t>
            </a:r>
            <a:endParaRPr lang="en-US" sz="2000" dirty="0">
              <a:solidFill>
                <a:srgbClr val="0099FF"/>
              </a:solidFill>
              <a:latin typeface="Arial" panose="020B0604020202020204" pitchFamily="34" charset="0"/>
              <a:cs typeface="Arial" panose="020B0604020202020204" pitchFamily="34" charset="0"/>
            </a:endParaRPr>
          </a:p>
        </p:txBody>
      </p:sp>
      <p:sp>
        <p:nvSpPr>
          <p:cNvPr id="9" name="Rectangle 8"/>
          <p:cNvSpPr/>
          <p:nvPr/>
        </p:nvSpPr>
        <p:spPr>
          <a:xfrm>
            <a:off x="5356726" y="1106905"/>
            <a:ext cx="6578600" cy="1203158"/>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panose="020B0604020202020204" pitchFamily="34" charset="0"/>
                <a:cs typeface="Arial" panose="020B0604020202020204" pitchFamily="34" charset="0"/>
              </a:rPr>
              <a:t>The indicators should be relevant to the result. The number of indicators per one result should be kept to a minimum, preferably 1 to 3, depending on the level of the result.</a:t>
            </a:r>
          </a:p>
        </p:txBody>
      </p:sp>
      <p:sp>
        <p:nvSpPr>
          <p:cNvPr id="10" name="Rectangle 9"/>
          <p:cNvSpPr/>
          <p:nvPr/>
        </p:nvSpPr>
        <p:spPr>
          <a:xfrm>
            <a:off x="5356726" y="2510590"/>
            <a:ext cx="6578600" cy="1203158"/>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panose="020B0604020202020204" pitchFamily="34" charset="0"/>
                <a:cs typeface="Arial" panose="020B0604020202020204" pitchFamily="34" charset="0"/>
              </a:rPr>
              <a:t>The indicators should measure the result directly or be an obvious proxy.</a:t>
            </a:r>
          </a:p>
        </p:txBody>
      </p:sp>
      <p:sp>
        <p:nvSpPr>
          <p:cNvPr id="11" name="Rectangle 10"/>
          <p:cNvSpPr/>
          <p:nvPr/>
        </p:nvSpPr>
        <p:spPr>
          <a:xfrm>
            <a:off x="5356726" y="3914275"/>
            <a:ext cx="6578600" cy="1203158"/>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panose="020B0604020202020204" pitchFamily="34" charset="0"/>
                <a:cs typeface="Arial" panose="020B0604020202020204" pitchFamily="34" charset="0"/>
              </a:rPr>
              <a:t>Indicators should be SMART with a clear unit of measurement and an operational output.</a:t>
            </a:r>
          </a:p>
        </p:txBody>
      </p:sp>
      <p:sp>
        <p:nvSpPr>
          <p:cNvPr id="12" name="Rectangle 11"/>
          <p:cNvSpPr/>
          <p:nvPr/>
        </p:nvSpPr>
        <p:spPr>
          <a:xfrm>
            <a:off x="5356726" y="5317960"/>
            <a:ext cx="6578600" cy="1203158"/>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panose="020B0604020202020204" pitchFamily="34" charset="0"/>
                <a:cs typeface="Arial" panose="020B0604020202020204" pitchFamily="34" charset="0"/>
              </a:rPr>
              <a:t>Baselines, targets and a reliable data source must be provided for the indicator. </a:t>
            </a:r>
          </a:p>
        </p:txBody>
      </p:sp>
      <p:grpSp>
        <p:nvGrpSpPr>
          <p:cNvPr id="15" name="Group 14"/>
          <p:cNvGrpSpPr/>
          <p:nvPr/>
        </p:nvGrpSpPr>
        <p:grpSpPr>
          <a:xfrm>
            <a:off x="1025357" y="1106904"/>
            <a:ext cx="850231" cy="5414214"/>
            <a:chOff x="644357" y="1106904"/>
            <a:chExt cx="850231" cy="5414214"/>
          </a:xfrm>
        </p:grpSpPr>
        <p:sp>
          <p:nvSpPr>
            <p:cNvPr id="13" name="Rectangle 12"/>
            <p:cNvSpPr/>
            <p:nvPr/>
          </p:nvSpPr>
          <p:spPr>
            <a:xfrm>
              <a:off x="644357" y="1106904"/>
              <a:ext cx="850231" cy="5414213"/>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000" b="1" dirty="0" smtClean="0">
                  <a:solidFill>
                    <a:schemeClr val="tx1">
                      <a:lumMod val="50000"/>
                      <a:lumOff val="50000"/>
                    </a:schemeClr>
                  </a:solidFill>
                  <a:latin typeface="Arial" panose="020B0604020202020204" pitchFamily="34" charset="0"/>
                  <a:cs typeface="Arial" panose="020B0604020202020204" pitchFamily="34" charset="0"/>
                </a:rPr>
                <a:t>HORIZONTAL LOGIC</a:t>
              </a:r>
              <a:endParaRPr lang="en-US" sz="2000" b="1" dirty="0">
                <a:solidFill>
                  <a:schemeClr val="tx1">
                    <a:lumMod val="50000"/>
                    <a:lumOff val="50000"/>
                  </a:schemeClr>
                </a:solidFill>
                <a:latin typeface="Arial" panose="020B0604020202020204" pitchFamily="34" charset="0"/>
                <a:cs typeface="Arial" panose="020B0604020202020204" pitchFamily="34" charset="0"/>
              </a:endParaRPr>
            </a:p>
          </p:txBody>
        </p:sp>
        <p:cxnSp>
          <p:nvCxnSpPr>
            <p:cNvPr id="14" name="Straight Connector 13"/>
            <p:cNvCxnSpPr/>
            <p:nvPr/>
          </p:nvCxnSpPr>
          <p:spPr>
            <a:xfrm>
              <a:off x="1364916" y="1106905"/>
              <a:ext cx="0" cy="5414213"/>
            </a:xfrm>
            <a:prstGeom prst="line">
              <a:avLst/>
            </a:prstGeom>
            <a:ln w="28575">
              <a:solidFill>
                <a:srgbClr val="D1D1D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8300702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Measurement Framework for Results</a:t>
            </a:r>
          </a:p>
        </p:txBody>
      </p:sp>
      <p:pic>
        <p:nvPicPr>
          <p:cNvPr id="2" name="Picture 1"/>
          <p:cNvPicPr>
            <a:picLocks noChangeAspect="1"/>
          </p:cNvPicPr>
          <p:nvPr/>
        </p:nvPicPr>
        <p:blipFill>
          <a:blip r:embed="rId3"/>
          <a:stretch>
            <a:fillRect/>
          </a:stretch>
        </p:blipFill>
        <p:spPr>
          <a:xfrm>
            <a:off x="958264" y="894094"/>
            <a:ext cx="9525143" cy="4829175"/>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sp>
        <p:nvSpPr>
          <p:cNvPr id="4" name="Content Placeholder 2"/>
          <p:cNvSpPr txBox="1">
            <a:spLocks/>
          </p:cNvSpPr>
          <p:nvPr/>
        </p:nvSpPr>
        <p:spPr>
          <a:xfrm>
            <a:off x="8097252" y="3645566"/>
            <a:ext cx="3597443" cy="2899612"/>
          </a:xfrm>
          <a:prstGeom prst="rect">
            <a:avLst/>
          </a:prstGeom>
          <a:solidFill>
            <a:schemeClr val="bg1"/>
          </a:solidFill>
          <a:ln w="38100">
            <a:solidFill>
              <a:srgbClr val="FFC000"/>
            </a:solidFill>
          </a:ln>
        </p:spPr>
        <p:style>
          <a:lnRef idx="3">
            <a:schemeClr val="lt1"/>
          </a:lnRef>
          <a:fillRef idx="1">
            <a:schemeClr val="accent4"/>
          </a:fillRef>
          <a:effectRef idx="1">
            <a:schemeClr val="accent4"/>
          </a:effectRef>
          <a:fontRef idx="minor">
            <a:schemeClr val="lt1"/>
          </a:fontRef>
        </p:style>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200000"/>
              </a:lnSpc>
              <a:buFont typeface="Arial" panose="020B0604020202020204" pitchFamily="34" charset="0"/>
              <a:buNone/>
            </a:pPr>
            <a:r>
              <a:rPr lang="en-US" sz="2000" u="sng" smtClean="0">
                <a:solidFill>
                  <a:srgbClr val="0099FF"/>
                </a:solidFill>
                <a:latin typeface="Arial" panose="020B0604020202020204" pitchFamily="34" charset="0"/>
                <a:cs typeface="Arial" panose="020B0604020202020204" pitchFamily="34" charset="0"/>
              </a:rPr>
              <a:t>Baselines and Targets</a:t>
            </a:r>
          </a:p>
          <a:p>
            <a:pPr>
              <a:buFontTx/>
              <a:buChar char="-"/>
            </a:pPr>
            <a:r>
              <a:rPr lang="en-US" sz="2000" smtClean="0">
                <a:solidFill>
                  <a:srgbClr val="0099FF"/>
                </a:solidFill>
                <a:latin typeface="Arial" panose="020B0604020202020204" pitchFamily="34" charset="0"/>
                <a:cs typeface="Arial" panose="020B0604020202020204" pitchFamily="34" charset="0"/>
              </a:rPr>
              <a:t>What are they?</a:t>
            </a:r>
          </a:p>
          <a:p>
            <a:pPr>
              <a:buFontTx/>
              <a:buChar char="-"/>
            </a:pPr>
            <a:r>
              <a:rPr lang="en-US" sz="2000" smtClean="0">
                <a:solidFill>
                  <a:srgbClr val="0099FF"/>
                </a:solidFill>
                <a:latin typeface="Arial" panose="020B0604020202020204" pitchFamily="34" charset="0"/>
                <a:cs typeface="Arial" panose="020B0604020202020204" pitchFamily="34" charset="0"/>
              </a:rPr>
              <a:t>Why are they important for measuring results?</a:t>
            </a:r>
          </a:p>
          <a:p>
            <a:pPr>
              <a:buFontTx/>
              <a:buChar char="-"/>
            </a:pPr>
            <a:r>
              <a:rPr lang="en-US" sz="2000" smtClean="0">
                <a:solidFill>
                  <a:srgbClr val="0099FF"/>
                </a:solidFill>
                <a:latin typeface="Arial" panose="020B0604020202020204" pitchFamily="34" charset="0"/>
                <a:cs typeface="Arial" panose="020B0604020202020204" pitchFamily="34" charset="0"/>
              </a:rPr>
              <a:t>What improvements can we make in using them?</a:t>
            </a:r>
            <a:endParaRPr lang="en-US" sz="2000" dirty="0">
              <a:solidFill>
                <a:srgbClr val="0099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7685656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Group work</a:t>
            </a:r>
          </a:p>
        </p:txBody>
      </p:sp>
      <p:sp>
        <p:nvSpPr>
          <p:cNvPr id="4" name="Content Placeholder 2"/>
          <p:cNvSpPr txBox="1">
            <a:spLocks/>
          </p:cNvSpPr>
          <p:nvPr/>
        </p:nvSpPr>
        <p:spPr>
          <a:xfrm>
            <a:off x="2715973" y="693939"/>
            <a:ext cx="7638262" cy="53824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smtClean="0">
                <a:latin typeface="Arial" panose="020B0604020202020204" pitchFamily="34" charset="0"/>
                <a:cs typeface="Arial" panose="020B0604020202020204" pitchFamily="34" charset="0"/>
              </a:rPr>
              <a:t>Working from the </a:t>
            </a:r>
            <a:r>
              <a:rPr lang="en-US" sz="2000" dirty="0" err="1" smtClean="0">
                <a:latin typeface="Arial" panose="020B0604020202020204" pitchFamily="34" charset="0"/>
                <a:cs typeface="Arial" panose="020B0604020202020204" pitchFamily="34" charset="0"/>
              </a:rPr>
              <a:t>ToC</a:t>
            </a:r>
            <a:r>
              <a:rPr lang="en-US" sz="2000" dirty="0" smtClean="0">
                <a:latin typeface="Arial" panose="020B0604020202020204" pitchFamily="34" charset="0"/>
                <a:cs typeface="Arial" panose="020B0604020202020204" pitchFamily="34" charset="0"/>
              </a:rPr>
              <a:t> developed:</a:t>
            </a:r>
          </a:p>
          <a:p>
            <a:pPr marL="457200" indent="-457200">
              <a:buFont typeface="+mj-lt"/>
              <a:buAutoNum type="arabicPeriod"/>
            </a:pPr>
            <a:r>
              <a:rPr lang="en-US" sz="2000" dirty="0" smtClean="0">
                <a:latin typeface="Arial" panose="020B0604020202020204" pitchFamily="34" charset="0"/>
                <a:cs typeface="Arial" panose="020B0604020202020204" pitchFamily="34" charset="0"/>
              </a:rPr>
              <a:t>Review the </a:t>
            </a:r>
            <a:r>
              <a:rPr lang="en-US" sz="2000" dirty="0">
                <a:latin typeface="Arial" panose="020B0604020202020204" pitchFamily="34" charset="0"/>
                <a:cs typeface="Arial" panose="020B0604020202020204" pitchFamily="34" charset="0"/>
              </a:rPr>
              <a:t>R</a:t>
            </a:r>
            <a:r>
              <a:rPr lang="en-US" sz="2000" dirty="0" smtClean="0">
                <a:latin typeface="Arial" panose="020B0604020202020204" pitchFamily="34" charset="0"/>
                <a:cs typeface="Arial" panose="020B0604020202020204" pitchFamily="34" charset="0"/>
              </a:rPr>
              <a:t>esults Framework by discussing the attributes and success criteria</a:t>
            </a:r>
          </a:p>
          <a:p>
            <a:pPr marL="457200" indent="-457200">
              <a:buFont typeface="+mj-lt"/>
              <a:buAutoNum type="arabicPeriod"/>
            </a:pPr>
            <a:endParaRPr lang="en-US" sz="800" dirty="0" smtClean="0">
              <a:latin typeface="Arial" panose="020B0604020202020204" pitchFamily="34" charset="0"/>
              <a:cs typeface="Arial" panose="020B0604020202020204" pitchFamily="34" charset="0"/>
            </a:endParaRPr>
          </a:p>
          <a:p>
            <a:pPr marL="457200" indent="-457200">
              <a:buFont typeface="+mj-lt"/>
              <a:buAutoNum type="arabicPeriod"/>
            </a:pPr>
            <a:r>
              <a:rPr lang="en-US" sz="2000" dirty="0" smtClean="0">
                <a:latin typeface="Arial" panose="020B0604020202020204" pitchFamily="34" charset="0"/>
                <a:cs typeface="Arial" panose="020B0604020202020204" pitchFamily="34" charset="0"/>
              </a:rPr>
              <a:t>Make results </a:t>
            </a:r>
            <a:r>
              <a:rPr lang="en-US" sz="2000" dirty="0" err="1" smtClean="0">
                <a:latin typeface="Arial" panose="020B0604020202020204" pitchFamily="34" charset="0"/>
                <a:cs typeface="Arial" panose="020B0604020202020204" pitchFamily="34" charset="0"/>
              </a:rPr>
              <a:t>SMARTer</a:t>
            </a:r>
            <a:r>
              <a:rPr lang="en-US" sz="2000" dirty="0" smtClean="0">
                <a:latin typeface="Arial" panose="020B0604020202020204" pitchFamily="34" charset="0"/>
                <a:cs typeface="Arial" panose="020B0604020202020204" pitchFamily="34" charset="0"/>
              </a:rPr>
              <a:t> – </a:t>
            </a:r>
          </a:p>
          <a:p>
            <a:pPr lvl="1"/>
            <a:r>
              <a:rPr lang="en-US" sz="1800" dirty="0" smtClean="0">
                <a:latin typeface="Arial" panose="020B0604020202020204" pitchFamily="34" charset="0"/>
                <a:cs typeface="Arial" panose="020B0604020202020204" pitchFamily="34" charset="0"/>
              </a:rPr>
              <a:t>Refine the </a:t>
            </a:r>
            <a:r>
              <a:rPr lang="en-US" sz="1800" dirty="0" smtClean="0">
                <a:solidFill>
                  <a:srgbClr val="0099FF"/>
                </a:solidFill>
                <a:latin typeface="Arial" panose="020B0604020202020204" pitchFamily="34" charset="0"/>
                <a:cs typeface="Arial" panose="020B0604020202020204" pitchFamily="34" charset="0"/>
              </a:rPr>
              <a:t>outcome and related output statements</a:t>
            </a:r>
            <a:endParaRPr lang="en-US" sz="1800" dirty="0" smtClean="0">
              <a:latin typeface="Arial" panose="020B0604020202020204" pitchFamily="34" charset="0"/>
              <a:cs typeface="Arial" panose="020B0604020202020204" pitchFamily="34" charset="0"/>
            </a:endParaRPr>
          </a:p>
          <a:p>
            <a:pPr lvl="1"/>
            <a:r>
              <a:rPr lang="en-US" sz="1800" dirty="0" smtClean="0">
                <a:latin typeface="Arial" panose="020B0604020202020204" pitchFamily="34" charset="0"/>
                <a:cs typeface="Arial" panose="020B0604020202020204" pitchFamily="34" charset="0"/>
              </a:rPr>
              <a:t>Check </a:t>
            </a:r>
            <a:r>
              <a:rPr lang="en-US" sz="1800" dirty="0" smtClean="0">
                <a:solidFill>
                  <a:srgbClr val="0099FF"/>
                </a:solidFill>
                <a:latin typeface="Arial" panose="020B0604020202020204" pitchFamily="34" charset="0"/>
                <a:cs typeface="Arial" panose="020B0604020202020204" pitchFamily="34" charset="0"/>
              </a:rPr>
              <a:t>the if-then-assumptions</a:t>
            </a:r>
            <a:r>
              <a:rPr lang="en-US" sz="1800" dirty="0" smtClean="0">
                <a:latin typeface="Arial" panose="020B0604020202020204" pitchFamily="34" charset="0"/>
                <a:cs typeface="Arial" panose="020B0604020202020204" pitchFamily="34" charset="0"/>
              </a:rPr>
              <a:t> logic and refine </a:t>
            </a:r>
          </a:p>
          <a:p>
            <a:pPr lvl="1"/>
            <a:r>
              <a:rPr lang="en-US" sz="1800" dirty="0" smtClean="0">
                <a:latin typeface="Arial" panose="020B0604020202020204" pitchFamily="34" charset="0"/>
                <a:cs typeface="Arial" panose="020B0604020202020204" pitchFamily="34" charset="0"/>
              </a:rPr>
              <a:t>Refine </a:t>
            </a:r>
            <a:r>
              <a:rPr lang="en-US" sz="1800" dirty="0" smtClean="0">
                <a:solidFill>
                  <a:srgbClr val="0099FF"/>
                </a:solidFill>
                <a:latin typeface="Arial" panose="020B0604020202020204" pitchFamily="34" charset="0"/>
                <a:cs typeface="Arial" panose="020B0604020202020204" pitchFamily="34" charset="0"/>
              </a:rPr>
              <a:t>indicator </a:t>
            </a:r>
            <a:r>
              <a:rPr lang="en-US" sz="1800" dirty="0">
                <a:solidFill>
                  <a:srgbClr val="0099FF"/>
                </a:solidFill>
                <a:latin typeface="Arial" panose="020B0604020202020204" pitchFamily="34" charset="0"/>
                <a:cs typeface="Arial" panose="020B0604020202020204" pitchFamily="34" charset="0"/>
              </a:rPr>
              <a:t>for each of the results statements</a:t>
            </a:r>
            <a:r>
              <a:rPr lang="en-US" sz="1800" dirty="0">
                <a:latin typeface="Arial" panose="020B0604020202020204" pitchFamily="34" charset="0"/>
                <a:cs typeface="Arial" panose="020B0604020202020204" pitchFamily="34" charset="0"/>
              </a:rPr>
              <a:t>, and identify related means of verification and frequency for reporting. </a:t>
            </a:r>
            <a:endParaRPr lang="en-US" sz="1800" dirty="0" smtClean="0">
              <a:latin typeface="Arial" panose="020B0604020202020204" pitchFamily="34" charset="0"/>
              <a:cs typeface="Arial" panose="020B0604020202020204" pitchFamily="34" charset="0"/>
            </a:endParaRPr>
          </a:p>
          <a:p>
            <a:pPr lvl="1"/>
            <a:r>
              <a:rPr lang="en-US" sz="1800" dirty="0">
                <a:latin typeface="Arial" panose="020B0604020202020204" pitchFamily="34" charset="0"/>
                <a:cs typeface="Arial" panose="020B0604020202020204" pitchFamily="34" charset="0"/>
              </a:rPr>
              <a:t>Capture the </a:t>
            </a:r>
            <a:r>
              <a:rPr lang="en-US" sz="1800" dirty="0">
                <a:solidFill>
                  <a:srgbClr val="0099FF"/>
                </a:solidFill>
                <a:latin typeface="Arial" panose="020B0604020202020204" pitchFamily="34" charset="0"/>
                <a:cs typeface="Arial" panose="020B0604020202020204" pitchFamily="34" charset="0"/>
              </a:rPr>
              <a:t>Baseline &amp; Target </a:t>
            </a:r>
            <a:r>
              <a:rPr lang="en-US" sz="1800" dirty="0">
                <a:latin typeface="Arial" panose="020B0604020202020204" pitchFamily="34" charset="0"/>
                <a:cs typeface="Arial" panose="020B0604020202020204" pitchFamily="34" charset="0"/>
              </a:rPr>
              <a:t>(if not possible explain how you will go about it) </a:t>
            </a:r>
            <a:endParaRPr lang="en-US" sz="800" dirty="0" smtClean="0">
              <a:latin typeface="Arial" panose="020B0604020202020204" pitchFamily="34" charset="0"/>
              <a:cs typeface="Arial" panose="020B0604020202020204" pitchFamily="34" charset="0"/>
            </a:endParaRPr>
          </a:p>
          <a:p>
            <a:pPr>
              <a:buFont typeface="Wingdings" pitchFamily="2" charset="2"/>
              <a:buChar char="ü"/>
            </a:pPr>
            <a:endParaRPr lang="en-US" sz="2000" dirty="0" smtClean="0">
              <a:latin typeface="Arial" panose="020B0604020202020204" pitchFamily="34" charset="0"/>
              <a:cs typeface="Arial" panose="020B0604020202020204" pitchFamily="34" charset="0"/>
            </a:endParaRPr>
          </a:p>
          <a:p>
            <a:pPr>
              <a:buFont typeface="Wingdings" pitchFamily="2" charset="2"/>
              <a:buChar char="ü"/>
            </a:pPr>
            <a:endParaRPr lang="en-GB" sz="2400" dirty="0">
              <a:latin typeface="Arial" panose="020B0604020202020204" pitchFamily="34" charset="0"/>
              <a:cs typeface="Arial" panose="020B0604020202020204" pitchFamily="34" charset="0"/>
            </a:endParaRPr>
          </a:p>
        </p:txBody>
      </p:sp>
      <p:sp>
        <p:nvSpPr>
          <p:cNvPr id="5" name="TextBox 4"/>
          <p:cNvSpPr txBox="1"/>
          <p:nvPr/>
        </p:nvSpPr>
        <p:spPr>
          <a:xfrm>
            <a:off x="326918" y="5381889"/>
            <a:ext cx="2967611" cy="1328023"/>
          </a:xfrm>
          <a:prstGeom prst="roundRect">
            <a:avLst/>
          </a:prstGeom>
          <a:solidFill>
            <a:srgbClr val="FF0000"/>
          </a:solidFill>
        </p:spPr>
        <p:txBody>
          <a:bodyPr wrap="square" rtlCol="0">
            <a:spAutoFit/>
          </a:bodyPr>
          <a:lstStyle/>
          <a:p>
            <a:pPr algn="ctr"/>
            <a:r>
              <a:rPr lang="en-GB" dirty="0" smtClean="0">
                <a:solidFill>
                  <a:schemeClr val="bg1"/>
                </a:solidFill>
                <a:latin typeface="Arial" panose="020B0604020202020204" pitchFamily="34" charset="0"/>
                <a:cs typeface="Arial" panose="020B0604020202020204" pitchFamily="34" charset="0"/>
              </a:rPr>
              <a:t>Remember to use all the criteria for the formulation of sound results and measurement</a:t>
            </a:r>
          </a:p>
        </p:txBody>
      </p:sp>
      <p:pic>
        <p:nvPicPr>
          <p:cNvPr id="6" name="Picture 2" descr="http://cdn2.hubspot.net/hub/390757/file-1027248010-png/images/people-connect-icon.png?t=1455723441285&amp;width=28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938" y="2050128"/>
            <a:ext cx="2705100" cy="226695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850812" y="5381889"/>
            <a:ext cx="3866494" cy="1015663"/>
          </a:xfrm>
          <a:prstGeom prst="rect">
            <a:avLst/>
          </a:prstGeom>
          <a:noFill/>
        </p:spPr>
        <p:txBody>
          <a:bodyPr wrap="square" anchor="ctr">
            <a:spAutoFit/>
          </a:bodyPr>
          <a:lstStyle/>
          <a:p>
            <a:pPr algn="r"/>
            <a:r>
              <a:rPr lang="en-US" sz="2000" dirty="0">
                <a:solidFill>
                  <a:schemeClr val="tx1">
                    <a:lumMod val="65000"/>
                    <a:lumOff val="35000"/>
                  </a:schemeClr>
                </a:solidFill>
                <a:latin typeface="Arial" panose="020B0604020202020204" pitchFamily="34" charset="0"/>
                <a:cs typeface="Arial" panose="020B0604020202020204" pitchFamily="34" charset="0"/>
              </a:rPr>
              <a:t>Groups shall capture their work on the </a:t>
            </a:r>
            <a:r>
              <a:rPr lang="en-US" sz="2000" dirty="0" smtClean="0">
                <a:solidFill>
                  <a:schemeClr val="tx1">
                    <a:lumMod val="65000"/>
                    <a:lumOff val="35000"/>
                  </a:schemeClr>
                </a:solidFill>
                <a:latin typeface="Arial" panose="020B0604020202020204" pitchFamily="34" charset="0"/>
                <a:cs typeface="Arial" panose="020B0604020202020204" pitchFamily="34" charset="0"/>
              </a:rPr>
              <a:t>flip-charts using the </a:t>
            </a:r>
            <a:r>
              <a:rPr lang="en-US" sz="2000" dirty="0">
                <a:solidFill>
                  <a:schemeClr val="tx1">
                    <a:lumMod val="65000"/>
                    <a:lumOff val="35000"/>
                  </a:schemeClr>
                </a:solidFill>
                <a:latin typeface="Arial" panose="020B0604020202020204" pitchFamily="34" charset="0"/>
                <a:cs typeface="Arial" panose="020B0604020202020204" pitchFamily="34" charset="0"/>
              </a:rPr>
              <a:t>results framework template. </a:t>
            </a:r>
          </a:p>
        </p:txBody>
      </p:sp>
      <p:pic>
        <p:nvPicPr>
          <p:cNvPr id="7" name="Picture 8" descr="https://d30y9cdsu7xlg0.cloudfront.net/png/3638-2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25635" y="4533093"/>
            <a:ext cx="2185575" cy="2185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117961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277470" y="3227295"/>
            <a:ext cx="10914529" cy="770021"/>
          </a:xfrm>
        </p:spPr>
        <p:txBody>
          <a:bodyPr>
            <a:normAutofit/>
          </a:bodyPr>
          <a:lstStyle/>
          <a:p>
            <a:pPr algn="ctr"/>
            <a:r>
              <a:rPr lang="en-US" sz="3600" dirty="0" smtClean="0">
                <a:solidFill>
                  <a:srgbClr val="0099FF"/>
                </a:solidFill>
                <a:latin typeface="Arial" panose="020B0604020202020204" pitchFamily="34" charset="0"/>
                <a:cs typeface="Arial" panose="020B0604020202020204" pitchFamily="34" charset="0"/>
              </a:rPr>
              <a:t>Any Questions?</a:t>
            </a:r>
            <a:endParaRPr lang="en-US" sz="3600" dirty="0">
              <a:solidFill>
                <a:srgbClr val="0099FF"/>
              </a:solidFill>
              <a:latin typeface="Arial" panose="020B0604020202020204" pitchFamily="34" charset="0"/>
              <a:cs typeface="Arial" panose="020B0604020202020204" pitchFamily="34" charset="0"/>
            </a:endParaRPr>
          </a:p>
        </p:txBody>
      </p:sp>
      <p:pic>
        <p:nvPicPr>
          <p:cNvPr id="1026" name="Picture 2" descr="https://cdn2.iconfinder.com/data/icons/freecns-cumulus/16/519660-164_QuestionMark-512.png"/>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79762" y="2773404"/>
            <a:ext cx="1677801" cy="1677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104207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60884" y="2502568"/>
            <a:ext cx="8855242" cy="2839453"/>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860884" y="2502567"/>
            <a:ext cx="8855242" cy="2839453"/>
          </a:xfrm>
        </p:spPr>
        <p:txBody>
          <a:bodyPr vert="horz" lIns="91440" tIns="45720" rIns="91440" bIns="45720" rtlCol="0" anchor="ctr">
            <a:noAutofit/>
          </a:bodyPr>
          <a:lstStyle/>
          <a:p>
            <a:pPr algn="ctr"/>
            <a:r>
              <a:rPr lang="en-US" sz="4000" dirty="0" smtClean="0">
                <a:solidFill>
                  <a:srgbClr val="0099FF"/>
                </a:solidFill>
                <a:latin typeface="Arial" panose="020B0604020202020204" pitchFamily="34" charset="0"/>
                <a:cs typeface="Arial" panose="020B0604020202020204" pitchFamily="34" charset="0"/>
              </a:rPr>
              <a:t>PLENARY PRESENTATIONS</a:t>
            </a:r>
            <a:br>
              <a:rPr lang="en-US" sz="4000" dirty="0" smtClean="0">
                <a:solidFill>
                  <a:srgbClr val="0099FF"/>
                </a:solidFill>
                <a:latin typeface="Arial" panose="020B0604020202020204" pitchFamily="34" charset="0"/>
                <a:cs typeface="Arial" panose="020B0604020202020204" pitchFamily="34" charset="0"/>
              </a:rPr>
            </a:br>
            <a:r>
              <a:rPr lang="en-US" sz="4000" dirty="0">
                <a:solidFill>
                  <a:srgbClr val="0099FF"/>
                </a:solidFill>
                <a:latin typeface="Arial" panose="020B0604020202020204" pitchFamily="34" charset="0"/>
                <a:cs typeface="Arial" panose="020B0604020202020204" pitchFamily="34" charset="0"/>
              </a:rPr>
              <a:t/>
            </a:r>
            <a:br>
              <a:rPr lang="en-US" sz="4000" dirty="0">
                <a:solidFill>
                  <a:srgbClr val="0099FF"/>
                </a:solidFill>
                <a:latin typeface="Arial" panose="020B0604020202020204" pitchFamily="34" charset="0"/>
                <a:cs typeface="Arial" panose="020B0604020202020204" pitchFamily="34" charset="0"/>
              </a:rPr>
            </a:br>
            <a:endParaRPr lang="en-US" sz="2800" dirty="0">
              <a:solidFill>
                <a:schemeClr val="bg1">
                  <a:lumMod val="50000"/>
                </a:schemeClr>
              </a:solidFill>
              <a:latin typeface="Arial" panose="020B0604020202020204" pitchFamily="34" charset="0"/>
              <a:cs typeface="Arial" panose="020B0604020202020204" pitchFamily="34" charset="0"/>
            </a:endParaRPr>
          </a:p>
        </p:txBody>
      </p:sp>
      <p:sp>
        <p:nvSpPr>
          <p:cNvPr id="6" name="Rectangle 5"/>
          <p:cNvSpPr/>
          <p:nvPr/>
        </p:nvSpPr>
        <p:spPr>
          <a:xfrm>
            <a:off x="1860884" y="1612232"/>
            <a:ext cx="8855242" cy="890336"/>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bg1">
                    <a:lumMod val="65000"/>
                  </a:schemeClr>
                </a:solidFill>
                <a:latin typeface="Arial" panose="020B0604020202020204" pitchFamily="34" charset="0"/>
                <a:cs typeface="Arial" panose="020B0604020202020204" pitchFamily="34" charset="0"/>
              </a:rPr>
              <a:t>SESSION 8</a:t>
            </a:r>
            <a:endParaRPr lang="en-US" sz="2800" dirty="0">
              <a:solidFill>
                <a:schemeClr val="bg1">
                  <a:lumMod val="65000"/>
                </a:schemeClr>
              </a:solidFill>
              <a:latin typeface="Arial" panose="020B0604020202020204" pitchFamily="34" charset="0"/>
              <a:cs typeface="Arial" panose="020B0604020202020204" pitchFamily="34" charset="0"/>
            </a:endParaRPr>
          </a:p>
        </p:txBody>
      </p:sp>
      <p:pic>
        <p:nvPicPr>
          <p:cNvPr id="5" name="Picture 2" descr="http://cdn2.hubspot.net/hub/390757/file-1027248010-png/images/people-connect-icon.png?t=1455723441285&amp;width=284"/>
          <p:cNvPicPr>
            <a:picLocks noChangeAspect="1" noChangeArrowheads="1"/>
          </p:cNvPicPr>
          <p:nvPr/>
        </p:nvPicPr>
        <p:blipFill>
          <a:blip r:embed="rId2">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028625" y="3811126"/>
            <a:ext cx="1461183" cy="122451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cdn2.hubspot.net/hub/390757/file-1027248010-png/images/people-connect-icon.png?t=1455723441285&amp;width=284"/>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521977" y="3811126"/>
            <a:ext cx="1461183" cy="122451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cdn2.hubspot.net/hub/390757/file-1027248010-png/images/people-connect-icon.png?t=1455723441285&amp;width=284"/>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87286" y="3811126"/>
            <a:ext cx="1461183" cy="1224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03845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60884" y="2502568"/>
            <a:ext cx="8855242" cy="2839453"/>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860884" y="2502567"/>
            <a:ext cx="8855242" cy="2839453"/>
          </a:xfrm>
        </p:spPr>
        <p:txBody>
          <a:bodyPr vert="horz" lIns="91440" tIns="45720" rIns="91440" bIns="45720" rtlCol="0" anchor="ctr">
            <a:noAutofit/>
          </a:bodyPr>
          <a:lstStyle/>
          <a:p>
            <a:pPr algn="ctr"/>
            <a:r>
              <a:rPr lang="en-US" sz="4000" dirty="0" smtClean="0">
                <a:solidFill>
                  <a:srgbClr val="0099FF"/>
                </a:solidFill>
                <a:latin typeface="Arial" panose="020B0604020202020204" pitchFamily="34" charset="0"/>
                <a:cs typeface="Arial" panose="020B0604020202020204" pitchFamily="34" charset="0"/>
              </a:rPr>
              <a:t>IMPLEMENTATION</a:t>
            </a:r>
            <a:endParaRPr lang="en-US" sz="2800" dirty="0">
              <a:solidFill>
                <a:schemeClr val="bg1">
                  <a:lumMod val="50000"/>
                </a:schemeClr>
              </a:solidFill>
              <a:latin typeface="Arial" panose="020B0604020202020204" pitchFamily="34" charset="0"/>
              <a:cs typeface="Arial" panose="020B0604020202020204" pitchFamily="34" charset="0"/>
            </a:endParaRPr>
          </a:p>
        </p:txBody>
      </p:sp>
      <p:sp>
        <p:nvSpPr>
          <p:cNvPr id="6" name="Rectangle 5"/>
          <p:cNvSpPr/>
          <p:nvPr/>
        </p:nvSpPr>
        <p:spPr>
          <a:xfrm>
            <a:off x="1860884" y="1612232"/>
            <a:ext cx="8855242" cy="890336"/>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bg1">
                    <a:lumMod val="65000"/>
                  </a:schemeClr>
                </a:solidFill>
                <a:latin typeface="Arial" panose="020B0604020202020204" pitchFamily="34" charset="0"/>
                <a:cs typeface="Arial" panose="020B0604020202020204" pitchFamily="34" charset="0"/>
              </a:rPr>
              <a:t>SESSION 9</a:t>
            </a:r>
            <a:endParaRPr lang="en-US" sz="2800" dirty="0">
              <a:solidFill>
                <a:schemeClr val="bg1">
                  <a:lumMod val="6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323296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Session Objectives</a:t>
            </a:r>
          </a:p>
        </p:txBody>
      </p:sp>
      <p:sp>
        <p:nvSpPr>
          <p:cNvPr id="3" name="TextBox 2"/>
          <p:cNvSpPr txBox="1"/>
          <p:nvPr/>
        </p:nvSpPr>
        <p:spPr>
          <a:xfrm>
            <a:off x="968257" y="1607077"/>
            <a:ext cx="10244029" cy="3785652"/>
          </a:xfrm>
          <a:prstGeom prst="rect">
            <a:avLst/>
          </a:prstGeom>
          <a:noFill/>
        </p:spPr>
        <p:txBody>
          <a:bodyPr wrap="square" rtlCol="0">
            <a:spAutoFit/>
          </a:bodyPr>
          <a:lstStyle/>
          <a:p>
            <a:pPr marL="742950" indent="-742950">
              <a:buFont typeface="+mj-lt"/>
              <a:buAutoNum type="arabicPeriod"/>
            </a:pPr>
            <a:r>
              <a:rPr lang="en-US" sz="2400" dirty="0" smtClean="0">
                <a:latin typeface="Arial" panose="020B0604020202020204" pitchFamily="34" charset="0"/>
                <a:cs typeface="Arial" panose="020B0604020202020204" pitchFamily="34" charset="0"/>
              </a:rPr>
              <a:t>Identify risks to the delivery of results</a:t>
            </a:r>
          </a:p>
          <a:p>
            <a:pPr marL="742950" indent="-742950">
              <a:buFont typeface="+mj-lt"/>
              <a:buAutoNum type="arabicPeriod"/>
            </a:pPr>
            <a:endParaRPr lang="en-US" sz="2400" dirty="0" smtClean="0">
              <a:latin typeface="Arial" panose="020B0604020202020204" pitchFamily="34" charset="0"/>
              <a:cs typeface="Arial" panose="020B0604020202020204" pitchFamily="34" charset="0"/>
            </a:endParaRPr>
          </a:p>
          <a:p>
            <a:pPr marL="742950" indent="-742950">
              <a:buFont typeface="+mj-lt"/>
              <a:buAutoNum type="arabicPeriod"/>
            </a:pPr>
            <a:r>
              <a:rPr lang="en-US" sz="2400" dirty="0" smtClean="0">
                <a:latin typeface="Arial" panose="020B0604020202020204" pitchFamily="34" charset="0"/>
                <a:cs typeface="Arial" panose="020B0604020202020204" pitchFamily="34" charset="0"/>
              </a:rPr>
              <a:t>Identification of implementation modalities</a:t>
            </a:r>
          </a:p>
          <a:p>
            <a:pPr marL="742950" indent="-742950">
              <a:buFont typeface="+mj-lt"/>
              <a:buAutoNum type="arabicPeriod"/>
            </a:pPr>
            <a:endParaRPr lang="en-US" sz="2400" dirty="0" smtClean="0">
              <a:latin typeface="Arial" panose="020B0604020202020204" pitchFamily="34" charset="0"/>
              <a:cs typeface="Arial" panose="020B0604020202020204" pitchFamily="34" charset="0"/>
            </a:endParaRPr>
          </a:p>
          <a:p>
            <a:pPr marL="742950" indent="-742950">
              <a:buFont typeface="+mj-lt"/>
              <a:buAutoNum type="arabicPeriod"/>
            </a:pPr>
            <a:r>
              <a:rPr lang="en-US" sz="2400" dirty="0" smtClean="0">
                <a:latin typeface="Arial" panose="020B0604020202020204" pitchFamily="34" charset="0"/>
                <a:cs typeface="Arial" panose="020B0604020202020204" pitchFamily="34" charset="0"/>
              </a:rPr>
              <a:t>Moving from outputs to deliverables to activities – and scheduling</a:t>
            </a:r>
          </a:p>
          <a:p>
            <a:pPr marL="742950" indent="-742950">
              <a:buFont typeface="+mj-lt"/>
              <a:buAutoNum type="arabicPeriod"/>
            </a:pPr>
            <a:endParaRPr lang="en-US" sz="2400" dirty="0" smtClean="0">
              <a:latin typeface="Arial" panose="020B0604020202020204" pitchFamily="34" charset="0"/>
              <a:cs typeface="Arial" panose="020B0604020202020204" pitchFamily="34" charset="0"/>
            </a:endParaRPr>
          </a:p>
          <a:p>
            <a:pPr marL="742950" indent="-742950">
              <a:buFont typeface="+mj-lt"/>
              <a:buAutoNum type="arabicPeriod"/>
            </a:pPr>
            <a:r>
              <a:rPr lang="en-US" sz="2400" dirty="0" smtClean="0">
                <a:latin typeface="Arial" panose="020B0604020202020204" pitchFamily="34" charset="0"/>
                <a:cs typeface="Arial" panose="020B0604020202020204" pitchFamily="34" charset="0"/>
              </a:rPr>
              <a:t>Resource allocation</a:t>
            </a:r>
          </a:p>
          <a:p>
            <a:pPr marL="742950" indent="-742950">
              <a:buFont typeface="+mj-lt"/>
              <a:buAutoNum type="arabicPeriod"/>
            </a:pPr>
            <a:endParaRPr lang="en-US" sz="2400" dirty="0" smtClean="0">
              <a:latin typeface="Arial" panose="020B0604020202020204" pitchFamily="34" charset="0"/>
              <a:cs typeface="Arial" panose="020B0604020202020204" pitchFamily="34" charset="0"/>
            </a:endParaRPr>
          </a:p>
          <a:p>
            <a:pPr marL="742950" indent="-742950">
              <a:buFont typeface="+mj-lt"/>
              <a:buAutoNum type="arabicPeriod"/>
            </a:pPr>
            <a:r>
              <a:rPr lang="en-US" sz="2400" dirty="0" smtClean="0">
                <a:latin typeface="Arial" panose="020B0604020202020204" pitchFamily="34" charset="0"/>
                <a:cs typeface="Arial" panose="020B0604020202020204" pitchFamily="34" charset="0"/>
              </a:rPr>
              <a:t>Tips for good work planning</a:t>
            </a:r>
          </a:p>
          <a:p>
            <a:pPr marL="742950" indent="-742950">
              <a:buFont typeface="+mj-lt"/>
              <a:buAutoNum type="arabicPeriod"/>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398035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929743" y="1295400"/>
            <a:ext cx="3112169" cy="5206847"/>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endParaRPr lang="en-US" sz="2000" dirty="0"/>
          </a:p>
        </p:txBody>
      </p:sp>
      <p:sp>
        <p:nvSpPr>
          <p:cNvPr id="4" name="Title 1"/>
          <p:cNvSpPr txBox="1">
            <a:spLocks/>
          </p:cNvSpPr>
          <p:nvPr/>
        </p:nvSpPr>
        <p:spPr>
          <a:xfrm>
            <a:off x="0" y="0"/>
            <a:ext cx="12192000" cy="77002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smtClean="0">
                <a:solidFill>
                  <a:srgbClr val="0099FF"/>
                </a:solidFill>
                <a:latin typeface="Arial" panose="020B0604020202020204" pitchFamily="34" charset="0"/>
                <a:cs typeface="Arial" panose="020B0604020202020204" pitchFamily="34" charset="0"/>
              </a:rPr>
              <a:t>Identification of Risks to Implementation and Delivery of Results</a:t>
            </a:r>
          </a:p>
        </p:txBody>
      </p:sp>
      <p:sp>
        <p:nvSpPr>
          <p:cNvPr id="13" name="ColumnHeader"/>
          <p:cNvSpPr>
            <a:spLocks noChangeArrowheads="1"/>
          </p:cNvSpPr>
          <p:nvPr/>
        </p:nvSpPr>
        <p:spPr bwMode="gray">
          <a:xfrm>
            <a:off x="139644" y="1575929"/>
            <a:ext cx="3798830" cy="397767"/>
          </a:xfrm>
          <a:prstGeom prst="rect">
            <a:avLst/>
          </a:prstGeom>
          <a:ln>
            <a:solidFill>
              <a:srgbClr val="0099FF"/>
            </a:solidFill>
            <a:headEnd type="none" w="lg" len="lg"/>
            <a:tailEnd type="none" w="lg" len="lg"/>
          </a:ln>
        </p:spPr>
        <p:style>
          <a:lnRef idx="2">
            <a:schemeClr val="accent5"/>
          </a:lnRef>
          <a:fillRef idx="1">
            <a:schemeClr val="lt1"/>
          </a:fillRef>
          <a:effectRef idx="0">
            <a:schemeClr val="accent5"/>
          </a:effectRef>
          <a:fontRef idx="minor">
            <a:schemeClr val="dk1"/>
          </a:fontRef>
        </p:style>
        <p:txBody>
          <a:bodyPr wrap="square" tIns="84406" bIns="84406" anchor="b">
            <a:spAutoFit/>
          </a:bodyPr>
          <a:lstStyle/>
          <a:p>
            <a:pPr algn="ctr"/>
            <a:r>
              <a:rPr lang="en-US" sz="1477" dirty="0">
                <a:latin typeface="Arial" panose="020B0604020202020204" pitchFamily="34" charset="0"/>
                <a:cs typeface="Arial" panose="020B0604020202020204" pitchFamily="34" charset="0"/>
              </a:rPr>
              <a:t>Risks are assessed along 2 dimensions</a:t>
            </a:r>
          </a:p>
        </p:txBody>
      </p:sp>
      <p:sp>
        <p:nvSpPr>
          <p:cNvPr id="14" name="ColumnHeader"/>
          <p:cNvSpPr>
            <a:spLocks noChangeArrowheads="1"/>
          </p:cNvSpPr>
          <p:nvPr/>
        </p:nvSpPr>
        <p:spPr bwMode="gray">
          <a:xfrm>
            <a:off x="4225002" y="1575929"/>
            <a:ext cx="3798830" cy="397767"/>
          </a:xfrm>
          <a:prstGeom prst="rect">
            <a:avLst/>
          </a:prstGeom>
          <a:ln>
            <a:solidFill>
              <a:srgbClr val="0099FF"/>
            </a:solidFill>
            <a:headEnd type="none" w="lg" len="lg"/>
            <a:tailEnd type="none" w="lg" len="lg"/>
          </a:ln>
        </p:spPr>
        <p:style>
          <a:lnRef idx="2">
            <a:schemeClr val="accent5"/>
          </a:lnRef>
          <a:fillRef idx="1">
            <a:schemeClr val="lt1"/>
          </a:fillRef>
          <a:effectRef idx="0">
            <a:schemeClr val="accent5"/>
          </a:effectRef>
          <a:fontRef idx="minor">
            <a:schemeClr val="dk1"/>
          </a:fontRef>
        </p:style>
        <p:txBody>
          <a:bodyPr wrap="square" tIns="84406" bIns="84406" anchor="b">
            <a:spAutoFit/>
          </a:bodyPr>
          <a:lstStyle/>
          <a:p>
            <a:pPr algn="ctr"/>
            <a:r>
              <a:rPr lang="fr-FR" sz="1477" dirty="0" err="1">
                <a:latin typeface="Arial" panose="020B0604020202020204" pitchFamily="34" charset="0"/>
                <a:cs typeface="Arial" panose="020B0604020202020204" pitchFamily="34" charset="0"/>
              </a:rPr>
              <a:t>Leading</a:t>
            </a:r>
            <a:r>
              <a:rPr lang="fr-FR" sz="1477" dirty="0">
                <a:latin typeface="Arial" panose="020B0604020202020204" pitchFamily="34" charset="0"/>
                <a:cs typeface="Arial" panose="020B0604020202020204" pitchFamily="34" charset="0"/>
              </a:rPr>
              <a:t> to </a:t>
            </a:r>
            <a:r>
              <a:rPr lang="fr-FR" sz="1477" dirty="0" err="1">
                <a:latin typeface="Arial" panose="020B0604020202020204" pitchFamily="34" charset="0"/>
                <a:cs typeface="Arial" panose="020B0604020202020204" pitchFamily="34" charset="0"/>
              </a:rPr>
              <a:t>overall</a:t>
            </a:r>
            <a:r>
              <a:rPr lang="fr-FR" sz="1477" dirty="0">
                <a:latin typeface="Arial" panose="020B0604020202020204" pitchFamily="34" charset="0"/>
                <a:cs typeface="Arial" panose="020B0604020202020204" pitchFamily="34" charset="0"/>
              </a:rPr>
              <a:t> </a:t>
            </a:r>
            <a:r>
              <a:rPr lang="fr-FR" sz="1477" dirty="0" err="1">
                <a:latin typeface="Arial" panose="020B0604020202020204" pitchFamily="34" charset="0"/>
                <a:cs typeface="Arial" panose="020B0604020202020204" pitchFamily="34" charset="0"/>
              </a:rPr>
              <a:t>risk</a:t>
            </a:r>
            <a:r>
              <a:rPr lang="fr-FR" sz="1477" dirty="0">
                <a:latin typeface="Arial" panose="020B0604020202020204" pitchFamily="34" charset="0"/>
                <a:cs typeface="Arial" panose="020B0604020202020204" pitchFamily="34" charset="0"/>
              </a:rPr>
              <a:t> </a:t>
            </a:r>
            <a:r>
              <a:rPr lang="fr-FR" sz="1477" dirty="0" err="1">
                <a:latin typeface="Arial" panose="020B0604020202020204" pitchFamily="34" charset="0"/>
                <a:cs typeface="Arial" panose="020B0604020202020204" pitchFamily="34" charset="0"/>
              </a:rPr>
              <a:t>level</a:t>
            </a:r>
            <a:endParaRPr lang="en-US" sz="1477" dirty="0">
              <a:latin typeface="Arial" panose="020B0604020202020204" pitchFamily="34" charset="0"/>
              <a:cs typeface="Arial" panose="020B0604020202020204" pitchFamily="34" charset="0"/>
            </a:endParaRPr>
          </a:p>
        </p:txBody>
      </p:sp>
      <p:sp>
        <p:nvSpPr>
          <p:cNvPr id="15" name="FlowTriangle"/>
          <p:cNvSpPr>
            <a:spLocks noChangeArrowheads="1"/>
          </p:cNvSpPr>
          <p:nvPr/>
        </p:nvSpPr>
        <p:spPr bwMode="gray">
          <a:xfrm rot="5400000">
            <a:off x="2358586" y="3939223"/>
            <a:ext cx="3029446" cy="246185"/>
          </a:xfrm>
          <a:prstGeom prst="triangle">
            <a:avLst>
              <a:gd name="adj" fmla="val 50000"/>
            </a:avLst>
          </a:prstGeom>
          <a:solidFill>
            <a:srgbClr val="B2B2B2"/>
          </a:solidFill>
          <a:ln w="9525" algn="ctr">
            <a:solidFill>
              <a:srgbClr val="B2B2B2"/>
            </a:solidFill>
            <a:miter lim="800000"/>
            <a:headEnd/>
            <a:tailEnd/>
          </a:ln>
        </p:spPr>
        <p:txBody>
          <a:bodyPr rot="10800000" vert="eaVert" wrap="none" anchor="ctr"/>
          <a:lstStyle/>
          <a:p>
            <a:pPr algn="ctr"/>
            <a:endParaRPr lang="en-US" sz="1292" b="1">
              <a:solidFill>
                <a:srgbClr val="000000"/>
              </a:solidFill>
              <a:latin typeface="Arial" panose="020B0604020202020204" pitchFamily="34" charset="0"/>
              <a:cs typeface="Arial" panose="020B0604020202020204" pitchFamily="34" charset="0"/>
            </a:endParaRPr>
          </a:p>
        </p:txBody>
      </p:sp>
      <p:grpSp>
        <p:nvGrpSpPr>
          <p:cNvPr id="16" name="Group 41"/>
          <p:cNvGrpSpPr/>
          <p:nvPr/>
        </p:nvGrpSpPr>
        <p:grpSpPr>
          <a:xfrm>
            <a:off x="4526835" y="2420042"/>
            <a:ext cx="3195164" cy="2936374"/>
            <a:chOff x="5500860" y="2525341"/>
            <a:chExt cx="3461428" cy="3181072"/>
          </a:xfrm>
        </p:grpSpPr>
        <p:sp>
          <p:nvSpPr>
            <p:cNvPr id="17" name="Isosceles Triangle 16"/>
            <p:cNvSpPr/>
            <p:nvPr/>
          </p:nvSpPr>
          <p:spPr>
            <a:xfrm flipV="1">
              <a:off x="5500860" y="2525341"/>
              <a:ext cx="331910" cy="2677939"/>
            </a:xfrm>
            <a:prstGeom prst="triangle">
              <a:avLst/>
            </a:prstGeom>
            <a:solidFill>
              <a:srgbClr val="E2E2E2"/>
            </a:solidFill>
            <a:ln w="9525">
              <a:solidFill>
                <a:srgbClr val="E2E2E2"/>
              </a:solidFill>
            </a:ln>
            <a:effectLst/>
          </p:spPr>
          <p:style>
            <a:lnRef idx="2">
              <a:schemeClr val="accent1">
                <a:shade val="50000"/>
              </a:schemeClr>
            </a:lnRef>
            <a:fillRef idx="1">
              <a:schemeClr val="accent1"/>
            </a:fillRef>
            <a:effectRef idx="0">
              <a:schemeClr val="accent1"/>
            </a:effectRef>
            <a:fontRef idx="minor">
              <a:schemeClr val="lt1"/>
            </a:fontRef>
          </p:style>
          <p:txBody>
            <a:bodyPr vert="vert" tIns="83077" bIns="83077" rtlCol="0" anchor="ctr" anchorCtr="0"/>
            <a:lstStyle/>
            <a:p>
              <a:r>
                <a:rPr lang="fr-FR" sz="1292" b="1" dirty="0" err="1" smtClean="0">
                  <a:solidFill>
                    <a:schemeClr val="tx1"/>
                  </a:solidFill>
                  <a:latin typeface="Arial" panose="020B0604020202020204" pitchFamily="34" charset="0"/>
                  <a:cs typeface="Arial" panose="020B0604020202020204" pitchFamily="34" charset="0"/>
                </a:rPr>
                <a:t>Lijellihood</a:t>
              </a:r>
              <a:endParaRPr lang="en-US" sz="1292" b="1" dirty="0" err="1">
                <a:solidFill>
                  <a:schemeClr val="tx1"/>
                </a:solidFill>
                <a:latin typeface="Arial" panose="020B0604020202020204" pitchFamily="34" charset="0"/>
                <a:cs typeface="Arial" panose="020B0604020202020204" pitchFamily="34" charset="0"/>
              </a:endParaRPr>
            </a:p>
          </p:txBody>
        </p:sp>
        <p:sp>
          <p:nvSpPr>
            <p:cNvPr id="18" name="Isosceles Triangle 17"/>
            <p:cNvSpPr/>
            <p:nvPr/>
          </p:nvSpPr>
          <p:spPr>
            <a:xfrm rot="5400000" flipV="1">
              <a:off x="7385324" y="4129448"/>
              <a:ext cx="331912" cy="2822017"/>
            </a:xfrm>
            <a:prstGeom prst="triangle">
              <a:avLst/>
            </a:prstGeom>
            <a:solidFill>
              <a:srgbClr val="E2E2E2"/>
            </a:solidFill>
            <a:ln w="9525">
              <a:solidFill>
                <a:srgbClr val="E2E2E2"/>
              </a:solidFill>
            </a:ln>
            <a:effectLst/>
          </p:spPr>
          <p:style>
            <a:lnRef idx="2">
              <a:schemeClr val="accent1">
                <a:shade val="50000"/>
              </a:schemeClr>
            </a:lnRef>
            <a:fillRef idx="1">
              <a:schemeClr val="accent1"/>
            </a:fillRef>
            <a:effectRef idx="0">
              <a:schemeClr val="accent1"/>
            </a:effectRef>
            <a:fontRef idx="minor">
              <a:schemeClr val="lt1"/>
            </a:fontRef>
          </p:style>
          <p:txBody>
            <a:bodyPr vert="vert" tIns="83077" bIns="83077" rtlCol="0" anchor="ctr" anchorCtr="0"/>
            <a:lstStyle/>
            <a:p>
              <a:r>
                <a:rPr lang="fr-FR" sz="1292" b="1" dirty="0">
                  <a:solidFill>
                    <a:schemeClr val="tx1"/>
                  </a:solidFill>
                  <a:latin typeface="Arial" panose="020B0604020202020204" pitchFamily="34" charset="0"/>
                  <a:cs typeface="Arial" panose="020B0604020202020204" pitchFamily="34" charset="0"/>
                </a:rPr>
                <a:t>Impact</a:t>
              </a:r>
              <a:endParaRPr lang="en-US" sz="1292" b="1" dirty="0" err="1">
                <a:solidFill>
                  <a:schemeClr val="tx1"/>
                </a:solidFill>
                <a:latin typeface="Arial" panose="020B0604020202020204" pitchFamily="34" charset="0"/>
                <a:cs typeface="Arial" panose="020B0604020202020204" pitchFamily="34" charset="0"/>
              </a:endParaRPr>
            </a:p>
          </p:txBody>
        </p:sp>
        <p:grpSp>
          <p:nvGrpSpPr>
            <p:cNvPr id="19" name="Group 33"/>
            <p:cNvGrpSpPr/>
            <p:nvPr/>
          </p:nvGrpSpPr>
          <p:grpSpPr>
            <a:xfrm>
              <a:off x="5996195" y="2525341"/>
              <a:ext cx="2966091" cy="2677939"/>
              <a:chOff x="5832770" y="2511486"/>
              <a:chExt cx="3171081" cy="2863014"/>
            </a:xfrm>
          </p:grpSpPr>
          <p:pic>
            <p:nvPicPr>
              <p:cNvPr id="20" name="Picture 2"/>
              <p:cNvPicPr>
                <a:picLocks noChangeAspect="1" noChangeArrowheads="1"/>
              </p:cNvPicPr>
              <p:nvPr/>
            </p:nvPicPr>
            <p:blipFill>
              <a:blip r:embed="rId2" cstate="print"/>
              <a:srcRect l="5594" t="11880"/>
              <a:stretch>
                <a:fillRect/>
              </a:stretch>
            </p:blipFill>
            <p:spPr bwMode="auto">
              <a:xfrm>
                <a:off x="5832770" y="2511486"/>
                <a:ext cx="3171081" cy="2682451"/>
              </a:xfrm>
              <a:prstGeom prst="rect">
                <a:avLst/>
              </a:prstGeom>
              <a:noFill/>
              <a:ln w="9525">
                <a:noFill/>
                <a:miter lim="800000"/>
                <a:headEnd/>
                <a:tailEnd/>
              </a:ln>
            </p:spPr>
          </p:pic>
          <p:pic>
            <p:nvPicPr>
              <p:cNvPr id="21" name="Picture 2"/>
              <p:cNvPicPr>
                <a:picLocks noChangeAspect="1" noChangeArrowheads="1"/>
              </p:cNvPicPr>
              <p:nvPr/>
            </p:nvPicPr>
            <p:blipFill>
              <a:blip r:embed="rId2" cstate="print"/>
              <a:srcRect l="24278" t="6413" b="87655"/>
              <a:stretch>
                <a:fillRect/>
              </a:stretch>
            </p:blipFill>
            <p:spPr bwMode="auto">
              <a:xfrm>
                <a:off x="6460352" y="5193937"/>
                <a:ext cx="2543499" cy="180563"/>
              </a:xfrm>
              <a:prstGeom prst="rect">
                <a:avLst/>
              </a:prstGeom>
              <a:noFill/>
              <a:ln w="9525">
                <a:noFill/>
                <a:miter lim="800000"/>
                <a:headEnd/>
                <a:tailEnd/>
              </a:ln>
            </p:spPr>
          </p:pic>
        </p:grpSp>
      </p:grpSp>
      <p:grpSp>
        <p:nvGrpSpPr>
          <p:cNvPr id="22" name="Group 40"/>
          <p:cNvGrpSpPr/>
          <p:nvPr/>
        </p:nvGrpSpPr>
        <p:grpSpPr>
          <a:xfrm>
            <a:off x="5575784" y="5577038"/>
            <a:ext cx="703385" cy="575496"/>
            <a:chOff x="6393874" y="6096001"/>
            <a:chExt cx="762000" cy="623454"/>
          </a:xfrm>
        </p:grpSpPr>
        <p:sp>
          <p:nvSpPr>
            <p:cNvPr id="23" name="Rectangle 22"/>
            <p:cNvSpPr/>
            <p:nvPr/>
          </p:nvSpPr>
          <p:spPr>
            <a:xfrm>
              <a:off x="6393874" y="6096001"/>
              <a:ext cx="762000" cy="207818"/>
            </a:xfrm>
            <a:prstGeom prst="rect">
              <a:avLst/>
            </a:prstGeom>
            <a:solidFill>
              <a:srgbClr val="FF0000"/>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83077" bIns="83077" rtlCol="0" anchor="ctr" anchorCtr="0"/>
            <a:lstStyle/>
            <a:p>
              <a:pPr algn="ctr"/>
              <a:r>
                <a:rPr lang="fr-FR" sz="1292" b="1" dirty="0">
                  <a:solidFill>
                    <a:schemeClr val="tx1"/>
                  </a:solidFill>
                  <a:latin typeface="Arial" panose="020B0604020202020204" pitchFamily="34" charset="0"/>
                  <a:cs typeface="Arial" panose="020B0604020202020204" pitchFamily="34" charset="0"/>
                </a:rPr>
                <a:t>High</a:t>
              </a:r>
              <a:endParaRPr lang="en-US" sz="1292" b="1" dirty="0" err="1">
                <a:solidFill>
                  <a:schemeClr val="tx1"/>
                </a:solidFill>
                <a:latin typeface="Arial" panose="020B0604020202020204" pitchFamily="34" charset="0"/>
                <a:cs typeface="Arial" panose="020B0604020202020204" pitchFamily="34" charset="0"/>
              </a:endParaRPr>
            </a:p>
          </p:txBody>
        </p:sp>
        <p:sp>
          <p:nvSpPr>
            <p:cNvPr id="24" name="Rectangle 23"/>
            <p:cNvSpPr/>
            <p:nvPr/>
          </p:nvSpPr>
          <p:spPr>
            <a:xfrm>
              <a:off x="6393874" y="6303819"/>
              <a:ext cx="762000" cy="207818"/>
            </a:xfrm>
            <a:prstGeom prst="rect">
              <a:avLst/>
            </a:prstGeom>
            <a:solidFill>
              <a:srgbClr val="FF9900"/>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tIns="83077" bIns="83077" rtlCol="0" anchor="ctr" anchorCtr="0"/>
            <a:lstStyle/>
            <a:p>
              <a:pPr algn="ctr"/>
              <a:r>
                <a:rPr lang="fr-FR" sz="1292" b="1" dirty="0">
                  <a:solidFill>
                    <a:schemeClr val="tx1"/>
                  </a:solidFill>
                  <a:latin typeface="Arial" panose="020B0604020202020204" pitchFamily="34" charset="0"/>
                  <a:cs typeface="Arial" panose="020B0604020202020204" pitchFamily="34" charset="0"/>
                </a:rPr>
                <a:t>Medium</a:t>
              </a:r>
              <a:endParaRPr lang="en-US" sz="1292" b="1" dirty="0" err="1">
                <a:solidFill>
                  <a:schemeClr val="tx1"/>
                </a:solidFill>
                <a:latin typeface="Arial" panose="020B0604020202020204" pitchFamily="34" charset="0"/>
                <a:cs typeface="Arial" panose="020B0604020202020204" pitchFamily="34" charset="0"/>
              </a:endParaRPr>
            </a:p>
          </p:txBody>
        </p:sp>
        <p:sp>
          <p:nvSpPr>
            <p:cNvPr id="25" name="Rectangle 24"/>
            <p:cNvSpPr/>
            <p:nvPr/>
          </p:nvSpPr>
          <p:spPr>
            <a:xfrm>
              <a:off x="6393874" y="6511637"/>
              <a:ext cx="762000" cy="207818"/>
            </a:xfrm>
            <a:prstGeom prst="rect">
              <a:avLst/>
            </a:prstGeom>
            <a:solidFill>
              <a:srgbClr val="92D050"/>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tIns="83077" bIns="83077" rtlCol="0" anchor="ctr" anchorCtr="0"/>
            <a:lstStyle/>
            <a:p>
              <a:pPr algn="ctr"/>
              <a:r>
                <a:rPr lang="fr-FR" sz="1292" b="1" dirty="0">
                  <a:solidFill>
                    <a:schemeClr val="tx1"/>
                  </a:solidFill>
                  <a:latin typeface="Arial" panose="020B0604020202020204" pitchFamily="34" charset="0"/>
                  <a:cs typeface="Arial" panose="020B0604020202020204" pitchFamily="34" charset="0"/>
                </a:rPr>
                <a:t>Low</a:t>
              </a:r>
              <a:endParaRPr lang="en-US" sz="1292" b="1" dirty="0" err="1">
                <a:solidFill>
                  <a:schemeClr val="tx1"/>
                </a:solidFill>
                <a:latin typeface="Arial" panose="020B0604020202020204" pitchFamily="34" charset="0"/>
                <a:cs typeface="Arial" panose="020B0604020202020204" pitchFamily="34" charset="0"/>
              </a:endParaRPr>
            </a:p>
          </p:txBody>
        </p:sp>
      </p:grpSp>
      <p:grpSp>
        <p:nvGrpSpPr>
          <p:cNvPr id="26" name="Group 25"/>
          <p:cNvGrpSpPr/>
          <p:nvPr/>
        </p:nvGrpSpPr>
        <p:grpSpPr>
          <a:xfrm>
            <a:off x="551331" y="2147955"/>
            <a:ext cx="2970285" cy="1828800"/>
            <a:chOff x="457200" y="2327565"/>
            <a:chExt cx="4115399" cy="1981200"/>
          </a:xfrm>
        </p:grpSpPr>
        <p:grpSp>
          <p:nvGrpSpPr>
            <p:cNvPr id="27" name="Group 26"/>
            <p:cNvGrpSpPr/>
            <p:nvPr/>
          </p:nvGrpSpPr>
          <p:grpSpPr>
            <a:xfrm>
              <a:off x="457200" y="2552071"/>
              <a:ext cx="4115399" cy="1532186"/>
              <a:chOff x="457200" y="2525341"/>
              <a:chExt cx="4115399" cy="1532186"/>
            </a:xfrm>
          </p:grpSpPr>
          <p:sp>
            <p:nvSpPr>
              <p:cNvPr id="29" name="Rounded Rectangle 28"/>
              <p:cNvSpPr/>
              <p:nvPr/>
            </p:nvSpPr>
            <p:spPr>
              <a:xfrm>
                <a:off x="457200" y="2525341"/>
                <a:ext cx="4115399" cy="748143"/>
              </a:xfrm>
              <a:prstGeom prst="round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83077" rIns="0" bIns="83077" rtlCol="0" anchor="ctr" anchorCtr="0"/>
              <a:lstStyle/>
              <a:p>
                <a:pPr algn="ctr"/>
                <a:r>
                  <a:rPr lang="fr-FR" sz="1662" b="1" u="sng" dirty="0" err="1" smtClean="0">
                    <a:solidFill>
                      <a:schemeClr val="tx1"/>
                    </a:solidFill>
                    <a:latin typeface="Arial" panose="020B0604020202020204" pitchFamily="34" charset="0"/>
                    <a:cs typeface="Arial" panose="020B0604020202020204" pitchFamily="34" charset="0"/>
                  </a:rPr>
                  <a:t>Likelihood</a:t>
                </a:r>
                <a:endParaRPr lang="fr-FR" sz="1662" b="1" u="sng" dirty="0">
                  <a:solidFill>
                    <a:schemeClr val="tx1"/>
                  </a:solidFill>
                  <a:latin typeface="Arial" panose="020B0604020202020204" pitchFamily="34" charset="0"/>
                  <a:cs typeface="Arial" panose="020B0604020202020204" pitchFamily="34" charset="0"/>
                </a:endParaRPr>
              </a:p>
              <a:p>
                <a:pPr algn="ctr"/>
                <a:endParaRPr lang="fr-FR" sz="738" b="1" dirty="0">
                  <a:solidFill>
                    <a:schemeClr val="tx1"/>
                  </a:solidFill>
                  <a:latin typeface="Arial" panose="020B0604020202020204" pitchFamily="34" charset="0"/>
                  <a:cs typeface="Arial" panose="020B0604020202020204" pitchFamily="34" charset="0"/>
                </a:endParaRPr>
              </a:p>
              <a:p>
                <a:pPr algn="ctr"/>
                <a:r>
                  <a:rPr lang="fr-FR" sz="1292" i="1" dirty="0">
                    <a:solidFill>
                      <a:schemeClr val="tx1"/>
                    </a:solidFill>
                    <a:latin typeface="Arial" panose="020B0604020202020204" pitchFamily="34" charset="0"/>
                    <a:cs typeface="Arial" panose="020B0604020202020204" pitchFamily="34" charset="0"/>
                  </a:rPr>
                  <a:t>"</a:t>
                </a:r>
                <a:r>
                  <a:rPr lang="fr-FR" sz="1292" i="1" dirty="0" err="1">
                    <a:solidFill>
                      <a:schemeClr val="tx1"/>
                    </a:solidFill>
                    <a:latin typeface="Arial" panose="020B0604020202020204" pitchFamily="34" charset="0"/>
                    <a:cs typeface="Arial" panose="020B0604020202020204" pitchFamily="34" charset="0"/>
                  </a:rPr>
                  <a:t>What</a:t>
                </a:r>
                <a:r>
                  <a:rPr lang="fr-FR" sz="1292" i="1" dirty="0">
                    <a:solidFill>
                      <a:schemeClr val="tx1"/>
                    </a:solidFill>
                    <a:latin typeface="Arial" panose="020B0604020202020204" pitchFamily="34" charset="0"/>
                    <a:cs typeface="Arial" panose="020B0604020202020204" pitchFamily="34" charset="0"/>
                  </a:rPr>
                  <a:t> </a:t>
                </a:r>
                <a:r>
                  <a:rPr lang="fr-FR" sz="1292" i="1" dirty="0" err="1">
                    <a:solidFill>
                      <a:schemeClr val="tx1"/>
                    </a:solidFill>
                    <a:latin typeface="Arial" panose="020B0604020202020204" pitchFamily="34" charset="0"/>
                    <a:cs typeface="Arial" panose="020B0604020202020204" pitchFamily="34" charset="0"/>
                  </a:rPr>
                  <a:t>is</a:t>
                </a:r>
                <a:r>
                  <a:rPr lang="fr-FR" sz="1292" i="1" dirty="0">
                    <a:solidFill>
                      <a:schemeClr val="tx1"/>
                    </a:solidFill>
                    <a:latin typeface="Arial" panose="020B0604020202020204" pitchFamily="34" charset="0"/>
                    <a:cs typeface="Arial" panose="020B0604020202020204" pitchFamily="34" charset="0"/>
                  </a:rPr>
                  <a:t> the </a:t>
                </a:r>
                <a:r>
                  <a:rPr lang="fr-FR" sz="1292" i="1" dirty="0" err="1">
                    <a:solidFill>
                      <a:schemeClr val="tx1"/>
                    </a:solidFill>
                    <a:latin typeface="Arial" panose="020B0604020202020204" pitchFamily="34" charset="0"/>
                    <a:cs typeface="Arial" panose="020B0604020202020204" pitchFamily="34" charset="0"/>
                  </a:rPr>
                  <a:t>likelihood</a:t>
                </a:r>
                <a:r>
                  <a:rPr lang="fr-FR" sz="1292" i="1" dirty="0">
                    <a:solidFill>
                      <a:schemeClr val="tx1"/>
                    </a:solidFill>
                    <a:latin typeface="Arial" panose="020B0604020202020204" pitchFamily="34" charset="0"/>
                    <a:cs typeface="Arial" panose="020B0604020202020204" pitchFamily="34" charset="0"/>
                  </a:rPr>
                  <a:t> of the </a:t>
                </a:r>
                <a:r>
                  <a:rPr lang="fr-FR" sz="1292" i="1" dirty="0" err="1">
                    <a:solidFill>
                      <a:schemeClr val="tx1"/>
                    </a:solidFill>
                    <a:latin typeface="Arial" panose="020B0604020202020204" pitchFamily="34" charset="0"/>
                    <a:cs typeface="Arial" panose="020B0604020202020204" pitchFamily="34" charset="0"/>
                  </a:rPr>
                  <a:t>risk</a:t>
                </a:r>
                <a:r>
                  <a:rPr lang="fr-FR" sz="1292" i="1" dirty="0">
                    <a:solidFill>
                      <a:schemeClr val="tx1"/>
                    </a:solidFill>
                    <a:latin typeface="Arial" panose="020B0604020202020204" pitchFamily="34" charset="0"/>
                    <a:cs typeface="Arial" panose="020B0604020202020204" pitchFamily="34" charset="0"/>
                  </a:rPr>
                  <a:t> </a:t>
                </a:r>
              </a:p>
              <a:p>
                <a:pPr algn="ctr"/>
                <a:r>
                  <a:rPr lang="fr-FR" sz="1292" i="1" dirty="0" err="1">
                    <a:solidFill>
                      <a:schemeClr val="tx1"/>
                    </a:solidFill>
                    <a:latin typeface="Arial" panose="020B0604020202020204" pitchFamily="34" charset="0"/>
                    <a:cs typeface="Arial" panose="020B0604020202020204" pitchFamily="34" charset="0"/>
                  </a:rPr>
                  <a:t>materializing</a:t>
                </a:r>
                <a:r>
                  <a:rPr lang="fr-FR" sz="1292" i="1" dirty="0">
                    <a:solidFill>
                      <a:schemeClr val="tx1"/>
                    </a:solidFill>
                    <a:latin typeface="Arial" panose="020B0604020202020204" pitchFamily="34" charset="0"/>
                    <a:cs typeface="Arial" panose="020B0604020202020204" pitchFamily="34" charset="0"/>
                  </a:rPr>
                  <a:t> </a:t>
                </a:r>
                <a:r>
                  <a:rPr lang="fr-FR" sz="1292" i="1" dirty="0" err="1">
                    <a:solidFill>
                      <a:schemeClr val="tx1"/>
                    </a:solidFill>
                    <a:latin typeface="Arial" panose="020B0604020202020204" pitchFamily="34" charset="0"/>
                    <a:cs typeface="Arial" panose="020B0604020202020204" pitchFamily="34" charset="0"/>
                  </a:rPr>
                  <a:t>given</a:t>
                </a:r>
                <a:r>
                  <a:rPr lang="fr-FR" sz="1292" i="1" dirty="0">
                    <a:solidFill>
                      <a:schemeClr val="tx1"/>
                    </a:solidFill>
                    <a:latin typeface="Arial" panose="020B0604020202020204" pitchFamily="34" charset="0"/>
                    <a:cs typeface="Arial" panose="020B0604020202020204" pitchFamily="34" charset="0"/>
                  </a:rPr>
                  <a:t> </a:t>
                </a:r>
                <a:r>
                  <a:rPr lang="fr-FR" sz="1292" i="1" dirty="0" err="1">
                    <a:solidFill>
                      <a:schemeClr val="tx1"/>
                    </a:solidFill>
                    <a:latin typeface="Arial" panose="020B0604020202020204" pitchFamily="34" charset="0"/>
                    <a:cs typeface="Arial" panose="020B0604020202020204" pitchFamily="34" charset="0"/>
                  </a:rPr>
                  <a:t>our</a:t>
                </a:r>
                <a:r>
                  <a:rPr lang="fr-FR" sz="1292" i="1" dirty="0">
                    <a:solidFill>
                      <a:schemeClr val="tx1"/>
                    </a:solidFill>
                    <a:latin typeface="Arial" panose="020B0604020202020204" pitchFamily="34" charset="0"/>
                    <a:cs typeface="Arial" panose="020B0604020202020204" pitchFamily="34" charset="0"/>
                  </a:rPr>
                  <a:t> </a:t>
                </a:r>
                <a:r>
                  <a:rPr lang="fr-FR" sz="1292" i="1" dirty="0" err="1">
                    <a:solidFill>
                      <a:schemeClr val="tx1"/>
                    </a:solidFill>
                    <a:latin typeface="Arial" panose="020B0604020202020204" pitchFamily="34" charset="0"/>
                    <a:cs typeface="Arial" panose="020B0604020202020204" pitchFamily="34" charset="0"/>
                  </a:rPr>
                  <a:t>existing</a:t>
                </a:r>
                <a:r>
                  <a:rPr lang="fr-FR" sz="1292" i="1" dirty="0">
                    <a:solidFill>
                      <a:schemeClr val="tx1"/>
                    </a:solidFill>
                    <a:latin typeface="Arial" panose="020B0604020202020204" pitchFamily="34" charset="0"/>
                    <a:cs typeface="Arial" panose="020B0604020202020204" pitchFamily="34" charset="0"/>
                  </a:rPr>
                  <a:t> </a:t>
                </a:r>
                <a:r>
                  <a:rPr lang="fr-FR" sz="1292" i="1" dirty="0" err="1">
                    <a:solidFill>
                      <a:schemeClr val="tx1"/>
                    </a:solidFill>
                    <a:latin typeface="Arial" panose="020B0604020202020204" pitchFamily="34" charset="0"/>
                    <a:cs typeface="Arial" panose="020B0604020202020204" pitchFamily="34" charset="0"/>
                  </a:rPr>
                  <a:t>controls</a:t>
                </a:r>
                <a:r>
                  <a:rPr lang="fr-FR" sz="1292" i="1" dirty="0">
                    <a:solidFill>
                      <a:schemeClr val="tx1"/>
                    </a:solidFill>
                    <a:latin typeface="Arial" panose="020B0604020202020204" pitchFamily="34" charset="0"/>
                    <a:cs typeface="Arial" panose="020B0604020202020204" pitchFamily="34" charset="0"/>
                  </a:rPr>
                  <a:t>?"</a:t>
                </a:r>
                <a:r>
                  <a:rPr lang="fr-FR" sz="1477" b="1" dirty="0">
                    <a:solidFill>
                      <a:schemeClr val="tx1"/>
                    </a:solidFill>
                    <a:latin typeface="Arial" panose="020B0604020202020204" pitchFamily="34" charset="0"/>
                    <a:cs typeface="Arial" panose="020B0604020202020204" pitchFamily="34" charset="0"/>
                  </a:rPr>
                  <a:t> </a:t>
                </a:r>
                <a:endParaRPr lang="en-US" sz="1477" b="1" dirty="0" err="1">
                  <a:solidFill>
                    <a:schemeClr val="tx1"/>
                  </a:solidFill>
                  <a:latin typeface="Arial" panose="020B0604020202020204" pitchFamily="34" charset="0"/>
                  <a:cs typeface="Arial" panose="020B0604020202020204" pitchFamily="34" charset="0"/>
                </a:endParaRPr>
              </a:p>
            </p:txBody>
          </p:sp>
          <p:grpSp>
            <p:nvGrpSpPr>
              <p:cNvPr id="30" name="Group 29"/>
              <p:cNvGrpSpPr/>
              <p:nvPr/>
            </p:nvGrpSpPr>
            <p:grpSpPr>
              <a:xfrm>
                <a:off x="741520" y="3518845"/>
                <a:ext cx="3546759" cy="538682"/>
                <a:chOff x="741520" y="3518845"/>
                <a:chExt cx="3546759" cy="538682"/>
              </a:xfrm>
            </p:grpSpPr>
            <p:sp>
              <p:nvSpPr>
                <p:cNvPr id="31" name="Isosceles Triangle 30"/>
                <p:cNvSpPr/>
                <p:nvPr/>
              </p:nvSpPr>
              <p:spPr>
                <a:xfrm rot="5400000" flipV="1">
                  <a:off x="2245559" y="2014806"/>
                  <a:ext cx="538682" cy="3546759"/>
                </a:xfrm>
                <a:prstGeom prst="triangle">
                  <a:avLst/>
                </a:prstGeom>
                <a:gradFill>
                  <a:gsLst>
                    <a:gs pos="19000">
                      <a:srgbClr val="92D050"/>
                    </a:gs>
                    <a:gs pos="50000">
                      <a:srgbClr val="FFC000"/>
                    </a:gs>
                    <a:gs pos="100000">
                      <a:srgbClr val="FF0000"/>
                    </a:gs>
                  </a:gsLst>
                  <a:lin ang="5400000" scaled="0"/>
                </a:gradFill>
                <a:ln w="9525">
                  <a:solidFill>
                    <a:srgbClr val="E2E2E2"/>
                  </a:solid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83077" rIns="0" bIns="83077" rtlCol="0" anchor="ctr" anchorCtr="0"/>
                <a:lstStyle/>
                <a:p>
                  <a:endParaRPr lang="en-US" sz="1292" b="1" dirty="0">
                    <a:solidFill>
                      <a:schemeClr val="tx1"/>
                    </a:solidFill>
                    <a:latin typeface="Arial" panose="020B0604020202020204" pitchFamily="34" charset="0"/>
                    <a:cs typeface="Arial" panose="020B0604020202020204" pitchFamily="34" charset="0"/>
                  </a:endParaRPr>
                </a:p>
              </p:txBody>
            </p:sp>
            <p:sp>
              <p:nvSpPr>
                <p:cNvPr id="32" name="Rectangle 31"/>
                <p:cNvSpPr/>
                <p:nvPr/>
              </p:nvSpPr>
              <p:spPr>
                <a:xfrm>
                  <a:off x="741520" y="3622227"/>
                  <a:ext cx="1114599" cy="331914"/>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83077" bIns="83077" rtlCol="0" anchor="ctr" anchorCtr="0"/>
                <a:lstStyle/>
                <a:p>
                  <a:pPr algn="ctr"/>
                  <a:r>
                    <a:rPr lang="en-US" sz="1000" b="1" dirty="0">
                      <a:solidFill>
                        <a:schemeClr val="tx1"/>
                      </a:solidFill>
                      <a:latin typeface="Arial" panose="020B0604020202020204" pitchFamily="34" charset="0"/>
                      <a:cs typeface="Arial" panose="020B0604020202020204" pitchFamily="34" charset="0"/>
                    </a:rPr>
                    <a:t>Minimal</a:t>
                  </a:r>
                </a:p>
              </p:txBody>
            </p:sp>
            <p:sp>
              <p:nvSpPr>
                <p:cNvPr id="33" name="Rectangle 32"/>
                <p:cNvSpPr/>
                <p:nvPr/>
              </p:nvSpPr>
              <p:spPr>
                <a:xfrm>
                  <a:off x="3408817" y="3622228"/>
                  <a:ext cx="879462" cy="331914"/>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83077" bIns="83077" rtlCol="0" anchor="ctr" anchorCtr="0"/>
                <a:lstStyle/>
                <a:p>
                  <a:pPr algn="ctr"/>
                  <a:r>
                    <a:rPr lang="en-US" sz="1000" b="1" dirty="0">
                      <a:solidFill>
                        <a:schemeClr val="tx1"/>
                      </a:solidFill>
                      <a:latin typeface="Arial" panose="020B0604020202020204" pitchFamily="34" charset="0"/>
                      <a:cs typeface="Arial" panose="020B0604020202020204" pitchFamily="34" charset="0"/>
                    </a:rPr>
                    <a:t>Critical</a:t>
                  </a:r>
                </a:p>
              </p:txBody>
            </p:sp>
          </p:grpSp>
        </p:grpSp>
        <p:sp>
          <p:nvSpPr>
            <p:cNvPr id="28" name="Rounded Rectangle 27"/>
            <p:cNvSpPr/>
            <p:nvPr/>
          </p:nvSpPr>
          <p:spPr>
            <a:xfrm>
              <a:off x="457200" y="2327565"/>
              <a:ext cx="4115399" cy="1981200"/>
            </a:xfrm>
            <a:prstGeom prst="roundRect">
              <a:avLst/>
            </a:prstGeom>
            <a:noFill/>
            <a:ln w="285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tIns="83077" bIns="83077" rtlCol="0" anchor="ctr" anchorCtr="0"/>
            <a:lstStyle/>
            <a:p>
              <a:pPr algn="ctr"/>
              <a:endParaRPr lang="en-US" sz="1292" dirty="0" err="1">
                <a:solidFill>
                  <a:schemeClr val="tx1"/>
                </a:solidFill>
                <a:latin typeface="Arial" panose="020B0604020202020204" pitchFamily="34" charset="0"/>
                <a:cs typeface="Arial" panose="020B0604020202020204" pitchFamily="34" charset="0"/>
              </a:endParaRPr>
            </a:p>
          </p:txBody>
        </p:sp>
      </p:grpSp>
      <p:grpSp>
        <p:nvGrpSpPr>
          <p:cNvPr id="34" name="Group 33"/>
          <p:cNvGrpSpPr/>
          <p:nvPr/>
        </p:nvGrpSpPr>
        <p:grpSpPr>
          <a:xfrm>
            <a:off x="551331" y="4147875"/>
            <a:ext cx="2970285" cy="1828800"/>
            <a:chOff x="457200" y="4494145"/>
            <a:chExt cx="4115399" cy="1981200"/>
          </a:xfrm>
        </p:grpSpPr>
        <p:grpSp>
          <p:nvGrpSpPr>
            <p:cNvPr id="35" name="Group 34"/>
            <p:cNvGrpSpPr/>
            <p:nvPr/>
          </p:nvGrpSpPr>
          <p:grpSpPr>
            <a:xfrm>
              <a:off x="457200" y="4724397"/>
              <a:ext cx="4115399" cy="1520698"/>
              <a:chOff x="457200" y="4724397"/>
              <a:chExt cx="4115399" cy="1520698"/>
            </a:xfrm>
          </p:grpSpPr>
          <p:sp>
            <p:nvSpPr>
              <p:cNvPr id="37" name="Rounded Rectangle 36"/>
              <p:cNvSpPr/>
              <p:nvPr/>
            </p:nvSpPr>
            <p:spPr>
              <a:xfrm>
                <a:off x="457200" y="4724397"/>
                <a:ext cx="4115399" cy="885638"/>
              </a:xfrm>
              <a:prstGeom prst="round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83077" rIns="0" bIns="83077" rtlCol="0" anchor="ctr" anchorCtr="0"/>
              <a:lstStyle/>
              <a:p>
                <a:pPr algn="ctr"/>
                <a:r>
                  <a:rPr lang="fr-FR" sz="1662" b="1" u="sng" dirty="0">
                    <a:solidFill>
                      <a:schemeClr val="tx1"/>
                    </a:solidFill>
                    <a:latin typeface="Arial" panose="020B0604020202020204" pitchFamily="34" charset="0"/>
                    <a:cs typeface="Arial" panose="020B0604020202020204" pitchFamily="34" charset="0"/>
                  </a:rPr>
                  <a:t>Impact</a:t>
                </a:r>
              </a:p>
              <a:p>
                <a:pPr algn="ctr"/>
                <a:endParaRPr lang="fr-FR" sz="738" b="1" dirty="0">
                  <a:solidFill>
                    <a:schemeClr val="tx1"/>
                  </a:solidFill>
                  <a:latin typeface="Arial" panose="020B0604020202020204" pitchFamily="34" charset="0"/>
                  <a:cs typeface="Arial" panose="020B0604020202020204" pitchFamily="34" charset="0"/>
                </a:endParaRPr>
              </a:p>
              <a:p>
                <a:pPr algn="ctr"/>
                <a:r>
                  <a:rPr lang="fr-FR" sz="1292" i="1" dirty="0">
                    <a:solidFill>
                      <a:schemeClr val="tx1"/>
                    </a:solidFill>
                    <a:latin typeface="Arial" panose="020B0604020202020204" pitchFamily="34" charset="0"/>
                    <a:cs typeface="Arial" panose="020B0604020202020204" pitchFamily="34" charset="0"/>
                  </a:rPr>
                  <a:t>"</a:t>
                </a:r>
                <a:r>
                  <a:rPr lang="fr-FR" sz="1292" i="1" dirty="0" err="1">
                    <a:solidFill>
                      <a:schemeClr val="tx1"/>
                    </a:solidFill>
                    <a:latin typeface="Arial" panose="020B0604020202020204" pitchFamily="34" charset="0"/>
                    <a:cs typeface="Arial" panose="020B0604020202020204" pitchFamily="34" charset="0"/>
                  </a:rPr>
                  <a:t>What</a:t>
                </a:r>
                <a:r>
                  <a:rPr lang="fr-FR" sz="1292" i="1" dirty="0">
                    <a:solidFill>
                      <a:schemeClr val="tx1"/>
                    </a:solidFill>
                    <a:latin typeface="Arial" panose="020B0604020202020204" pitchFamily="34" charset="0"/>
                    <a:cs typeface="Arial" panose="020B0604020202020204" pitchFamily="34" charset="0"/>
                  </a:rPr>
                  <a:t> </a:t>
                </a:r>
                <a:r>
                  <a:rPr lang="fr-FR" sz="1292" i="1" dirty="0" err="1">
                    <a:solidFill>
                      <a:schemeClr val="tx1"/>
                    </a:solidFill>
                    <a:latin typeface="Arial" panose="020B0604020202020204" pitchFamily="34" charset="0"/>
                    <a:cs typeface="Arial" panose="020B0604020202020204" pitchFamily="34" charset="0"/>
                  </a:rPr>
                  <a:t>is</a:t>
                </a:r>
                <a:r>
                  <a:rPr lang="fr-FR" sz="1292" i="1" dirty="0">
                    <a:solidFill>
                      <a:schemeClr val="tx1"/>
                    </a:solidFill>
                    <a:latin typeface="Arial" panose="020B0604020202020204" pitchFamily="34" charset="0"/>
                    <a:cs typeface="Arial" panose="020B0604020202020204" pitchFamily="34" charset="0"/>
                  </a:rPr>
                  <a:t> the impact of the </a:t>
                </a:r>
                <a:r>
                  <a:rPr lang="fr-FR" sz="1292" i="1" dirty="0" err="1">
                    <a:solidFill>
                      <a:schemeClr val="tx1"/>
                    </a:solidFill>
                    <a:latin typeface="Arial" panose="020B0604020202020204" pitchFamily="34" charset="0"/>
                    <a:cs typeface="Arial" panose="020B0604020202020204" pitchFamily="34" charset="0"/>
                  </a:rPr>
                  <a:t>risk</a:t>
                </a:r>
                <a:r>
                  <a:rPr lang="fr-FR" sz="1292" i="1" dirty="0">
                    <a:solidFill>
                      <a:schemeClr val="tx1"/>
                    </a:solidFill>
                    <a:latin typeface="Arial" panose="020B0604020202020204" pitchFamily="34" charset="0"/>
                    <a:cs typeface="Arial" panose="020B0604020202020204" pitchFamily="34" charset="0"/>
                  </a:rPr>
                  <a:t> </a:t>
                </a:r>
                <a:r>
                  <a:rPr lang="fr-FR" sz="1292" i="1" dirty="0" err="1">
                    <a:solidFill>
                      <a:schemeClr val="tx1"/>
                    </a:solidFill>
                    <a:latin typeface="Arial" panose="020B0604020202020204" pitchFamily="34" charset="0"/>
                    <a:cs typeface="Arial" panose="020B0604020202020204" pitchFamily="34" charset="0"/>
                  </a:rPr>
                  <a:t>materializing</a:t>
                </a:r>
                <a:r>
                  <a:rPr lang="fr-FR" sz="1292" i="1" dirty="0">
                    <a:solidFill>
                      <a:schemeClr val="tx1"/>
                    </a:solidFill>
                    <a:latin typeface="Arial" panose="020B0604020202020204" pitchFamily="34" charset="0"/>
                    <a:cs typeface="Arial" panose="020B0604020202020204" pitchFamily="34" charset="0"/>
                  </a:rPr>
                  <a:t> </a:t>
                </a:r>
              </a:p>
              <a:p>
                <a:pPr algn="ctr"/>
                <a:r>
                  <a:rPr lang="fr-FR" sz="1292" i="1" dirty="0">
                    <a:solidFill>
                      <a:schemeClr val="tx1"/>
                    </a:solidFill>
                    <a:latin typeface="Arial" panose="020B0604020202020204" pitchFamily="34" charset="0"/>
                    <a:cs typeface="Arial" panose="020B0604020202020204" pitchFamily="34" charset="0"/>
                  </a:rPr>
                  <a:t>on the </a:t>
                </a:r>
                <a:r>
                  <a:rPr lang="fr-FR" sz="1292" i="1" dirty="0" err="1">
                    <a:solidFill>
                      <a:schemeClr val="tx1"/>
                    </a:solidFill>
                    <a:latin typeface="Arial" panose="020B0604020202020204" pitchFamily="34" charset="0"/>
                    <a:cs typeface="Arial" panose="020B0604020202020204" pitchFamily="34" charset="0"/>
                  </a:rPr>
                  <a:t>grant's</a:t>
                </a:r>
                <a:r>
                  <a:rPr lang="fr-FR" sz="1292" i="1" dirty="0">
                    <a:solidFill>
                      <a:schemeClr val="tx1"/>
                    </a:solidFill>
                    <a:latin typeface="Arial" panose="020B0604020202020204" pitchFamily="34" charset="0"/>
                    <a:cs typeface="Arial" panose="020B0604020202020204" pitchFamily="34" charset="0"/>
                  </a:rPr>
                  <a:t> objectives &amp; impact?"</a:t>
                </a:r>
                <a:r>
                  <a:rPr lang="fr-FR" sz="1477" b="1" dirty="0">
                    <a:solidFill>
                      <a:schemeClr val="tx1"/>
                    </a:solidFill>
                    <a:latin typeface="Arial" panose="020B0604020202020204" pitchFamily="34" charset="0"/>
                    <a:cs typeface="Arial" panose="020B0604020202020204" pitchFamily="34" charset="0"/>
                  </a:rPr>
                  <a:t> </a:t>
                </a:r>
                <a:endParaRPr lang="en-US" sz="1477" b="1" dirty="0" err="1">
                  <a:solidFill>
                    <a:schemeClr val="tx1"/>
                  </a:solidFill>
                  <a:latin typeface="Arial" panose="020B0604020202020204" pitchFamily="34" charset="0"/>
                  <a:cs typeface="Arial" panose="020B0604020202020204" pitchFamily="34" charset="0"/>
                </a:endParaRPr>
              </a:p>
            </p:txBody>
          </p:sp>
          <p:grpSp>
            <p:nvGrpSpPr>
              <p:cNvPr id="38" name="Group 37"/>
              <p:cNvGrpSpPr/>
              <p:nvPr/>
            </p:nvGrpSpPr>
            <p:grpSpPr>
              <a:xfrm>
                <a:off x="741520" y="5706413"/>
                <a:ext cx="3546759" cy="538682"/>
                <a:chOff x="741520" y="3518845"/>
                <a:chExt cx="3546759" cy="538682"/>
              </a:xfrm>
            </p:grpSpPr>
            <p:sp>
              <p:nvSpPr>
                <p:cNvPr id="39" name="Isosceles Triangle 38"/>
                <p:cNvSpPr/>
                <p:nvPr/>
              </p:nvSpPr>
              <p:spPr>
                <a:xfrm rot="5400000" flipV="1">
                  <a:off x="2245559" y="2014806"/>
                  <a:ext cx="538682" cy="3546759"/>
                </a:xfrm>
                <a:prstGeom prst="triangle">
                  <a:avLst/>
                </a:prstGeom>
                <a:gradFill>
                  <a:gsLst>
                    <a:gs pos="19000">
                      <a:srgbClr val="92D050"/>
                    </a:gs>
                    <a:gs pos="50000">
                      <a:srgbClr val="FFC000"/>
                    </a:gs>
                    <a:gs pos="100000">
                      <a:srgbClr val="FF0000"/>
                    </a:gs>
                  </a:gsLst>
                  <a:lin ang="5400000" scaled="0"/>
                </a:gradFill>
                <a:ln w="9525">
                  <a:solidFill>
                    <a:srgbClr val="E2E2E2"/>
                  </a:solidFill>
                </a:ln>
                <a:effectLst/>
              </p:spPr>
              <p:style>
                <a:lnRef idx="2">
                  <a:schemeClr val="accent1">
                    <a:shade val="50000"/>
                  </a:schemeClr>
                </a:lnRef>
                <a:fillRef idx="1">
                  <a:schemeClr val="accent1"/>
                </a:fillRef>
                <a:effectRef idx="0">
                  <a:schemeClr val="accent1"/>
                </a:effectRef>
                <a:fontRef idx="minor">
                  <a:schemeClr val="lt1"/>
                </a:fontRef>
              </p:style>
              <p:txBody>
                <a:bodyPr vert="vert" lIns="0" tIns="83077" rIns="0" bIns="83077" rtlCol="0" anchor="ctr" anchorCtr="0"/>
                <a:lstStyle/>
                <a:p>
                  <a:endParaRPr lang="en-US" sz="1292" b="1" dirty="0">
                    <a:solidFill>
                      <a:schemeClr val="tx1"/>
                    </a:solidFill>
                    <a:latin typeface="Arial" panose="020B0604020202020204" pitchFamily="34" charset="0"/>
                    <a:cs typeface="Arial" panose="020B0604020202020204" pitchFamily="34" charset="0"/>
                  </a:endParaRPr>
                </a:p>
              </p:txBody>
            </p:sp>
            <p:sp>
              <p:nvSpPr>
                <p:cNvPr id="40" name="Rectangle 39"/>
                <p:cNvSpPr/>
                <p:nvPr/>
              </p:nvSpPr>
              <p:spPr>
                <a:xfrm>
                  <a:off x="741520" y="3622228"/>
                  <a:ext cx="879462" cy="331914"/>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83077" bIns="83077" rtlCol="0" anchor="ctr" anchorCtr="0"/>
                <a:lstStyle/>
                <a:p>
                  <a:pPr algn="ctr"/>
                  <a:r>
                    <a:rPr lang="en-US" sz="1050" b="1" dirty="0">
                      <a:solidFill>
                        <a:schemeClr val="tx1"/>
                      </a:solidFill>
                      <a:latin typeface="Arial" panose="020B0604020202020204" pitchFamily="34" charset="0"/>
                      <a:cs typeface="Arial" panose="020B0604020202020204" pitchFamily="34" charset="0"/>
                    </a:rPr>
                    <a:t>Mild</a:t>
                  </a:r>
                </a:p>
              </p:txBody>
            </p:sp>
            <p:sp>
              <p:nvSpPr>
                <p:cNvPr id="41" name="Rectangle 40"/>
                <p:cNvSpPr/>
                <p:nvPr/>
              </p:nvSpPr>
              <p:spPr>
                <a:xfrm>
                  <a:off x="3408817" y="3622228"/>
                  <a:ext cx="879462" cy="331914"/>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83077" bIns="83077" rtlCol="0" anchor="ctr" anchorCtr="0"/>
                <a:lstStyle/>
                <a:p>
                  <a:pPr algn="ctr"/>
                  <a:r>
                    <a:rPr lang="en-US" sz="1050" b="1" dirty="0">
                      <a:solidFill>
                        <a:schemeClr val="tx1"/>
                      </a:solidFill>
                      <a:latin typeface="Arial" panose="020B0604020202020204" pitchFamily="34" charset="0"/>
                      <a:cs typeface="Arial" panose="020B0604020202020204" pitchFamily="34" charset="0"/>
                    </a:rPr>
                    <a:t>Severe</a:t>
                  </a:r>
                </a:p>
              </p:txBody>
            </p:sp>
          </p:grpSp>
        </p:grpSp>
        <p:sp>
          <p:nvSpPr>
            <p:cNvPr id="36" name="Rounded Rectangle 35"/>
            <p:cNvSpPr/>
            <p:nvPr/>
          </p:nvSpPr>
          <p:spPr>
            <a:xfrm>
              <a:off x="457200" y="4494145"/>
              <a:ext cx="4115399" cy="1981200"/>
            </a:xfrm>
            <a:prstGeom prst="roundRect">
              <a:avLst/>
            </a:prstGeom>
            <a:noFill/>
            <a:ln w="285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tIns="83077" bIns="83077" rtlCol="0" anchor="ctr" anchorCtr="0"/>
            <a:lstStyle/>
            <a:p>
              <a:pPr algn="ctr"/>
              <a:endParaRPr lang="en-US" sz="1292" dirty="0" err="1">
                <a:solidFill>
                  <a:schemeClr val="tx1"/>
                </a:solidFill>
                <a:latin typeface="Arial" panose="020B0604020202020204" pitchFamily="34" charset="0"/>
                <a:cs typeface="Arial" panose="020B0604020202020204" pitchFamily="34" charset="0"/>
              </a:endParaRPr>
            </a:p>
          </p:txBody>
        </p:sp>
      </p:grpSp>
      <p:sp>
        <p:nvSpPr>
          <p:cNvPr id="42" name="Rectangle 5"/>
          <p:cNvSpPr>
            <a:spLocks noChangeArrowheads="1"/>
          </p:cNvSpPr>
          <p:nvPr/>
        </p:nvSpPr>
        <p:spPr bwMode="auto">
          <a:xfrm>
            <a:off x="9028485" y="1919225"/>
            <a:ext cx="2932041" cy="309220"/>
          </a:xfrm>
          <a:prstGeom prst="rect">
            <a:avLst/>
          </a:prstGeom>
          <a:solidFill>
            <a:schemeClr val="bg1">
              <a:lumMod val="85000"/>
            </a:schemeClr>
          </a:solidFill>
          <a:ln w="9525" algn="ctr">
            <a:noFill/>
            <a:miter lim="800000"/>
            <a:headEnd/>
            <a:tailEnd/>
          </a:ln>
          <a:effectLst/>
        </p:spPr>
        <p:txBody>
          <a:bodyPr wrap="square" lIns="90000" tIns="36000" rIns="90000" bIns="36000" anchor="ctr"/>
          <a:lstStyle/>
          <a:p>
            <a:pPr algn="ctr" defTabSz="957263"/>
            <a:r>
              <a:rPr lang="en-US" sz="1200" kern="0" dirty="0">
                <a:solidFill>
                  <a:schemeClr val="tx1">
                    <a:lumMod val="95000"/>
                    <a:lumOff val="5000"/>
                  </a:schemeClr>
                </a:solidFill>
                <a:latin typeface="Arial" panose="020B0604020202020204" pitchFamily="34" charset="0"/>
                <a:ea typeface="맑은 고딕" pitchFamily="50" charset="-127"/>
                <a:cs typeface="Arial" panose="020B0604020202020204" pitchFamily="34" charset="0"/>
              </a:rPr>
              <a:t> budget / cash management</a:t>
            </a:r>
          </a:p>
        </p:txBody>
      </p:sp>
      <p:sp>
        <p:nvSpPr>
          <p:cNvPr id="43" name="Rectangle 5"/>
          <p:cNvSpPr>
            <a:spLocks noChangeArrowheads="1"/>
          </p:cNvSpPr>
          <p:nvPr/>
        </p:nvSpPr>
        <p:spPr bwMode="auto">
          <a:xfrm>
            <a:off x="9028485" y="2299400"/>
            <a:ext cx="2930446" cy="309220"/>
          </a:xfrm>
          <a:prstGeom prst="rect">
            <a:avLst/>
          </a:prstGeom>
          <a:solidFill>
            <a:schemeClr val="bg1">
              <a:lumMod val="85000"/>
            </a:schemeClr>
          </a:solidFill>
          <a:ln w="9525" algn="ctr">
            <a:noFill/>
            <a:miter lim="800000"/>
            <a:headEnd/>
            <a:tailEnd/>
          </a:ln>
          <a:effectLst/>
        </p:spPr>
        <p:txBody>
          <a:bodyPr wrap="square" lIns="90000" tIns="36000" rIns="90000" bIns="36000" anchor="ctr"/>
          <a:lstStyle/>
          <a:p>
            <a:pPr algn="ctr" defTabSz="957263"/>
            <a:r>
              <a:rPr lang="en-US" sz="1200" kern="0" dirty="0">
                <a:solidFill>
                  <a:schemeClr val="tx1">
                    <a:lumMod val="95000"/>
                    <a:lumOff val="5000"/>
                  </a:schemeClr>
                </a:solidFill>
                <a:latin typeface="Arial" panose="020B0604020202020204" pitchFamily="34" charset="0"/>
                <a:ea typeface="맑은 고딕" pitchFamily="50" charset="-127"/>
                <a:cs typeface="Arial" panose="020B0604020202020204" pitchFamily="34" charset="0"/>
              </a:rPr>
              <a:t> Fraud / misuse of resources</a:t>
            </a:r>
          </a:p>
        </p:txBody>
      </p:sp>
      <p:sp>
        <p:nvSpPr>
          <p:cNvPr id="44" name="Rectangle 5"/>
          <p:cNvSpPr>
            <a:spLocks noChangeArrowheads="1"/>
          </p:cNvSpPr>
          <p:nvPr/>
        </p:nvSpPr>
        <p:spPr bwMode="auto">
          <a:xfrm>
            <a:off x="9030080" y="2679575"/>
            <a:ext cx="2930446" cy="309220"/>
          </a:xfrm>
          <a:prstGeom prst="rect">
            <a:avLst/>
          </a:prstGeom>
          <a:solidFill>
            <a:schemeClr val="bg1">
              <a:lumMod val="85000"/>
            </a:schemeClr>
          </a:solidFill>
          <a:ln w="9525" algn="ctr">
            <a:noFill/>
            <a:miter lim="800000"/>
            <a:headEnd/>
            <a:tailEnd/>
          </a:ln>
          <a:effectLst/>
        </p:spPr>
        <p:txBody>
          <a:bodyPr wrap="square" lIns="90000" tIns="36000" rIns="90000" bIns="36000" anchor="ctr"/>
          <a:lstStyle/>
          <a:p>
            <a:pPr algn="ctr" defTabSz="957263"/>
            <a:r>
              <a:rPr lang="en-US" sz="1200" kern="0" dirty="0">
                <a:solidFill>
                  <a:schemeClr val="tx1">
                    <a:lumMod val="95000"/>
                    <a:lumOff val="5000"/>
                  </a:schemeClr>
                </a:solidFill>
                <a:latin typeface="Arial" panose="020B0604020202020204" pitchFamily="34" charset="0"/>
                <a:ea typeface="맑은 고딕" pitchFamily="50" charset="-127"/>
                <a:cs typeface="Arial" panose="020B0604020202020204" pitchFamily="34" charset="0"/>
              </a:rPr>
              <a:t> Funding / External stakeholder relations</a:t>
            </a:r>
          </a:p>
        </p:txBody>
      </p:sp>
      <p:sp>
        <p:nvSpPr>
          <p:cNvPr id="45" name="Rectangle 5"/>
          <p:cNvSpPr>
            <a:spLocks noChangeArrowheads="1"/>
          </p:cNvSpPr>
          <p:nvPr/>
        </p:nvSpPr>
        <p:spPr bwMode="auto">
          <a:xfrm>
            <a:off x="9030080" y="3059750"/>
            <a:ext cx="2930446" cy="309220"/>
          </a:xfrm>
          <a:prstGeom prst="rect">
            <a:avLst/>
          </a:prstGeom>
          <a:solidFill>
            <a:schemeClr val="bg1">
              <a:lumMod val="85000"/>
            </a:schemeClr>
          </a:solidFill>
          <a:ln w="9525" algn="ctr">
            <a:noFill/>
            <a:miter lim="800000"/>
            <a:headEnd/>
            <a:tailEnd/>
          </a:ln>
          <a:effectLst/>
        </p:spPr>
        <p:txBody>
          <a:bodyPr wrap="square" lIns="90000" tIns="36000" rIns="90000" bIns="36000" anchor="ctr"/>
          <a:lstStyle/>
          <a:p>
            <a:pPr algn="ctr" defTabSz="957263"/>
            <a:r>
              <a:rPr lang="en-US" sz="1200" kern="0" dirty="0">
                <a:solidFill>
                  <a:schemeClr val="tx1">
                    <a:lumMod val="95000"/>
                    <a:lumOff val="5000"/>
                  </a:schemeClr>
                </a:solidFill>
                <a:latin typeface="Arial" panose="020B0604020202020204" pitchFamily="34" charset="0"/>
                <a:ea typeface="맑은 고딕" pitchFamily="50" charset="-127"/>
                <a:cs typeface="Arial" panose="020B0604020202020204" pitchFamily="34" charset="0"/>
              </a:rPr>
              <a:t>Governance / accountability</a:t>
            </a:r>
          </a:p>
        </p:txBody>
      </p:sp>
      <p:sp>
        <p:nvSpPr>
          <p:cNvPr id="46" name="Rectangle 5"/>
          <p:cNvSpPr>
            <a:spLocks noChangeArrowheads="1"/>
          </p:cNvSpPr>
          <p:nvPr/>
        </p:nvSpPr>
        <p:spPr bwMode="auto">
          <a:xfrm>
            <a:off x="9028485" y="3439925"/>
            <a:ext cx="2930446" cy="309220"/>
          </a:xfrm>
          <a:prstGeom prst="rect">
            <a:avLst/>
          </a:prstGeom>
          <a:solidFill>
            <a:schemeClr val="bg1">
              <a:lumMod val="85000"/>
            </a:schemeClr>
          </a:solidFill>
          <a:ln w="9525" algn="ctr">
            <a:noFill/>
            <a:miter lim="800000"/>
            <a:headEnd/>
            <a:tailEnd/>
          </a:ln>
          <a:effectLst/>
        </p:spPr>
        <p:txBody>
          <a:bodyPr wrap="square" lIns="90000" tIns="36000" rIns="90000" bIns="36000" anchor="ctr"/>
          <a:lstStyle/>
          <a:p>
            <a:pPr algn="ctr" defTabSz="957263"/>
            <a:r>
              <a:rPr lang="en-US" sz="1200" kern="0" dirty="0">
                <a:solidFill>
                  <a:schemeClr val="tx1">
                    <a:lumMod val="95000"/>
                    <a:lumOff val="5000"/>
                  </a:schemeClr>
                </a:solidFill>
                <a:latin typeface="Arial" panose="020B0604020202020204" pitchFamily="34" charset="0"/>
                <a:ea typeface="맑은 고딕" pitchFamily="50" charset="-127"/>
                <a:cs typeface="Arial" panose="020B0604020202020204" pitchFamily="34" charset="0"/>
              </a:rPr>
              <a:t>Human resources / unethical behavior</a:t>
            </a:r>
          </a:p>
        </p:txBody>
      </p:sp>
      <p:sp>
        <p:nvSpPr>
          <p:cNvPr id="47" name="Rectangle 5"/>
          <p:cNvSpPr>
            <a:spLocks noChangeArrowheads="1"/>
          </p:cNvSpPr>
          <p:nvPr/>
        </p:nvSpPr>
        <p:spPr bwMode="auto">
          <a:xfrm>
            <a:off x="9028485" y="3820100"/>
            <a:ext cx="2930446" cy="309220"/>
          </a:xfrm>
          <a:prstGeom prst="rect">
            <a:avLst/>
          </a:prstGeom>
          <a:solidFill>
            <a:schemeClr val="bg1">
              <a:lumMod val="85000"/>
            </a:schemeClr>
          </a:solidFill>
          <a:ln w="9525" algn="ctr">
            <a:noFill/>
            <a:miter lim="800000"/>
            <a:headEnd/>
            <a:tailEnd/>
          </a:ln>
          <a:effectLst/>
        </p:spPr>
        <p:txBody>
          <a:bodyPr wrap="square" lIns="90000" tIns="36000" rIns="90000" bIns="36000" anchor="ctr"/>
          <a:lstStyle/>
          <a:p>
            <a:pPr algn="ctr" defTabSz="957263"/>
            <a:r>
              <a:rPr lang="en-US" sz="1200" kern="0" dirty="0">
                <a:solidFill>
                  <a:schemeClr val="tx1">
                    <a:lumMod val="95000"/>
                    <a:lumOff val="5000"/>
                  </a:schemeClr>
                </a:solidFill>
                <a:latin typeface="Arial" panose="020B0604020202020204" pitchFamily="34" charset="0"/>
                <a:ea typeface="맑은 고딕" pitchFamily="50" charset="-127"/>
                <a:cs typeface="Arial" panose="020B0604020202020204" pitchFamily="34" charset="0"/>
              </a:rPr>
              <a:t>ICT systems / information security</a:t>
            </a:r>
          </a:p>
        </p:txBody>
      </p:sp>
      <p:sp>
        <p:nvSpPr>
          <p:cNvPr id="48" name="Rectangle 5"/>
          <p:cNvSpPr>
            <a:spLocks noChangeArrowheads="1"/>
          </p:cNvSpPr>
          <p:nvPr/>
        </p:nvSpPr>
        <p:spPr bwMode="auto">
          <a:xfrm>
            <a:off x="9028485" y="4200275"/>
            <a:ext cx="2930446" cy="309220"/>
          </a:xfrm>
          <a:prstGeom prst="rect">
            <a:avLst/>
          </a:prstGeom>
          <a:solidFill>
            <a:schemeClr val="bg1">
              <a:lumMod val="85000"/>
            </a:schemeClr>
          </a:solidFill>
          <a:ln w="9525" algn="ctr">
            <a:noFill/>
            <a:miter lim="800000"/>
            <a:headEnd/>
            <a:tailEnd/>
          </a:ln>
          <a:effectLst/>
        </p:spPr>
        <p:txBody>
          <a:bodyPr wrap="square" lIns="90000" tIns="36000" rIns="90000" bIns="36000" anchor="ctr"/>
          <a:lstStyle/>
          <a:p>
            <a:pPr algn="ctr" defTabSz="957263"/>
            <a:r>
              <a:rPr lang="en-US" sz="1200" kern="0" dirty="0">
                <a:solidFill>
                  <a:schemeClr val="tx1">
                    <a:lumMod val="95000"/>
                    <a:lumOff val="5000"/>
                  </a:schemeClr>
                </a:solidFill>
                <a:latin typeface="Arial" panose="020B0604020202020204" pitchFamily="34" charset="0"/>
                <a:ea typeface="맑은 고딕" pitchFamily="50" charset="-127"/>
                <a:cs typeface="Arial" panose="020B0604020202020204" pitchFamily="34" charset="0"/>
              </a:rPr>
              <a:t>Natural disasters / epidemics</a:t>
            </a:r>
          </a:p>
        </p:txBody>
      </p:sp>
      <p:sp>
        <p:nvSpPr>
          <p:cNvPr id="49" name="Rectangle 5"/>
          <p:cNvSpPr>
            <a:spLocks noChangeArrowheads="1"/>
          </p:cNvSpPr>
          <p:nvPr/>
        </p:nvSpPr>
        <p:spPr bwMode="auto">
          <a:xfrm>
            <a:off x="9028485" y="4580450"/>
            <a:ext cx="2930446" cy="309220"/>
          </a:xfrm>
          <a:prstGeom prst="rect">
            <a:avLst/>
          </a:prstGeom>
          <a:solidFill>
            <a:schemeClr val="bg1">
              <a:lumMod val="85000"/>
            </a:schemeClr>
          </a:solidFill>
          <a:ln w="9525" algn="ctr">
            <a:noFill/>
            <a:miter lim="800000"/>
            <a:headEnd/>
            <a:tailEnd/>
          </a:ln>
          <a:effectLst/>
        </p:spPr>
        <p:txBody>
          <a:bodyPr wrap="square" lIns="90000" tIns="36000" rIns="90000" bIns="36000" anchor="ctr"/>
          <a:lstStyle/>
          <a:p>
            <a:pPr algn="ctr" defTabSz="957263"/>
            <a:r>
              <a:rPr lang="en-US" sz="1200" kern="0" dirty="0">
                <a:solidFill>
                  <a:schemeClr val="tx1">
                    <a:lumMod val="95000"/>
                    <a:lumOff val="5000"/>
                  </a:schemeClr>
                </a:solidFill>
                <a:latin typeface="Arial" panose="020B0604020202020204" pitchFamily="34" charset="0"/>
                <a:ea typeface="맑은 고딕" pitchFamily="50" charset="-127"/>
                <a:cs typeface="Arial" panose="020B0604020202020204" pitchFamily="34" charset="0"/>
              </a:rPr>
              <a:t>Organizational strategy / neutrality</a:t>
            </a:r>
          </a:p>
        </p:txBody>
      </p:sp>
      <p:sp>
        <p:nvSpPr>
          <p:cNvPr id="50" name="Rectangle 5"/>
          <p:cNvSpPr>
            <a:spLocks noChangeArrowheads="1"/>
          </p:cNvSpPr>
          <p:nvPr/>
        </p:nvSpPr>
        <p:spPr bwMode="auto">
          <a:xfrm>
            <a:off x="9028485" y="4960625"/>
            <a:ext cx="2930446" cy="309220"/>
          </a:xfrm>
          <a:prstGeom prst="rect">
            <a:avLst/>
          </a:prstGeom>
          <a:solidFill>
            <a:schemeClr val="bg1">
              <a:lumMod val="85000"/>
            </a:schemeClr>
          </a:solidFill>
          <a:ln w="9525" algn="ctr">
            <a:noFill/>
            <a:miter lim="800000"/>
            <a:headEnd/>
            <a:tailEnd/>
          </a:ln>
          <a:effectLst/>
        </p:spPr>
        <p:txBody>
          <a:bodyPr wrap="square" lIns="90000" tIns="36000" rIns="90000" bIns="36000" anchor="ctr"/>
          <a:lstStyle/>
          <a:p>
            <a:pPr algn="ctr" defTabSz="957263"/>
            <a:r>
              <a:rPr lang="en-US" sz="1200" kern="0" dirty="0" smtClean="0">
                <a:solidFill>
                  <a:schemeClr val="tx1">
                    <a:lumMod val="95000"/>
                    <a:lumOff val="5000"/>
                  </a:schemeClr>
                </a:solidFill>
                <a:latin typeface="Arial" panose="020B0604020202020204" pitchFamily="34" charset="0"/>
                <a:ea typeface="맑은 고딕" pitchFamily="50" charset="-127"/>
                <a:cs typeface="Arial" panose="020B0604020202020204" pitchFamily="34" charset="0"/>
              </a:rPr>
              <a:t>RBM </a:t>
            </a:r>
            <a:r>
              <a:rPr lang="en-US" sz="1200" kern="0" dirty="0">
                <a:solidFill>
                  <a:schemeClr val="tx1">
                    <a:lumMod val="95000"/>
                    <a:lumOff val="5000"/>
                  </a:schemeClr>
                </a:solidFill>
                <a:latin typeface="Arial" panose="020B0604020202020204" pitchFamily="34" charset="0"/>
                <a:ea typeface="맑은 고딕" pitchFamily="50" charset="-127"/>
                <a:cs typeface="Arial" panose="020B0604020202020204" pitchFamily="34" charset="0"/>
              </a:rPr>
              <a:t>and reporting</a:t>
            </a:r>
          </a:p>
        </p:txBody>
      </p:sp>
      <p:sp>
        <p:nvSpPr>
          <p:cNvPr id="51" name="Rectangle 5"/>
          <p:cNvSpPr>
            <a:spLocks noChangeArrowheads="1"/>
          </p:cNvSpPr>
          <p:nvPr/>
        </p:nvSpPr>
        <p:spPr bwMode="auto">
          <a:xfrm>
            <a:off x="9028485" y="5340800"/>
            <a:ext cx="2930446" cy="309220"/>
          </a:xfrm>
          <a:prstGeom prst="rect">
            <a:avLst/>
          </a:prstGeom>
          <a:solidFill>
            <a:schemeClr val="bg1">
              <a:lumMod val="85000"/>
            </a:schemeClr>
          </a:solidFill>
          <a:ln w="9525" algn="ctr">
            <a:noFill/>
            <a:miter lim="800000"/>
            <a:headEnd/>
            <a:tailEnd/>
          </a:ln>
          <a:effectLst/>
        </p:spPr>
        <p:txBody>
          <a:bodyPr wrap="square" lIns="90000" tIns="36000" rIns="90000" bIns="36000" anchor="ctr"/>
          <a:lstStyle/>
          <a:p>
            <a:pPr algn="ctr" defTabSz="957263"/>
            <a:r>
              <a:rPr lang="en-US" sz="1200" kern="0" dirty="0">
                <a:solidFill>
                  <a:schemeClr val="tx1">
                    <a:lumMod val="95000"/>
                    <a:lumOff val="5000"/>
                  </a:schemeClr>
                </a:solidFill>
                <a:latin typeface="Arial" panose="020B0604020202020204" pitchFamily="34" charset="0"/>
                <a:ea typeface="맑은 고딕" pitchFamily="50" charset="-127"/>
                <a:cs typeface="Arial" panose="020B0604020202020204" pitchFamily="34" charset="0"/>
              </a:rPr>
              <a:t>Safety and security</a:t>
            </a:r>
          </a:p>
        </p:txBody>
      </p:sp>
      <p:sp>
        <p:nvSpPr>
          <p:cNvPr id="52" name="Rectangle 5"/>
          <p:cNvSpPr>
            <a:spLocks noChangeArrowheads="1"/>
          </p:cNvSpPr>
          <p:nvPr/>
        </p:nvSpPr>
        <p:spPr bwMode="auto">
          <a:xfrm>
            <a:off x="9028485" y="5720975"/>
            <a:ext cx="2930446" cy="309220"/>
          </a:xfrm>
          <a:prstGeom prst="rect">
            <a:avLst/>
          </a:prstGeom>
          <a:solidFill>
            <a:schemeClr val="bg1">
              <a:lumMod val="85000"/>
            </a:schemeClr>
          </a:solidFill>
          <a:ln w="9525" algn="ctr">
            <a:noFill/>
            <a:miter lim="800000"/>
            <a:headEnd/>
            <a:tailEnd/>
          </a:ln>
          <a:effectLst/>
        </p:spPr>
        <p:txBody>
          <a:bodyPr wrap="square" lIns="90000" tIns="36000" rIns="90000" bIns="36000" anchor="ctr"/>
          <a:lstStyle/>
          <a:p>
            <a:pPr algn="ctr" defTabSz="957263"/>
            <a:r>
              <a:rPr lang="en-US" sz="1200" kern="0" dirty="0">
                <a:solidFill>
                  <a:schemeClr val="tx1">
                    <a:lumMod val="95000"/>
                    <a:lumOff val="5000"/>
                  </a:schemeClr>
                </a:solidFill>
                <a:latin typeface="Arial" panose="020B0604020202020204" pitchFamily="34" charset="0"/>
                <a:ea typeface="맑은 고딕" pitchFamily="50" charset="-127"/>
                <a:cs typeface="Arial" panose="020B0604020202020204" pitchFamily="34" charset="0"/>
              </a:rPr>
              <a:t>Supply and logistics</a:t>
            </a:r>
          </a:p>
        </p:txBody>
      </p:sp>
      <p:sp>
        <p:nvSpPr>
          <p:cNvPr id="53" name="Rectangle 5"/>
          <p:cNvSpPr>
            <a:spLocks noChangeArrowheads="1"/>
          </p:cNvSpPr>
          <p:nvPr/>
        </p:nvSpPr>
        <p:spPr bwMode="auto">
          <a:xfrm>
            <a:off x="9028485" y="6101148"/>
            <a:ext cx="2930446" cy="309220"/>
          </a:xfrm>
          <a:prstGeom prst="rect">
            <a:avLst/>
          </a:prstGeom>
          <a:solidFill>
            <a:schemeClr val="bg1">
              <a:lumMod val="85000"/>
            </a:schemeClr>
          </a:solidFill>
          <a:ln w="9525" algn="ctr">
            <a:noFill/>
            <a:miter lim="800000"/>
            <a:headEnd/>
            <a:tailEnd/>
          </a:ln>
          <a:effectLst/>
        </p:spPr>
        <p:txBody>
          <a:bodyPr wrap="square" lIns="90000" tIns="36000" rIns="90000" bIns="36000" anchor="ctr"/>
          <a:lstStyle/>
          <a:p>
            <a:pPr algn="ctr" defTabSz="957263"/>
            <a:r>
              <a:rPr lang="en-US" sz="1200" kern="0" dirty="0">
                <a:solidFill>
                  <a:schemeClr val="tx1">
                    <a:lumMod val="95000"/>
                    <a:lumOff val="5000"/>
                  </a:schemeClr>
                </a:solidFill>
                <a:latin typeface="Arial" panose="020B0604020202020204" pitchFamily="34" charset="0"/>
                <a:ea typeface="맑은 고딕" pitchFamily="50" charset="-127"/>
                <a:cs typeface="Arial" panose="020B0604020202020204" pitchFamily="34" charset="0"/>
              </a:rPr>
              <a:t>Other</a:t>
            </a:r>
          </a:p>
        </p:txBody>
      </p:sp>
      <p:sp>
        <p:nvSpPr>
          <p:cNvPr id="54" name="Rectangle 53"/>
          <p:cNvSpPr/>
          <p:nvPr/>
        </p:nvSpPr>
        <p:spPr>
          <a:xfrm>
            <a:off x="8929743" y="1295399"/>
            <a:ext cx="3112169" cy="531947"/>
          </a:xfrm>
          <a:prstGeom prst="rect">
            <a:avLst/>
          </a:prstGeom>
          <a:solidFill>
            <a:srgbClr val="0099FF"/>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smtClean="0">
                <a:solidFill>
                  <a:schemeClr val="bg1"/>
                </a:solidFill>
                <a:latin typeface="Arial" panose="020B0604020202020204" pitchFamily="34" charset="0"/>
                <a:cs typeface="Arial" panose="020B0604020202020204" pitchFamily="34" charset="0"/>
              </a:rPr>
              <a:t>Types of Risks</a:t>
            </a:r>
            <a:endParaRPr lang="en-US"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6150206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Implementation Strategies</a:t>
            </a:r>
          </a:p>
        </p:txBody>
      </p:sp>
      <p:sp>
        <p:nvSpPr>
          <p:cNvPr id="2" name="Rectangle 1"/>
          <p:cNvSpPr/>
          <p:nvPr/>
        </p:nvSpPr>
        <p:spPr>
          <a:xfrm>
            <a:off x="442029" y="1682876"/>
            <a:ext cx="7291755" cy="4062651"/>
          </a:xfrm>
          <a:prstGeom prst="rect">
            <a:avLst/>
          </a:prstGeom>
        </p:spPr>
        <p:txBody>
          <a:bodyPr wrap="square">
            <a:spAutoFit/>
          </a:bodyPr>
          <a:lstStyle/>
          <a:p>
            <a:pPr marR="0" lvl="0">
              <a:spcBef>
                <a:spcPts val="0"/>
              </a:spcBef>
              <a:spcAft>
                <a:spcPts val="1200"/>
              </a:spcAft>
              <a:buSzPts val="1100"/>
            </a:pPr>
            <a:r>
              <a:rPr lang="en-GB" sz="2400" dirty="0">
                <a:solidFill>
                  <a:srgbClr val="0099FF"/>
                </a:solidFill>
                <a:latin typeface="Arial" panose="020B0604020202020204" pitchFamily="34" charset="0"/>
                <a:ea typeface="Calibri" panose="020F0502020204030204" pitchFamily="34" charset="0"/>
                <a:cs typeface="Arial" panose="020B0604020202020204" pitchFamily="34" charset="0"/>
              </a:rPr>
              <a:t>Select strategies to implement the results in the most effective and direct manner.</a:t>
            </a:r>
            <a:endParaRPr lang="en-US" sz="2400" dirty="0">
              <a:solidFill>
                <a:srgbClr val="0099FF"/>
              </a:solidFill>
              <a:latin typeface="Arial" panose="020B0604020202020204" pitchFamily="34" charset="0"/>
              <a:ea typeface="Calibri" panose="020F0502020204030204" pitchFamily="34" charset="0"/>
              <a:cs typeface="Arial" panose="020B0604020202020204" pitchFamily="34" charset="0"/>
            </a:endParaRPr>
          </a:p>
          <a:p>
            <a:r>
              <a:rPr lang="en-GB" sz="2000" i="1" dirty="0">
                <a:latin typeface="Arial" panose="020B0604020202020204" pitchFamily="34" charset="0"/>
                <a:ea typeface="Calibri" panose="020F0502020204030204" pitchFamily="34" charset="0"/>
                <a:cs typeface="Arial" panose="020B0604020202020204" pitchFamily="34" charset="0"/>
              </a:rPr>
              <a:t> </a:t>
            </a:r>
            <a:endParaRPr lang="en-US" sz="2000" dirty="0">
              <a:latin typeface="Arial" panose="020B0604020202020204" pitchFamily="34" charset="0"/>
              <a:ea typeface="Calibri" panose="020F0502020204030204" pitchFamily="34" charset="0"/>
              <a:cs typeface="Arial" panose="020B0604020202020204" pitchFamily="34" charset="0"/>
            </a:endParaRPr>
          </a:p>
          <a:p>
            <a:r>
              <a:rPr lang="en-GB" sz="2000" dirty="0">
                <a:latin typeface="Arial" panose="020B0604020202020204" pitchFamily="34" charset="0"/>
                <a:ea typeface="Calibri" panose="020F0502020204030204" pitchFamily="34" charset="0"/>
                <a:cs typeface="Arial" panose="020B0604020202020204" pitchFamily="34" charset="0"/>
              </a:rPr>
              <a:t>Selection of strategies should consider inter alia:</a:t>
            </a:r>
            <a:endParaRPr lang="en-US" sz="2000" dirty="0">
              <a:latin typeface="Arial" panose="020B0604020202020204" pitchFamily="34" charset="0"/>
              <a:ea typeface="Calibri" panose="020F0502020204030204" pitchFamily="34" charset="0"/>
              <a:cs typeface="Arial" panose="020B0604020202020204" pitchFamily="34" charset="0"/>
            </a:endParaRPr>
          </a:p>
          <a:p>
            <a:pPr marL="342900" marR="0" lvl="0" indent="-342900">
              <a:spcBef>
                <a:spcPts val="0"/>
              </a:spcBef>
              <a:spcAft>
                <a:spcPts val="0"/>
              </a:spcAft>
              <a:buFont typeface="Symbol" panose="05050102010706020507" pitchFamily="18" charset="2"/>
              <a:buChar char=""/>
            </a:pPr>
            <a:r>
              <a:rPr lang="en-GB" sz="2000" dirty="0">
                <a:solidFill>
                  <a:srgbClr val="000000"/>
                </a:solidFill>
                <a:latin typeface="Arial" panose="020B0604020202020204" pitchFamily="34" charset="0"/>
                <a:ea typeface="Calibri" panose="020F0502020204030204" pitchFamily="34" charset="0"/>
                <a:cs typeface="Arial" panose="020B0604020202020204" pitchFamily="34" charset="0"/>
              </a:rPr>
              <a:t>Organisational initiatives</a:t>
            </a:r>
            <a:endParaRPr lang="en-US" sz="2000" dirty="0">
              <a:solidFill>
                <a:srgbClr val="000000"/>
              </a:solidFill>
              <a:latin typeface="Arial" panose="020B0604020202020204" pitchFamily="34" charset="0"/>
              <a:ea typeface="Calibri" panose="020F0502020204030204" pitchFamily="34" charset="0"/>
              <a:cs typeface="Arial" panose="020B0604020202020204" pitchFamily="34" charset="0"/>
            </a:endParaRPr>
          </a:p>
          <a:p>
            <a:pPr marL="342900" marR="0" lvl="0" indent="-342900">
              <a:spcBef>
                <a:spcPts val="0"/>
              </a:spcBef>
              <a:spcAft>
                <a:spcPts val="0"/>
              </a:spcAft>
              <a:buFont typeface="Symbol" panose="05050102010706020507" pitchFamily="18" charset="2"/>
              <a:buChar char=""/>
            </a:pPr>
            <a:r>
              <a:rPr lang="en-GB" sz="2000" dirty="0">
                <a:solidFill>
                  <a:srgbClr val="000000"/>
                </a:solidFill>
                <a:latin typeface="Arial" panose="020B0604020202020204" pitchFamily="34" charset="0"/>
                <a:ea typeface="Calibri" panose="020F0502020204030204" pitchFamily="34" charset="0"/>
                <a:cs typeface="Arial" panose="020B0604020202020204" pitchFamily="34" charset="0"/>
              </a:rPr>
              <a:t>Lessons learned from previous application of strategy</a:t>
            </a:r>
            <a:endParaRPr lang="en-US" sz="2000" dirty="0">
              <a:solidFill>
                <a:srgbClr val="000000"/>
              </a:solidFill>
              <a:latin typeface="Arial" panose="020B0604020202020204" pitchFamily="34" charset="0"/>
              <a:ea typeface="Calibri" panose="020F0502020204030204" pitchFamily="34" charset="0"/>
              <a:cs typeface="Arial" panose="020B0604020202020204" pitchFamily="34" charset="0"/>
            </a:endParaRPr>
          </a:p>
          <a:p>
            <a:pPr marL="342900" marR="0" lvl="0" indent="-342900">
              <a:spcBef>
                <a:spcPts val="0"/>
              </a:spcBef>
              <a:spcAft>
                <a:spcPts val="0"/>
              </a:spcAft>
              <a:buFont typeface="Symbol" panose="05050102010706020507" pitchFamily="18" charset="2"/>
              <a:buChar char=""/>
            </a:pPr>
            <a:r>
              <a:rPr lang="en-GB" sz="2000" dirty="0">
                <a:solidFill>
                  <a:srgbClr val="000000"/>
                </a:solidFill>
                <a:latin typeface="Arial" panose="020B0604020202020204" pitchFamily="34" charset="0"/>
                <a:ea typeface="Calibri" panose="020F0502020204030204" pitchFamily="34" charset="0"/>
                <a:cs typeface="Arial" panose="020B0604020202020204" pitchFamily="34" charset="0"/>
              </a:rPr>
              <a:t>Capacity to execute strategy</a:t>
            </a:r>
            <a:endParaRPr lang="en-US" sz="2000" dirty="0">
              <a:solidFill>
                <a:srgbClr val="000000"/>
              </a:solidFill>
              <a:latin typeface="Arial" panose="020B0604020202020204" pitchFamily="34" charset="0"/>
              <a:ea typeface="Calibri" panose="020F0502020204030204" pitchFamily="34" charset="0"/>
              <a:cs typeface="Arial" panose="020B0604020202020204" pitchFamily="34" charset="0"/>
            </a:endParaRPr>
          </a:p>
          <a:p>
            <a:pPr marL="342900" marR="0" lvl="0" indent="-342900">
              <a:spcBef>
                <a:spcPts val="0"/>
              </a:spcBef>
              <a:spcAft>
                <a:spcPts val="0"/>
              </a:spcAft>
              <a:buFont typeface="Symbol" panose="05050102010706020507" pitchFamily="18" charset="2"/>
              <a:buChar char=""/>
            </a:pPr>
            <a:r>
              <a:rPr lang="en-GB" sz="2000" dirty="0">
                <a:solidFill>
                  <a:srgbClr val="000000"/>
                </a:solidFill>
                <a:latin typeface="Arial" panose="020B0604020202020204" pitchFamily="34" charset="0"/>
                <a:ea typeface="Calibri" panose="020F0502020204030204" pitchFamily="34" charset="0"/>
                <a:cs typeface="Arial" panose="020B0604020202020204" pitchFamily="34" charset="0"/>
              </a:rPr>
              <a:t>Analysis of risks and assumptions</a:t>
            </a:r>
            <a:endParaRPr lang="en-US" sz="2000" dirty="0">
              <a:solidFill>
                <a:srgbClr val="000000"/>
              </a:solidFill>
              <a:latin typeface="Arial" panose="020B0604020202020204" pitchFamily="34" charset="0"/>
              <a:ea typeface="Calibri" panose="020F0502020204030204" pitchFamily="34" charset="0"/>
              <a:cs typeface="Arial" panose="020B0604020202020204" pitchFamily="34" charset="0"/>
            </a:endParaRPr>
          </a:p>
          <a:p>
            <a:pPr marL="342900" marR="0" lvl="0" indent="-342900">
              <a:spcBef>
                <a:spcPts val="0"/>
              </a:spcBef>
              <a:spcAft>
                <a:spcPts val="0"/>
              </a:spcAft>
              <a:buFont typeface="Symbol" panose="05050102010706020507" pitchFamily="18" charset="2"/>
              <a:buChar char=""/>
            </a:pPr>
            <a:r>
              <a:rPr lang="en-GB" sz="2000" dirty="0">
                <a:solidFill>
                  <a:srgbClr val="000000"/>
                </a:solidFill>
                <a:latin typeface="Arial" panose="020B0604020202020204" pitchFamily="34" charset="0"/>
                <a:ea typeface="Calibri" panose="020F0502020204030204" pitchFamily="34" charset="0"/>
                <a:cs typeface="Arial" panose="020B0604020202020204" pitchFamily="34" charset="0"/>
              </a:rPr>
              <a:t>Economy, efficiency and  effectiveness (or ‘value for money’) </a:t>
            </a:r>
            <a:endParaRPr lang="en-US" sz="2000" dirty="0">
              <a:solidFill>
                <a:srgbClr val="000000"/>
              </a:solidFill>
              <a:latin typeface="Arial" panose="020B0604020202020204" pitchFamily="34" charset="0"/>
              <a:ea typeface="Calibri" panose="020F0502020204030204" pitchFamily="34" charset="0"/>
              <a:cs typeface="Arial" panose="020B0604020202020204" pitchFamily="34" charset="0"/>
            </a:endParaRPr>
          </a:p>
          <a:p>
            <a:pPr marL="342900" marR="0" lvl="0" indent="-342900">
              <a:spcBef>
                <a:spcPts val="0"/>
              </a:spcBef>
              <a:spcAft>
                <a:spcPts val="0"/>
              </a:spcAft>
              <a:buFont typeface="Symbol" panose="05050102010706020507" pitchFamily="18" charset="2"/>
              <a:buChar char=""/>
            </a:pPr>
            <a:r>
              <a:rPr lang="en-GB" sz="2000" dirty="0">
                <a:solidFill>
                  <a:srgbClr val="000000"/>
                </a:solidFill>
                <a:latin typeface="Arial" panose="020B0604020202020204" pitchFamily="34" charset="0"/>
                <a:ea typeface="Calibri" panose="020F0502020204030204" pitchFamily="34" charset="0"/>
                <a:cs typeface="Arial" panose="020B0604020202020204" pitchFamily="34" charset="0"/>
              </a:rPr>
              <a:t>Sustainability of results, with a focus on building capacity at national and sub-national levels for ‘development’ results</a:t>
            </a:r>
            <a:endParaRPr lang="en-US" sz="20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3" name="Rectangle 2"/>
          <p:cNvSpPr/>
          <p:nvPr/>
        </p:nvSpPr>
        <p:spPr>
          <a:xfrm>
            <a:off x="8404411" y="1766008"/>
            <a:ext cx="3630706" cy="3856408"/>
          </a:xfrm>
          <a:prstGeom prst="rect">
            <a:avLst/>
          </a:prstGeom>
          <a:ln>
            <a:solidFill>
              <a:srgbClr val="FFC000"/>
            </a:solidFill>
          </a:ln>
        </p:spPr>
        <p:style>
          <a:lnRef idx="2">
            <a:schemeClr val="accent6"/>
          </a:lnRef>
          <a:fillRef idx="1">
            <a:schemeClr val="lt1"/>
          </a:fillRef>
          <a:effectRef idx="0">
            <a:schemeClr val="accent6"/>
          </a:effectRef>
          <a:fontRef idx="minor">
            <a:schemeClr val="dk1"/>
          </a:fontRef>
        </p:style>
        <p:txBody>
          <a:bodyPr rtlCol="0" anchor="t"/>
          <a:lstStyle/>
          <a:p>
            <a:pPr algn="ctr"/>
            <a:r>
              <a:rPr lang="en-US" sz="2400" dirty="0" smtClean="0">
                <a:solidFill>
                  <a:srgbClr val="FFC000"/>
                </a:solidFill>
                <a:latin typeface="Arial" panose="020B0604020202020204" pitchFamily="34" charset="0"/>
                <a:cs typeface="Arial" panose="020B0604020202020204" pitchFamily="34" charset="0"/>
              </a:rPr>
              <a:t>IMPLEMENTATION</a:t>
            </a:r>
          </a:p>
          <a:p>
            <a:pPr algn="ctr"/>
            <a:r>
              <a:rPr lang="en-US" sz="2400" dirty="0" smtClean="0">
                <a:solidFill>
                  <a:srgbClr val="FFC000"/>
                </a:solidFill>
                <a:latin typeface="Arial" panose="020B0604020202020204" pitchFamily="34" charset="0"/>
                <a:cs typeface="Arial" panose="020B0604020202020204" pitchFamily="34" charset="0"/>
              </a:rPr>
              <a:t> STRATEGIES</a:t>
            </a:r>
            <a:endParaRPr lang="en-US" sz="2400" dirty="0">
              <a:solidFill>
                <a:srgbClr val="FFC000"/>
              </a:solidFill>
              <a:latin typeface="Arial" panose="020B0604020202020204" pitchFamily="34" charset="0"/>
              <a:cs typeface="Arial" panose="020B0604020202020204" pitchFamily="34" charset="0"/>
            </a:endParaRPr>
          </a:p>
        </p:txBody>
      </p:sp>
      <p:sp>
        <p:nvSpPr>
          <p:cNvPr id="5" name="TextBox 4"/>
          <p:cNvSpPr txBox="1"/>
          <p:nvPr/>
        </p:nvSpPr>
        <p:spPr>
          <a:xfrm>
            <a:off x="8686799" y="2820650"/>
            <a:ext cx="3236259" cy="2585323"/>
          </a:xfrm>
          <a:prstGeom prst="rect">
            <a:avLst/>
          </a:prstGeom>
          <a:noFill/>
        </p:spPr>
        <p:txBody>
          <a:bodyPr wrap="square" rtlCol="0">
            <a:spAutoFit/>
          </a:bodyPr>
          <a:lstStyle/>
          <a:p>
            <a:pPr marL="342900" indent="-342900">
              <a:buFont typeface="+mj-lt"/>
              <a:buAutoNum type="arabicPeriod"/>
            </a:pPr>
            <a:r>
              <a:rPr lang="en-US" dirty="0" smtClean="0">
                <a:latin typeface="Arial" panose="020B0604020202020204" pitchFamily="34" charset="0"/>
                <a:cs typeface="Arial" panose="020B0604020202020204" pitchFamily="34" charset="0"/>
              </a:rPr>
              <a:t>Capacity Development</a:t>
            </a:r>
          </a:p>
          <a:p>
            <a:pPr marL="342900" indent="-342900">
              <a:buFont typeface="+mj-lt"/>
              <a:buAutoNum type="arabicPeriod"/>
            </a:pPr>
            <a:r>
              <a:rPr lang="en-US" dirty="0" smtClean="0">
                <a:latin typeface="Arial" panose="020B0604020202020204" pitchFamily="34" charset="0"/>
                <a:cs typeface="Arial" panose="020B0604020202020204" pitchFamily="34" charset="0"/>
              </a:rPr>
              <a:t>Evidence Based Advocacy</a:t>
            </a:r>
          </a:p>
          <a:p>
            <a:pPr marL="342900" indent="-342900">
              <a:buFont typeface="+mj-lt"/>
              <a:buAutoNum type="arabicPeriod"/>
            </a:pPr>
            <a:r>
              <a:rPr lang="en-US" dirty="0" smtClean="0">
                <a:latin typeface="Arial" panose="020B0604020202020204" pitchFamily="34" charset="0"/>
                <a:cs typeface="Arial" panose="020B0604020202020204" pitchFamily="34" charset="0"/>
              </a:rPr>
              <a:t>C4D</a:t>
            </a:r>
          </a:p>
          <a:p>
            <a:pPr marL="342900" indent="-342900">
              <a:buFont typeface="+mj-lt"/>
              <a:buAutoNum type="arabicPeriod"/>
            </a:pPr>
            <a:r>
              <a:rPr lang="en-US" dirty="0" smtClean="0">
                <a:latin typeface="Arial" panose="020B0604020202020204" pitchFamily="34" charset="0"/>
                <a:cs typeface="Arial" panose="020B0604020202020204" pitchFamily="34" charset="0"/>
              </a:rPr>
              <a:t>Service Delivery</a:t>
            </a:r>
          </a:p>
          <a:p>
            <a:pPr marL="342900" indent="-342900">
              <a:buFont typeface="+mj-lt"/>
              <a:buAutoNum type="arabicPeriod"/>
            </a:pPr>
            <a:r>
              <a:rPr lang="en-US" dirty="0" smtClean="0">
                <a:latin typeface="Arial" panose="020B0604020202020204" pitchFamily="34" charset="0"/>
                <a:cs typeface="Arial" panose="020B0604020202020204" pitchFamily="34" charset="0"/>
              </a:rPr>
              <a:t>Innovations</a:t>
            </a:r>
          </a:p>
          <a:p>
            <a:pPr marL="342900" indent="-342900">
              <a:buFont typeface="+mj-lt"/>
              <a:buAutoNum type="arabicPeriod"/>
            </a:pPr>
            <a:r>
              <a:rPr lang="en-US" dirty="0" smtClean="0">
                <a:latin typeface="Arial" panose="020B0604020202020204" pitchFamily="34" charset="0"/>
                <a:cs typeface="Arial" panose="020B0604020202020204" pitchFamily="34" charset="0"/>
              </a:rPr>
              <a:t>Partnerships</a:t>
            </a:r>
          </a:p>
          <a:p>
            <a:pPr marL="342900" indent="-342900">
              <a:buFont typeface="+mj-lt"/>
              <a:buAutoNum type="arabicPeriod"/>
            </a:pPr>
            <a:r>
              <a:rPr lang="en-US" dirty="0" smtClean="0">
                <a:latin typeface="Arial" panose="020B0604020202020204" pitchFamily="34" charset="0"/>
                <a:cs typeface="Arial" panose="020B0604020202020204" pitchFamily="34" charset="0"/>
              </a:rPr>
              <a:t>South South cooperation</a:t>
            </a:r>
          </a:p>
          <a:p>
            <a:pPr marL="342900" indent="-342900">
              <a:buFont typeface="+mj-lt"/>
              <a:buAutoNum type="arabicPeriod"/>
            </a:pPr>
            <a:r>
              <a:rPr lang="en-US" dirty="0" smtClean="0">
                <a:latin typeface="Arial" panose="020B0604020202020204" pitchFamily="34" charset="0"/>
                <a:cs typeface="Arial" panose="020B0604020202020204" pitchFamily="34" charset="0"/>
              </a:rPr>
              <a:t>Cross Sectoral integration</a:t>
            </a:r>
          </a:p>
          <a:p>
            <a:pPr marL="342900" indent="-342900">
              <a:buFont typeface="+mj-lt"/>
              <a:buAutoNum type="arabicPeriod"/>
            </a:pPr>
            <a:r>
              <a:rPr lang="en-US" dirty="0" smtClean="0">
                <a:latin typeface="Arial" panose="020B0604020202020204" pitchFamily="34" charset="0"/>
                <a:cs typeface="Arial" panose="020B0604020202020204" pitchFamily="34" charset="0"/>
              </a:rPr>
              <a:t>Managing for Results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8162362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70021"/>
          </a:xfrm>
        </p:spPr>
        <p:txBody>
          <a:bodyPr>
            <a:normAutofit/>
          </a:bodyPr>
          <a:lstStyle/>
          <a:p>
            <a:r>
              <a:rPr lang="en-US" sz="3600" dirty="0">
                <a:solidFill>
                  <a:srgbClr val="0099FF"/>
                </a:solidFill>
                <a:latin typeface="Arial" panose="020B0604020202020204" pitchFamily="34" charset="0"/>
                <a:cs typeface="Arial" panose="020B0604020202020204" pitchFamily="34" charset="0"/>
              </a:rPr>
              <a:t>Implementation Modalities</a:t>
            </a:r>
            <a:endParaRPr lang="en-US" sz="3600" dirty="0" smtClean="0">
              <a:solidFill>
                <a:srgbClr val="0099FF"/>
              </a:solidFill>
              <a:latin typeface="Arial" panose="020B0604020202020204" pitchFamily="34" charset="0"/>
              <a:cs typeface="Arial" panose="020B0604020202020204" pitchFamily="34" charset="0"/>
            </a:endParaRPr>
          </a:p>
        </p:txBody>
      </p:sp>
      <p:sp>
        <p:nvSpPr>
          <p:cNvPr id="4" name="Content Placeholder 2"/>
          <p:cNvSpPr txBox="1">
            <a:spLocks/>
          </p:cNvSpPr>
          <p:nvPr/>
        </p:nvSpPr>
        <p:spPr>
          <a:xfrm>
            <a:off x="408397" y="1644943"/>
            <a:ext cx="7254531" cy="48871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200"/>
              </a:spcBef>
              <a:spcAft>
                <a:spcPts val="600"/>
              </a:spcAft>
              <a:buFont typeface="Arial" panose="020B0604020202020204" pitchFamily="34" charset="0"/>
              <a:buNone/>
            </a:pPr>
            <a:r>
              <a:rPr lang="en-US" sz="2000" dirty="0" smtClean="0">
                <a:latin typeface="Arial" panose="020B0604020202020204" pitchFamily="34" charset="0"/>
                <a:ea typeface="MS Mincho" panose="02020609040205080304" pitchFamily="49" charset="-128"/>
                <a:cs typeface="Arial" panose="020B0604020202020204" pitchFamily="34" charset="0"/>
              </a:rPr>
              <a:t>UNICEF generally applies one or more of four implementation modalities to achieve a result:</a:t>
            </a:r>
          </a:p>
          <a:p>
            <a:pPr marL="627062" indent="-457200" algn="just">
              <a:spcBef>
                <a:spcPts val="1200"/>
              </a:spcBef>
              <a:spcAft>
                <a:spcPts val="600"/>
              </a:spcAft>
              <a:buFont typeface="+mj-lt"/>
              <a:buAutoNum type="arabicPeriod"/>
            </a:pPr>
            <a:r>
              <a:rPr lang="en-US" sz="2000" dirty="0" smtClean="0">
                <a:solidFill>
                  <a:srgbClr val="0099FF"/>
                </a:solidFill>
                <a:latin typeface="Arial" panose="020B0604020202020204" pitchFamily="34" charset="0"/>
                <a:ea typeface="MS Mincho" panose="02020609040205080304" pitchFamily="49" charset="-128"/>
                <a:cs typeface="Arial" panose="020B0604020202020204" pitchFamily="34" charset="0"/>
              </a:rPr>
              <a:t>Working with Government</a:t>
            </a:r>
          </a:p>
          <a:p>
            <a:pPr marL="627062" indent="-457200" algn="just">
              <a:spcBef>
                <a:spcPts val="1200"/>
              </a:spcBef>
              <a:spcAft>
                <a:spcPts val="600"/>
              </a:spcAft>
              <a:buFont typeface="+mj-lt"/>
              <a:buAutoNum type="arabicPeriod"/>
            </a:pPr>
            <a:r>
              <a:rPr lang="en-US" sz="2000" dirty="0" smtClean="0">
                <a:solidFill>
                  <a:srgbClr val="0099FF"/>
                </a:solidFill>
                <a:latin typeface="Arial" panose="020B0604020202020204" pitchFamily="34" charset="0"/>
                <a:ea typeface="MS Mincho" panose="02020609040205080304" pitchFamily="49" charset="-128"/>
                <a:cs typeface="Arial" panose="020B0604020202020204" pitchFamily="34" charset="0"/>
              </a:rPr>
              <a:t>Working with Civil Society Organizations</a:t>
            </a:r>
          </a:p>
          <a:p>
            <a:pPr marL="627062" indent="-457200" algn="just">
              <a:spcBef>
                <a:spcPts val="1200"/>
              </a:spcBef>
              <a:spcAft>
                <a:spcPts val="600"/>
              </a:spcAft>
              <a:buFont typeface="+mj-lt"/>
              <a:buAutoNum type="arabicPeriod"/>
            </a:pPr>
            <a:r>
              <a:rPr lang="en-US" sz="2000" dirty="0" smtClean="0">
                <a:solidFill>
                  <a:srgbClr val="0099FF"/>
                </a:solidFill>
                <a:latin typeface="Arial" panose="020B0604020202020204" pitchFamily="34" charset="0"/>
                <a:ea typeface="MS Mincho" panose="02020609040205080304" pitchFamily="49" charset="-128"/>
                <a:cs typeface="Arial" panose="020B0604020202020204" pitchFamily="34" charset="0"/>
              </a:rPr>
              <a:t>Working with Other UN Agencies</a:t>
            </a:r>
          </a:p>
          <a:p>
            <a:pPr marL="627062" indent="-457200" algn="just">
              <a:spcBef>
                <a:spcPts val="1200"/>
              </a:spcBef>
              <a:spcAft>
                <a:spcPts val="600"/>
              </a:spcAft>
              <a:buFont typeface="+mj-lt"/>
              <a:buAutoNum type="arabicPeriod"/>
            </a:pPr>
            <a:r>
              <a:rPr lang="en-US" sz="2000" dirty="0" smtClean="0">
                <a:solidFill>
                  <a:srgbClr val="0099FF"/>
                </a:solidFill>
                <a:latin typeface="Arial" panose="020B0604020202020204" pitchFamily="34" charset="0"/>
                <a:ea typeface="MS Mincho" panose="02020609040205080304" pitchFamily="49" charset="-128"/>
                <a:cs typeface="Arial" panose="020B0604020202020204" pitchFamily="34" charset="0"/>
              </a:rPr>
              <a:t>UNICEF Directly implementing an activity</a:t>
            </a:r>
          </a:p>
          <a:p>
            <a:pPr marL="0" indent="0">
              <a:spcBef>
                <a:spcPts val="1200"/>
              </a:spcBef>
              <a:spcAft>
                <a:spcPts val="600"/>
              </a:spcAft>
              <a:buFont typeface="Arial" panose="020B0604020202020204" pitchFamily="34" charset="0"/>
              <a:buNone/>
            </a:pPr>
            <a:r>
              <a:rPr lang="en-US" sz="1800" dirty="0" smtClean="0">
                <a:latin typeface="Arial" panose="020B0604020202020204" pitchFamily="34" charset="0"/>
                <a:ea typeface="MS Mincho" panose="02020609040205080304" pitchFamily="49" charset="-128"/>
                <a:cs typeface="Arial" panose="020B0604020202020204" pitchFamily="34" charset="0"/>
              </a:rPr>
              <a:t>Considering the most suitable modality takes into account the specific needs of an intervention and operating environment, and comparative advantage to support achievement of results</a:t>
            </a:r>
          </a:p>
          <a:p>
            <a:pPr marL="457200" indent="-457200">
              <a:buFont typeface="+mj-lt"/>
              <a:buAutoNum type="arabicPeriod"/>
            </a:pPr>
            <a:endParaRPr lang="en-US" sz="2000" dirty="0">
              <a:latin typeface="Arial" panose="020B0604020202020204" pitchFamily="34" charset="0"/>
              <a:cs typeface="Arial" panose="020B0604020202020204" pitchFamily="34" charset="0"/>
            </a:endParaRPr>
          </a:p>
        </p:txBody>
      </p:sp>
      <p:sp>
        <p:nvSpPr>
          <p:cNvPr id="5" name="Content Placeholder 2"/>
          <p:cNvSpPr txBox="1">
            <a:spLocks/>
          </p:cNvSpPr>
          <p:nvPr/>
        </p:nvSpPr>
        <p:spPr>
          <a:xfrm>
            <a:off x="8013938" y="1039799"/>
            <a:ext cx="3992561" cy="4860758"/>
          </a:xfrm>
          <a:prstGeom prst="rect">
            <a:avLst/>
          </a:prstGeom>
          <a:ln>
            <a:solidFill>
              <a:schemeClr val="bg1">
                <a:lumMod val="75000"/>
              </a:schemeClr>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Arial"/>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a:ea typeface="+mn-ea"/>
                <a:cs typeface="Arial"/>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endParaRPr lang="en-US" sz="2000" dirty="0" smtClean="0">
              <a:latin typeface="Arial" panose="020B0604020202020204" pitchFamily="34" charset="0"/>
              <a:ea typeface="MS Mincho" panose="02020609040205080304" pitchFamily="49" charset="-128"/>
              <a:cs typeface="Arial" panose="020B0604020202020204" pitchFamily="34" charset="0"/>
            </a:endParaRPr>
          </a:p>
          <a:p>
            <a:r>
              <a:rPr lang="en-US" sz="2000" b="1" dirty="0" smtClean="0">
                <a:solidFill>
                  <a:srgbClr val="0099FF"/>
                </a:solidFill>
                <a:latin typeface="Arial" panose="020B0604020202020204" pitchFamily="34" charset="0"/>
                <a:ea typeface="MS Mincho" panose="02020609040205080304" pitchFamily="49" charset="-128"/>
                <a:cs typeface="Arial" panose="020B0604020202020204" pitchFamily="34" charset="0"/>
              </a:rPr>
              <a:t>Economy</a:t>
            </a:r>
            <a:r>
              <a:rPr lang="en-US" sz="2000" b="1" dirty="0" smtClean="0">
                <a:latin typeface="Arial" panose="020B0604020202020204" pitchFamily="34" charset="0"/>
                <a:ea typeface="MS Mincho" panose="02020609040205080304" pitchFamily="49" charset="-128"/>
                <a:cs typeface="Arial" panose="020B0604020202020204" pitchFamily="34" charset="0"/>
              </a:rPr>
              <a:t> – </a:t>
            </a:r>
            <a:r>
              <a:rPr lang="en-US" sz="2000" dirty="0" smtClean="0">
                <a:latin typeface="Arial" panose="020B0604020202020204" pitchFamily="34" charset="0"/>
                <a:ea typeface="MS Mincho" panose="02020609040205080304" pitchFamily="49" charset="-128"/>
                <a:cs typeface="Arial" panose="020B0604020202020204" pitchFamily="34" charset="0"/>
              </a:rPr>
              <a:t>obtaining inputs of appropriate quality at the right price</a:t>
            </a:r>
            <a:endParaRPr lang="en-US" sz="2000" b="1" dirty="0" smtClean="0">
              <a:latin typeface="Arial" panose="020B0604020202020204" pitchFamily="34" charset="0"/>
              <a:ea typeface="MS Mincho" panose="02020609040205080304" pitchFamily="49" charset="-128"/>
              <a:cs typeface="Arial" panose="020B0604020202020204" pitchFamily="34" charset="0"/>
            </a:endParaRPr>
          </a:p>
          <a:p>
            <a:endParaRPr lang="en-US" sz="2000" b="1" dirty="0" smtClean="0">
              <a:latin typeface="Arial" panose="020B0604020202020204" pitchFamily="34" charset="0"/>
              <a:ea typeface="MS Mincho" panose="02020609040205080304" pitchFamily="49" charset="-128"/>
              <a:cs typeface="Arial" panose="020B0604020202020204" pitchFamily="34" charset="0"/>
            </a:endParaRPr>
          </a:p>
          <a:p>
            <a:r>
              <a:rPr lang="en-US" sz="2000" b="1" dirty="0" smtClean="0">
                <a:solidFill>
                  <a:srgbClr val="0099FF"/>
                </a:solidFill>
                <a:latin typeface="Arial" panose="020B0604020202020204" pitchFamily="34" charset="0"/>
                <a:ea typeface="MS Mincho" panose="02020609040205080304" pitchFamily="49" charset="-128"/>
                <a:cs typeface="Arial" panose="020B0604020202020204" pitchFamily="34" charset="0"/>
              </a:rPr>
              <a:t>Efficiency</a:t>
            </a:r>
            <a:r>
              <a:rPr lang="en-US" sz="2000" b="1" dirty="0" smtClean="0">
                <a:latin typeface="Arial" panose="020B0604020202020204" pitchFamily="34" charset="0"/>
                <a:ea typeface="MS Mincho" panose="02020609040205080304" pitchFamily="49" charset="-128"/>
                <a:cs typeface="Arial" panose="020B0604020202020204" pitchFamily="34" charset="0"/>
              </a:rPr>
              <a:t> – </a:t>
            </a:r>
            <a:r>
              <a:rPr lang="en-US" sz="2000" dirty="0" smtClean="0">
                <a:latin typeface="Arial" panose="020B0604020202020204" pitchFamily="34" charset="0"/>
                <a:ea typeface="MS Mincho" panose="02020609040205080304" pitchFamily="49" charset="-128"/>
                <a:cs typeface="Arial" panose="020B0604020202020204" pitchFamily="34" charset="0"/>
              </a:rPr>
              <a:t>timely allocation and use of resources to achieve  outputs</a:t>
            </a:r>
          </a:p>
          <a:p>
            <a:endParaRPr lang="en-US" sz="2000" b="1" dirty="0" smtClean="0">
              <a:latin typeface="Arial" panose="020B0604020202020204" pitchFamily="34" charset="0"/>
              <a:ea typeface="MS Mincho" panose="02020609040205080304" pitchFamily="49" charset="-128"/>
              <a:cs typeface="Arial" panose="020B0604020202020204" pitchFamily="34" charset="0"/>
            </a:endParaRPr>
          </a:p>
          <a:p>
            <a:r>
              <a:rPr lang="en-US" sz="2000" b="1" dirty="0" smtClean="0">
                <a:solidFill>
                  <a:srgbClr val="0099FF"/>
                </a:solidFill>
                <a:latin typeface="Arial" panose="020B0604020202020204" pitchFamily="34" charset="0"/>
                <a:ea typeface="MS Mincho" panose="02020609040205080304" pitchFamily="49" charset="-128"/>
                <a:cs typeface="Arial" panose="020B0604020202020204" pitchFamily="34" charset="0"/>
              </a:rPr>
              <a:t>Effectiveness</a:t>
            </a:r>
            <a:r>
              <a:rPr lang="en-US" sz="2000" b="1" dirty="0" smtClean="0">
                <a:latin typeface="Arial" panose="020B0604020202020204" pitchFamily="34" charset="0"/>
                <a:ea typeface="MS Mincho" panose="02020609040205080304" pitchFamily="49" charset="-128"/>
                <a:cs typeface="Arial" panose="020B0604020202020204" pitchFamily="34" charset="0"/>
              </a:rPr>
              <a:t> – </a:t>
            </a:r>
            <a:r>
              <a:rPr lang="en-US" sz="2000" dirty="0" smtClean="0">
                <a:latin typeface="Arial" panose="020B0604020202020204" pitchFamily="34" charset="0"/>
                <a:ea typeface="MS Mincho" panose="02020609040205080304" pitchFamily="49" charset="-128"/>
                <a:cs typeface="Arial" panose="020B0604020202020204" pitchFamily="34" charset="0"/>
              </a:rPr>
              <a:t>the most appropriate strategy and modality for achieving results</a:t>
            </a:r>
          </a:p>
          <a:p>
            <a:pPr marL="0" indent="0">
              <a:buFont typeface="Arial" panose="020B0604020202020204" pitchFamily="34" charset="0"/>
              <a:buNone/>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072724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0"/>
            <a:ext cx="12192000" cy="7700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smtClean="0">
                <a:solidFill>
                  <a:srgbClr val="0099FF"/>
                </a:solidFill>
                <a:latin typeface="Arial" panose="020B0604020202020204" pitchFamily="34" charset="0"/>
                <a:cs typeface="Arial" panose="020B0604020202020204" pitchFamily="34" charset="0"/>
              </a:rPr>
              <a:t>Missing Link: Moving From Activities to Results</a:t>
            </a:r>
          </a:p>
        </p:txBody>
      </p:sp>
      <p:sp>
        <p:nvSpPr>
          <p:cNvPr id="5" name="Rounded Rectangle 4"/>
          <p:cNvSpPr/>
          <p:nvPr/>
        </p:nvSpPr>
        <p:spPr>
          <a:xfrm>
            <a:off x="502276" y="3425780"/>
            <a:ext cx="3494469" cy="2524260"/>
          </a:xfrm>
          <a:prstGeom prst="roundRect">
            <a:avLst/>
          </a:prstGeom>
          <a:ln>
            <a:solidFill>
              <a:srgbClr val="0099FF"/>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2400" dirty="0">
                <a:latin typeface="Arial" panose="020B0604020202020204" pitchFamily="34" charset="0"/>
                <a:cs typeface="Arial" panose="020B0604020202020204" pitchFamily="34" charset="0"/>
              </a:rPr>
              <a:t>Key </a:t>
            </a:r>
            <a:r>
              <a:rPr lang="en-US" sz="2400" dirty="0" smtClean="0">
                <a:latin typeface="Arial" panose="020B0604020202020204" pitchFamily="34" charset="0"/>
                <a:cs typeface="Arial" panose="020B0604020202020204" pitchFamily="34" charset="0"/>
              </a:rPr>
              <a:t>deliverables linked </a:t>
            </a:r>
            <a:r>
              <a:rPr lang="en-US" sz="2400" dirty="0">
                <a:latin typeface="Arial" panose="020B0604020202020204" pitchFamily="34" charset="0"/>
                <a:cs typeface="Arial" panose="020B0604020202020204" pitchFamily="34" charset="0"/>
              </a:rPr>
              <a:t>to the </a:t>
            </a:r>
            <a:r>
              <a:rPr lang="en-US" sz="2400" dirty="0" smtClean="0">
                <a:latin typeface="Arial" panose="020B0604020202020204" pitchFamily="34" charset="0"/>
                <a:cs typeface="Arial" panose="020B0604020202020204" pitchFamily="34" charset="0"/>
              </a:rPr>
              <a:t> strategies:</a:t>
            </a:r>
          </a:p>
          <a:p>
            <a:pPr marL="914400" lvl="1" indent="-457200">
              <a:buFont typeface="Arial" panose="020B0604020202020204" pitchFamily="34" charset="0"/>
              <a:buChar char="•"/>
            </a:pPr>
            <a:r>
              <a:rPr lang="en-US" sz="2400" dirty="0" smtClean="0">
                <a:solidFill>
                  <a:srgbClr val="0099FF"/>
                </a:solidFill>
                <a:latin typeface="Arial" panose="020B0604020202020204" pitchFamily="34" charset="0"/>
                <a:cs typeface="Arial" panose="020B0604020202020204" pitchFamily="34" charset="0"/>
              </a:rPr>
              <a:t>Products</a:t>
            </a:r>
            <a:endParaRPr lang="en-US" sz="2400" dirty="0">
              <a:solidFill>
                <a:srgbClr val="0099FF"/>
              </a:solidFill>
              <a:latin typeface="Arial" panose="020B0604020202020204" pitchFamily="34" charset="0"/>
              <a:cs typeface="Arial" panose="020B0604020202020204" pitchFamily="34" charset="0"/>
            </a:endParaRPr>
          </a:p>
          <a:p>
            <a:pPr marL="914400" lvl="1" indent="-457200">
              <a:buFont typeface="Arial" panose="020B0604020202020204" pitchFamily="34" charset="0"/>
              <a:buChar char="•"/>
            </a:pPr>
            <a:r>
              <a:rPr lang="en-US" sz="2400" dirty="0">
                <a:solidFill>
                  <a:srgbClr val="0099FF"/>
                </a:solidFill>
                <a:latin typeface="Arial" panose="020B0604020202020204" pitchFamily="34" charset="0"/>
                <a:cs typeface="Arial" panose="020B0604020202020204" pitchFamily="34" charset="0"/>
              </a:rPr>
              <a:t>Services</a:t>
            </a:r>
          </a:p>
          <a:p>
            <a:pPr marL="914400" lvl="1" indent="-457200">
              <a:buFont typeface="Arial" panose="020B0604020202020204" pitchFamily="34" charset="0"/>
              <a:buChar char="•"/>
            </a:pPr>
            <a:r>
              <a:rPr lang="en-US" sz="2400" dirty="0">
                <a:solidFill>
                  <a:srgbClr val="0099FF"/>
                </a:solidFill>
                <a:latin typeface="Arial" panose="020B0604020202020204" pitchFamily="34" charset="0"/>
                <a:cs typeface="Arial" panose="020B0604020202020204" pitchFamily="34" charset="0"/>
              </a:rPr>
              <a:t>Capacities</a:t>
            </a:r>
          </a:p>
        </p:txBody>
      </p:sp>
      <p:sp>
        <p:nvSpPr>
          <p:cNvPr id="42" name="Rounded Rectangle 41"/>
          <p:cNvSpPr/>
          <p:nvPr/>
        </p:nvSpPr>
        <p:spPr>
          <a:xfrm>
            <a:off x="4360034" y="3425780"/>
            <a:ext cx="3301285" cy="2524260"/>
          </a:xfrm>
          <a:prstGeom prst="roundRect">
            <a:avLst/>
          </a:prstGeom>
          <a:ln>
            <a:solidFill>
              <a:srgbClr val="0099FF"/>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2400" dirty="0" smtClean="0">
                <a:latin typeface="Arial" panose="020B0604020202020204" pitchFamily="34" charset="0"/>
                <a:cs typeface="Arial" panose="020B0604020202020204" pitchFamily="34" charset="0"/>
              </a:rPr>
              <a:t>Scheduling</a:t>
            </a:r>
            <a:endParaRPr lang="en-US" sz="2400" dirty="0">
              <a:latin typeface="Arial" panose="020B0604020202020204" pitchFamily="34" charset="0"/>
              <a:cs typeface="Arial" panose="020B0604020202020204" pitchFamily="34" charset="0"/>
            </a:endParaRPr>
          </a:p>
        </p:txBody>
      </p:sp>
      <p:sp>
        <p:nvSpPr>
          <p:cNvPr id="43" name="Rounded Rectangle 42"/>
          <p:cNvSpPr/>
          <p:nvPr/>
        </p:nvSpPr>
        <p:spPr>
          <a:xfrm>
            <a:off x="8199549" y="3425780"/>
            <a:ext cx="3301285" cy="2524260"/>
          </a:xfrm>
          <a:prstGeom prst="roundRect">
            <a:avLst/>
          </a:prstGeom>
          <a:ln>
            <a:solidFill>
              <a:srgbClr val="0099FF"/>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2400" dirty="0" smtClean="0">
                <a:latin typeface="Arial" panose="020B0604020202020204" pitchFamily="34" charset="0"/>
                <a:cs typeface="Arial" panose="020B0604020202020204" pitchFamily="34" charset="0"/>
              </a:rPr>
              <a:t>Resourcing</a:t>
            </a:r>
            <a:endParaRPr lang="en-US" sz="2400" dirty="0">
              <a:latin typeface="Arial" panose="020B0604020202020204" pitchFamily="34" charset="0"/>
              <a:cs typeface="Arial" panose="020B0604020202020204" pitchFamily="34" charset="0"/>
            </a:endParaRPr>
          </a:p>
        </p:txBody>
      </p:sp>
      <p:pic>
        <p:nvPicPr>
          <p:cNvPr id="3074" name="Picture 2" descr="http://www.holyfamilymiddletown.com/images/icons/schedule-ic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0098" y="1804429"/>
            <a:ext cx="1321158" cy="132115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www.ftwo.com.au/images/deliverable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8973" y="1559314"/>
            <a:ext cx="1406832" cy="1566273"/>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http://www.vovia.com/assets/icon-money.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52078" y="1249250"/>
            <a:ext cx="1996225" cy="1996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463134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Resourcing</a:t>
            </a:r>
          </a:p>
        </p:txBody>
      </p:sp>
      <p:graphicFrame>
        <p:nvGraphicFramePr>
          <p:cNvPr id="4" name="Diagram 3"/>
          <p:cNvGraphicFramePr/>
          <p:nvPr>
            <p:extLst>
              <p:ext uri="{D42A27DB-BD31-4B8C-83A1-F6EECF244321}">
                <p14:modId xmlns:p14="http://schemas.microsoft.com/office/powerpoint/2010/main" val="779136080"/>
              </p:ext>
            </p:extLst>
          </p:nvPr>
        </p:nvGraphicFramePr>
        <p:xfrm>
          <a:off x="3812146" y="2624404"/>
          <a:ext cx="5018467" cy="38701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 Placeholder 7"/>
          <p:cNvSpPr txBox="1">
            <a:spLocks/>
          </p:cNvSpPr>
          <p:nvPr/>
        </p:nvSpPr>
        <p:spPr>
          <a:xfrm>
            <a:off x="433323" y="1105417"/>
            <a:ext cx="11402364" cy="1225660"/>
          </a:xfrm>
          <a:prstGeom prst="rect">
            <a:avLst/>
          </a:prstGeom>
        </p:spPr>
        <p:txBody>
          <a:bodyPr vert="horz"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dirty="0" smtClean="0">
                <a:latin typeface="Arial" panose="020B0604020202020204" pitchFamily="34" charset="0"/>
                <a:cs typeface="Arial" panose="020B0604020202020204" pitchFamily="34" charset="0"/>
              </a:rPr>
              <a:t>Determining what resources - people (staff + external), cash, and supplies - are needed</a:t>
            </a:r>
          </a:p>
          <a:p>
            <a:pPr algn="just"/>
            <a:r>
              <a:rPr lang="en-US" sz="2400" dirty="0" smtClean="0">
                <a:latin typeface="Arial" panose="020B0604020202020204" pitchFamily="34" charset="0"/>
                <a:cs typeface="Arial" panose="020B0604020202020204" pitchFamily="34" charset="0"/>
              </a:rPr>
              <a:t>When they will be needed to implement activities as outlined in workplans</a:t>
            </a:r>
            <a:endParaRPr lang="en-GB" dirty="0">
              <a:latin typeface="Arial" panose="020B0604020202020204" pitchFamily="34" charset="0"/>
              <a:cs typeface="Arial" panose="020B0604020202020204" pitchFamily="34" charset="0"/>
            </a:endParaRPr>
          </a:p>
        </p:txBody>
      </p:sp>
      <p:sp>
        <p:nvSpPr>
          <p:cNvPr id="6" name="Rectangle 5"/>
          <p:cNvSpPr/>
          <p:nvPr/>
        </p:nvSpPr>
        <p:spPr>
          <a:xfrm>
            <a:off x="726258" y="3939638"/>
            <a:ext cx="2757477" cy="1200329"/>
          </a:xfrm>
          <a:prstGeom prst="rect">
            <a:avLst/>
          </a:prstGeom>
        </p:spPr>
        <p:txBody>
          <a:bodyPr wrap="square">
            <a:spAutoFit/>
          </a:bodyPr>
          <a:lstStyle/>
          <a:p>
            <a:pPr algn="just"/>
            <a:r>
              <a:rPr lang="en-US" sz="2400" dirty="0">
                <a:latin typeface="Arial" panose="020B0604020202020204" pitchFamily="34" charset="0"/>
                <a:ea typeface="MS Mincho" panose="02020609040205080304" pitchFamily="49" charset="-128"/>
                <a:cs typeface="Arial" panose="020B0604020202020204" pitchFamily="34" charset="0"/>
              </a:rPr>
              <a:t>In UNICEF, there are three primary types of inputs:</a:t>
            </a:r>
          </a:p>
        </p:txBody>
      </p:sp>
      <p:sp>
        <p:nvSpPr>
          <p:cNvPr id="7" name="Rectangle 6"/>
          <p:cNvSpPr/>
          <p:nvPr/>
        </p:nvSpPr>
        <p:spPr>
          <a:xfrm>
            <a:off x="397847" y="2717989"/>
            <a:ext cx="11527990" cy="3875994"/>
          </a:xfrm>
          <a:prstGeom prst="rect">
            <a:avLst/>
          </a:prstGeom>
          <a:noFill/>
          <a:ln>
            <a:solidFill>
              <a:srgbClr val="00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019362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70021"/>
          </a:xfrm>
        </p:spPr>
        <p:txBody>
          <a:bodyPr>
            <a:normAutofit/>
          </a:bodyPr>
          <a:lstStyle/>
          <a:p>
            <a:r>
              <a:rPr lang="en-US" sz="3600" dirty="0">
                <a:solidFill>
                  <a:srgbClr val="0099FF"/>
                </a:solidFill>
                <a:latin typeface="Arial" panose="020B0604020202020204" pitchFamily="34" charset="0"/>
                <a:cs typeface="Arial" panose="020B0604020202020204" pitchFamily="34" charset="0"/>
              </a:rPr>
              <a:t>Work planning considerations</a:t>
            </a:r>
            <a:endParaRPr lang="en-US" sz="3600" dirty="0" smtClean="0">
              <a:solidFill>
                <a:srgbClr val="0099FF"/>
              </a:solidFill>
              <a:latin typeface="Arial" panose="020B0604020202020204" pitchFamily="34" charset="0"/>
              <a:cs typeface="Arial" panose="020B0604020202020204" pitchFamily="34" charset="0"/>
            </a:endParaRPr>
          </a:p>
        </p:txBody>
      </p:sp>
      <p:sp>
        <p:nvSpPr>
          <p:cNvPr id="8" name="Content Placeholder 4"/>
          <p:cNvSpPr txBox="1">
            <a:spLocks/>
          </p:cNvSpPr>
          <p:nvPr/>
        </p:nvSpPr>
        <p:spPr>
          <a:xfrm>
            <a:off x="2865120" y="6049982"/>
            <a:ext cx="9326880" cy="457200"/>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defPPr>
              <a:defRPr lang="en-US"/>
            </a:defPPr>
            <a:lvl1pPr>
              <a:defRPr>
                <a:latin typeface="Arial" panose="020B0604020202020204" pitchFamily="34" charset="0"/>
                <a:ea typeface="ＭＳ Ｐゴシック" charset="0"/>
                <a:cs typeface="Arial" panose="020B0604020202020204" pitchFamily="34" charset="0"/>
              </a:defRPr>
            </a:lvl1pPr>
          </a:lstStyle>
          <a:p>
            <a:r>
              <a:rPr lang="en-US" dirty="0"/>
              <a:t>Quality assurance</a:t>
            </a:r>
            <a:endParaRPr lang="en-GB" dirty="0"/>
          </a:p>
        </p:txBody>
      </p:sp>
      <p:sp>
        <p:nvSpPr>
          <p:cNvPr id="3" name="Rectangle 2"/>
          <p:cNvSpPr/>
          <p:nvPr/>
        </p:nvSpPr>
        <p:spPr>
          <a:xfrm>
            <a:off x="2865120" y="930762"/>
            <a:ext cx="9326880" cy="457200"/>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pPr eaLnBrk="0" hangingPunct="0">
              <a:spcBef>
                <a:spcPts val="600"/>
              </a:spcBef>
              <a:spcAft>
                <a:spcPts val="600"/>
              </a:spcAft>
              <a:buClr>
                <a:srgbClr val="000000"/>
              </a:buClr>
              <a:defRPr/>
            </a:pPr>
            <a:r>
              <a:rPr lang="en-GB" dirty="0">
                <a:latin typeface="Arial" panose="020B0604020202020204" pitchFamily="34" charset="0"/>
                <a:ea typeface="ＭＳ Ｐゴシック" charset="0"/>
                <a:cs typeface="Arial" panose="020B0604020202020204" pitchFamily="34" charset="0"/>
              </a:rPr>
              <a:t>Involvement of counterparts and development partners</a:t>
            </a:r>
          </a:p>
        </p:txBody>
      </p:sp>
      <p:sp>
        <p:nvSpPr>
          <p:cNvPr id="5" name="Rectangle 4"/>
          <p:cNvSpPr/>
          <p:nvPr/>
        </p:nvSpPr>
        <p:spPr>
          <a:xfrm>
            <a:off x="2865120" y="1499564"/>
            <a:ext cx="9326880" cy="457200"/>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r>
              <a:rPr lang="en-GB" dirty="0">
                <a:latin typeface="Arial" panose="020B0604020202020204" pitchFamily="34" charset="0"/>
                <a:ea typeface="ＭＳ Ｐゴシック" charset="0"/>
                <a:cs typeface="Arial" panose="020B0604020202020204" pitchFamily="34" charset="0"/>
              </a:rPr>
              <a:t>Review outputs and strategies as outlined in strategic plans (CPD)</a:t>
            </a:r>
            <a:endParaRPr lang="en-US" dirty="0"/>
          </a:p>
        </p:txBody>
      </p:sp>
      <p:sp>
        <p:nvSpPr>
          <p:cNvPr id="6" name="Rectangle 5"/>
          <p:cNvSpPr/>
          <p:nvPr/>
        </p:nvSpPr>
        <p:spPr>
          <a:xfrm>
            <a:off x="2865120" y="2068366"/>
            <a:ext cx="9326880" cy="457200"/>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r>
              <a:rPr lang="en-GB" dirty="0">
                <a:latin typeface="Arial" panose="020B0604020202020204" pitchFamily="34" charset="0"/>
                <a:ea typeface="ＭＳ Ｐゴシック" charset="0"/>
                <a:cs typeface="Arial" panose="020B0604020202020204" pitchFamily="34" charset="0"/>
              </a:rPr>
              <a:t>Determine activities for corresponding strategies identified</a:t>
            </a:r>
            <a:endParaRPr lang="en-US" dirty="0"/>
          </a:p>
        </p:txBody>
      </p:sp>
      <p:sp>
        <p:nvSpPr>
          <p:cNvPr id="7" name="Rectangle 6"/>
          <p:cNvSpPr/>
          <p:nvPr/>
        </p:nvSpPr>
        <p:spPr>
          <a:xfrm>
            <a:off x="2865120" y="2637168"/>
            <a:ext cx="9326880" cy="457200"/>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r>
              <a:rPr lang="en-GB" dirty="0">
                <a:latin typeface="Arial" panose="020B0604020202020204" pitchFamily="34" charset="0"/>
                <a:ea typeface="ＭＳ Ｐゴシック" charset="0"/>
                <a:cs typeface="Arial" panose="020B0604020202020204" pitchFamily="34" charset="0"/>
              </a:rPr>
              <a:t>Input requirements to carry out activities</a:t>
            </a:r>
            <a:endParaRPr lang="en-US" dirty="0"/>
          </a:p>
        </p:txBody>
      </p:sp>
      <p:sp>
        <p:nvSpPr>
          <p:cNvPr id="9" name="Rectangle 8"/>
          <p:cNvSpPr/>
          <p:nvPr/>
        </p:nvSpPr>
        <p:spPr>
          <a:xfrm>
            <a:off x="2865120" y="3205970"/>
            <a:ext cx="9326880" cy="457200"/>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r>
              <a:rPr lang="en-GB" dirty="0">
                <a:latin typeface="Arial" panose="020B0604020202020204" pitchFamily="34" charset="0"/>
                <a:ea typeface="ＭＳ Ｐゴシック" charset="0"/>
                <a:cs typeface="Arial" panose="020B0604020202020204" pitchFamily="34" charset="0"/>
              </a:rPr>
              <a:t>Time required to carry out activities</a:t>
            </a:r>
            <a:endParaRPr lang="en-US" dirty="0"/>
          </a:p>
        </p:txBody>
      </p:sp>
      <p:sp>
        <p:nvSpPr>
          <p:cNvPr id="10" name="Rectangle 9"/>
          <p:cNvSpPr/>
          <p:nvPr/>
        </p:nvSpPr>
        <p:spPr>
          <a:xfrm>
            <a:off x="2865120" y="3774772"/>
            <a:ext cx="9326880" cy="457200"/>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r>
              <a:rPr lang="en-GB" dirty="0">
                <a:latin typeface="Arial" panose="020B0604020202020204" pitchFamily="34" charset="0"/>
                <a:ea typeface="ＭＳ Ｐゴシック" charset="0"/>
                <a:cs typeface="Arial" panose="020B0604020202020204" pitchFamily="34" charset="0"/>
              </a:rPr>
              <a:t>Implementation modalities</a:t>
            </a:r>
            <a:endParaRPr lang="en-US" dirty="0"/>
          </a:p>
        </p:txBody>
      </p:sp>
      <p:sp>
        <p:nvSpPr>
          <p:cNvPr id="11" name="Rectangle 10"/>
          <p:cNvSpPr/>
          <p:nvPr/>
        </p:nvSpPr>
        <p:spPr>
          <a:xfrm>
            <a:off x="2865120" y="4343574"/>
            <a:ext cx="9326880" cy="457200"/>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pPr eaLnBrk="0" hangingPunct="0">
              <a:spcBef>
                <a:spcPts val="600"/>
              </a:spcBef>
              <a:spcAft>
                <a:spcPts val="600"/>
              </a:spcAft>
              <a:buClr>
                <a:srgbClr val="000000"/>
              </a:buClr>
              <a:defRPr/>
            </a:pPr>
            <a:r>
              <a:rPr lang="en-GB" dirty="0">
                <a:latin typeface="Arial" panose="020B0604020202020204" pitchFamily="34" charset="0"/>
                <a:ea typeface="ＭＳ Ｐゴシック" charset="0"/>
                <a:cs typeface="Arial" panose="020B0604020202020204" pitchFamily="34" charset="0"/>
              </a:rPr>
              <a:t>Partners and responsible persons</a:t>
            </a:r>
          </a:p>
        </p:txBody>
      </p:sp>
      <p:sp>
        <p:nvSpPr>
          <p:cNvPr id="12" name="Rectangle 11"/>
          <p:cNvSpPr/>
          <p:nvPr/>
        </p:nvSpPr>
        <p:spPr>
          <a:xfrm>
            <a:off x="2865120" y="4912376"/>
            <a:ext cx="9326880" cy="457200"/>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r>
              <a:rPr lang="en-GB" dirty="0">
                <a:latin typeface="Arial" panose="020B0604020202020204" pitchFamily="34" charset="0"/>
                <a:ea typeface="ＭＳ Ｐゴシック" charset="0"/>
                <a:cs typeface="Arial" panose="020B0604020202020204" pitchFamily="34" charset="0"/>
              </a:rPr>
              <a:t>Funding sources and gaps</a:t>
            </a:r>
            <a:endParaRPr lang="en-US" dirty="0"/>
          </a:p>
        </p:txBody>
      </p:sp>
      <p:sp>
        <p:nvSpPr>
          <p:cNvPr id="13" name="Rectangle 12"/>
          <p:cNvSpPr/>
          <p:nvPr/>
        </p:nvSpPr>
        <p:spPr>
          <a:xfrm>
            <a:off x="2865120" y="5481178"/>
            <a:ext cx="9326880" cy="457200"/>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lIns="0" rIns="0" anchor="ctr">
            <a:noAutofit/>
          </a:bodyPr>
          <a:lstStyle/>
          <a:p>
            <a:r>
              <a:rPr lang="en-US" dirty="0">
                <a:latin typeface="Arial" panose="020B0604020202020204" pitchFamily="34" charset="0"/>
                <a:ea typeface="ＭＳ Ｐゴシック" charset="0"/>
                <a:cs typeface="Arial" panose="020B0604020202020204" pitchFamily="34" charset="0"/>
              </a:rPr>
              <a:t>Presentation in VISION</a:t>
            </a:r>
            <a:endParaRPr lang="en-US" dirty="0"/>
          </a:p>
        </p:txBody>
      </p:sp>
      <p:pic>
        <p:nvPicPr>
          <p:cNvPr id="1028" name="Picture 4" descr="https://encrypted-tbn0.gstatic.com/images?q=tbn:ANd9GcTzzhfQLJ4v1yhIiJWbO9_afB0EIz06V_BtVezUW0dkEmgWJDggf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79322" y="948337"/>
            <a:ext cx="422049" cy="42204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https://encrypted-tbn0.gstatic.com/images?q=tbn:ANd9GcTzzhfQLJ4v1yhIiJWbO9_afB0EIz06V_BtVezUW0dkEmgWJDggf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79322" y="6049982"/>
            <a:ext cx="422049" cy="42204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https://encrypted-tbn0.gstatic.com/images?q=tbn:ANd9GcTzzhfQLJ4v1yhIiJWbO9_afB0EIz06V_BtVezUW0dkEmgWJDggf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79322" y="5483129"/>
            <a:ext cx="422049" cy="422049"/>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descr="https://encrypted-tbn0.gstatic.com/images?q=tbn:ANd9GcTzzhfQLJ4v1yhIiJWbO9_afB0EIz06V_BtVezUW0dkEmgWJDggf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79322" y="4349431"/>
            <a:ext cx="422049" cy="422049"/>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descr="https://encrypted-tbn0.gstatic.com/images?q=tbn:ANd9GcTzzhfQLJ4v1yhIiJWbO9_afB0EIz06V_BtVezUW0dkEmgWJDggf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79322" y="4916280"/>
            <a:ext cx="422049" cy="42204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 descr="https://encrypted-tbn0.gstatic.com/images?q=tbn:ANd9GcTzzhfQLJ4v1yhIiJWbO9_afB0EIz06V_BtVezUW0dkEmgWJDggf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79322" y="3782582"/>
            <a:ext cx="422049" cy="42204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https://encrypted-tbn0.gstatic.com/images?q=tbn:ANd9GcTzzhfQLJ4v1yhIiJWbO9_afB0EIz06V_BtVezUW0dkEmgWJDggf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79322" y="2648884"/>
            <a:ext cx="422049" cy="42204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descr="https://encrypted-tbn0.gstatic.com/images?q=tbn:ANd9GcTzzhfQLJ4v1yhIiJWbO9_afB0EIz06V_BtVezUW0dkEmgWJDggf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79322" y="3215733"/>
            <a:ext cx="422049" cy="422049"/>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descr="https://encrypted-tbn0.gstatic.com/images?q=tbn:ANd9GcTzzhfQLJ4v1yhIiJWbO9_afB0EIz06V_BtVezUW0dkEmgWJDggf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79322" y="1515186"/>
            <a:ext cx="422049" cy="422049"/>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 descr="https://encrypted-tbn0.gstatic.com/images?q=tbn:ANd9GcTzzhfQLJ4v1yhIiJWbO9_afB0EIz06V_BtVezUW0dkEmgWJDggf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79322" y="2082035"/>
            <a:ext cx="422049" cy="4220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043227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277470" y="3227295"/>
            <a:ext cx="10914529" cy="770021"/>
          </a:xfrm>
        </p:spPr>
        <p:txBody>
          <a:bodyPr>
            <a:normAutofit/>
          </a:bodyPr>
          <a:lstStyle/>
          <a:p>
            <a:pPr algn="ctr"/>
            <a:r>
              <a:rPr lang="en-US" sz="3600" dirty="0" smtClean="0">
                <a:solidFill>
                  <a:srgbClr val="0099FF"/>
                </a:solidFill>
                <a:latin typeface="Arial" panose="020B0604020202020204" pitchFamily="34" charset="0"/>
                <a:cs typeface="Arial" panose="020B0604020202020204" pitchFamily="34" charset="0"/>
              </a:rPr>
              <a:t>Any Questions?</a:t>
            </a:r>
            <a:endParaRPr lang="en-US" sz="3600" dirty="0">
              <a:solidFill>
                <a:srgbClr val="0099FF"/>
              </a:solidFill>
              <a:latin typeface="Arial" panose="020B0604020202020204" pitchFamily="34" charset="0"/>
              <a:cs typeface="Arial" panose="020B0604020202020204" pitchFamily="34" charset="0"/>
            </a:endParaRPr>
          </a:p>
        </p:txBody>
      </p:sp>
      <p:pic>
        <p:nvPicPr>
          <p:cNvPr id="1026" name="Picture 2" descr="https://cdn2.iconfinder.com/data/icons/freecns-cumulus/16/519660-164_QuestionMark-512.png"/>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79762" y="2773404"/>
            <a:ext cx="1677801" cy="1677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911589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60884" y="2502568"/>
            <a:ext cx="8855242" cy="2839453"/>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860884" y="2502567"/>
            <a:ext cx="8855242" cy="2839453"/>
          </a:xfrm>
        </p:spPr>
        <p:txBody>
          <a:bodyPr vert="horz" lIns="91440" tIns="45720" rIns="91440" bIns="45720" rtlCol="0" anchor="ctr">
            <a:noAutofit/>
          </a:bodyPr>
          <a:lstStyle/>
          <a:p>
            <a:pPr algn="ctr"/>
            <a:r>
              <a:rPr lang="en-US" sz="4000" dirty="0" smtClean="0">
                <a:solidFill>
                  <a:srgbClr val="0099FF"/>
                </a:solidFill>
                <a:latin typeface="Arial" panose="020B0604020202020204" pitchFamily="34" charset="0"/>
                <a:cs typeface="Arial" panose="020B0604020202020204" pitchFamily="34" charset="0"/>
              </a:rPr>
              <a:t>MONITORING AND EVALUATION</a:t>
            </a:r>
            <a:endParaRPr lang="en-US" sz="2800" dirty="0">
              <a:solidFill>
                <a:schemeClr val="bg1">
                  <a:lumMod val="50000"/>
                </a:schemeClr>
              </a:solidFill>
              <a:latin typeface="Arial" panose="020B0604020202020204" pitchFamily="34" charset="0"/>
              <a:cs typeface="Arial" panose="020B0604020202020204" pitchFamily="34" charset="0"/>
            </a:endParaRPr>
          </a:p>
        </p:txBody>
      </p:sp>
      <p:sp>
        <p:nvSpPr>
          <p:cNvPr id="6" name="Rectangle 5"/>
          <p:cNvSpPr/>
          <p:nvPr/>
        </p:nvSpPr>
        <p:spPr>
          <a:xfrm>
            <a:off x="1860884" y="1612232"/>
            <a:ext cx="8855242" cy="890336"/>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bg1">
                    <a:lumMod val="65000"/>
                  </a:schemeClr>
                </a:solidFill>
                <a:latin typeface="Arial" panose="020B0604020202020204" pitchFamily="34" charset="0"/>
                <a:cs typeface="Arial" panose="020B0604020202020204" pitchFamily="34" charset="0"/>
              </a:rPr>
              <a:t>SESSION 10</a:t>
            </a:r>
            <a:endParaRPr lang="en-US" sz="2800" dirty="0">
              <a:solidFill>
                <a:schemeClr val="bg1">
                  <a:lumMod val="6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92658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Session Objectives</a:t>
            </a:r>
          </a:p>
        </p:txBody>
      </p:sp>
      <p:sp>
        <p:nvSpPr>
          <p:cNvPr id="3" name="Content Placeholder 2"/>
          <p:cNvSpPr>
            <a:spLocks noGrp="1"/>
          </p:cNvSpPr>
          <p:nvPr>
            <p:ph idx="1"/>
          </p:nvPr>
        </p:nvSpPr>
        <p:spPr>
          <a:xfrm>
            <a:off x="685800" y="1600200"/>
            <a:ext cx="10352314" cy="4495800"/>
          </a:xfrm>
        </p:spPr>
        <p:txBody>
          <a:bodyPr>
            <a:normAutofit/>
          </a:bodyPr>
          <a:lstStyle/>
          <a:p>
            <a:pPr>
              <a:buFont typeface="Arial" panose="020B0604020202020204" pitchFamily="34" charset="0"/>
              <a:buChar char="•"/>
            </a:pPr>
            <a:r>
              <a:rPr lang="en-US" sz="2400" dirty="0">
                <a:latin typeface="Arial" panose="020B0604020202020204" pitchFamily="34" charset="0"/>
                <a:cs typeface="Arial" panose="020B0604020202020204" pitchFamily="34" charset="0"/>
              </a:rPr>
              <a:t>Understand the importance of planning for monitoring and evaluation</a:t>
            </a:r>
          </a:p>
          <a:p>
            <a:pPr>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lvl="0">
              <a:buFont typeface="Arial" panose="020B0604020202020204" pitchFamily="34" charset="0"/>
              <a:buChar char="•"/>
            </a:pPr>
            <a:r>
              <a:rPr lang="en-US" sz="2400" dirty="0">
                <a:latin typeface="Arial" panose="020B0604020202020204" pitchFamily="34" charset="0"/>
                <a:cs typeface="Arial" panose="020B0604020202020204" pitchFamily="34" charset="0"/>
              </a:rPr>
              <a:t>To explore ways of improving monitoring practice</a:t>
            </a:r>
          </a:p>
          <a:p>
            <a:pPr>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400" dirty="0">
                <a:latin typeface="Arial" panose="020B0604020202020204" pitchFamily="34" charset="0"/>
                <a:cs typeface="Arial" panose="020B0604020202020204" pitchFamily="34" charset="0"/>
              </a:rPr>
              <a:t>Develop understanding of critical complementarities between monitoring and evaluation</a:t>
            </a:r>
          </a:p>
          <a:p>
            <a:pPr lvl="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lvl="0">
              <a:buFont typeface="Arial" panose="020B0604020202020204" pitchFamily="34" charset="0"/>
              <a:buChar char="•"/>
            </a:pPr>
            <a:r>
              <a:rPr lang="en-US" sz="2400" dirty="0">
                <a:latin typeface="Arial" panose="020B0604020202020204" pitchFamily="34" charset="0"/>
                <a:cs typeface="Arial" panose="020B0604020202020204" pitchFamily="34" charset="0"/>
              </a:rPr>
              <a:t>Understand how evaluation supports results-based management</a:t>
            </a:r>
          </a:p>
          <a:p>
            <a:pPr>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9979632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a:solidFill>
                  <a:srgbClr val="0099FF"/>
                </a:solidFill>
                <a:latin typeface="Arial" panose="020B0604020202020204" pitchFamily="34" charset="0"/>
                <a:cs typeface="Arial" panose="020B0604020202020204" pitchFamily="34" charset="0"/>
              </a:rPr>
              <a:t>I</a:t>
            </a:r>
            <a:r>
              <a:rPr lang="en-US" sz="3600" dirty="0" smtClean="0">
                <a:solidFill>
                  <a:srgbClr val="0099FF"/>
                </a:solidFill>
                <a:latin typeface="Arial" panose="020B0604020202020204" pitchFamily="34" charset="0"/>
                <a:cs typeface="Arial" panose="020B0604020202020204" pitchFamily="34" charset="0"/>
              </a:rPr>
              <a:t>ntroduction</a:t>
            </a:r>
          </a:p>
        </p:txBody>
      </p:sp>
      <p:grpSp>
        <p:nvGrpSpPr>
          <p:cNvPr id="2" name="Group 1"/>
          <p:cNvGrpSpPr/>
          <p:nvPr/>
        </p:nvGrpSpPr>
        <p:grpSpPr>
          <a:xfrm>
            <a:off x="638183" y="880358"/>
            <a:ext cx="11184991" cy="914400"/>
            <a:chOff x="638183" y="1134358"/>
            <a:chExt cx="11184991" cy="914400"/>
          </a:xfrm>
        </p:grpSpPr>
        <p:sp>
          <p:nvSpPr>
            <p:cNvPr id="3" name="Rectangle 2"/>
            <p:cNvSpPr/>
            <p:nvPr/>
          </p:nvSpPr>
          <p:spPr>
            <a:xfrm>
              <a:off x="1673334" y="1134358"/>
              <a:ext cx="10149840" cy="914400"/>
            </a:xfrm>
            <a:prstGeom prst="rect">
              <a:avLst/>
            </a:prstGeom>
            <a:solidFill>
              <a:schemeClr val="bg1">
                <a:lumMod val="95000"/>
              </a:schemeClr>
            </a:solidFill>
          </p:spPr>
          <p:txBody>
            <a:bodyPr wrap="square" anchor="ctr">
              <a:noAutofit/>
            </a:bodyPr>
            <a:lstStyle/>
            <a:p>
              <a:r>
                <a:rPr lang="en-US" dirty="0">
                  <a:latin typeface="Arial" panose="020B0604020202020204" pitchFamily="34" charset="0"/>
                  <a:cs typeface="Arial" panose="020B0604020202020204" pitchFamily="34" charset="0"/>
                </a:rPr>
                <a:t>Monitoring begins from a well thought-out Measurement Plan that is linked to the Results Framework</a:t>
              </a:r>
            </a:p>
          </p:txBody>
        </p:sp>
        <p:pic>
          <p:nvPicPr>
            <p:cNvPr id="2050" name="Picture 2" descr="http://image005.flaticon.com/1/png/128/40/4047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183" y="1188146"/>
              <a:ext cx="762890" cy="76289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 name="Group 5"/>
          <p:cNvGrpSpPr/>
          <p:nvPr/>
        </p:nvGrpSpPr>
        <p:grpSpPr>
          <a:xfrm>
            <a:off x="345320" y="3143642"/>
            <a:ext cx="11477853" cy="1181581"/>
            <a:chOff x="345320" y="3207143"/>
            <a:chExt cx="11477853" cy="1181581"/>
          </a:xfrm>
        </p:grpSpPr>
        <p:sp>
          <p:nvSpPr>
            <p:cNvPr id="17" name="Rectangle 16"/>
            <p:cNvSpPr/>
            <p:nvPr/>
          </p:nvSpPr>
          <p:spPr>
            <a:xfrm>
              <a:off x="1673333" y="3340734"/>
              <a:ext cx="10149840" cy="914400"/>
            </a:xfrm>
            <a:prstGeom prst="rect">
              <a:avLst/>
            </a:prstGeom>
            <a:solidFill>
              <a:schemeClr val="bg1">
                <a:lumMod val="95000"/>
              </a:schemeClr>
            </a:solidFill>
          </p:spPr>
          <p:txBody>
            <a:bodyPr wrap="square" anchor="ctr">
              <a:noAutofit/>
            </a:bodyPr>
            <a:lstStyle/>
            <a:p>
              <a:r>
                <a:rPr lang="en-US" dirty="0">
                  <a:latin typeface="Arial" panose="020B0604020202020204" pitchFamily="34" charset="0"/>
                  <a:cs typeface="Arial" panose="020B0604020202020204" pitchFamily="34" charset="0"/>
                </a:rPr>
                <a:t>Monitoring requires adequate attention to data collection methods, tools and protocols. The choice of these depends on the results being monitored, contextual, efficiency and other considerations.</a:t>
              </a:r>
            </a:p>
          </p:txBody>
        </p:sp>
        <p:pic>
          <p:nvPicPr>
            <p:cNvPr id="2052" name="Picture 4" descr="https://encrypted-tbn0.gstatic.com/images?q=tbn:ANd9GcTW4Ds29AkafBTDNG6wj3sGMWcgmyiRoOspgoAaoflakdVgV-GeQ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320" y="3207143"/>
              <a:ext cx="1181581" cy="118158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 name="Group 4"/>
          <p:cNvGrpSpPr/>
          <p:nvPr/>
        </p:nvGrpSpPr>
        <p:grpSpPr>
          <a:xfrm>
            <a:off x="638183" y="2052341"/>
            <a:ext cx="11184991" cy="914400"/>
            <a:chOff x="638183" y="2237546"/>
            <a:chExt cx="11184991" cy="914400"/>
          </a:xfrm>
        </p:grpSpPr>
        <p:sp>
          <p:nvSpPr>
            <p:cNvPr id="4" name="Rectangle 3"/>
            <p:cNvSpPr/>
            <p:nvPr/>
          </p:nvSpPr>
          <p:spPr>
            <a:xfrm>
              <a:off x="1673334" y="2237546"/>
              <a:ext cx="10149840" cy="914400"/>
            </a:xfrm>
            <a:prstGeom prst="rect">
              <a:avLst/>
            </a:prstGeom>
            <a:solidFill>
              <a:schemeClr val="bg1">
                <a:lumMod val="95000"/>
              </a:schemeClr>
            </a:solidFill>
          </p:spPr>
          <p:txBody>
            <a:bodyPr wrap="square" anchor="ctr">
              <a:noAutofit/>
            </a:bodyPr>
            <a:lstStyle/>
            <a:p>
              <a:r>
                <a:rPr lang="en-US" dirty="0">
                  <a:latin typeface="Arial" panose="020B0604020202020204" pitchFamily="34" charset="0"/>
                  <a:cs typeface="Arial" panose="020B0604020202020204" pitchFamily="34" charset="0"/>
                </a:rPr>
                <a:t>Planning for monitoring is critical to guide the preparation of data collection for overall programme management.</a:t>
              </a:r>
            </a:p>
          </p:txBody>
        </p:sp>
        <p:pic>
          <p:nvPicPr>
            <p:cNvPr id="2054" name="Picture 6" descr="http://cdn.flaticon.com/png/256/31970.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8183" y="2321196"/>
              <a:ext cx="747100" cy="7471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 name="Group 6"/>
          <p:cNvGrpSpPr/>
          <p:nvPr/>
        </p:nvGrpSpPr>
        <p:grpSpPr>
          <a:xfrm>
            <a:off x="515248" y="4488677"/>
            <a:ext cx="11307925" cy="914400"/>
            <a:chOff x="515248" y="4443921"/>
            <a:chExt cx="11307925" cy="914400"/>
          </a:xfrm>
        </p:grpSpPr>
        <p:sp>
          <p:nvSpPr>
            <p:cNvPr id="18" name="Rectangle 17"/>
            <p:cNvSpPr/>
            <p:nvPr/>
          </p:nvSpPr>
          <p:spPr>
            <a:xfrm>
              <a:off x="1673333" y="4443921"/>
              <a:ext cx="10149840" cy="914400"/>
            </a:xfrm>
            <a:prstGeom prst="rect">
              <a:avLst/>
            </a:prstGeom>
            <a:solidFill>
              <a:schemeClr val="bg1">
                <a:lumMod val="95000"/>
              </a:schemeClr>
            </a:solidFill>
          </p:spPr>
          <p:txBody>
            <a:bodyPr wrap="square" anchor="ctr">
              <a:noAutofit/>
            </a:bodyPr>
            <a:lstStyle/>
            <a:p>
              <a:r>
                <a:rPr lang="en-US" dirty="0">
                  <a:latin typeface="Arial" panose="020B0604020202020204" pitchFamily="34" charset="0"/>
                  <a:cs typeface="Arial" panose="020B0604020202020204" pitchFamily="34" charset="0"/>
                </a:rPr>
                <a:t>It is important to anticipate how monitoring data will be used as it can be costly in both money and time. Collecting information that will not be used is inefficient.</a:t>
              </a:r>
            </a:p>
          </p:txBody>
        </p:sp>
        <p:pic>
          <p:nvPicPr>
            <p:cNvPr id="2056" name="Picture 8" descr="http://www.ibm.com/cloud-computing/us/en/infographic/lib/img/predictive-icon.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5248" y="4516277"/>
              <a:ext cx="885825" cy="73342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Group 8"/>
          <p:cNvGrpSpPr/>
          <p:nvPr/>
        </p:nvGrpSpPr>
        <p:grpSpPr>
          <a:xfrm>
            <a:off x="670594" y="5674108"/>
            <a:ext cx="11152579" cy="914400"/>
            <a:chOff x="670594" y="5547108"/>
            <a:chExt cx="11152579" cy="914400"/>
          </a:xfrm>
        </p:grpSpPr>
        <p:sp>
          <p:nvSpPr>
            <p:cNvPr id="19" name="Rectangle 18"/>
            <p:cNvSpPr/>
            <p:nvPr/>
          </p:nvSpPr>
          <p:spPr>
            <a:xfrm>
              <a:off x="1673333" y="5547108"/>
              <a:ext cx="10149840" cy="914400"/>
            </a:xfrm>
            <a:prstGeom prst="rect">
              <a:avLst/>
            </a:prstGeom>
            <a:solidFill>
              <a:schemeClr val="bg1">
                <a:lumMod val="95000"/>
              </a:schemeClr>
            </a:solidFill>
          </p:spPr>
          <p:txBody>
            <a:bodyPr wrap="square" anchor="ctr">
              <a:noAutofit/>
            </a:bodyPr>
            <a:lstStyle/>
            <a:p>
              <a:r>
                <a:rPr lang="en-US" dirty="0">
                  <a:latin typeface="Arial" panose="020B0604020202020204" pitchFamily="34" charset="0"/>
                  <a:cs typeface="Arial" panose="020B0604020202020204" pitchFamily="34" charset="0"/>
                </a:rPr>
                <a:t>Quality reporting is required to demonstrate UNICEF’s contribution to results</a:t>
              </a:r>
              <a:endParaRPr lang="en-US" dirty="0"/>
            </a:p>
          </p:txBody>
        </p:sp>
        <p:pic>
          <p:nvPicPr>
            <p:cNvPr id="2060" name="Picture 12" descr="http://i2.wp.com/connectedresearchers.com/wp-content/uploads/2014/11/icon_43189.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0594" y="5547108"/>
              <a:ext cx="856307" cy="85630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73701961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7968819" y="1613180"/>
            <a:ext cx="3845141" cy="3795057"/>
          </a:xfrm>
        </p:spPr>
        <p:txBody>
          <a:bodyPr>
            <a:normAutofit fontScale="85000" lnSpcReduction="20000"/>
          </a:bodyPr>
          <a:lstStyle/>
          <a:p>
            <a:pPr>
              <a:lnSpc>
                <a:spcPct val="120000"/>
              </a:lnSpc>
            </a:pPr>
            <a:r>
              <a:rPr lang="en-US" dirty="0" smtClean="0">
                <a:latin typeface="Arial" panose="020B0604020202020204" pitchFamily="34" charset="0"/>
                <a:cs typeface="Arial" panose="020B0604020202020204" pitchFamily="34" charset="0"/>
              </a:rPr>
              <a:t>Programme monitoring </a:t>
            </a:r>
          </a:p>
          <a:p>
            <a:pPr lvl="1">
              <a:lnSpc>
                <a:spcPct val="120000"/>
              </a:lnSpc>
            </a:pPr>
            <a:r>
              <a:rPr lang="en-US" dirty="0" smtClean="0">
                <a:latin typeface="Arial" panose="020B0604020202020204" pitchFamily="34" charset="0"/>
                <a:cs typeface="Arial" panose="020B0604020202020204" pitchFamily="34" charset="0"/>
              </a:rPr>
              <a:t>is about good programming</a:t>
            </a:r>
          </a:p>
          <a:p>
            <a:pPr lvl="1">
              <a:lnSpc>
                <a:spcPct val="120000"/>
              </a:lnSpc>
            </a:pPr>
            <a:r>
              <a:rPr lang="en-US" dirty="0" smtClean="0">
                <a:latin typeface="Arial" panose="020B0604020202020204" pitchFamily="34" charset="0"/>
                <a:cs typeface="Arial" panose="020B0604020202020204" pitchFamily="34" charset="0"/>
              </a:rPr>
              <a:t>operates </a:t>
            </a:r>
            <a:r>
              <a:rPr lang="en-US" dirty="0">
                <a:latin typeface="Arial" panose="020B0604020202020204" pitchFamily="34" charset="0"/>
                <a:cs typeface="Arial" panose="020B0604020202020204" pitchFamily="34" charset="0"/>
              </a:rPr>
              <a:t>within an institutional and accountability framework’ </a:t>
            </a:r>
            <a:r>
              <a:rPr lang="en-US" dirty="0" smtClean="0">
                <a:latin typeface="Arial" panose="020B0604020202020204" pitchFamily="34" charset="0"/>
                <a:cs typeface="Arial" panose="020B0604020202020204" pitchFamily="34" charset="0"/>
              </a:rPr>
              <a:t>voices not routinely captured</a:t>
            </a:r>
          </a:p>
          <a:p>
            <a:pPr lvl="1">
              <a:lnSpc>
                <a:spcPct val="120000"/>
              </a:lnSpc>
            </a:pPr>
            <a:r>
              <a:rPr lang="en-US" dirty="0" smtClean="0">
                <a:latin typeface="Arial" panose="020B0604020202020204" pitchFamily="34" charset="0"/>
                <a:cs typeface="Arial" panose="020B0604020202020204" pitchFamily="34" charset="0"/>
              </a:rPr>
              <a:t>Technology offers opportunity for improving programme monitoring </a:t>
            </a:r>
            <a:endParaRPr lang="en-US" dirty="0">
              <a:latin typeface="Arial" panose="020B0604020202020204" pitchFamily="34" charset="0"/>
              <a:cs typeface="Arial" panose="020B0604020202020204" pitchFamily="34" charset="0"/>
            </a:endParaRPr>
          </a:p>
        </p:txBody>
      </p:sp>
      <p:sp>
        <p:nvSpPr>
          <p:cNvPr id="8" name="Freeform 7"/>
          <p:cNvSpPr/>
          <p:nvPr/>
        </p:nvSpPr>
        <p:spPr>
          <a:xfrm>
            <a:off x="2591974" y="2609714"/>
            <a:ext cx="3076177" cy="3076177"/>
          </a:xfrm>
          <a:custGeom>
            <a:avLst/>
            <a:gdLst>
              <a:gd name="connsiteX0" fmla="*/ 0 w 3076177"/>
              <a:gd name="connsiteY0" fmla="*/ 1538089 h 3076177"/>
              <a:gd name="connsiteX1" fmla="*/ 1538089 w 3076177"/>
              <a:gd name="connsiteY1" fmla="*/ 0 h 3076177"/>
              <a:gd name="connsiteX2" fmla="*/ 3076178 w 3076177"/>
              <a:gd name="connsiteY2" fmla="*/ 1538089 h 3076177"/>
              <a:gd name="connsiteX3" fmla="*/ 1538089 w 3076177"/>
              <a:gd name="connsiteY3" fmla="*/ 3076178 h 3076177"/>
              <a:gd name="connsiteX4" fmla="*/ 0 w 3076177"/>
              <a:gd name="connsiteY4" fmla="*/ 1538089 h 3076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6177" h="3076177">
                <a:moveTo>
                  <a:pt x="0" y="1538089"/>
                </a:moveTo>
                <a:cubicBezTo>
                  <a:pt x="0" y="688626"/>
                  <a:pt x="688626" y="0"/>
                  <a:pt x="1538089" y="0"/>
                </a:cubicBezTo>
                <a:cubicBezTo>
                  <a:pt x="2387552" y="0"/>
                  <a:pt x="3076178" y="688626"/>
                  <a:pt x="3076178" y="1538089"/>
                </a:cubicBezTo>
                <a:cubicBezTo>
                  <a:pt x="3076178" y="2387552"/>
                  <a:pt x="2387552" y="3076178"/>
                  <a:pt x="1538089" y="3076178"/>
                </a:cubicBezTo>
                <a:cubicBezTo>
                  <a:pt x="688626" y="3076178"/>
                  <a:pt x="0" y="2387552"/>
                  <a:pt x="0" y="1538089"/>
                </a:cubicBezTo>
                <a:close/>
              </a:path>
            </a:pathLst>
          </a:custGeom>
          <a:solidFill>
            <a:srgbClr val="009BFD">
              <a:alpha val="50000"/>
            </a:srgbClr>
          </a:solidFill>
        </p:spPr>
        <p:style>
          <a:lnRef idx="2">
            <a:schemeClr val="lt1">
              <a:hueOff val="0"/>
              <a:satOff val="0"/>
              <a:lumOff val="0"/>
              <a:alphaOff val="0"/>
            </a:schemeClr>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480976" tIns="480976" rIns="480976" bIns="480976" numCol="1" spcCol="1270" anchor="ctr" anchorCtr="0">
            <a:noAutofit/>
          </a:bodyPr>
          <a:lstStyle/>
          <a:p>
            <a:pPr lvl="0" algn="ctr" defTabSz="1066800">
              <a:lnSpc>
                <a:spcPct val="90000"/>
              </a:lnSpc>
              <a:spcBef>
                <a:spcPct val="0"/>
              </a:spcBef>
              <a:spcAft>
                <a:spcPct val="35000"/>
              </a:spcAft>
            </a:pPr>
            <a:r>
              <a:rPr lang="en-US" sz="2400" kern="1200" dirty="0" smtClean="0">
                <a:latin typeface="Arial" panose="020B0604020202020204" pitchFamily="34" charset="0"/>
                <a:cs typeface="Arial" panose="020B0604020202020204" pitchFamily="34" charset="0"/>
              </a:rPr>
              <a:t>Data use</a:t>
            </a:r>
            <a:endParaRPr lang="en-US" sz="2400" kern="1200" dirty="0">
              <a:latin typeface="Arial" panose="020B0604020202020204" pitchFamily="34" charset="0"/>
              <a:cs typeface="Arial" panose="020B0604020202020204" pitchFamily="34" charset="0"/>
            </a:endParaRPr>
          </a:p>
        </p:txBody>
      </p:sp>
      <p:sp>
        <p:nvSpPr>
          <p:cNvPr id="9" name="Freeform 8"/>
          <p:cNvSpPr/>
          <p:nvPr/>
        </p:nvSpPr>
        <p:spPr>
          <a:xfrm>
            <a:off x="2866969" y="959220"/>
            <a:ext cx="2526187" cy="2374485"/>
          </a:xfrm>
          <a:custGeom>
            <a:avLst/>
            <a:gdLst>
              <a:gd name="connsiteX0" fmla="*/ 0 w 2526187"/>
              <a:gd name="connsiteY0" fmla="*/ 1187243 h 2374485"/>
              <a:gd name="connsiteX1" fmla="*/ 1263094 w 2526187"/>
              <a:gd name="connsiteY1" fmla="*/ 0 h 2374485"/>
              <a:gd name="connsiteX2" fmla="*/ 2526188 w 2526187"/>
              <a:gd name="connsiteY2" fmla="*/ 1187243 h 2374485"/>
              <a:gd name="connsiteX3" fmla="*/ 1263094 w 2526187"/>
              <a:gd name="connsiteY3" fmla="*/ 2374486 h 2374485"/>
              <a:gd name="connsiteX4" fmla="*/ 0 w 2526187"/>
              <a:gd name="connsiteY4" fmla="*/ 1187243 h 2374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6187" h="2374485">
                <a:moveTo>
                  <a:pt x="0" y="1187243"/>
                </a:moveTo>
                <a:cubicBezTo>
                  <a:pt x="0" y="531547"/>
                  <a:pt x="565506" y="0"/>
                  <a:pt x="1263094" y="0"/>
                </a:cubicBezTo>
                <a:cubicBezTo>
                  <a:pt x="1960682" y="0"/>
                  <a:pt x="2526188" y="531547"/>
                  <a:pt x="2526188" y="1187243"/>
                </a:cubicBezTo>
                <a:cubicBezTo>
                  <a:pt x="2526188" y="1842939"/>
                  <a:pt x="1960682" y="2374486"/>
                  <a:pt x="1263094" y="2374486"/>
                </a:cubicBezTo>
                <a:cubicBezTo>
                  <a:pt x="565506" y="2374486"/>
                  <a:pt x="0" y="1842939"/>
                  <a:pt x="0" y="1187243"/>
                </a:cubicBezTo>
                <a:close/>
              </a:path>
            </a:pathLst>
          </a:custGeom>
          <a:solidFill>
            <a:srgbClr val="FF9900">
              <a:alpha val="50000"/>
            </a:srgbClr>
          </a:solidFill>
        </p:spPr>
        <p:style>
          <a:lnRef idx="2">
            <a:schemeClr val="lt1">
              <a:hueOff val="0"/>
              <a:satOff val="0"/>
              <a:lumOff val="0"/>
              <a:alphaOff val="0"/>
            </a:schemeClr>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390272" tIns="368055" rIns="390272" bIns="368055" numCol="1" spcCol="1270" anchor="ctr" anchorCtr="0">
            <a:noAutofit/>
          </a:bodyPr>
          <a:lstStyle/>
          <a:p>
            <a:pPr lvl="0" algn="ctr" defTabSz="711200">
              <a:lnSpc>
                <a:spcPct val="90000"/>
              </a:lnSpc>
              <a:spcBef>
                <a:spcPct val="0"/>
              </a:spcBef>
              <a:spcAft>
                <a:spcPct val="35000"/>
              </a:spcAft>
            </a:pPr>
            <a:r>
              <a:rPr lang="en-US" sz="1600" kern="1200" dirty="0" smtClean="0">
                <a:latin typeface="Arial"/>
                <a:cs typeface="Arial"/>
              </a:rPr>
              <a:t>Real-time monitoring</a:t>
            </a:r>
            <a:endParaRPr lang="en-US" sz="1600" kern="1200" dirty="0">
              <a:latin typeface="Arial"/>
              <a:cs typeface="Arial"/>
            </a:endParaRPr>
          </a:p>
        </p:txBody>
      </p:sp>
      <p:sp>
        <p:nvSpPr>
          <p:cNvPr id="10" name="Freeform 9"/>
          <p:cNvSpPr/>
          <p:nvPr/>
        </p:nvSpPr>
        <p:spPr>
          <a:xfrm>
            <a:off x="4619007" y="3881165"/>
            <a:ext cx="2488535" cy="2534616"/>
          </a:xfrm>
          <a:custGeom>
            <a:avLst/>
            <a:gdLst>
              <a:gd name="connsiteX0" fmla="*/ 0 w 2488535"/>
              <a:gd name="connsiteY0" fmla="*/ 1267308 h 2534616"/>
              <a:gd name="connsiteX1" fmla="*/ 1244268 w 2488535"/>
              <a:gd name="connsiteY1" fmla="*/ 0 h 2534616"/>
              <a:gd name="connsiteX2" fmla="*/ 2488536 w 2488535"/>
              <a:gd name="connsiteY2" fmla="*/ 1267308 h 2534616"/>
              <a:gd name="connsiteX3" fmla="*/ 1244268 w 2488535"/>
              <a:gd name="connsiteY3" fmla="*/ 2534616 h 2534616"/>
              <a:gd name="connsiteX4" fmla="*/ 0 w 2488535"/>
              <a:gd name="connsiteY4" fmla="*/ 1267308 h 2534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8535" h="2534616">
                <a:moveTo>
                  <a:pt x="0" y="1267308"/>
                </a:moveTo>
                <a:cubicBezTo>
                  <a:pt x="0" y="567393"/>
                  <a:pt x="557078" y="0"/>
                  <a:pt x="1244268" y="0"/>
                </a:cubicBezTo>
                <a:cubicBezTo>
                  <a:pt x="1931458" y="0"/>
                  <a:pt x="2488536" y="567393"/>
                  <a:pt x="2488536" y="1267308"/>
                </a:cubicBezTo>
                <a:cubicBezTo>
                  <a:pt x="2488536" y="1967223"/>
                  <a:pt x="1931458" y="2534616"/>
                  <a:pt x="1244268" y="2534616"/>
                </a:cubicBezTo>
                <a:cubicBezTo>
                  <a:pt x="557078" y="2534616"/>
                  <a:pt x="0" y="1967223"/>
                  <a:pt x="0" y="1267308"/>
                </a:cubicBezTo>
                <a:close/>
              </a:path>
            </a:pathLst>
          </a:custGeom>
          <a:solidFill>
            <a:srgbClr val="FD9BFD">
              <a:alpha val="50000"/>
            </a:srgbClr>
          </a:solidFill>
        </p:spPr>
        <p:style>
          <a:lnRef idx="2">
            <a:schemeClr val="lt1">
              <a:hueOff val="0"/>
              <a:satOff val="0"/>
              <a:lumOff val="0"/>
              <a:alphaOff val="0"/>
            </a:schemeClr>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384758" tIns="391506" rIns="384758" bIns="391506" numCol="1" spcCol="1270" anchor="ctr" anchorCtr="0">
            <a:noAutofit/>
          </a:bodyPr>
          <a:lstStyle/>
          <a:p>
            <a:pPr lvl="0" algn="ctr" defTabSz="711200">
              <a:lnSpc>
                <a:spcPct val="90000"/>
              </a:lnSpc>
              <a:spcBef>
                <a:spcPct val="0"/>
              </a:spcBef>
              <a:spcAft>
                <a:spcPct val="35000"/>
              </a:spcAft>
            </a:pPr>
            <a:r>
              <a:rPr lang="en-US" sz="1600" kern="1200" dirty="0" smtClean="0">
                <a:latin typeface="Arial"/>
                <a:cs typeface="Arial"/>
              </a:rPr>
              <a:t>End-user monitoring</a:t>
            </a:r>
            <a:endParaRPr lang="en-US" sz="1600" kern="1200" dirty="0">
              <a:latin typeface="Arial"/>
              <a:cs typeface="Arial"/>
            </a:endParaRPr>
          </a:p>
        </p:txBody>
      </p:sp>
      <p:sp>
        <p:nvSpPr>
          <p:cNvPr id="11" name="Freeform 10"/>
          <p:cNvSpPr/>
          <p:nvPr/>
        </p:nvSpPr>
        <p:spPr>
          <a:xfrm>
            <a:off x="1122198" y="3941628"/>
            <a:ext cx="2549305" cy="2413691"/>
          </a:xfrm>
          <a:custGeom>
            <a:avLst/>
            <a:gdLst>
              <a:gd name="connsiteX0" fmla="*/ 0 w 2549305"/>
              <a:gd name="connsiteY0" fmla="*/ 1206846 h 2413691"/>
              <a:gd name="connsiteX1" fmla="*/ 1274653 w 2549305"/>
              <a:gd name="connsiteY1" fmla="*/ 0 h 2413691"/>
              <a:gd name="connsiteX2" fmla="*/ 2549306 w 2549305"/>
              <a:gd name="connsiteY2" fmla="*/ 1206846 h 2413691"/>
              <a:gd name="connsiteX3" fmla="*/ 1274653 w 2549305"/>
              <a:gd name="connsiteY3" fmla="*/ 2413692 h 2413691"/>
              <a:gd name="connsiteX4" fmla="*/ 0 w 2549305"/>
              <a:gd name="connsiteY4" fmla="*/ 1206846 h 2413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305" h="2413691">
                <a:moveTo>
                  <a:pt x="0" y="1206846"/>
                </a:moveTo>
                <a:cubicBezTo>
                  <a:pt x="0" y="540323"/>
                  <a:pt x="570682" y="0"/>
                  <a:pt x="1274653" y="0"/>
                </a:cubicBezTo>
                <a:cubicBezTo>
                  <a:pt x="1978624" y="0"/>
                  <a:pt x="2549306" y="540323"/>
                  <a:pt x="2549306" y="1206846"/>
                </a:cubicBezTo>
                <a:cubicBezTo>
                  <a:pt x="2549306" y="1873369"/>
                  <a:pt x="1978624" y="2413692"/>
                  <a:pt x="1274653" y="2413692"/>
                </a:cubicBezTo>
                <a:cubicBezTo>
                  <a:pt x="570682" y="2413692"/>
                  <a:pt x="0" y="1873369"/>
                  <a:pt x="0" y="1206846"/>
                </a:cubicBezTo>
                <a:close/>
              </a:path>
            </a:pathLst>
          </a:custGeom>
          <a:solidFill>
            <a:srgbClr val="8DC63F">
              <a:alpha val="50000"/>
            </a:srgbClr>
          </a:solidFill>
        </p:spPr>
        <p:style>
          <a:lnRef idx="2">
            <a:schemeClr val="lt1">
              <a:hueOff val="0"/>
              <a:satOff val="0"/>
              <a:lumOff val="0"/>
              <a:alphaOff val="0"/>
            </a:schemeClr>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393657" tIns="373797" rIns="393657" bIns="373797" numCol="1" spcCol="1270" anchor="ctr" anchorCtr="0">
            <a:noAutofit/>
          </a:bodyPr>
          <a:lstStyle/>
          <a:p>
            <a:pPr lvl="0" algn="ctr" defTabSz="711200">
              <a:lnSpc>
                <a:spcPct val="90000"/>
              </a:lnSpc>
              <a:spcBef>
                <a:spcPct val="0"/>
              </a:spcBef>
              <a:spcAft>
                <a:spcPct val="35000"/>
              </a:spcAft>
            </a:pPr>
            <a:r>
              <a:rPr lang="en-US" sz="1600" kern="1200" dirty="0" smtClean="0">
                <a:latin typeface="Arial"/>
                <a:cs typeface="Arial"/>
              </a:rPr>
              <a:t>Citizen engagement</a:t>
            </a:r>
            <a:endParaRPr lang="en-US" sz="1600" kern="1200" dirty="0">
              <a:latin typeface="Arial"/>
              <a:cs typeface="Arial"/>
            </a:endParaRPr>
          </a:p>
        </p:txBody>
      </p:sp>
      <p:sp>
        <p:nvSpPr>
          <p:cNvPr id="6" name="Title 1"/>
          <p:cNvSpPr>
            <a:spLocks noGrp="1"/>
          </p:cNvSpPr>
          <p:nvPr>
            <p:ph type="title"/>
          </p:nvPr>
        </p:nvSpPr>
        <p:spPr>
          <a:xfrm>
            <a:off x="0" y="0"/>
            <a:ext cx="12192000" cy="770021"/>
          </a:xfrm>
        </p:spPr>
        <p:txBody>
          <a:bodyPr>
            <a:normAutofit/>
          </a:bodyPr>
          <a:lstStyle/>
          <a:p>
            <a:r>
              <a:rPr lang="en-US" sz="3600" dirty="0">
                <a:solidFill>
                  <a:srgbClr val="0099FF"/>
                </a:solidFill>
                <a:latin typeface="Arial" panose="020B0604020202020204" pitchFamily="34" charset="0"/>
                <a:cs typeface="Arial" panose="020B0604020202020204" pitchFamily="34" charset="0"/>
              </a:rPr>
              <a:t>Framework for programme monitoring </a:t>
            </a:r>
            <a:endParaRPr lang="en-US" sz="3600" dirty="0" smtClean="0">
              <a:solidFill>
                <a:srgbClr val="0099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83627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fade">
                                      <p:cBhvr>
                                        <p:cTn id="27" dur="500"/>
                                        <p:tgtEl>
                                          <p:spTgt spid="4">
                                            <p:txEl>
                                              <p:pRg st="0" end="0"/>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
                                            <p:txEl>
                                              <p:pRg st="1" end="1"/>
                                            </p:txEl>
                                          </p:spTgt>
                                        </p:tgtEl>
                                        <p:attrNameLst>
                                          <p:attrName>style.visibility</p:attrName>
                                        </p:attrNameLst>
                                      </p:cBhvr>
                                      <p:to>
                                        <p:strVal val="visible"/>
                                      </p:to>
                                    </p:set>
                                    <p:animEffect transition="in" filter="fade">
                                      <p:cBhvr>
                                        <p:cTn id="30" dur="500"/>
                                        <p:tgtEl>
                                          <p:spTgt spid="4">
                                            <p:txEl>
                                              <p:pRg st="1" end="1"/>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animEffect transition="in" filter="fade">
                                      <p:cBhvr>
                                        <p:cTn id="33" dur="500"/>
                                        <p:tgtEl>
                                          <p:spTgt spid="4">
                                            <p:txEl>
                                              <p:pRg st="2" end="2"/>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
                                            <p:txEl>
                                              <p:pRg st="3" end="3"/>
                                            </p:txEl>
                                          </p:spTgt>
                                        </p:tgtEl>
                                        <p:attrNameLst>
                                          <p:attrName>style.visibility</p:attrName>
                                        </p:attrNameLst>
                                      </p:cBhvr>
                                      <p:to>
                                        <p:strVal val="visible"/>
                                      </p:to>
                                    </p:set>
                                    <p:animEffect transition="in" filter="fade">
                                      <p:cBhvr>
                                        <p:cTn id="36"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8" grpId="0" animBg="1"/>
      <p:bldP spid="9" grpId="0" animBg="1"/>
      <p:bldP spid="10" grpId="0" animBg="1"/>
      <p:bldP spid="11"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Level of Results and Programme </a:t>
            </a:r>
            <a:r>
              <a:rPr lang="en-US" sz="3600" dirty="0">
                <a:solidFill>
                  <a:srgbClr val="0099FF"/>
                </a:solidFill>
                <a:latin typeface="Arial" panose="020B0604020202020204" pitchFamily="34" charset="0"/>
                <a:cs typeface="Arial" panose="020B0604020202020204" pitchFamily="34" charset="0"/>
              </a:rPr>
              <a:t>M</a:t>
            </a:r>
            <a:r>
              <a:rPr lang="en-US" sz="3600" dirty="0" smtClean="0">
                <a:solidFill>
                  <a:srgbClr val="0099FF"/>
                </a:solidFill>
                <a:latin typeface="Arial" panose="020B0604020202020204" pitchFamily="34" charset="0"/>
                <a:cs typeface="Arial" panose="020B0604020202020204" pitchFamily="34" charset="0"/>
              </a:rPr>
              <a:t>onitoring</a:t>
            </a:r>
          </a:p>
        </p:txBody>
      </p:sp>
      <p:sp>
        <p:nvSpPr>
          <p:cNvPr id="3" name="Content Placeholder 1"/>
          <p:cNvSpPr>
            <a:spLocks noGrp="1"/>
          </p:cNvSpPr>
          <p:nvPr>
            <p:ph idx="1"/>
          </p:nvPr>
        </p:nvSpPr>
        <p:spPr>
          <a:xfrm>
            <a:off x="984834" y="1323002"/>
            <a:ext cx="2853431" cy="4953000"/>
          </a:xfrm>
        </p:spPr>
        <p:txBody>
          <a:bodyPr>
            <a:normAutofit fontScale="92500" lnSpcReduction="20000"/>
          </a:bodyPr>
          <a:lstStyle/>
          <a:p>
            <a:pPr marL="457200" indent="-361950">
              <a:buSzPct val="100000"/>
              <a:buFont typeface="+mj-lt"/>
              <a:buAutoNum type="arabicPeriod"/>
            </a:pPr>
            <a:endParaRPr lang="en-GB" sz="3200" b="1" dirty="0">
              <a:latin typeface="Arial" panose="020B0604020202020204" pitchFamily="34" charset="0"/>
              <a:cs typeface="Arial" panose="020B0604020202020204" pitchFamily="34" charset="0"/>
            </a:endParaRPr>
          </a:p>
          <a:p>
            <a:pPr marL="457200" indent="-361950">
              <a:spcBef>
                <a:spcPts val="1000"/>
              </a:spcBef>
              <a:spcAft>
                <a:spcPts val="600"/>
              </a:spcAft>
              <a:buSzPct val="100000"/>
              <a:buFont typeface="+mj-lt"/>
              <a:buAutoNum type="arabicPeriod"/>
            </a:pPr>
            <a:r>
              <a:rPr lang="en-GB" sz="2800" b="1" dirty="0">
                <a:latin typeface="Arial" panose="020B0604020202020204" pitchFamily="34" charset="0"/>
                <a:cs typeface="Arial" panose="020B0604020202020204" pitchFamily="34" charset="0"/>
              </a:rPr>
              <a:t>Impact </a:t>
            </a:r>
            <a:endParaRPr lang="en-GB" sz="2800" b="1" dirty="0" smtClean="0">
              <a:latin typeface="Arial" panose="020B0604020202020204" pitchFamily="34" charset="0"/>
              <a:cs typeface="Arial" panose="020B0604020202020204" pitchFamily="34" charset="0"/>
            </a:endParaRPr>
          </a:p>
          <a:p>
            <a:pPr marL="457200" indent="-361950">
              <a:spcBef>
                <a:spcPts val="1000"/>
              </a:spcBef>
              <a:spcAft>
                <a:spcPts val="600"/>
              </a:spcAft>
              <a:buSzPct val="100000"/>
              <a:buFont typeface="+mj-lt"/>
              <a:buAutoNum type="arabicPeriod"/>
            </a:pPr>
            <a:endParaRPr lang="en-GB" sz="2800" b="1" dirty="0">
              <a:latin typeface="Arial" panose="020B0604020202020204" pitchFamily="34" charset="0"/>
              <a:cs typeface="Arial" panose="020B0604020202020204" pitchFamily="34" charset="0"/>
            </a:endParaRPr>
          </a:p>
          <a:p>
            <a:pPr marL="457200" indent="-361950">
              <a:spcBef>
                <a:spcPts val="1000"/>
              </a:spcBef>
              <a:spcAft>
                <a:spcPts val="600"/>
              </a:spcAft>
              <a:buSzPct val="100000"/>
              <a:buFont typeface="+mj-lt"/>
              <a:buAutoNum type="arabicPeriod"/>
            </a:pPr>
            <a:r>
              <a:rPr lang="en-GB" sz="2800" b="1" dirty="0">
                <a:latin typeface="Arial" panose="020B0604020202020204" pitchFamily="34" charset="0"/>
                <a:cs typeface="Arial" panose="020B0604020202020204" pitchFamily="34" charset="0"/>
              </a:rPr>
              <a:t>Outcomes </a:t>
            </a:r>
            <a:endParaRPr lang="en-GB" sz="2800" b="1" dirty="0" smtClean="0">
              <a:latin typeface="Arial" panose="020B0604020202020204" pitchFamily="34" charset="0"/>
              <a:cs typeface="Arial" panose="020B0604020202020204" pitchFamily="34" charset="0"/>
            </a:endParaRPr>
          </a:p>
          <a:p>
            <a:pPr marL="457200" indent="-361950">
              <a:spcBef>
                <a:spcPts val="1000"/>
              </a:spcBef>
              <a:spcAft>
                <a:spcPts val="600"/>
              </a:spcAft>
              <a:buSzPct val="100000"/>
              <a:buFont typeface="+mj-lt"/>
              <a:buAutoNum type="arabicPeriod"/>
            </a:pPr>
            <a:endParaRPr lang="en-GB" sz="2800" b="1" dirty="0">
              <a:latin typeface="Arial" panose="020B0604020202020204" pitchFamily="34" charset="0"/>
              <a:cs typeface="Arial" panose="020B0604020202020204" pitchFamily="34" charset="0"/>
            </a:endParaRPr>
          </a:p>
          <a:p>
            <a:pPr marL="457200" indent="-361950">
              <a:spcBef>
                <a:spcPts val="1000"/>
              </a:spcBef>
              <a:spcAft>
                <a:spcPts val="600"/>
              </a:spcAft>
              <a:buSzPct val="100000"/>
              <a:buFont typeface="+mj-lt"/>
              <a:buAutoNum type="arabicPeriod"/>
            </a:pPr>
            <a:r>
              <a:rPr lang="en-GB" sz="2800" b="1" dirty="0" smtClean="0">
                <a:latin typeface="Arial" panose="020B0604020202020204" pitchFamily="34" charset="0"/>
                <a:cs typeface="Arial" panose="020B0604020202020204" pitchFamily="34" charset="0"/>
              </a:rPr>
              <a:t>Outputs</a:t>
            </a:r>
          </a:p>
          <a:p>
            <a:pPr marL="457200" indent="-361950">
              <a:spcBef>
                <a:spcPts val="1000"/>
              </a:spcBef>
              <a:spcAft>
                <a:spcPts val="600"/>
              </a:spcAft>
              <a:buSzPct val="100000"/>
              <a:buFont typeface="+mj-lt"/>
              <a:buAutoNum type="arabicPeriod"/>
            </a:pPr>
            <a:endParaRPr lang="en-GB" sz="2800" b="1" dirty="0">
              <a:latin typeface="Arial" panose="020B0604020202020204" pitchFamily="34" charset="0"/>
              <a:cs typeface="Arial" panose="020B0604020202020204" pitchFamily="34" charset="0"/>
            </a:endParaRPr>
          </a:p>
          <a:p>
            <a:pPr marL="457200" indent="-361950">
              <a:spcBef>
                <a:spcPts val="1000"/>
              </a:spcBef>
              <a:spcAft>
                <a:spcPts val="600"/>
              </a:spcAft>
              <a:buSzPct val="100000"/>
              <a:buFont typeface="+mj-lt"/>
              <a:buAutoNum type="arabicPeriod"/>
            </a:pPr>
            <a:r>
              <a:rPr lang="en-GB" sz="2800" b="1" dirty="0" smtClean="0">
                <a:latin typeface="Arial" panose="020B0604020202020204" pitchFamily="34" charset="0"/>
                <a:cs typeface="Arial" panose="020B0604020202020204" pitchFamily="34" charset="0"/>
              </a:rPr>
              <a:t>Activities</a:t>
            </a:r>
          </a:p>
          <a:p>
            <a:pPr marL="457200" indent="-361950">
              <a:spcBef>
                <a:spcPts val="1000"/>
              </a:spcBef>
              <a:spcAft>
                <a:spcPts val="600"/>
              </a:spcAft>
              <a:buSzPct val="100000"/>
              <a:buFont typeface="+mj-lt"/>
              <a:buAutoNum type="arabicPeriod"/>
            </a:pPr>
            <a:endParaRPr lang="en-GB" b="1" dirty="0">
              <a:latin typeface="Arial" panose="020B0604020202020204" pitchFamily="34" charset="0"/>
              <a:cs typeface="Arial" panose="020B0604020202020204" pitchFamily="34" charset="0"/>
            </a:endParaRPr>
          </a:p>
          <a:p>
            <a:pPr marL="457200" indent="-361950">
              <a:spcBef>
                <a:spcPts val="1000"/>
              </a:spcBef>
              <a:spcAft>
                <a:spcPts val="600"/>
              </a:spcAft>
              <a:buSzPct val="100000"/>
              <a:buFont typeface="+mj-lt"/>
              <a:buAutoNum type="arabicPeriod"/>
            </a:pPr>
            <a:r>
              <a:rPr lang="en-GB" sz="2800" b="1" dirty="0" smtClean="0">
                <a:latin typeface="Arial" panose="020B0604020202020204" pitchFamily="34" charset="0"/>
                <a:cs typeface="Arial" panose="020B0604020202020204" pitchFamily="34" charset="0"/>
              </a:rPr>
              <a:t>Inputs</a:t>
            </a:r>
            <a:endParaRPr lang="en-GB" sz="2800" b="1" dirty="0">
              <a:latin typeface="Arial" panose="020B0604020202020204" pitchFamily="34" charset="0"/>
              <a:cs typeface="Arial" panose="020B0604020202020204" pitchFamily="34" charset="0"/>
            </a:endParaRPr>
          </a:p>
        </p:txBody>
      </p:sp>
      <p:grpSp>
        <p:nvGrpSpPr>
          <p:cNvPr id="2" name="Group 1"/>
          <p:cNvGrpSpPr/>
          <p:nvPr/>
        </p:nvGrpSpPr>
        <p:grpSpPr>
          <a:xfrm>
            <a:off x="739588" y="1465729"/>
            <a:ext cx="6118412" cy="833718"/>
            <a:chOff x="739588" y="1465729"/>
            <a:chExt cx="6118412" cy="833718"/>
          </a:xfrm>
        </p:grpSpPr>
        <p:sp>
          <p:nvSpPr>
            <p:cNvPr id="12" name="Rectangle 11"/>
            <p:cNvSpPr/>
            <p:nvPr/>
          </p:nvSpPr>
          <p:spPr>
            <a:xfrm>
              <a:off x="739588" y="1465729"/>
              <a:ext cx="6118412" cy="833718"/>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4386371" y="1682533"/>
              <a:ext cx="2424837" cy="400110"/>
            </a:xfrm>
            <a:prstGeom prst="rect">
              <a:avLst/>
            </a:prstGeom>
            <a:noFill/>
          </p:spPr>
          <p:txBody>
            <a:bodyPr wrap="square" rtlCol="0">
              <a:spAutoFit/>
            </a:bodyPr>
            <a:lstStyle/>
            <a:p>
              <a:r>
                <a:rPr lang="en-US" sz="2000" dirty="0" smtClean="0">
                  <a:latin typeface="Arial" panose="020B0604020202020204" pitchFamily="34" charset="0"/>
                  <a:cs typeface="Arial" panose="020B0604020202020204" pitchFamily="34" charset="0"/>
                </a:rPr>
                <a:t>Level 4 monitoring</a:t>
              </a:r>
              <a:endParaRPr lang="en-US" sz="2000" dirty="0">
                <a:latin typeface="Arial" panose="020B0604020202020204" pitchFamily="34" charset="0"/>
                <a:cs typeface="Arial" panose="020B0604020202020204" pitchFamily="34" charset="0"/>
              </a:endParaRPr>
            </a:p>
          </p:txBody>
        </p:sp>
      </p:grpSp>
      <p:grpSp>
        <p:nvGrpSpPr>
          <p:cNvPr id="4" name="Group 3"/>
          <p:cNvGrpSpPr/>
          <p:nvPr/>
        </p:nvGrpSpPr>
        <p:grpSpPr>
          <a:xfrm>
            <a:off x="739588" y="2492388"/>
            <a:ext cx="6118412" cy="833718"/>
            <a:chOff x="739588" y="2492388"/>
            <a:chExt cx="6118412" cy="833718"/>
          </a:xfrm>
        </p:grpSpPr>
        <p:sp>
          <p:nvSpPr>
            <p:cNvPr id="14" name="Rectangle 13"/>
            <p:cNvSpPr/>
            <p:nvPr/>
          </p:nvSpPr>
          <p:spPr>
            <a:xfrm>
              <a:off x="739588" y="2492388"/>
              <a:ext cx="6118412" cy="833718"/>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4386371" y="2689916"/>
              <a:ext cx="2424837" cy="400110"/>
            </a:xfrm>
            <a:prstGeom prst="rect">
              <a:avLst/>
            </a:prstGeom>
            <a:noFill/>
          </p:spPr>
          <p:txBody>
            <a:bodyPr wrap="square" rtlCol="0">
              <a:spAutoFit/>
            </a:bodyPr>
            <a:lstStyle/>
            <a:p>
              <a:r>
                <a:rPr lang="en-US" sz="2000" dirty="0" smtClean="0">
                  <a:latin typeface="Arial" panose="020B0604020202020204" pitchFamily="34" charset="0"/>
                  <a:cs typeface="Arial" panose="020B0604020202020204" pitchFamily="34" charset="0"/>
                </a:rPr>
                <a:t>Level 3 monitoring</a:t>
              </a:r>
              <a:endParaRPr lang="en-US" sz="2000" dirty="0">
                <a:latin typeface="Arial" panose="020B0604020202020204" pitchFamily="34" charset="0"/>
                <a:cs typeface="Arial" panose="020B0604020202020204" pitchFamily="34" charset="0"/>
              </a:endParaRPr>
            </a:p>
          </p:txBody>
        </p:sp>
      </p:grpSp>
      <p:grpSp>
        <p:nvGrpSpPr>
          <p:cNvPr id="5" name="Group 4"/>
          <p:cNvGrpSpPr/>
          <p:nvPr/>
        </p:nvGrpSpPr>
        <p:grpSpPr>
          <a:xfrm>
            <a:off x="752436" y="3462227"/>
            <a:ext cx="6118412" cy="1809019"/>
            <a:chOff x="752436" y="3462227"/>
            <a:chExt cx="6118412" cy="1809019"/>
          </a:xfrm>
        </p:grpSpPr>
        <p:sp>
          <p:nvSpPr>
            <p:cNvPr id="16" name="Rectangle 15"/>
            <p:cNvSpPr/>
            <p:nvPr/>
          </p:nvSpPr>
          <p:spPr>
            <a:xfrm>
              <a:off x="752436" y="3462227"/>
              <a:ext cx="6118412" cy="1809019"/>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4386371" y="4101076"/>
              <a:ext cx="2424837" cy="400110"/>
            </a:xfrm>
            <a:prstGeom prst="rect">
              <a:avLst/>
            </a:prstGeom>
            <a:noFill/>
          </p:spPr>
          <p:txBody>
            <a:bodyPr wrap="square" rtlCol="0">
              <a:spAutoFit/>
            </a:bodyPr>
            <a:lstStyle/>
            <a:p>
              <a:r>
                <a:rPr lang="en-US" sz="2000" dirty="0" smtClean="0">
                  <a:latin typeface="Arial" panose="020B0604020202020204" pitchFamily="34" charset="0"/>
                  <a:cs typeface="Arial" panose="020B0604020202020204" pitchFamily="34" charset="0"/>
                </a:rPr>
                <a:t>Level 2 monitoring</a:t>
              </a:r>
              <a:endParaRPr lang="en-US" sz="2000" dirty="0">
                <a:latin typeface="Arial" panose="020B0604020202020204" pitchFamily="34" charset="0"/>
                <a:cs typeface="Arial" panose="020B0604020202020204" pitchFamily="34" charset="0"/>
              </a:endParaRPr>
            </a:p>
          </p:txBody>
        </p:sp>
      </p:grpSp>
      <p:sp>
        <p:nvSpPr>
          <p:cNvPr id="19" name="TextBox 18"/>
          <p:cNvSpPr txBox="1"/>
          <p:nvPr/>
        </p:nvSpPr>
        <p:spPr>
          <a:xfrm flipH="1">
            <a:off x="7240494" y="1465729"/>
            <a:ext cx="4177977" cy="833718"/>
          </a:xfrm>
          <a:prstGeom prst="homePlate">
            <a:avLst/>
          </a:prstGeom>
          <a:solidFill>
            <a:schemeClr val="bg1">
              <a:lumMod val="95000"/>
            </a:schemeClr>
          </a:solidFill>
        </p:spPr>
        <p:txBody>
          <a:bodyPr wrap="square" rtlCol="0" anchor="ctr">
            <a:noAutofit/>
          </a:bodyPr>
          <a:lstStyle/>
          <a:p>
            <a:pPr algn="ctr"/>
            <a:r>
              <a:rPr lang="en-US" sz="2000" dirty="0" smtClean="0">
                <a:latin typeface="Arial" panose="020B0604020202020204" pitchFamily="34" charset="0"/>
                <a:cs typeface="Arial" panose="020B0604020202020204" pitchFamily="34" charset="0"/>
              </a:rPr>
              <a:t>Situation monitoring</a:t>
            </a:r>
            <a:endParaRPr lang="en-US" sz="2000" dirty="0">
              <a:latin typeface="Arial" panose="020B0604020202020204" pitchFamily="34" charset="0"/>
              <a:cs typeface="Arial" panose="020B0604020202020204" pitchFamily="34" charset="0"/>
            </a:endParaRPr>
          </a:p>
        </p:txBody>
      </p:sp>
      <p:sp>
        <p:nvSpPr>
          <p:cNvPr id="21" name="TextBox 20"/>
          <p:cNvSpPr txBox="1"/>
          <p:nvPr/>
        </p:nvSpPr>
        <p:spPr>
          <a:xfrm flipH="1">
            <a:off x="7240494" y="2492388"/>
            <a:ext cx="4177977" cy="833718"/>
          </a:xfrm>
          <a:prstGeom prst="homePlate">
            <a:avLst/>
          </a:prstGeom>
          <a:solidFill>
            <a:schemeClr val="bg1">
              <a:lumMod val="95000"/>
            </a:schemeClr>
          </a:solidFill>
        </p:spPr>
        <p:txBody>
          <a:bodyPr wrap="square" rtlCol="0" anchor="ctr">
            <a:noAutofit/>
          </a:bodyPr>
          <a:lstStyle/>
          <a:p>
            <a:pPr algn="ctr"/>
            <a:r>
              <a:rPr lang="en-US" sz="2000" dirty="0" smtClean="0">
                <a:latin typeface="Arial" panose="020B0604020202020204" pitchFamily="34" charset="0"/>
                <a:cs typeface="Arial" panose="020B0604020202020204" pitchFamily="34" charset="0"/>
              </a:rPr>
              <a:t>Results monitoring</a:t>
            </a:r>
            <a:endParaRPr lang="en-US" sz="2000" dirty="0">
              <a:latin typeface="Arial" panose="020B0604020202020204" pitchFamily="34" charset="0"/>
              <a:cs typeface="Arial" panose="020B0604020202020204" pitchFamily="34" charset="0"/>
            </a:endParaRPr>
          </a:p>
        </p:txBody>
      </p:sp>
      <p:sp>
        <p:nvSpPr>
          <p:cNvPr id="23" name="TextBox 22"/>
          <p:cNvSpPr txBox="1"/>
          <p:nvPr/>
        </p:nvSpPr>
        <p:spPr>
          <a:xfrm flipH="1">
            <a:off x="7240494" y="3462227"/>
            <a:ext cx="4177977" cy="1809019"/>
          </a:xfrm>
          <a:prstGeom prst="homePlate">
            <a:avLst>
              <a:gd name="adj" fmla="val 23240"/>
            </a:avLst>
          </a:prstGeom>
          <a:solidFill>
            <a:schemeClr val="bg1">
              <a:lumMod val="95000"/>
            </a:schemeClr>
          </a:solidFill>
        </p:spPr>
        <p:txBody>
          <a:bodyPr wrap="square" rtlCol="0" anchor="ctr">
            <a:noAutofit/>
          </a:bodyPr>
          <a:lstStyle/>
          <a:p>
            <a:pPr algn="ctr"/>
            <a:r>
              <a:rPr lang="en-US" sz="2000" dirty="0" smtClean="0">
                <a:latin typeface="Arial" panose="020B0604020202020204" pitchFamily="34" charset="0"/>
                <a:cs typeface="Arial" panose="020B0604020202020204" pitchFamily="34" charset="0"/>
              </a:rPr>
              <a:t>Programmatic Visits / Field Monitoring</a:t>
            </a:r>
            <a:endParaRPr lang="en-US" sz="2000" dirty="0">
              <a:latin typeface="Arial" panose="020B0604020202020204" pitchFamily="34" charset="0"/>
              <a:cs typeface="Arial" panose="020B0604020202020204" pitchFamily="34" charset="0"/>
            </a:endParaRPr>
          </a:p>
        </p:txBody>
      </p:sp>
      <p:sp>
        <p:nvSpPr>
          <p:cNvPr id="24" name="TextBox 23"/>
          <p:cNvSpPr txBox="1"/>
          <p:nvPr/>
        </p:nvSpPr>
        <p:spPr>
          <a:xfrm flipH="1">
            <a:off x="7240493" y="5413698"/>
            <a:ext cx="4177977" cy="758502"/>
          </a:xfrm>
          <a:prstGeom prst="homePlate">
            <a:avLst>
              <a:gd name="adj" fmla="val 55319"/>
            </a:avLst>
          </a:prstGeom>
          <a:solidFill>
            <a:schemeClr val="bg1">
              <a:lumMod val="95000"/>
            </a:schemeClr>
          </a:solidFill>
        </p:spPr>
        <p:txBody>
          <a:bodyPr wrap="square" rtlCol="0" anchor="ctr">
            <a:noAutofit/>
          </a:bodyPr>
          <a:lstStyle/>
          <a:p>
            <a:pPr algn="ctr"/>
            <a:r>
              <a:rPr lang="en-US" sz="2000" dirty="0" smtClean="0">
                <a:latin typeface="Arial" panose="020B0604020202020204" pitchFamily="34" charset="0"/>
                <a:cs typeface="Arial" panose="020B0604020202020204" pitchFamily="34" charset="0"/>
              </a:rPr>
              <a:t>Spot checks</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4831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3" grpId="0" animBg="1"/>
      <p:bldP spid="24"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Key Questions for Programme Monitoring</a:t>
            </a:r>
          </a:p>
        </p:txBody>
      </p:sp>
      <p:sp>
        <p:nvSpPr>
          <p:cNvPr id="3" name="Rounded Rectangle 2"/>
          <p:cNvSpPr/>
          <p:nvPr/>
        </p:nvSpPr>
        <p:spPr>
          <a:xfrm rot="5400000">
            <a:off x="5098216" y="3226938"/>
            <a:ext cx="4043931" cy="1773447"/>
          </a:xfrm>
          <a:prstGeom prst="round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vert="vert270" rtlCol="0" anchor="t"/>
          <a:lstStyle/>
          <a:p>
            <a:pPr algn="ctr" defTabSz="457200"/>
            <a:endParaRPr lang="en-US" dirty="0">
              <a:solidFill>
                <a:prstClr val="white"/>
              </a:solidFill>
              <a:latin typeface="Arial" panose="020B0604020202020204" pitchFamily="34" charset="0"/>
              <a:cs typeface="Arial" panose="020B0604020202020204" pitchFamily="34" charset="0"/>
            </a:endParaRPr>
          </a:p>
          <a:p>
            <a:pPr algn="ctr" defTabSz="457200"/>
            <a:endParaRPr lang="en-US" dirty="0">
              <a:solidFill>
                <a:prstClr val="white"/>
              </a:solidFill>
              <a:latin typeface="Arial" panose="020B0604020202020204" pitchFamily="34" charset="0"/>
              <a:cs typeface="Arial" panose="020B0604020202020204" pitchFamily="34" charset="0"/>
            </a:endParaRPr>
          </a:p>
          <a:p>
            <a:pPr algn="ctr" defTabSz="457200"/>
            <a:endParaRPr lang="en-US" dirty="0">
              <a:solidFill>
                <a:prstClr val="white"/>
              </a:solidFill>
              <a:latin typeface="Arial" panose="020B0604020202020204" pitchFamily="34" charset="0"/>
              <a:cs typeface="Arial" panose="020B0604020202020204" pitchFamily="34" charset="0"/>
            </a:endParaRPr>
          </a:p>
          <a:p>
            <a:pPr algn="ctr" defTabSz="457200"/>
            <a:endParaRPr lang="en-US" dirty="0">
              <a:solidFill>
                <a:prstClr val="white"/>
              </a:solidFill>
              <a:latin typeface="Arial" panose="020B0604020202020204" pitchFamily="34" charset="0"/>
              <a:cs typeface="Arial" panose="020B0604020202020204" pitchFamily="34" charset="0"/>
            </a:endParaRPr>
          </a:p>
        </p:txBody>
      </p:sp>
      <p:sp>
        <p:nvSpPr>
          <p:cNvPr id="4" name="Rounded Rectangle 3"/>
          <p:cNvSpPr/>
          <p:nvPr/>
        </p:nvSpPr>
        <p:spPr>
          <a:xfrm>
            <a:off x="2049949" y="2346544"/>
            <a:ext cx="3566160" cy="1188720"/>
          </a:xfrm>
          <a:prstGeom prst="roundRect">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457200"/>
            <a:r>
              <a:rPr lang="en-US" dirty="0">
                <a:solidFill>
                  <a:srgbClr val="0070C0"/>
                </a:solidFill>
                <a:latin typeface="Arial" panose="020B0604020202020204" pitchFamily="34" charset="0"/>
                <a:cs typeface="Arial" panose="020B0604020202020204" pitchFamily="34" charset="0"/>
              </a:rPr>
              <a:t>Are we implementing  as planned ? </a:t>
            </a:r>
          </a:p>
        </p:txBody>
      </p:sp>
      <p:sp>
        <p:nvSpPr>
          <p:cNvPr id="5" name="Pentagon 4"/>
          <p:cNvSpPr/>
          <p:nvPr/>
        </p:nvSpPr>
        <p:spPr>
          <a:xfrm flipH="1">
            <a:off x="5728206" y="2503498"/>
            <a:ext cx="2020506" cy="746522"/>
          </a:xfrm>
          <a:prstGeom prst="homePlate">
            <a:avLst/>
          </a:prstGeom>
          <a:solidFill>
            <a:schemeClr val="accent5">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457200"/>
            <a:r>
              <a:rPr lang="en-US" dirty="0">
                <a:solidFill>
                  <a:prstClr val="white"/>
                </a:solidFill>
                <a:latin typeface="Arial" panose="020B0604020202020204" pitchFamily="34" charset="0"/>
                <a:cs typeface="Arial" panose="020B0604020202020204" pitchFamily="34" charset="0"/>
              </a:rPr>
              <a:t>Implementation monitoring</a:t>
            </a:r>
          </a:p>
        </p:txBody>
      </p:sp>
      <p:sp>
        <p:nvSpPr>
          <p:cNvPr id="6" name="Rounded Rectangle 5"/>
          <p:cNvSpPr/>
          <p:nvPr/>
        </p:nvSpPr>
        <p:spPr>
          <a:xfrm>
            <a:off x="2023976" y="3607170"/>
            <a:ext cx="3566160" cy="1188720"/>
          </a:xfrm>
          <a:prstGeom prst="roundRect">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457200"/>
            <a:r>
              <a:rPr lang="en-US" dirty="0">
                <a:solidFill>
                  <a:srgbClr val="0070C0"/>
                </a:solidFill>
                <a:latin typeface="Arial" panose="020B0604020202020204" pitchFamily="34" charset="0"/>
                <a:cs typeface="Arial" panose="020B0604020202020204" pitchFamily="34" charset="0"/>
              </a:rPr>
              <a:t>Are we achieving results ?</a:t>
            </a:r>
          </a:p>
        </p:txBody>
      </p:sp>
      <p:sp>
        <p:nvSpPr>
          <p:cNvPr id="7" name="Pentagon 6"/>
          <p:cNvSpPr/>
          <p:nvPr/>
        </p:nvSpPr>
        <p:spPr>
          <a:xfrm flipH="1">
            <a:off x="5697729" y="3762090"/>
            <a:ext cx="2082190" cy="828109"/>
          </a:xfrm>
          <a:prstGeom prst="homePlate">
            <a:avLst/>
          </a:prstGeom>
          <a:solidFill>
            <a:schemeClr val="accent5">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457200"/>
            <a:r>
              <a:rPr lang="en-US" dirty="0">
                <a:solidFill>
                  <a:prstClr val="white"/>
                </a:solidFill>
                <a:latin typeface="Arial" panose="020B0604020202020204" pitchFamily="34" charset="0"/>
                <a:cs typeface="Arial" panose="020B0604020202020204" pitchFamily="34" charset="0"/>
              </a:rPr>
              <a:t>Results monitoring</a:t>
            </a:r>
          </a:p>
        </p:txBody>
      </p:sp>
      <p:sp>
        <p:nvSpPr>
          <p:cNvPr id="9" name="Rounded Rectangle 8"/>
          <p:cNvSpPr/>
          <p:nvPr/>
        </p:nvSpPr>
        <p:spPr>
          <a:xfrm>
            <a:off x="2039062" y="4867796"/>
            <a:ext cx="3566160" cy="1188720"/>
          </a:xfrm>
          <a:prstGeom prst="roundRect">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457200"/>
            <a:r>
              <a:rPr lang="en-US" dirty="0">
                <a:solidFill>
                  <a:srgbClr val="0070C0"/>
                </a:solidFill>
                <a:latin typeface="Arial" panose="020B0604020202020204" pitchFamily="34" charset="0"/>
                <a:cs typeface="Arial" panose="020B0604020202020204" pitchFamily="34" charset="0"/>
              </a:rPr>
              <a:t>How is the situation of children or the wider context changing?  </a:t>
            </a:r>
          </a:p>
        </p:txBody>
      </p:sp>
      <p:sp>
        <p:nvSpPr>
          <p:cNvPr id="10" name="Pentagon 9"/>
          <p:cNvSpPr/>
          <p:nvPr/>
        </p:nvSpPr>
        <p:spPr>
          <a:xfrm flipH="1">
            <a:off x="5735176" y="4995270"/>
            <a:ext cx="2013536" cy="799356"/>
          </a:xfrm>
          <a:prstGeom prst="homePlate">
            <a:avLst/>
          </a:prstGeom>
          <a:solidFill>
            <a:schemeClr val="accent5">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457200"/>
            <a:r>
              <a:rPr lang="en-US" dirty="0">
                <a:solidFill>
                  <a:prstClr val="white"/>
                </a:solidFill>
                <a:latin typeface="Arial" panose="020B0604020202020204" pitchFamily="34" charset="0"/>
                <a:cs typeface="Arial" panose="020B0604020202020204" pitchFamily="34" charset="0"/>
              </a:rPr>
              <a:t>Situation monitoring</a:t>
            </a:r>
          </a:p>
        </p:txBody>
      </p:sp>
      <p:sp>
        <p:nvSpPr>
          <p:cNvPr id="11" name="TextBox 10"/>
          <p:cNvSpPr txBox="1"/>
          <p:nvPr/>
        </p:nvSpPr>
        <p:spPr>
          <a:xfrm>
            <a:off x="2288060" y="1363224"/>
            <a:ext cx="3037991" cy="400110"/>
          </a:xfrm>
          <a:prstGeom prst="rect">
            <a:avLst/>
          </a:prstGeom>
          <a:noFill/>
        </p:spPr>
        <p:txBody>
          <a:bodyPr wrap="square" rtlCol="0">
            <a:spAutoFit/>
          </a:bodyPr>
          <a:lstStyle/>
          <a:p>
            <a:pPr algn="ctr" defTabSz="457200"/>
            <a:r>
              <a:rPr lang="en-US" sz="2000" dirty="0">
                <a:latin typeface="Arial" panose="020B0604020202020204" pitchFamily="34" charset="0"/>
                <a:cs typeface="Arial" panose="020B0604020202020204" pitchFamily="34" charset="0"/>
              </a:rPr>
              <a:t>Key </a:t>
            </a:r>
            <a:r>
              <a:rPr lang="en-US" sz="2000" dirty="0" smtClean="0">
                <a:latin typeface="Arial" panose="020B0604020202020204" pitchFamily="34" charset="0"/>
                <a:cs typeface="Arial" panose="020B0604020202020204" pitchFamily="34" charset="0"/>
              </a:rPr>
              <a:t>Questions</a:t>
            </a:r>
            <a:endParaRPr lang="en-US" sz="2000" dirty="0">
              <a:latin typeface="Arial" panose="020B0604020202020204" pitchFamily="34" charset="0"/>
              <a:cs typeface="Arial" panose="020B0604020202020204" pitchFamily="34" charset="0"/>
            </a:endParaRPr>
          </a:p>
        </p:txBody>
      </p:sp>
      <p:sp>
        <p:nvSpPr>
          <p:cNvPr id="12" name="TextBox 11"/>
          <p:cNvSpPr txBox="1"/>
          <p:nvPr/>
        </p:nvSpPr>
        <p:spPr>
          <a:xfrm>
            <a:off x="8694904" y="1351077"/>
            <a:ext cx="2261371" cy="707886"/>
          </a:xfrm>
          <a:prstGeom prst="rect">
            <a:avLst/>
          </a:prstGeom>
          <a:noFill/>
        </p:spPr>
        <p:txBody>
          <a:bodyPr wrap="square" rtlCol="0">
            <a:spAutoFit/>
          </a:bodyPr>
          <a:lstStyle>
            <a:defPPr>
              <a:defRPr lang="en-US"/>
            </a:defPPr>
            <a:lvl1pPr algn="ctr" defTabSz="457200">
              <a:defRPr sz="2000">
                <a:latin typeface="Arial" panose="020B0604020202020204" pitchFamily="34" charset="0"/>
                <a:cs typeface="Arial" panose="020B0604020202020204" pitchFamily="34" charset="0"/>
              </a:defRPr>
            </a:lvl1pPr>
          </a:lstStyle>
          <a:p>
            <a:r>
              <a:rPr lang="en-US" dirty="0"/>
              <a:t>Monitoring</a:t>
            </a:r>
          </a:p>
          <a:p>
            <a:r>
              <a:rPr lang="en-US" dirty="0"/>
              <a:t>Focus</a:t>
            </a:r>
          </a:p>
        </p:txBody>
      </p:sp>
      <p:sp>
        <p:nvSpPr>
          <p:cNvPr id="13" name="Rounded Rectangular Callout 12"/>
          <p:cNvSpPr/>
          <p:nvPr/>
        </p:nvSpPr>
        <p:spPr>
          <a:xfrm flipH="1">
            <a:off x="8558547" y="3785485"/>
            <a:ext cx="2560320" cy="1068111"/>
          </a:xfrm>
          <a:prstGeom prst="wedgeRoundRectCallout">
            <a:avLst>
              <a:gd name="adj1" fmla="val 76046"/>
              <a:gd name="adj2" fmla="val -25940"/>
              <a:gd name="adj3" fmla="val 16667"/>
            </a:avLst>
          </a:prstGeom>
          <a:solidFill>
            <a:schemeClr val="bg1">
              <a:lumMod val="65000"/>
              <a:alpha val="25000"/>
            </a:schemeClr>
          </a:solidFill>
          <a:ln w="38100">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dirty="0">
              <a:solidFill>
                <a:prstClr val="white"/>
              </a:solidFill>
              <a:latin typeface="Arial" panose="020B0604020202020204" pitchFamily="34" charset="0"/>
              <a:cs typeface="Arial" panose="020B0604020202020204" pitchFamily="34" charset="0"/>
            </a:endParaRPr>
          </a:p>
        </p:txBody>
      </p:sp>
      <p:sp>
        <p:nvSpPr>
          <p:cNvPr id="14" name="Rounded Rectangular Callout 13"/>
          <p:cNvSpPr/>
          <p:nvPr/>
        </p:nvSpPr>
        <p:spPr>
          <a:xfrm flipH="1">
            <a:off x="8558547" y="2640019"/>
            <a:ext cx="2560320" cy="1713447"/>
          </a:xfrm>
          <a:prstGeom prst="wedgeRoundRectCallout">
            <a:avLst>
              <a:gd name="adj1" fmla="val 78191"/>
              <a:gd name="adj2" fmla="val -40294"/>
              <a:gd name="adj3" fmla="val 16667"/>
            </a:avLst>
          </a:prstGeom>
          <a:solidFill>
            <a:schemeClr val="bg1">
              <a:lumMod val="85000"/>
              <a:alpha val="25000"/>
            </a:schemeClr>
          </a:solidFill>
          <a:ln w="38100">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dirty="0">
              <a:solidFill>
                <a:prstClr val="black"/>
              </a:solidFill>
              <a:latin typeface="Arial" panose="020B0604020202020204" pitchFamily="34" charset="0"/>
              <a:cs typeface="Arial" panose="020B0604020202020204" pitchFamily="34" charset="0"/>
            </a:endParaRPr>
          </a:p>
        </p:txBody>
      </p:sp>
      <p:sp>
        <p:nvSpPr>
          <p:cNvPr id="15" name="Rounded Rectangular Callout 14"/>
          <p:cNvSpPr/>
          <p:nvPr/>
        </p:nvSpPr>
        <p:spPr>
          <a:xfrm flipH="1">
            <a:off x="8558547" y="4396803"/>
            <a:ext cx="2560320" cy="1151218"/>
          </a:xfrm>
          <a:prstGeom prst="wedgeRoundRectCallout">
            <a:avLst>
              <a:gd name="adj1" fmla="val 76415"/>
              <a:gd name="adj2" fmla="val 36123"/>
              <a:gd name="adj3" fmla="val 16667"/>
            </a:avLst>
          </a:prstGeom>
          <a:solidFill>
            <a:schemeClr val="bg1">
              <a:lumMod val="50000"/>
              <a:alpha val="25000"/>
            </a:schemeClr>
          </a:solidFill>
          <a:ln w="38100">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dirty="0">
              <a:solidFill>
                <a:prstClr val="white"/>
              </a:solidFill>
              <a:latin typeface="Arial" panose="020B0604020202020204" pitchFamily="34" charset="0"/>
              <a:cs typeface="Arial" panose="020B0604020202020204" pitchFamily="34" charset="0"/>
            </a:endParaRPr>
          </a:p>
        </p:txBody>
      </p:sp>
      <p:sp>
        <p:nvSpPr>
          <p:cNvPr id="16" name="Rectangle 15"/>
          <p:cNvSpPr/>
          <p:nvPr/>
        </p:nvSpPr>
        <p:spPr>
          <a:xfrm>
            <a:off x="8958565" y="2106815"/>
            <a:ext cx="1734050" cy="40439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2060"/>
                </a:solidFill>
                <a:latin typeface="Arial" panose="020B0604020202020204" pitchFamily="34" charset="0"/>
                <a:cs typeface="Arial" panose="020B0604020202020204" pitchFamily="34" charset="0"/>
              </a:rPr>
              <a:t>Inputs</a:t>
            </a:r>
          </a:p>
          <a:p>
            <a:pPr algn="ctr"/>
            <a:endParaRPr lang="en-GB" dirty="0">
              <a:solidFill>
                <a:srgbClr val="002060"/>
              </a:solidFill>
              <a:latin typeface="Arial" panose="020B0604020202020204" pitchFamily="34" charset="0"/>
              <a:cs typeface="Arial" panose="020B0604020202020204" pitchFamily="34" charset="0"/>
            </a:endParaRPr>
          </a:p>
          <a:p>
            <a:pPr algn="ctr"/>
            <a:r>
              <a:rPr lang="en-GB" dirty="0">
                <a:solidFill>
                  <a:srgbClr val="002060"/>
                </a:solidFill>
                <a:latin typeface="Arial" panose="020B0604020202020204" pitchFamily="34" charset="0"/>
                <a:cs typeface="Arial" panose="020B0604020202020204" pitchFamily="34" charset="0"/>
              </a:rPr>
              <a:t>Activities</a:t>
            </a:r>
          </a:p>
          <a:p>
            <a:pPr algn="ctr"/>
            <a:endParaRPr lang="en-GB" dirty="0">
              <a:solidFill>
                <a:srgbClr val="002060"/>
              </a:solidFill>
              <a:latin typeface="Arial" panose="020B0604020202020204" pitchFamily="34" charset="0"/>
              <a:cs typeface="Arial" panose="020B0604020202020204" pitchFamily="34" charset="0"/>
            </a:endParaRPr>
          </a:p>
          <a:p>
            <a:pPr algn="ctr"/>
            <a:r>
              <a:rPr lang="en-GB" dirty="0">
                <a:solidFill>
                  <a:srgbClr val="002060"/>
                </a:solidFill>
                <a:latin typeface="Arial" panose="020B0604020202020204" pitchFamily="34" charset="0"/>
                <a:cs typeface="Arial" panose="020B0604020202020204" pitchFamily="34" charset="0"/>
              </a:rPr>
              <a:t>Outputs</a:t>
            </a:r>
          </a:p>
          <a:p>
            <a:pPr algn="ctr"/>
            <a:endParaRPr lang="en-GB" dirty="0">
              <a:solidFill>
                <a:srgbClr val="002060"/>
              </a:solidFill>
              <a:latin typeface="Arial" panose="020B0604020202020204" pitchFamily="34" charset="0"/>
              <a:cs typeface="Arial" panose="020B0604020202020204" pitchFamily="34" charset="0"/>
            </a:endParaRPr>
          </a:p>
          <a:p>
            <a:pPr algn="ctr"/>
            <a:r>
              <a:rPr lang="en-GB" dirty="0">
                <a:solidFill>
                  <a:srgbClr val="002060"/>
                </a:solidFill>
                <a:latin typeface="Arial" panose="020B0604020202020204" pitchFamily="34" charset="0"/>
                <a:cs typeface="Arial" panose="020B0604020202020204" pitchFamily="34" charset="0"/>
              </a:rPr>
              <a:t>Outcomes</a:t>
            </a:r>
          </a:p>
          <a:p>
            <a:pPr algn="ctr"/>
            <a:endParaRPr lang="en-GB" dirty="0">
              <a:solidFill>
                <a:srgbClr val="002060"/>
              </a:solidFill>
              <a:latin typeface="Arial" panose="020B0604020202020204" pitchFamily="34" charset="0"/>
              <a:cs typeface="Arial" panose="020B0604020202020204" pitchFamily="34" charset="0"/>
            </a:endParaRPr>
          </a:p>
          <a:p>
            <a:pPr algn="ctr"/>
            <a:r>
              <a:rPr lang="en-GB" dirty="0">
                <a:solidFill>
                  <a:srgbClr val="002060"/>
                </a:solidFill>
                <a:latin typeface="Arial" panose="020B0604020202020204" pitchFamily="34" charset="0"/>
                <a:cs typeface="Arial" panose="020B0604020202020204" pitchFamily="34" charset="0"/>
              </a:rPr>
              <a:t>Impact</a:t>
            </a:r>
          </a:p>
        </p:txBody>
      </p:sp>
      <p:cxnSp>
        <p:nvCxnSpPr>
          <p:cNvPr id="17" name="Straight Arrow Connector 16"/>
          <p:cNvCxnSpPr>
            <a:endCxn id="4" idx="1"/>
          </p:cNvCxnSpPr>
          <p:nvPr/>
        </p:nvCxnSpPr>
        <p:spPr>
          <a:xfrm flipV="1">
            <a:off x="1659976" y="2940904"/>
            <a:ext cx="389973" cy="61241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6" idx="1"/>
          </p:cNvCxnSpPr>
          <p:nvPr/>
        </p:nvCxnSpPr>
        <p:spPr>
          <a:xfrm>
            <a:off x="1659976" y="3553318"/>
            <a:ext cx="364000" cy="648212"/>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9" name="Rounded Rectangle 18"/>
          <p:cNvSpPr/>
          <p:nvPr/>
        </p:nvSpPr>
        <p:spPr>
          <a:xfrm>
            <a:off x="1072317" y="2756647"/>
            <a:ext cx="587660" cy="151055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lnSpc>
                <a:spcPts val="1500"/>
              </a:lnSpc>
            </a:pPr>
            <a:r>
              <a:rPr lang="en-GB" dirty="0">
                <a:solidFill>
                  <a:srgbClr val="0099FF"/>
                </a:solidFill>
                <a:latin typeface="Arial" panose="020B0604020202020204" pitchFamily="34" charset="0"/>
                <a:cs typeface="Arial" panose="020B0604020202020204" pitchFamily="34" charset="0"/>
              </a:rPr>
              <a:t>Programme monitoring</a:t>
            </a:r>
          </a:p>
        </p:txBody>
      </p:sp>
      <p:sp>
        <p:nvSpPr>
          <p:cNvPr id="20" name="Rounded Rectangle 19"/>
          <p:cNvSpPr/>
          <p:nvPr/>
        </p:nvSpPr>
        <p:spPr>
          <a:xfrm>
            <a:off x="1032567" y="4590199"/>
            <a:ext cx="704546" cy="171647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lnSpc>
                <a:spcPts val="1500"/>
              </a:lnSpc>
            </a:pPr>
            <a:r>
              <a:rPr lang="en-GB" dirty="0">
                <a:solidFill>
                  <a:srgbClr val="0099FF"/>
                </a:solidFill>
                <a:latin typeface="Arial" panose="020B0604020202020204" pitchFamily="34" charset="0"/>
                <a:cs typeface="Arial" panose="020B0604020202020204" pitchFamily="34" charset="0"/>
              </a:rPr>
              <a:t>Situation monitoring</a:t>
            </a:r>
          </a:p>
        </p:txBody>
      </p:sp>
      <p:cxnSp>
        <p:nvCxnSpPr>
          <p:cNvPr id="21" name="Straight Arrow Connector 20"/>
          <p:cNvCxnSpPr>
            <a:stCxn id="20" idx="3"/>
            <a:endCxn id="9" idx="1"/>
          </p:cNvCxnSpPr>
          <p:nvPr/>
        </p:nvCxnSpPr>
        <p:spPr>
          <a:xfrm>
            <a:off x="1737113" y="5448435"/>
            <a:ext cx="301949" cy="13721"/>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9529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9" grpId="0" animBg="1"/>
      <p:bldP spid="10" grpId="0" animBg="1"/>
      <p:bldP spid="11" grpId="0"/>
      <p:bldP spid="12" grpId="0"/>
      <p:bldP spid="13" grpId="0" animBg="1"/>
      <p:bldP spid="14" grpId="0" animBg="1"/>
      <p:bldP spid="15" grpId="0" animBg="1"/>
      <p:bldP spid="16" grpId="0"/>
      <p:bldP spid="19" grpId="0"/>
      <p:bldP spid="20"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What is an Evaluation?</a:t>
            </a:r>
          </a:p>
        </p:txBody>
      </p:sp>
      <p:sp>
        <p:nvSpPr>
          <p:cNvPr id="3" name="Text Placeholder 2"/>
          <p:cNvSpPr txBox="1">
            <a:spLocks/>
          </p:cNvSpPr>
          <p:nvPr/>
        </p:nvSpPr>
        <p:spPr>
          <a:xfrm>
            <a:off x="3887525" y="2641747"/>
            <a:ext cx="7739066" cy="2223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latin typeface="Arial" panose="020B0604020202020204" pitchFamily="34" charset="0"/>
                <a:cs typeface="Arial" panose="020B0604020202020204" pitchFamily="34" charset="0"/>
              </a:rPr>
              <a:t>An evaluation is an </a:t>
            </a:r>
            <a:r>
              <a:rPr lang="en-US" u="sng" dirty="0" smtClean="0">
                <a:solidFill>
                  <a:srgbClr val="0099FF"/>
                </a:solidFill>
                <a:latin typeface="Arial" panose="020B0604020202020204" pitchFamily="34" charset="0"/>
                <a:cs typeface="Arial" panose="020B0604020202020204" pitchFamily="34" charset="0"/>
              </a:rPr>
              <a:t>assessment</a:t>
            </a:r>
            <a:r>
              <a:rPr lang="en-US" dirty="0" smtClean="0">
                <a:latin typeface="Arial" panose="020B0604020202020204" pitchFamily="34" charset="0"/>
                <a:cs typeface="Arial" panose="020B0604020202020204" pitchFamily="34" charset="0"/>
              </a:rPr>
              <a:t>, as </a:t>
            </a:r>
            <a:r>
              <a:rPr lang="en-US" u="sng" dirty="0" smtClean="0">
                <a:solidFill>
                  <a:srgbClr val="0099FF"/>
                </a:solidFill>
                <a:latin typeface="Arial" panose="020B0604020202020204" pitchFamily="34" charset="0"/>
                <a:cs typeface="Arial" panose="020B0604020202020204" pitchFamily="34" charset="0"/>
              </a:rPr>
              <a:t>systematic</a:t>
            </a:r>
            <a:r>
              <a:rPr lang="en-US" dirty="0" smtClean="0">
                <a:latin typeface="Arial" panose="020B0604020202020204" pitchFamily="34" charset="0"/>
                <a:cs typeface="Arial" panose="020B0604020202020204" pitchFamily="34" charset="0"/>
              </a:rPr>
              <a:t> and </a:t>
            </a:r>
            <a:r>
              <a:rPr lang="en-US" u="sng" dirty="0" smtClean="0">
                <a:solidFill>
                  <a:srgbClr val="0099FF"/>
                </a:solidFill>
                <a:latin typeface="Arial" panose="020B0604020202020204" pitchFamily="34" charset="0"/>
                <a:cs typeface="Arial" panose="020B0604020202020204" pitchFamily="34" charset="0"/>
              </a:rPr>
              <a:t>impartial</a:t>
            </a:r>
            <a:r>
              <a:rPr lang="en-US" dirty="0" smtClean="0">
                <a:latin typeface="Arial" panose="020B0604020202020204" pitchFamily="34" charset="0"/>
                <a:cs typeface="Arial" panose="020B0604020202020204" pitchFamily="34" charset="0"/>
              </a:rPr>
              <a:t> as possible, of a programme, strategy, policy, sector, operational area or institutional performance. </a:t>
            </a:r>
          </a:p>
          <a:p>
            <a:pPr marL="0" indent="0">
              <a:buFont typeface="Arial" panose="020B0604020202020204" pitchFamily="34" charset="0"/>
              <a:buNone/>
            </a:pPr>
            <a:endParaRPr lang="en-US" dirty="0" smtClean="0">
              <a:latin typeface="Arial" panose="020B0604020202020204" pitchFamily="34" charset="0"/>
              <a:cs typeface="Arial" panose="020B0604020202020204" pitchFamily="34" charset="0"/>
            </a:endParaRPr>
          </a:p>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p:pic>
        <p:nvPicPr>
          <p:cNvPr id="4098" name="Picture 2" descr="http://cdn3.iconfinder.com/data/icons/musthave/256/Help.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6037" y="2247676"/>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594507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2084335" y="2646403"/>
            <a:ext cx="3294373" cy="2759315"/>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rgbClr val="0099FF"/>
                </a:solidFill>
              </a:rPr>
              <a:t>PROGRAMME</a:t>
            </a:r>
            <a:br>
              <a:rPr lang="en-US" sz="2400" dirty="0" smtClean="0">
                <a:solidFill>
                  <a:srgbClr val="0099FF"/>
                </a:solidFill>
              </a:rPr>
            </a:br>
            <a:r>
              <a:rPr lang="en-US" sz="2400" dirty="0" smtClean="0">
                <a:solidFill>
                  <a:srgbClr val="0099FF"/>
                </a:solidFill>
              </a:rPr>
              <a:t>RESULTS</a:t>
            </a:r>
            <a:endParaRPr lang="en-US" sz="2400" dirty="0">
              <a:solidFill>
                <a:srgbClr val="0099FF"/>
              </a:solidFill>
            </a:endParaRPr>
          </a:p>
        </p:txBody>
      </p:sp>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Purpose of Evaluation</a:t>
            </a:r>
          </a:p>
        </p:txBody>
      </p:sp>
      <p:sp>
        <p:nvSpPr>
          <p:cNvPr id="20" name="Oval 19"/>
          <p:cNvSpPr/>
          <p:nvPr/>
        </p:nvSpPr>
        <p:spPr>
          <a:xfrm>
            <a:off x="291971" y="3969835"/>
            <a:ext cx="2293034" cy="1969477"/>
          </a:xfrm>
          <a:prstGeom prst="ellipse">
            <a:avLst/>
          </a:prstGeom>
          <a:solidFill>
            <a:schemeClr val="accent2">
              <a:lumMod val="40000"/>
              <a:lumOff val="60000"/>
            </a:schemeClr>
          </a:solidFill>
          <a:ln>
            <a:solidFill>
              <a:schemeClr val="bg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Establish contributions made</a:t>
            </a:r>
          </a:p>
        </p:txBody>
      </p:sp>
      <p:sp>
        <p:nvSpPr>
          <p:cNvPr id="22" name="Oval 21"/>
          <p:cNvSpPr/>
          <p:nvPr/>
        </p:nvSpPr>
        <p:spPr>
          <a:xfrm>
            <a:off x="4702607" y="4057758"/>
            <a:ext cx="2293034" cy="1969477"/>
          </a:xfrm>
          <a:prstGeom prst="ellipse">
            <a:avLst/>
          </a:prstGeom>
          <a:solidFill>
            <a:schemeClr val="accent1">
              <a:lumMod val="40000"/>
              <a:lumOff val="60000"/>
            </a:schemeClr>
          </a:solidFill>
          <a:ln>
            <a:solidFill>
              <a:schemeClr val="bg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Accountability</a:t>
            </a:r>
          </a:p>
        </p:txBody>
      </p:sp>
      <p:sp>
        <p:nvSpPr>
          <p:cNvPr id="25" name="Oval 24"/>
          <p:cNvSpPr/>
          <p:nvPr/>
        </p:nvSpPr>
        <p:spPr>
          <a:xfrm>
            <a:off x="2497289" y="891044"/>
            <a:ext cx="2293034" cy="1969477"/>
          </a:xfrm>
          <a:prstGeom prst="ellipse">
            <a:avLst/>
          </a:prstGeom>
          <a:solidFill>
            <a:schemeClr val="bg1">
              <a:lumMod val="85000"/>
            </a:schemeClr>
          </a:solidFill>
          <a:ln>
            <a:solidFill>
              <a:schemeClr val="bg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latin typeface="Arial" panose="020B0604020202020204" pitchFamily="34" charset="0"/>
                <a:cs typeface="Arial" panose="020B0604020202020204" pitchFamily="34" charset="0"/>
              </a:rPr>
              <a:t>L</a:t>
            </a:r>
            <a:r>
              <a:rPr lang="en-US" dirty="0" smtClean="0">
                <a:latin typeface="Arial" panose="020B0604020202020204" pitchFamily="34" charset="0"/>
                <a:cs typeface="Arial" panose="020B0604020202020204" pitchFamily="34" charset="0"/>
              </a:rPr>
              <a:t>earning</a:t>
            </a:r>
          </a:p>
        </p:txBody>
      </p:sp>
      <p:sp>
        <p:nvSpPr>
          <p:cNvPr id="9" name="Content Placeholder 2"/>
          <p:cNvSpPr txBox="1">
            <a:spLocks/>
          </p:cNvSpPr>
          <p:nvPr/>
        </p:nvSpPr>
        <p:spPr>
          <a:xfrm>
            <a:off x="7319020" y="1514429"/>
            <a:ext cx="4872979" cy="376590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spcAft>
                <a:spcPts val="600"/>
              </a:spcAft>
              <a:buFont typeface="Wingdings" pitchFamily="2" charset="2"/>
              <a:buChar char="ü"/>
            </a:pPr>
            <a:endParaRPr lang="en-US" dirty="0" smtClean="0">
              <a:solidFill>
                <a:srgbClr val="00B0F0"/>
              </a:solidFill>
              <a:latin typeface="Arial" panose="020B0604020202020204" pitchFamily="34" charset="0"/>
              <a:cs typeface="Arial" panose="020B0604020202020204" pitchFamily="34" charset="0"/>
            </a:endParaRPr>
          </a:p>
          <a:p>
            <a:pPr>
              <a:spcBef>
                <a:spcPts val="600"/>
              </a:spcBef>
              <a:spcAft>
                <a:spcPts val="600"/>
              </a:spcAft>
              <a:buFont typeface="Wingdings" panose="05000000000000000000" pitchFamily="2" charset="2"/>
              <a:buChar char="§"/>
            </a:pPr>
            <a:r>
              <a:rPr lang="en-US" sz="2400" dirty="0" smtClean="0">
                <a:latin typeface="Arial" panose="020B0604020202020204" pitchFamily="34" charset="0"/>
                <a:cs typeface="Arial" panose="020B0604020202020204" pitchFamily="34" charset="0"/>
              </a:rPr>
              <a:t>Accountability for results  </a:t>
            </a:r>
          </a:p>
          <a:p>
            <a:pPr>
              <a:spcBef>
                <a:spcPts val="600"/>
              </a:spcBef>
              <a:spcAft>
                <a:spcPts val="600"/>
              </a:spcAft>
              <a:buFont typeface="Wingdings" panose="05000000000000000000" pitchFamily="2" charset="2"/>
              <a:buChar char="§"/>
            </a:pPr>
            <a:r>
              <a:rPr lang="en-US" sz="2400" dirty="0" smtClean="0">
                <a:latin typeface="Arial" panose="020B0604020202020204" pitchFamily="34" charset="0"/>
                <a:cs typeface="Arial" panose="020B0604020202020204" pitchFamily="34" charset="0"/>
              </a:rPr>
              <a:t>Organizational </a:t>
            </a:r>
            <a:r>
              <a:rPr lang="en-US" sz="2400" dirty="0" smtClean="0">
                <a:solidFill>
                  <a:schemeClr val="accent1"/>
                </a:solidFill>
                <a:latin typeface="Arial" panose="020B0604020202020204" pitchFamily="34" charset="0"/>
                <a:cs typeface="Arial" panose="020B0604020202020204" pitchFamily="34" charset="0"/>
              </a:rPr>
              <a:t>learning</a:t>
            </a:r>
            <a:r>
              <a:rPr lang="en-US" sz="2400" dirty="0" smtClean="0">
                <a:latin typeface="Arial" panose="020B0604020202020204" pitchFamily="34" charset="0"/>
                <a:cs typeface="Arial" panose="020B0604020202020204" pitchFamily="34" charset="0"/>
              </a:rPr>
              <a:t> and improvement</a:t>
            </a:r>
          </a:p>
          <a:p>
            <a:pPr>
              <a:spcBef>
                <a:spcPts val="600"/>
              </a:spcBef>
              <a:spcAft>
                <a:spcPts val="600"/>
              </a:spcAft>
              <a:buFont typeface="Wingdings" panose="05000000000000000000" pitchFamily="2" charset="2"/>
              <a:buChar char="§"/>
            </a:pPr>
            <a:r>
              <a:rPr lang="en-US" sz="2400" dirty="0" smtClean="0">
                <a:latin typeface="Arial" panose="020B0604020202020204" pitchFamily="34" charset="0"/>
                <a:cs typeface="Arial" panose="020B0604020202020204" pitchFamily="34" charset="0"/>
              </a:rPr>
              <a:t>Contribute to </a:t>
            </a:r>
            <a:r>
              <a:rPr lang="en-US" sz="2400" dirty="0" smtClean="0">
                <a:solidFill>
                  <a:schemeClr val="accent1"/>
                </a:solidFill>
                <a:latin typeface="Arial" panose="020B0604020202020204" pitchFamily="34" charset="0"/>
                <a:cs typeface="Arial" panose="020B0604020202020204" pitchFamily="34" charset="0"/>
              </a:rPr>
              <a:t>knowledge</a:t>
            </a:r>
            <a:r>
              <a:rPr lang="en-US" sz="2400" dirty="0" smtClean="0">
                <a:latin typeface="Arial" panose="020B0604020202020204" pitchFamily="34" charset="0"/>
                <a:cs typeface="Arial" panose="020B0604020202020204" pitchFamily="34" charset="0"/>
              </a:rPr>
              <a:t> generation</a:t>
            </a:r>
          </a:p>
          <a:p>
            <a:pPr>
              <a:spcBef>
                <a:spcPts val="600"/>
              </a:spcBef>
              <a:spcAft>
                <a:spcPts val="600"/>
              </a:spcAft>
              <a:buFont typeface="Wingdings" panose="05000000000000000000" pitchFamily="2" charset="2"/>
              <a:buChar char="§"/>
            </a:pPr>
            <a:r>
              <a:rPr lang="en-US" sz="2400" dirty="0" smtClean="0">
                <a:latin typeface="Arial" panose="020B0604020202020204" pitchFamily="34" charset="0"/>
                <a:cs typeface="Arial" panose="020B0604020202020204" pitchFamily="34" charset="0"/>
              </a:rPr>
              <a:t>Evidence-based policy </a:t>
            </a:r>
            <a:r>
              <a:rPr lang="en-US" sz="2400" dirty="0" smtClean="0">
                <a:solidFill>
                  <a:schemeClr val="accent1"/>
                </a:solidFill>
                <a:latin typeface="Arial" panose="020B0604020202020204" pitchFamily="34" charset="0"/>
                <a:cs typeface="Arial" panose="020B0604020202020204" pitchFamily="34" charset="0"/>
              </a:rPr>
              <a:t>advocacy</a:t>
            </a:r>
          </a:p>
        </p:txBody>
      </p:sp>
    </p:spTree>
    <p:extLst>
      <p:ext uri="{BB962C8B-B14F-4D97-AF65-F5344CB8AC3E}">
        <p14:creationId xmlns:p14="http://schemas.microsoft.com/office/powerpoint/2010/main" val="144101697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Evaluation Contributes to:</a:t>
            </a:r>
          </a:p>
        </p:txBody>
      </p:sp>
      <p:sp>
        <p:nvSpPr>
          <p:cNvPr id="5" name="Rectangle 4"/>
          <p:cNvSpPr/>
          <p:nvPr/>
        </p:nvSpPr>
        <p:spPr bwMode="auto">
          <a:xfrm>
            <a:off x="2057400" y="1937263"/>
            <a:ext cx="2514600" cy="1110735"/>
          </a:xfrm>
          <a:prstGeom prst="rect">
            <a:avLst/>
          </a:prstGeom>
          <a:solidFill>
            <a:srgbClr val="0099FF"/>
          </a:solidFill>
          <a:ln>
            <a:solidFill>
              <a:srgbClr val="0099FF"/>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algn="ctr" defTabSz="457200" eaLnBrk="0" fontAlgn="base" hangingPunct="0">
              <a:spcBef>
                <a:spcPct val="0"/>
              </a:spcBef>
              <a:spcAft>
                <a:spcPct val="0"/>
              </a:spcAft>
            </a:pPr>
            <a:r>
              <a:rPr lang="en-US" altLang="ko-KR" sz="2400" dirty="0">
                <a:solidFill>
                  <a:schemeClr val="bg1"/>
                </a:solidFill>
                <a:latin typeface="Arial" panose="020B0604020202020204" pitchFamily="34" charset="0"/>
                <a:ea typeface="굴림" charset="-127"/>
                <a:cs typeface="Arial" panose="020B0604020202020204" pitchFamily="34" charset="0"/>
              </a:rPr>
              <a:t>Standard Evaluation Criteria</a:t>
            </a:r>
            <a:endParaRPr lang="en-US" sz="2400" dirty="0">
              <a:solidFill>
                <a:schemeClr val="bg1"/>
              </a:solidFill>
              <a:latin typeface="Arial" panose="020B0604020202020204" pitchFamily="34" charset="0"/>
              <a:cs typeface="Arial" panose="020B0604020202020204" pitchFamily="34" charset="0"/>
            </a:endParaRPr>
          </a:p>
        </p:txBody>
      </p:sp>
      <p:sp>
        <p:nvSpPr>
          <p:cNvPr id="6" name="Rectangle 5"/>
          <p:cNvSpPr/>
          <p:nvPr/>
        </p:nvSpPr>
        <p:spPr bwMode="auto">
          <a:xfrm>
            <a:off x="4838700" y="1937264"/>
            <a:ext cx="2514600" cy="1110735"/>
          </a:xfrm>
          <a:prstGeom prst="rect">
            <a:avLst/>
          </a:prstGeom>
          <a:solidFill>
            <a:srgbClr val="FFC000"/>
          </a:solidFill>
          <a:ln>
            <a:solidFill>
              <a:srgbClr val="FFC000"/>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ctr" anchorCtr="0" compatLnSpc="1">
            <a:prstTxWarp prst="textNoShape">
              <a:avLst/>
            </a:prstTxWarp>
          </a:bodyPr>
          <a:lstStyle/>
          <a:p>
            <a:pPr algn="ctr" defTabSz="457200"/>
            <a:r>
              <a:rPr lang="en-US" altLang="ko-KR" sz="2400" dirty="0">
                <a:solidFill>
                  <a:schemeClr val="tx1">
                    <a:lumMod val="65000"/>
                    <a:lumOff val="35000"/>
                  </a:schemeClr>
                </a:solidFill>
                <a:latin typeface="Arial" panose="020B0604020202020204" pitchFamily="34" charset="0"/>
                <a:ea typeface="굴림" charset="-127"/>
                <a:cs typeface="Arial" panose="020B0604020202020204" pitchFamily="34" charset="0"/>
              </a:rPr>
              <a:t>Gender Equality &amp; HRBAP Criteria</a:t>
            </a:r>
            <a:endParaRPr lang="en-US" sz="24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7" name="Rectangle 6"/>
          <p:cNvSpPr/>
          <p:nvPr/>
        </p:nvSpPr>
        <p:spPr bwMode="auto">
          <a:xfrm>
            <a:off x="7620000" y="1937265"/>
            <a:ext cx="2514600" cy="1110735"/>
          </a:xfrm>
          <a:prstGeom prst="rect">
            <a:avLst/>
          </a:prstGeom>
          <a:solidFill>
            <a:schemeClr val="bg1">
              <a:lumMod val="65000"/>
            </a:schemeClr>
          </a:solidFill>
          <a:ln>
            <a:solidFill>
              <a:schemeClr val="bg1">
                <a:lumMod val="6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ctr" anchorCtr="0" compatLnSpc="1">
            <a:prstTxWarp prst="textNoShape">
              <a:avLst/>
            </a:prstTxWarp>
          </a:bodyPr>
          <a:lstStyle/>
          <a:p>
            <a:pPr algn="ctr" defTabSz="457200"/>
            <a:r>
              <a:rPr lang="en-US" altLang="ko-KR" sz="2000" dirty="0">
                <a:solidFill>
                  <a:schemeClr val="bg1"/>
                </a:solidFill>
                <a:latin typeface="Arial" panose="020B0604020202020204" pitchFamily="34" charset="0"/>
                <a:ea typeface="굴림" charset="-127"/>
                <a:cs typeface="Arial" panose="020B0604020202020204" pitchFamily="34" charset="0"/>
              </a:rPr>
              <a:t>Humanitarian Response Evaluation Criteria</a:t>
            </a:r>
            <a:endParaRPr lang="en-US" sz="2000" dirty="0">
              <a:solidFill>
                <a:schemeClr val="bg1"/>
              </a:solidFill>
              <a:latin typeface="Arial" panose="020B0604020202020204" pitchFamily="34" charset="0"/>
              <a:cs typeface="Arial" panose="020B0604020202020204" pitchFamily="34" charset="0"/>
            </a:endParaRPr>
          </a:p>
        </p:txBody>
      </p:sp>
      <p:sp>
        <p:nvSpPr>
          <p:cNvPr id="8" name="Rectangle 7"/>
          <p:cNvSpPr/>
          <p:nvPr/>
        </p:nvSpPr>
        <p:spPr bwMode="auto">
          <a:xfrm>
            <a:off x="2057400" y="3200398"/>
            <a:ext cx="2514600" cy="3048003"/>
          </a:xfrm>
          <a:prstGeom prst="rect">
            <a:avLst/>
          </a:prstGeom>
          <a:ln>
            <a:solidFill>
              <a:srgbClr val="0099FF"/>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342900" indent="-342900" defTabSz="457200">
              <a:buFont typeface="Arial" panose="020B0604020202020204" pitchFamily="34" charset="0"/>
              <a:buChar char="•"/>
            </a:pPr>
            <a:r>
              <a:rPr lang="en-US" altLang="ko-KR" sz="2000" dirty="0">
                <a:solidFill>
                  <a:prstClr val="black"/>
                </a:solidFill>
                <a:latin typeface="Arial" panose="020B0604020202020204" pitchFamily="34" charset="0"/>
                <a:ea typeface="굴림" charset="-127"/>
                <a:cs typeface="Arial" panose="020B0604020202020204" pitchFamily="34" charset="0"/>
              </a:rPr>
              <a:t>Relevance</a:t>
            </a:r>
          </a:p>
          <a:p>
            <a:pPr marL="342900" indent="-342900" defTabSz="457200">
              <a:buFont typeface="Arial" panose="020B0604020202020204" pitchFamily="34" charset="0"/>
              <a:buChar char="•"/>
            </a:pPr>
            <a:r>
              <a:rPr lang="en-US" altLang="ko-KR" sz="2000" dirty="0">
                <a:solidFill>
                  <a:prstClr val="black"/>
                </a:solidFill>
                <a:latin typeface="Arial" panose="020B0604020202020204" pitchFamily="34" charset="0"/>
                <a:ea typeface="굴림" charset="-127"/>
                <a:cs typeface="Arial" panose="020B0604020202020204" pitchFamily="34" charset="0"/>
              </a:rPr>
              <a:t>Efficiency</a:t>
            </a:r>
          </a:p>
          <a:p>
            <a:pPr marL="342900" indent="-342900" defTabSz="457200">
              <a:buFont typeface="Arial" panose="020B0604020202020204" pitchFamily="34" charset="0"/>
              <a:buChar char="•"/>
            </a:pPr>
            <a:r>
              <a:rPr lang="en-US" altLang="ko-KR" sz="2000" dirty="0">
                <a:solidFill>
                  <a:prstClr val="black"/>
                </a:solidFill>
                <a:latin typeface="Arial" panose="020B0604020202020204" pitchFamily="34" charset="0"/>
                <a:ea typeface="굴림" charset="-127"/>
                <a:cs typeface="Arial" panose="020B0604020202020204" pitchFamily="34" charset="0"/>
              </a:rPr>
              <a:t>Effectiveness</a:t>
            </a:r>
          </a:p>
          <a:p>
            <a:pPr marL="342900" indent="-342900" defTabSz="457200">
              <a:buFont typeface="Arial" panose="020B0604020202020204" pitchFamily="34" charset="0"/>
              <a:buChar char="•"/>
            </a:pPr>
            <a:r>
              <a:rPr lang="en-US" altLang="ko-KR" sz="2000" dirty="0">
                <a:solidFill>
                  <a:prstClr val="black"/>
                </a:solidFill>
                <a:latin typeface="Arial" panose="020B0604020202020204" pitchFamily="34" charset="0"/>
                <a:ea typeface="굴림" charset="-127"/>
                <a:cs typeface="Arial" panose="020B0604020202020204" pitchFamily="34" charset="0"/>
              </a:rPr>
              <a:t>Impact</a:t>
            </a:r>
          </a:p>
          <a:p>
            <a:pPr marL="342900" indent="-342900" defTabSz="457200">
              <a:buFont typeface="Arial" panose="020B0604020202020204" pitchFamily="34" charset="0"/>
              <a:buChar char="•"/>
            </a:pPr>
            <a:r>
              <a:rPr lang="en-US" altLang="ko-KR" sz="2000" dirty="0">
                <a:solidFill>
                  <a:prstClr val="black"/>
                </a:solidFill>
                <a:latin typeface="Arial" panose="020B0604020202020204" pitchFamily="34" charset="0"/>
                <a:ea typeface="굴림" charset="-127"/>
                <a:cs typeface="Arial" panose="020B0604020202020204" pitchFamily="34" charset="0"/>
              </a:rPr>
              <a:t>Sustainability</a:t>
            </a:r>
          </a:p>
        </p:txBody>
      </p:sp>
      <p:sp>
        <p:nvSpPr>
          <p:cNvPr id="9" name="Rectangle 8"/>
          <p:cNvSpPr/>
          <p:nvPr/>
        </p:nvSpPr>
        <p:spPr bwMode="auto">
          <a:xfrm>
            <a:off x="4838700" y="3200398"/>
            <a:ext cx="2514600" cy="3048003"/>
          </a:xfrm>
          <a:prstGeom prst="rect">
            <a:avLst/>
          </a:prstGeom>
          <a:ln>
            <a:solidFill>
              <a:srgbClr val="FFC000"/>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182880" tIns="91440" rIns="91440" bIns="45720" numCol="1" rtlCol="0" anchor="t" anchorCtr="0" compatLnSpc="1">
            <a:prstTxWarp prst="textNoShape">
              <a:avLst/>
            </a:prstTxWarp>
          </a:bodyPr>
          <a:lstStyle/>
          <a:p>
            <a:pPr defTabSz="457200"/>
            <a:r>
              <a:rPr lang="en-US" altLang="ko-KR" sz="2000" dirty="0">
                <a:solidFill>
                  <a:prstClr val="black"/>
                </a:solidFill>
                <a:latin typeface="Arial" panose="020B0604020202020204" pitchFamily="34" charset="0"/>
                <a:ea typeface="굴림" charset="-127"/>
                <a:cs typeface="Arial" panose="020B0604020202020204" pitchFamily="34" charset="0"/>
              </a:rPr>
              <a:t>Equity, gender equality perspective and human rights-based approach incorporated in intervention design / implementation?</a:t>
            </a:r>
            <a:endParaRPr lang="en-US" sz="2000" dirty="0">
              <a:solidFill>
                <a:prstClr val="black"/>
              </a:solidFill>
              <a:latin typeface="Arial" panose="020B0604020202020204" pitchFamily="34" charset="0"/>
              <a:cs typeface="Arial" panose="020B0604020202020204" pitchFamily="34" charset="0"/>
            </a:endParaRPr>
          </a:p>
        </p:txBody>
      </p:sp>
      <p:sp>
        <p:nvSpPr>
          <p:cNvPr id="10" name="Rectangle 9"/>
          <p:cNvSpPr/>
          <p:nvPr/>
        </p:nvSpPr>
        <p:spPr bwMode="auto">
          <a:xfrm>
            <a:off x="7620000" y="3200398"/>
            <a:ext cx="2514600" cy="3048003"/>
          </a:xfrm>
          <a:prstGeom prst="rect">
            <a:avLst/>
          </a:prstGeom>
          <a:ln>
            <a:solidFill>
              <a:schemeClr val="bg1">
                <a:lumMod val="6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342900" indent="-342900" defTabSz="457200">
              <a:buFont typeface="Arial" panose="020B0604020202020204" pitchFamily="34" charset="0"/>
              <a:buChar char="•"/>
            </a:pPr>
            <a:r>
              <a:rPr lang="en-US" altLang="ko-KR" sz="2000" dirty="0">
                <a:solidFill>
                  <a:prstClr val="black"/>
                </a:solidFill>
                <a:latin typeface="Arial" panose="020B0604020202020204" pitchFamily="34" charset="0"/>
                <a:ea typeface="굴림" charset="-127"/>
                <a:cs typeface="Arial" panose="020B0604020202020204" pitchFamily="34" charset="0"/>
              </a:rPr>
              <a:t>Coverage</a:t>
            </a:r>
            <a:endParaRPr lang="en-US" sz="2000" dirty="0">
              <a:solidFill>
                <a:prstClr val="black"/>
              </a:solidFill>
              <a:latin typeface="Arial" panose="020B0604020202020204" pitchFamily="34" charset="0"/>
              <a:cs typeface="Arial" panose="020B0604020202020204" pitchFamily="34" charset="0"/>
            </a:endParaRPr>
          </a:p>
          <a:p>
            <a:pPr marL="342900" indent="-342900" defTabSz="457200">
              <a:buFont typeface="Arial" panose="020B0604020202020204" pitchFamily="34" charset="0"/>
              <a:buChar char="•"/>
            </a:pPr>
            <a:r>
              <a:rPr lang="en-US" altLang="ko-KR" sz="2000" dirty="0">
                <a:solidFill>
                  <a:prstClr val="black"/>
                </a:solidFill>
                <a:latin typeface="Arial" panose="020B0604020202020204" pitchFamily="34" charset="0"/>
                <a:ea typeface="굴림" charset="-127"/>
                <a:cs typeface="Arial" panose="020B0604020202020204" pitchFamily="34" charset="0"/>
              </a:rPr>
              <a:t>Coordination</a:t>
            </a:r>
          </a:p>
          <a:p>
            <a:pPr marL="342900" indent="-342900" defTabSz="457200">
              <a:buFont typeface="Arial" panose="020B0604020202020204" pitchFamily="34" charset="0"/>
              <a:buChar char="•"/>
            </a:pPr>
            <a:r>
              <a:rPr lang="en-US" altLang="ko-KR" sz="2000" dirty="0">
                <a:solidFill>
                  <a:prstClr val="black"/>
                </a:solidFill>
                <a:latin typeface="Arial" panose="020B0604020202020204" pitchFamily="34" charset="0"/>
                <a:ea typeface="굴림" charset="-127"/>
                <a:cs typeface="Arial" panose="020B0604020202020204" pitchFamily="34" charset="0"/>
              </a:rPr>
              <a:t>Coherence</a:t>
            </a:r>
          </a:p>
          <a:p>
            <a:pPr marL="342900" indent="-342900" defTabSz="457200">
              <a:buFont typeface="Arial" panose="020B0604020202020204" pitchFamily="34" charset="0"/>
              <a:buChar char="•"/>
            </a:pPr>
            <a:r>
              <a:rPr lang="en-US" altLang="ko-KR" sz="2000" dirty="0">
                <a:solidFill>
                  <a:prstClr val="black"/>
                </a:solidFill>
                <a:latin typeface="Arial" panose="020B0604020202020204" pitchFamily="34" charset="0"/>
                <a:ea typeface="굴림" charset="-127"/>
                <a:cs typeface="Arial" panose="020B0604020202020204" pitchFamily="34" charset="0"/>
              </a:rPr>
              <a:t>Connectedness</a:t>
            </a:r>
          </a:p>
          <a:p>
            <a:pPr marL="342900" indent="-342900" defTabSz="457200">
              <a:buFont typeface="Arial" panose="020B0604020202020204" pitchFamily="34" charset="0"/>
              <a:buChar char="•"/>
            </a:pPr>
            <a:r>
              <a:rPr lang="en-US" altLang="ko-KR" sz="2000" dirty="0">
                <a:solidFill>
                  <a:prstClr val="black"/>
                </a:solidFill>
                <a:latin typeface="Arial" panose="020B0604020202020204" pitchFamily="34" charset="0"/>
                <a:ea typeface="굴림" charset="-127"/>
                <a:cs typeface="Arial" panose="020B0604020202020204" pitchFamily="34" charset="0"/>
              </a:rPr>
              <a:t>Protection</a:t>
            </a:r>
          </a:p>
        </p:txBody>
      </p:sp>
    </p:spTree>
    <p:extLst>
      <p:ext uri="{BB962C8B-B14F-4D97-AF65-F5344CB8AC3E}">
        <p14:creationId xmlns:p14="http://schemas.microsoft.com/office/powerpoint/2010/main" val="402944593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Managing Evaluations</a:t>
            </a:r>
          </a:p>
        </p:txBody>
      </p:sp>
      <p:pic>
        <p:nvPicPr>
          <p:cNvPr id="2052" name="Picture 4" descr="http://www.mountaingoatsoftware.com/uploads/blog/icon_themescreening_12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387" y="1352246"/>
            <a:ext cx="1219200" cy="121920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ttp://poprostuprojekty.pl/wp-content/uploads/2015/02/project-plan-ic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6412" y="1360582"/>
            <a:ext cx="1252731" cy="125273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89766" y="2888983"/>
            <a:ext cx="2506442" cy="2308324"/>
          </a:xfrm>
          <a:prstGeom prst="rect">
            <a:avLst/>
          </a:prstGeom>
          <a:ln>
            <a:noFill/>
          </a:ln>
        </p:spPr>
        <p:txBody>
          <a:bodyPr wrap="square">
            <a:spAutoFit/>
          </a:bodyPr>
          <a:lstStyle/>
          <a:p>
            <a:pPr algn="ctr"/>
            <a:r>
              <a:rPr lang="en-US" sz="1600" dirty="0">
                <a:latin typeface="Arial" panose="020B0604020202020204" pitchFamily="34" charset="0"/>
                <a:cs typeface="Arial" panose="020B0604020202020204" pitchFamily="34" charset="0"/>
              </a:rPr>
              <a:t>Evaluations are </a:t>
            </a:r>
            <a:r>
              <a:rPr lang="en-US" sz="1600" b="1" dirty="0">
                <a:latin typeface="Arial" panose="020B0604020202020204" pitchFamily="34" charset="0"/>
                <a:cs typeface="Arial" panose="020B0604020202020204" pitchFamily="34" charset="0"/>
              </a:rPr>
              <a:t>selected strategically </a:t>
            </a:r>
            <a:r>
              <a:rPr lang="en-US" sz="1600" dirty="0">
                <a:latin typeface="Arial" panose="020B0604020202020204" pitchFamily="34" charset="0"/>
                <a:cs typeface="Arial" panose="020B0604020202020204" pitchFamily="34" charset="0"/>
              </a:rPr>
              <a:t>and </a:t>
            </a:r>
            <a:r>
              <a:rPr lang="en-US" sz="1600" b="1" dirty="0">
                <a:latin typeface="Arial" panose="020B0604020202020204" pitchFamily="34" charset="0"/>
                <a:cs typeface="Arial" panose="020B0604020202020204" pitchFamily="34" charset="0"/>
              </a:rPr>
              <a:t>prioritized</a:t>
            </a:r>
            <a:r>
              <a:rPr lang="en-US" sz="1600" dirty="0">
                <a:latin typeface="Arial" panose="020B0604020202020204" pitchFamily="34" charset="0"/>
                <a:cs typeface="Arial" panose="020B0604020202020204" pitchFamily="34" charset="0"/>
              </a:rPr>
              <a:t> during programme design, with an indication of resource allocation and how they will be conducted and managed </a:t>
            </a:r>
            <a:r>
              <a:rPr lang="en-US" sz="1600" i="1" dirty="0">
                <a:latin typeface="Arial" panose="020B0604020202020204" pitchFamily="34" charset="0"/>
                <a:cs typeface="Arial" panose="020B0604020202020204" pitchFamily="34" charset="0"/>
              </a:rPr>
              <a:t>(</a:t>
            </a:r>
            <a:r>
              <a:rPr lang="en-US" sz="1600" b="1" i="1" dirty="0">
                <a:latin typeface="Arial" panose="020B0604020202020204" pitchFamily="34" charset="0"/>
                <a:cs typeface="Arial" panose="020B0604020202020204" pitchFamily="34" charset="0"/>
              </a:rPr>
              <a:t>costed evaluation plans</a:t>
            </a:r>
            <a:r>
              <a:rPr lang="en-US" sz="1600" i="1" dirty="0">
                <a:latin typeface="Arial" panose="020B0604020202020204" pitchFamily="34" charset="0"/>
                <a:cs typeface="Arial" panose="020B0604020202020204" pitchFamily="34" charset="0"/>
              </a:rPr>
              <a:t>).</a:t>
            </a:r>
          </a:p>
        </p:txBody>
      </p:sp>
      <p:cxnSp>
        <p:nvCxnSpPr>
          <p:cNvPr id="5" name="Straight Connector 4"/>
          <p:cNvCxnSpPr/>
          <p:nvPr/>
        </p:nvCxnSpPr>
        <p:spPr>
          <a:xfrm>
            <a:off x="189766" y="2840746"/>
            <a:ext cx="11630527" cy="0"/>
          </a:xfrm>
          <a:prstGeom prst="line">
            <a:avLst/>
          </a:prstGeom>
          <a:ln>
            <a:solidFill>
              <a:srgbClr val="0099FF"/>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3059874" y="2888983"/>
            <a:ext cx="2025805" cy="2308324"/>
          </a:xfrm>
          <a:prstGeom prst="rect">
            <a:avLst/>
          </a:prstGeom>
        </p:spPr>
        <p:txBody>
          <a:bodyPr wrap="square">
            <a:spAutoFit/>
          </a:bodyPr>
          <a:lstStyle/>
          <a:p>
            <a:pPr algn="ctr"/>
            <a:r>
              <a:rPr lang="en-US" sz="1600" b="1" dirty="0">
                <a:latin typeface="Arial" panose="020B0604020202020204" pitchFamily="34" charset="0"/>
                <a:cs typeface="Arial" panose="020B0604020202020204" pitchFamily="34" charset="0"/>
              </a:rPr>
              <a:t>Integrated Monitoring and Evaluation Plans </a:t>
            </a:r>
            <a:r>
              <a:rPr lang="en-US" sz="1600" dirty="0">
                <a:latin typeface="Arial" panose="020B0604020202020204" pitchFamily="34" charset="0"/>
                <a:cs typeface="Arial" panose="020B0604020202020204" pitchFamily="34" charset="0"/>
              </a:rPr>
              <a:t>(IMEPs) capture synergies and bring coherence in these activities for the entire country programme</a:t>
            </a:r>
          </a:p>
        </p:txBody>
      </p:sp>
      <p:sp>
        <p:nvSpPr>
          <p:cNvPr id="7" name="Rectangle 6"/>
          <p:cNvSpPr/>
          <p:nvPr/>
        </p:nvSpPr>
        <p:spPr>
          <a:xfrm>
            <a:off x="5482799" y="2888983"/>
            <a:ext cx="2055425" cy="2062103"/>
          </a:xfrm>
          <a:prstGeom prst="rect">
            <a:avLst/>
          </a:prstGeom>
        </p:spPr>
        <p:txBody>
          <a:bodyPr wrap="square">
            <a:spAutoFit/>
          </a:bodyPr>
          <a:lstStyle/>
          <a:p>
            <a:pPr algn="ctr"/>
            <a:r>
              <a:rPr lang="en-US" sz="1600" dirty="0">
                <a:latin typeface="Arial" panose="020B0604020202020204" pitchFamily="34" charset="0"/>
                <a:cs typeface="Arial" panose="020B0604020202020204" pitchFamily="34" charset="0"/>
              </a:rPr>
              <a:t>Evaluations are reflected in annual plans and that ensure the allocation of adequate human and financial resources</a:t>
            </a:r>
          </a:p>
        </p:txBody>
      </p:sp>
      <p:sp>
        <p:nvSpPr>
          <p:cNvPr id="8" name="Rectangle 7"/>
          <p:cNvSpPr/>
          <p:nvPr/>
        </p:nvSpPr>
        <p:spPr>
          <a:xfrm>
            <a:off x="7742663" y="2888983"/>
            <a:ext cx="2126166" cy="1815882"/>
          </a:xfrm>
          <a:prstGeom prst="rect">
            <a:avLst/>
          </a:prstGeom>
        </p:spPr>
        <p:txBody>
          <a:bodyPr wrap="square">
            <a:spAutoFit/>
          </a:bodyPr>
          <a:lstStyle/>
          <a:p>
            <a:pPr algn="ctr"/>
            <a:r>
              <a:rPr lang="en-US" sz="1600" dirty="0">
                <a:latin typeface="Arial" panose="020B0604020202020204" pitchFamily="34" charset="0"/>
                <a:cs typeface="Arial" panose="020B0604020202020204" pitchFamily="34" charset="0"/>
              </a:rPr>
              <a:t>A </a:t>
            </a:r>
            <a:r>
              <a:rPr lang="en-US" sz="1600" b="1" dirty="0">
                <a:latin typeface="Arial" panose="020B0604020202020204" pitchFamily="34" charset="0"/>
                <a:cs typeface="Arial" panose="020B0604020202020204" pitchFamily="34" charset="0"/>
              </a:rPr>
              <a:t>quality assurance and clearance mechanism </a:t>
            </a:r>
            <a:r>
              <a:rPr lang="en-US" sz="1600" dirty="0">
                <a:latin typeface="Arial" panose="020B0604020202020204" pitchFamily="34" charset="0"/>
                <a:cs typeface="Arial" panose="020B0604020202020204" pitchFamily="34" charset="0"/>
              </a:rPr>
              <a:t>exists for the preparation, conduct and finalization of evaluations</a:t>
            </a:r>
          </a:p>
        </p:txBody>
      </p:sp>
      <p:sp>
        <p:nvSpPr>
          <p:cNvPr id="9" name="Rectangle 8"/>
          <p:cNvSpPr/>
          <p:nvPr/>
        </p:nvSpPr>
        <p:spPr>
          <a:xfrm>
            <a:off x="10159897" y="2888983"/>
            <a:ext cx="1825083" cy="2062103"/>
          </a:xfrm>
          <a:prstGeom prst="rect">
            <a:avLst/>
          </a:prstGeom>
        </p:spPr>
        <p:txBody>
          <a:bodyPr wrap="square">
            <a:spAutoFit/>
          </a:bodyPr>
          <a:lstStyle/>
          <a:p>
            <a:pPr algn="ctr"/>
            <a:r>
              <a:rPr lang="en-US" sz="1600" dirty="0">
                <a:latin typeface="Arial" panose="020B0604020202020204" pitchFamily="34" charset="0"/>
                <a:cs typeface="Arial" panose="020B0604020202020204" pitchFamily="34" charset="0"/>
              </a:rPr>
              <a:t>Evaluation findings are sound and </a:t>
            </a:r>
            <a:r>
              <a:rPr lang="en-US" sz="1600" b="1" dirty="0">
                <a:latin typeface="Arial" panose="020B0604020202020204" pitchFamily="34" charset="0"/>
                <a:cs typeface="Arial" panose="020B0604020202020204" pitchFamily="34" charset="0"/>
              </a:rPr>
              <a:t>management response </a:t>
            </a:r>
            <a:r>
              <a:rPr lang="en-US" sz="1600" dirty="0">
                <a:latin typeface="Arial" panose="020B0604020202020204" pitchFamily="34" charset="0"/>
                <a:cs typeface="Arial" panose="020B0604020202020204" pitchFamily="34" charset="0"/>
              </a:rPr>
              <a:t>is established for key recommendations </a:t>
            </a:r>
          </a:p>
        </p:txBody>
      </p:sp>
      <p:pic>
        <p:nvPicPr>
          <p:cNvPr id="2056" name="Picture 8" descr="http://www.economicdevelopmentregina.com/assets/Icon-Yellow-Money-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5029" y="1469730"/>
            <a:ext cx="838200" cy="838200"/>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https://letspool.co/static/images/marketing/how2.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24129" y="1863052"/>
            <a:ext cx="750261" cy="750261"/>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http://ewriterportal.com/images/qualityIcon.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218914" y="1221077"/>
            <a:ext cx="1173663" cy="1173663"/>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http://admissions.colostate.edu/media/sites/19/2014/07/icon_pencilandpaper-1024x1024.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694161" y="1447959"/>
            <a:ext cx="859971" cy="859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573434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277470" y="3227295"/>
            <a:ext cx="10914529" cy="770021"/>
          </a:xfrm>
        </p:spPr>
        <p:txBody>
          <a:bodyPr>
            <a:normAutofit/>
          </a:bodyPr>
          <a:lstStyle/>
          <a:p>
            <a:pPr algn="ctr"/>
            <a:r>
              <a:rPr lang="en-US" sz="3600" dirty="0" smtClean="0">
                <a:solidFill>
                  <a:srgbClr val="0099FF"/>
                </a:solidFill>
                <a:latin typeface="Arial" panose="020B0604020202020204" pitchFamily="34" charset="0"/>
                <a:cs typeface="Arial" panose="020B0604020202020204" pitchFamily="34" charset="0"/>
              </a:rPr>
              <a:t>Any Questions?</a:t>
            </a:r>
            <a:endParaRPr lang="en-US" sz="3600" dirty="0">
              <a:solidFill>
                <a:srgbClr val="0099FF"/>
              </a:solidFill>
              <a:latin typeface="Arial" panose="020B0604020202020204" pitchFamily="34" charset="0"/>
              <a:cs typeface="Arial" panose="020B0604020202020204" pitchFamily="34" charset="0"/>
            </a:endParaRPr>
          </a:p>
        </p:txBody>
      </p:sp>
      <p:pic>
        <p:nvPicPr>
          <p:cNvPr id="1026" name="Picture 2" descr="https://cdn2.iconfinder.com/data/icons/freecns-cumulus/16/519660-164_QuestionMark-512.png"/>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79762" y="2773404"/>
            <a:ext cx="1677801" cy="1677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166307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60884" y="2502568"/>
            <a:ext cx="8855242" cy="2839453"/>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860884" y="2502567"/>
            <a:ext cx="8855242" cy="2839453"/>
          </a:xfrm>
        </p:spPr>
        <p:txBody>
          <a:bodyPr vert="horz" lIns="91440" tIns="45720" rIns="91440" bIns="45720" rtlCol="0" anchor="ctr">
            <a:noAutofit/>
          </a:bodyPr>
          <a:lstStyle/>
          <a:p>
            <a:pPr algn="ctr"/>
            <a:r>
              <a:rPr lang="en-US" sz="4000" dirty="0" smtClean="0">
                <a:solidFill>
                  <a:srgbClr val="0099FF"/>
                </a:solidFill>
                <a:latin typeface="Arial" panose="020B0604020202020204" pitchFamily="34" charset="0"/>
                <a:cs typeface="Arial" panose="020B0604020202020204" pitchFamily="34" charset="0"/>
              </a:rPr>
              <a:t>RESULTS BASED BUDGETING</a:t>
            </a:r>
            <a:endParaRPr lang="en-US" sz="2800" dirty="0">
              <a:solidFill>
                <a:schemeClr val="bg1">
                  <a:lumMod val="50000"/>
                </a:schemeClr>
              </a:solidFill>
              <a:latin typeface="Arial" panose="020B0604020202020204" pitchFamily="34" charset="0"/>
              <a:cs typeface="Arial" panose="020B0604020202020204" pitchFamily="34" charset="0"/>
            </a:endParaRPr>
          </a:p>
        </p:txBody>
      </p:sp>
      <p:sp>
        <p:nvSpPr>
          <p:cNvPr id="6" name="Rectangle 5"/>
          <p:cNvSpPr/>
          <p:nvPr/>
        </p:nvSpPr>
        <p:spPr>
          <a:xfrm>
            <a:off x="1860884" y="1612232"/>
            <a:ext cx="8855242" cy="890336"/>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bg1">
                    <a:lumMod val="65000"/>
                  </a:schemeClr>
                </a:solidFill>
                <a:latin typeface="Arial" panose="020B0604020202020204" pitchFamily="34" charset="0"/>
                <a:cs typeface="Arial" panose="020B0604020202020204" pitchFamily="34" charset="0"/>
              </a:rPr>
              <a:t>SESSION 11</a:t>
            </a:r>
            <a:endParaRPr lang="en-US" sz="2800" dirty="0">
              <a:solidFill>
                <a:schemeClr val="bg1">
                  <a:lumMod val="6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5865380"/>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Session Objectives</a:t>
            </a:r>
          </a:p>
        </p:txBody>
      </p:sp>
      <p:sp>
        <p:nvSpPr>
          <p:cNvPr id="2" name="Rectangle 1"/>
          <p:cNvSpPr/>
          <p:nvPr/>
        </p:nvSpPr>
        <p:spPr>
          <a:xfrm>
            <a:off x="924004" y="1553660"/>
            <a:ext cx="10418910" cy="830997"/>
          </a:xfrm>
          <a:prstGeom prst="rect">
            <a:avLst/>
          </a:prstGeom>
        </p:spPr>
        <p:txBody>
          <a:bodyPr wrap="square">
            <a:spAutoFit/>
          </a:bodyPr>
          <a:lstStyle/>
          <a:p>
            <a:pPr marL="457200" lvl="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Understand the principles of RBB and how to apply them when planning for results</a:t>
            </a:r>
          </a:p>
        </p:txBody>
      </p:sp>
    </p:spTree>
    <p:extLst>
      <p:ext uri="{BB962C8B-B14F-4D97-AF65-F5344CB8AC3E}">
        <p14:creationId xmlns:p14="http://schemas.microsoft.com/office/powerpoint/2010/main" val="3123236433"/>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Turn Arrow 4"/>
          <p:cNvSpPr/>
          <p:nvPr/>
        </p:nvSpPr>
        <p:spPr>
          <a:xfrm rot="5400000">
            <a:off x="4357470" y="-1618734"/>
            <a:ext cx="3477059" cy="11516979"/>
          </a:xfrm>
          <a:prstGeom prst="uturnArrow">
            <a:avLst/>
          </a:prstGeom>
          <a:solidFill>
            <a:srgbClr val="0099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panose="020B0604020202020204" pitchFamily="34" charset="0"/>
              <a:cs typeface="Arial" panose="020B0604020202020204" pitchFamily="34" charset="0"/>
            </a:endParaRPr>
          </a:p>
        </p:txBody>
      </p:sp>
      <p:sp>
        <p:nvSpPr>
          <p:cNvPr id="8" name="Title 1"/>
          <p:cNvSpPr>
            <a:spLocks noGrp="1"/>
          </p:cNvSpPr>
          <p:nvPr>
            <p:ph type="title"/>
          </p:nvPr>
        </p:nvSpPr>
        <p:spPr>
          <a:xfrm>
            <a:off x="0" y="-90591"/>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Steps in Results Based Budgeting</a:t>
            </a:r>
          </a:p>
        </p:txBody>
      </p:sp>
      <p:sp>
        <p:nvSpPr>
          <p:cNvPr id="2" name="Rectangle 1"/>
          <p:cNvSpPr/>
          <p:nvPr/>
        </p:nvSpPr>
        <p:spPr>
          <a:xfrm>
            <a:off x="285814" y="1331316"/>
            <a:ext cx="1411941" cy="1472589"/>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600" dirty="0" smtClean="0">
                <a:latin typeface="Arial" panose="020B0604020202020204" pitchFamily="34" charset="0"/>
                <a:cs typeface="Arial" panose="020B0604020202020204" pitchFamily="34" charset="0"/>
              </a:rPr>
              <a:t>CPD</a:t>
            </a:r>
          </a:p>
          <a:p>
            <a:pPr algn="ctr"/>
            <a:r>
              <a:rPr lang="en-US" sz="1600" dirty="0" smtClean="0">
                <a:latin typeface="Arial" panose="020B0604020202020204" pitchFamily="34" charset="0"/>
                <a:cs typeface="Arial" panose="020B0604020202020204" pitchFamily="34" charset="0"/>
              </a:rPr>
              <a:t>Allocation [ROMP]</a:t>
            </a:r>
          </a:p>
          <a:p>
            <a:pPr algn="ctr"/>
            <a:r>
              <a:rPr lang="en-US" sz="1600" dirty="0" smtClean="0">
                <a:latin typeface="Arial" panose="020B0604020202020204" pitchFamily="34" charset="0"/>
                <a:cs typeface="Arial" panose="020B0604020202020204" pitchFamily="34" charset="0"/>
              </a:rPr>
              <a:t>(at outcome level)</a:t>
            </a:r>
            <a:endParaRPr lang="en-US" sz="1600" dirty="0">
              <a:latin typeface="Arial" panose="020B0604020202020204" pitchFamily="34" charset="0"/>
              <a:cs typeface="Arial" panose="020B0604020202020204" pitchFamily="34" charset="0"/>
            </a:endParaRPr>
          </a:p>
        </p:txBody>
      </p:sp>
      <p:sp>
        <p:nvSpPr>
          <p:cNvPr id="6" name="Rectangle 5"/>
          <p:cNvSpPr/>
          <p:nvPr/>
        </p:nvSpPr>
        <p:spPr>
          <a:xfrm>
            <a:off x="2010335" y="1331316"/>
            <a:ext cx="1411941" cy="1472589"/>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600" dirty="0" smtClean="0">
                <a:latin typeface="Arial" panose="020B0604020202020204" pitchFamily="34" charset="0"/>
                <a:cs typeface="Arial" panose="020B0604020202020204" pitchFamily="34" charset="0"/>
              </a:rPr>
              <a:t>Identify outputs &amp; indicators</a:t>
            </a:r>
            <a:endParaRPr lang="en-US" sz="1600" dirty="0">
              <a:latin typeface="Arial" panose="020B0604020202020204" pitchFamily="34" charset="0"/>
              <a:cs typeface="Arial" panose="020B0604020202020204" pitchFamily="34" charset="0"/>
            </a:endParaRPr>
          </a:p>
        </p:txBody>
      </p:sp>
      <p:sp>
        <p:nvSpPr>
          <p:cNvPr id="7" name="Rectangle 6"/>
          <p:cNvSpPr/>
          <p:nvPr/>
        </p:nvSpPr>
        <p:spPr>
          <a:xfrm>
            <a:off x="3734854" y="2103432"/>
            <a:ext cx="1411941" cy="143650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600" dirty="0" smtClean="0">
                <a:latin typeface="Arial" panose="020B0604020202020204" pitchFamily="34" charset="0"/>
                <a:cs typeface="Arial" panose="020B0604020202020204" pitchFamily="34" charset="0"/>
              </a:rPr>
              <a:t>Define Deliverables</a:t>
            </a:r>
            <a:endParaRPr lang="en-US" sz="1600" dirty="0">
              <a:latin typeface="Arial" panose="020B0604020202020204" pitchFamily="34" charset="0"/>
              <a:cs typeface="Arial" panose="020B0604020202020204" pitchFamily="34" charset="0"/>
            </a:endParaRPr>
          </a:p>
        </p:txBody>
      </p:sp>
      <p:sp>
        <p:nvSpPr>
          <p:cNvPr id="10" name="Rectangle 9"/>
          <p:cNvSpPr/>
          <p:nvPr/>
        </p:nvSpPr>
        <p:spPr>
          <a:xfrm>
            <a:off x="2010334" y="2909640"/>
            <a:ext cx="1411941" cy="1520845"/>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600" dirty="0" smtClean="0">
                <a:latin typeface="Arial" panose="020B0604020202020204" pitchFamily="34" charset="0"/>
                <a:cs typeface="Arial" panose="020B0604020202020204" pitchFamily="34" charset="0"/>
              </a:rPr>
              <a:t>Define Strategies</a:t>
            </a:r>
            <a:endParaRPr lang="en-US" sz="1600" dirty="0">
              <a:latin typeface="Arial" panose="020B0604020202020204" pitchFamily="34" charset="0"/>
              <a:cs typeface="Arial" panose="020B0604020202020204" pitchFamily="34" charset="0"/>
            </a:endParaRPr>
          </a:p>
        </p:txBody>
      </p:sp>
      <p:sp>
        <p:nvSpPr>
          <p:cNvPr id="11" name="Rectangle 10"/>
          <p:cNvSpPr/>
          <p:nvPr/>
        </p:nvSpPr>
        <p:spPr>
          <a:xfrm>
            <a:off x="4188391" y="1943120"/>
            <a:ext cx="443754" cy="349623"/>
          </a:xfrm>
          <a:prstGeom prst="rect">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50000"/>
                    <a:lumOff val="50000"/>
                  </a:schemeClr>
                </a:solidFill>
                <a:latin typeface="Arial" panose="020B0604020202020204" pitchFamily="34" charset="0"/>
                <a:cs typeface="Arial" panose="020B0604020202020204" pitchFamily="34" charset="0"/>
              </a:rPr>
              <a:t>3</a:t>
            </a:r>
          </a:p>
        </p:txBody>
      </p:sp>
      <p:sp>
        <p:nvSpPr>
          <p:cNvPr id="12" name="Rectangle 11"/>
          <p:cNvSpPr/>
          <p:nvPr/>
        </p:nvSpPr>
        <p:spPr>
          <a:xfrm>
            <a:off x="5622383" y="2103432"/>
            <a:ext cx="1411941" cy="143650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600" dirty="0" smtClean="0">
                <a:latin typeface="Arial" panose="020B0604020202020204" pitchFamily="34" charset="0"/>
                <a:cs typeface="Arial" panose="020B0604020202020204" pitchFamily="34" charset="0"/>
              </a:rPr>
              <a:t>Define Activities</a:t>
            </a:r>
            <a:endParaRPr lang="en-US" sz="1600" dirty="0">
              <a:latin typeface="Arial" panose="020B0604020202020204" pitchFamily="34" charset="0"/>
              <a:cs typeface="Arial" panose="020B0604020202020204" pitchFamily="34" charset="0"/>
            </a:endParaRPr>
          </a:p>
        </p:txBody>
      </p:sp>
      <p:sp>
        <p:nvSpPr>
          <p:cNvPr id="13" name="Rectangle 12"/>
          <p:cNvSpPr/>
          <p:nvPr/>
        </p:nvSpPr>
        <p:spPr>
          <a:xfrm>
            <a:off x="7526720" y="2103432"/>
            <a:ext cx="2249292" cy="143650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600" dirty="0" smtClean="0">
                <a:latin typeface="Arial" panose="020B0604020202020204" pitchFamily="34" charset="0"/>
                <a:cs typeface="Arial" panose="020B0604020202020204" pitchFamily="34" charset="0"/>
              </a:rPr>
              <a:t>Define Implementation Modalities:</a:t>
            </a:r>
            <a:endParaRPr lang="en-US" sz="1600" dirty="0">
              <a:latin typeface="Arial" panose="020B0604020202020204" pitchFamily="34" charset="0"/>
              <a:cs typeface="Arial" panose="020B0604020202020204" pitchFamily="34" charset="0"/>
            </a:endParaRPr>
          </a:p>
          <a:p>
            <a:pPr algn="ctr"/>
            <a:r>
              <a:rPr lang="en-US" sz="1400" dirty="0" smtClean="0">
                <a:solidFill>
                  <a:schemeClr val="bg1">
                    <a:lumMod val="50000"/>
                  </a:schemeClr>
                </a:solidFill>
                <a:latin typeface="Arial" panose="020B0604020202020204" pitchFamily="34" charset="0"/>
                <a:cs typeface="Arial" panose="020B0604020202020204" pitchFamily="34" charset="0"/>
              </a:rPr>
              <a:t>Government, NGO, other UN agencies Direct implementation</a:t>
            </a:r>
          </a:p>
        </p:txBody>
      </p:sp>
      <p:sp>
        <p:nvSpPr>
          <p:cNvPr id="14" name="Rectangle 13"/>
          <p:cNvSpPr/>
          <p:nvPr/>
        </p:nvSpPr>
        <p:spPr>
          <a:xfrm>
            <a:off x="10111249" y="2103431"/>
            <a:ext cx="1831721" cy="143650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600" dirty="0" smtClean="0">
                <a:latin typeface="Arial" panose="020B0604020202020204" pitchFamily="34" charset="0"/>
                <a:cs typeface="Arial" panose="020B0604020202020204" pitchFamily="34" charset="0"/>
              </a:rPr>
              <a:t>Identify Inputs:</a:t>
            </a:r>
          </a:p>
          <a:p>
            <a:pPr algn="ctr"/>
            <a:r>
              <a:rPr lang="en-US" sz="1400" dirty="0" smtClean="0">
                <a:solidFill>
                  <a:schemeClr val="bg1">
                    <a:lumMod val="50000"/>
                  </a:schemeClr>
                </a:solidFill>
                <a:latin typeface="Arial" panose="020B0604020202020204" pitchFamily="34" charset="0"/>
                <a:cs typeface="Arial" panose="020B0604020202020204" pitchFamily="34" charset="0"/>
              </a:rPr>
              <a:t>Staff, Travel, Equipment, Consultants, Supplies, Operations</a:t>
            </a:r>
            <a:endParaRPr lang="en-US" sz="1400" dirty="0">
              <a:solidFill>
                <a:schemeClr val="bg1">
                  <a:lumMod val="50000"/>
                </a:schemeClr>
              </a:solidFill>
              <a:latin typeface="Arial" panose="020B0604020202020204" pitchFamily="34" charset="0"/>
              <a:cs typeface="Arial" panose="020B0604020202020204" pitchFamily="34" charset="0"/>
            </a:endParaRPr>
          </a:p>
        </p:txBody>
      </p:sp>
      <p:sp>
        <p:nvSpPr>
          <p:cNvPr id="15" name="Rectangle 14"/>
          <p:cNvSpPr/>
          <p:nvPr/>
        </p:nvSpPr>
        <p:spPr>
          <a:xfrm>
            <a:off x="9321479" y="4203975"/>
            <a:ext cx="1893368" cy="1494158"/>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600" dirty="0" smtClean="0">
                <a:latin typeface="Arial" panose="020B0604020202020204" pitchFamily="34" charset="0"/>
                <a:cs typeface="Arial" panose="020B0604020202020204" pitchFamily="34" charset="0"/>
              </a:rPr>
              <a:t>Cost inputs</a:t>
            </a:r>
          </a:p>
          <a:p>
            <a:pPr algn="ctr"/>
            <a:endParaRPr lang="en-US" sz="1600" dirty="0">
              <a:latin typeface="Arial" panose="020B0604020202020204" pitchFamily="34" charset="0"/>
              <a:cs typeface="Arial" panose="020B0604020202020204" pitchFamily="34" charset="0"/>
            </a:endParaRPr>
          </a:p>
          <a:p>
            <a:pPr algn="ctr"/>
            <a:r>
              <a:rPr lang="en-US" sz="1400" dirty="0" smtClean="0">
                <a:solidFill>
                  <a:schemeClr val="bg1">
                    <a:lumMod val="50000"/>
                  </a:schemeClr>
                </a:solidFill>
                <a:latin typeface="Arial" panose="020B0604020202020204" pitchFamily="34" charset="0"/>
                <a:cs typeface="Arial" panose="020B0604020202020204" pitchFamily="34" charset="0"/>
              </a:rPr>
              <a:t>Direct &amp; indirect costs</a:t>
            </a:r>
          </a:p>
        </p:txBody>
      </p:sp>
      <p:sp>
        <p:nvSpPr>
          <p:cNvPr id="16" name="Rectangle 15"/>
          <p:cNvSpPr/>
          <p:nvPr/>
        </p:nvSpPr>
        <p:spPr>
          <a:xfrm>
            <a:off x="7034324" y="4203975"/>
            <a:ext cx="2044362" cy="1494158"/>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600" dirty="0" smtClean="0">
                <a:latin typeface="Arial" panose="020B0604020202020204" pitchFamily="34" charset="0"/>
                <a:cs typeface="Arial" panose="020B0604020202020204" pitchFamily="34" charset="0"/>
              </a:rPr>
              <a:t>Assess affordability against the resource envelope</a:t>
            </a:r>
            <a:endParaRPr lang="en-US" sz="1600" dirty="0">
              <a:latin typeface="Arial" panose="020B0604020202020204" pitchFamily="34" charset="0"/>
              <a:cs typeface="Arial" panose="020B0604020202020204" pitchFamily="34" charset="0"/>
            </a:endParaRPr>
          </a:p>
        </p:txBody>
      </p:sp>
      <p:sp>
        <p:nvSpPr>
          <p:cNvPr id="17" name="Rectangle 16"/>
          <p:cNvSpPr/>
          <p:nvPr/>
        </p:nvSpPr>
        <p:spPr>
          <a:xfrm>
            <a:off x="4408294" y="4203975"/>
            <a:ext cx="2428178" cy="1494158"/>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600" dirty="0" smtClean="0">
                <a:latin typeface="Arial" panose="020B0604020202020204" pitchFamily="34" charset="0"/>
                <a:cs typeface="Arial" panose="020B0604020202020204" pitchFamily="34" charset="0"/>
              </a:rPr>
              <a:t>Reprioritize:</a:t>
            </a:r>
          </a:p>
          <a:p>
            <a:pPr marL="285750" indent="-285750">
              <a:buFont typeface="Arial" panose="020B0604020202020204" pitchFamily="34" charset="0"/>
              <a:buChar char="•"/>
            </a:pPr>
            <a:r>
              <a:rPr lang="en-US" sz="1400" dirty="0" smtClean="0">
                <a:solidFill>
                  <a:schemeClr val="bg1">
                    <a:lumMod val="50000"/>
                  </a:schemeClr>
                </a:solidFill>
                <a:latin typeface="Arial" panose="020B0604020202020204" pitchFamily="34" charset="0"/>
                <a:cs typeface="Arial" panose="020B0604020202020204" pitchFamily="34" charset="0"/>
              </a:rPr>
              <a:t>Must do</a:t>
            </a:r>
          </a:p>
          <a:p>
            <a:pPr marL="285750" indent="-285750">
              <a:buFont typeface="Arial" panose="020B0604020202020204" pitchFamily="34" charset="0"/>
              <a:buChar char="•"/>
            </a:pPr>
            <a:r>
              <a:rPr lang="en-US" sz="1400" dirty="0" smtClean="0">
                <a:solidFill>
                  <a:schemeClr val="bg1">
                    <a:lumMod val="50000"/>
                  </a:schemeClr>
                </a:solidFill>
                <a:latin typeface="Arial" panose="020B0604020202020204" pitchFamily="34" charset="0"/>
                <a:cs typeface="Arial" panose="020B0604020202020204" pitchFamily="34" charset="0"/>
              </a:rPr>
              <a:t>Mobilize resources</a:t>
            </a:r>
          </a:p>
          <a:p>
            <a:pPr marL="285750" indent="-285750">
              <a:buFont typeface="Arial" panose="020B0604020202020204" pitchFamily="34" charset="0"/>
              <a:buChar char="•"/>
            </a:pPr>
            <a:r>
              <a:rPr lang="en-US" sz="1400" dirty="0" smtClean="0">
                <a:solidFill>
                  <a:schemeClr val="bg1">
                    <a:lumMod val="50000"/>
                  </a:schemeClr>
                </a:solidFill>
                <a:latin typeface="Arial" panose="020B0604020202020204" pitchFamily="34" charset="0"/>
                <a:cs typeface="Arial" panose="020B0604020202020204" pitchFamily="34" charset="0"/>
              </a:rPr>
              <a:t>Drop</a:t>
            </a:r>
            <a:endParaRPr lang="en-US" sz="1400" dirty="0">
              <a:solidFill>
                <a:schemeClr val="bg1">
                  <a:lumMod val="50000"/>
                </a:schemeClr>
              </a:solidFill>
              <a:latin typeface="Arial" panose="020B0604020202020204" pitchFamily="34" charset="0"/>
              <a:cs typeface="Arial" panose="020B0604020202020204" pitchFamily="34" charset="0"/>
            </a:endParaRPr>
          </a:p>
        </p:txBody>
      </p:sp>
      <p:sp>
        <p:nvSpPr>
          <p:cNvPr id="19" name="Rectangle 18"/>
          <p:cNvSpPr/>
          <p:nvPr/>
        </p:nvSpPr>
        <p:spPr>
          <a:xfrm>
            <a:off x="285814" y="2909640"/>
            <a:ext cx="1411941" cy="1520846"/>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600" dirty="0" smtClean="0">
                <a:latin typeface="Arial" panose="020B0604020202020204" pitchFamily="34" charset="0"/>
                <a:cs typeface="Arial" panose="020B0604020202020204" pitchFamily="34" charset="0"/>
              </a:rPr>
              <a:t>Projected Resources envelope (RR, OR, IB)</a:t>
            </a:r>
            <a:endParaRPr lang="en-US" sz="1600" dirty="0" smtClean="0">
              <a:solidFill>
                <a:schemeClr val="dk1"/>
              </a:solidFill>
              <a:latin typeface="Arial" panose="020B0604020202020204" pitchFamily="34" charset="0"/>
              <a:cs typeface="Arial" panose="020B0604020202020204" pitchFamily="34" charset="0"/>
            </a:endParaRPr>
          </a:p>
        </p:txBody>
      </p:sp>
      <p:cxnSp>
        <p:nvCxnSpPr>
          <p:cNvPr id="21" name="Elbow Connector 20"/>
          <p:cNvCxnSpPr>
            <a:stCxn id="12" idx="2"/>
            <a:endCxn id="10" idx="3"/>
          </p:cNvCxnSpPr>
          <p:nvPr/>
        </p:nvCxnSpPr>
        <p:spPr>
          <a:xfrm rot="5400000">
            <a:off x="4810250" y="2151959"/>
            <a:ext cx="130130" cy="2906079"/>
          </a:xfrm>
          <a:prstGeom prst="bentConnector2">
            <a:avLst/>
          </a:prstGeom>
          <a:ln w="38100">
            <a:prstDash val="sys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6092727" y="1928620"/>
            <a:ext cx="443754" cy="349623"/>
          </a:xfrm>
          <a:prstGeom prst="rect">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50000"/>
                    <a:lumOff val="50000"/>
                  </a:schemeClr>
                </a:solidFill>
                <a:latin typeface="Arial" panose="020B0604020202020204" pitchFamily="34" charset="0"/>
                <a:cs typeface="Arial" panose="020B0604020202020204" pitchFamily="34" charset="0"/>
              </a:rPr>
              <a:t>4</a:t>
            </a:r>
          </a:p>
        </p:txBody>
      </p:sp>
      <p:sp>
        <p:nvSpPr>
          <p:cNvPr id="22" name="Rectangle 21"/>
          <p:cNvSpPr/>
          <p:nvPr/>
        </p:nvSpPr>
        <p:spPr>
          <a:xfrm>
            <a:off x="8386728" y="1912311"/>
            <a:ext cx="443754" cy="349623"/>
          </a:xfrm>
          <a:prstGeom prst="rect">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50000"/>
                    <a:lumOff val="50000"/>
                  </a:schemeClr>
                </a:solidFill>
                <a:latin typeface="Arial" panose="020B0604020202020204" pitchFamily="34" charset="0"/>
                <a:cs typeface="Arial" panose="020B0604020202020204" pitchFamily="34" charset="0"/>
              </a:rPr>
              <a:t>5</a:t>
            </a:r>
          </a:p>
        </p:txBody>
      </p:sp>
      <p:sp>
        <p:nvSpPr>
          <p:cNvPr id="4" name="Rectangle 3"/>
          <p:cNvSpPr/>
          <p:nvPr/>
        </p:nvSpPr>
        <p:spPr>
          <a:xfrm>
            <a:off x="786077" y="2725761"/>
            <a:ext cx="443754" cy="349623"/>
          </a:xfrm>
          <a:prstGeom prst="rect">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lumMod val="50000"/>
                    <a:lumOff val="50000"/>
                  </a:schemeClr>
                </a:solidFill>
                <a:latin typeface="Arial" panose="020B0604020202020204" pitchFamily="34" charset="0"/>
                <a:cs typeface="Arial" panose="020B0604020202020204" pitchFamily="34" charset="0"/>
              </a:rPr>
              <a:t>1</a:t>
            </a:r>
            <a:endParaRPr lang="en-US"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9" name="Rectangle 8"/>
          <p:cNvSpPr/>
          <p:nvPr/>
        </p:nvSpPr>
        <p:spPr>
          <a:xfrm>
            <a:off x="2516718" y="2683129"/>
            <a:ext cx="443754" cy="349623"/>
          </a:xfrm>
          <a:prstGeom prst="rect">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50000"/>
                    <a:lumOff val="50000"/>
                  </a:schemeClr>
                </a:solidFill>
                <a:latin typeface="Arial" panose="020B0604020202020204" pitchFamily="34" charset="0"/>
                <a:cs typeface="Arial" panose="020B0604020202020204" pitchFamily="34" charset="0"/>
              </a:rPr>
              <a:t>2</a:t>
            </a:r>
          </a:p>
        </p:txBody>
      </p:sp>
      <p:sp>
        <p:nvSpPr>
          <p:cNvPr id="25" name="Rectangle 24"/>
          <p:cNvSpPr/>
          <p:nvPr/>
        </p:nvSpPr>
        <p:spPr>
          <a:xfrm>
            <a:off x="10805232" y="1892798"/>
            <a:ext cx="443754" cy="349623"/>
          </a:xfrm>
          <a:prstGeom prst="rect">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50000"/>
                    <a:lumOff val="50000"/>
                  </a:schemeClr>
                </a:solidFill>
                <a:latin typeface="Arial" panose="020B0604020202020204" pitchFamily="34" charset="0"/>
                <a:cs typeface="Arial" panose="020B0604020202020204" pitchFamily="34" charset="0"/>
              </a:rPr>
              <a:t>6</a:t>
            </a:r>
          </a:p>
        </p:txBody>
      </p:sp>
      <p:sp>
        <p:nvSpPr>
          <p:cNvPr id="26" name="Rectangle 25"/>
          <p:cNvSpPr/>
          <p:nvPr/>
        </p:nvSpPr>
        <p:spPr>
          <a:xfrm>
            <a:off x="10002742" y="4033674"/>
            <a:ext cx="443754" cy="349623"/>
          </a:xfrm>
          <a:prstGeom prst="rect">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50000"/>
                    <a:lumOff val="50000"/>
                  </a:schemeClr>
                </a:solidFill>
                <a:latin typeface="Arial" panose="020B0604020202020204" pitchFamily="34" charset="0"/>
                <a:cs typeface="Arial" panose="020B0604020202020204" pitchFamily="34" charset="0"/>
              </a:rPr>
              <a:t>7</a:t>
            </a:r>
          </a:p>
        </p:txBody>
      </p:sp>
      <p:sp>
        <p:nvSpPr>
          <p:cNvPr id="27" name="Rectangle 26"/>
          <p:cNvSpPr/>
          <p:nvPr/>
        </p:nvSpPr>
        <p:spPr>
          <a:xfrm>
            <a:off x="7838831" y="4029163"/>
            <a:ext cx="443754" cy="349623"/>
          </a:xfrm>
          <a:prstGeom prst="rect">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50000"/>
                    <a:lumOff val="50000"/>
                  </a:schemeClr>
                </a:solidFill>
                <a:latin typeface="Arial" panose="020B0604020202020204" pitchFamily="34" charset="0"/>
                <a:cs typeface="Arial" panose="020B0604020202020204" pitchFamily="34" charset="0"/>
              </a:rPr>
              <a:t>8</a:t>
            </a:r>
          </a:p>
        </p:txBody>
      </p:sp>
      <p:sp>
        <p:nvSpPr>
          <p:cNvPr id="28" name="Rectangle 27"/>
          <p:cNvSpPr/>
          <p:nvPr/>
        </p:nvSpPr>
        <p:spPr>
          <a:xfrm>
            <a:off x="5424290" y="4033674"/>
            <a:ext cx="443754" cy="349623"/>
          </a:xfrm>
          <a:prstGeom prst="rect">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50000"/>
                    <a:lumOff val="50000"/>
                  </a:schemeClr>
                </a:solidFill>
                <a:latin typeface="Arial" panose="020B0604020202020204" pitchFamily="34" charset="0"/>
                <a:cs typeface="Arial" panose="020B0604020202020204" pitchFamily="34" charset="0"/>
              </a:rPr>
              <a:t>9</a:t>
            </a:r>
          </a:p>
        </p:txBody>
      </p:sp>
    </p:spTree>
    <p:extLst>
      <p:ext uri="{BB962C8B-B14F-4D97-AF65-F5344CB8AC3E}">
        <p14:creationId xmlns:p14="http://schemas.microsoft.com/office/powerpoint/2010/main" val="3751219988"/>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16009" y="1439974"/>
            <a:ext cx="8733862" cy="854837"/>
          </a:xfrm>
          <a:prstGeom prst="rect">
            <a:avLst/>
          </a:prstGeom>
          <a:solidFill>
            <a:srgbClr val="00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smtClean="0">
                <a:latin typeface="Arial" panose="020B0604020202020204" pitchFamily="34" charset="0"/>
                <a:cs typeface="Arial" panose="020B0604020202020204" pitchFamily="34" charset="0"/>
              </a:rPr>
              <a:t>STAFF COSTS</a:t>
            </a:r>
            <a:endParaRPr lang="en-US" sz="2000" dirty="0">
              <a:latin typeface="Arial" panose="020B0604020202020204" pitchFamily="34" charset="0"/>
              <a:cs typeface="Arial" panose="020B0604020202020204" pitchFamily="34" charset="0"/>
            </a:endParaRPr>
          </a:p>
        </p:txBody>
      </p:sp>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Types of Costs</a:t>
            </a:r>
          </a:p>
        </p:txBody>
      </p:sp>
      <p:sp>
        <p:nvSpPr>
          <p:cNvPr id="2" name="Rectangle 1"/>
          <p:cNvSpPr/>
          <p:nvPr/>
        </p:nvSpPr>
        <p:spPr>
          <a:xfrm>
            <a:off x="3671050" y="660983"/>
            <a:ext cx="1963271" cy="59167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UNIT COST</a:t>
            </a:r>
            <a:endParaRPr lang="en-US" dirty="0">
              <a:latin typeface="Arial" panose="020B0604020202020204" pitchFamily="34" charset="0"/>
              <a:cs typeface="Arial" panose="020B0604020202020204" pitchFamily="34" charset="0"/>
            </a:endParaRPr>
          </a:p>
        </p:txBody>
      </p:sp>
      <p:sp>
        <p:nvSpPr>
          <p:cNvPr id="5" name="Rectangle 4"/>
          <p:cNvSpPr/>
          <p:nvPr/>
        </p:nvSpPr>
        <p:spPr>
          <a:xfrm>
            <a:off x="6875933" y="660983"/>
            <a:ext cx="1963271" cy="59167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QUANTITIES</a:t>
            </a:r>
            <a:endParaRPr lang="en-US" dirty="0">
              <a:latin typeface="Arial" panose="020B0604020202020204" pitchFamily="34" charset="0"/>
              <a:cs typeface="Arial" panose="020B0604020202020204" pitchFamily="34" charset="0"/>
            </a:endParaRPr>
          </a:p>
        </p:txBody>
      </p:sp>
      <p:sp>
        <p:nvSpPr>
          <p:cNvPr id="4" name="Multiply 3"/>
          <p:cNvSpPr/>
          <p:nvPr/>
        </p:nvSpPr>
        <p:spPr>
          <a:xfrm>
            <a:off x="5896538" y="627365"/>
            <a:ext cx="717177" cy="658906"/>
          </a:xfrm>
          <a:prstGeom prst="mathMultiply">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0" name="Rectangle 9"/>
          <p:cNvSpPr/>
          <p:nvPr/>
        </p:nvSpPr>
        <p:spPr>
          <a:xfrm>
            <a:off x="316009" y="2514604"/>
            <a:ext cx="8733862" cy="267596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smtClean="0">
                <a:latin typeface="Arial" panose="020B0604020202020204" pitchFamily="34" charset="0"/>
                <a:cs typeface="Arial" panose="020B0604020202020204" pitchFamily="34" charset="0"/>
              </a:rPr>
              <a:t>PROGRAMME</a:t>
            </a:r>
          </a:p>
          <a:p>
            <a:r>
              <a:rPr lang="en-US" sz="2000" dirty="0" smtClean="0">
                <a:latin typeface="Arial" panose="020B0604020202020204" pitchFamily="34" charset="0"/>
                <a:cs typeface="Arial" panose="020B0604020202020204" pitchFamily="34" charset="0"/>
              </a:rPr>
              <a:t>COSTS</a:t>
            </a:r>
            <a:endParaRPr lang="en-US" sz="2000" dirty="0">
              <a:latin typeface="Arial" panose="020B0604020202020204" pitchFamily="34" charset="0"/>
              <a:cs typeface="Arial" panose="020B0604020202020204" pitchFamily="34" charset="0"/>
            </a:endParaRPr>
          </a:p>
        </p:txBody>
      </p:sp>
      <p:sp>
        <p:nvSpPr>
          <p:cNvPr id="11" name="Rectangle 10"/>
          <p:cNvSpPr/>
          <p:nvPr/>
        </p:nvSpPr>
        <p:spPr>
          <a:xfrm>
            <a:off x="316009" y="5424121"/>
            <a:ext cx="8733862" cy="12456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latin typeface="Arial" panose="020B0604020202020204" pitchFamily="34" charset="0"/>
                <a:cs typeface="Arial" panose="020B0604020202020204" pitchFamily="34" charset="0"/>
              </a:rPr>
              <a:t>OPERATIONS</a:t>
            </a:r>
          </a:p>
          <a:p>
            <a:r>
              <a:rPr lang="en-US" dirty="0" smtClean="0">
                <a:latin typeface="Arial" panose="020B0604020202020204" pitchFamily="34" charset="0"/>
                <a:cs typeface="Arial" panose="020B0604020202020204" pitchFamily="34" charset="0"/>
              </a:rPr>
              <a:t>COSTS</a:t>
            </a:r>
            <a:endParaRPr lang="en-US" dirty="0">
              <a:latin typeface="Arial" panose="020B0604020202020204" pitchFamily="34" charset="0"/>
              <a:cs typeface="Arial" panose="020B0604020202020204" pitchFamily="34" charset="0"/>
            </a:endParaRPr>
          </a:p>
        </p:txBody>
      </p:sp>
      <p:sp>
        <p:nvSpPr>
          <p:cNvPr id="13" name="Rectangle 12"/>
          <p:cNvSpPr/>
          <p:nvPr/>
        </p:nvSpPr>
        <p:spPr>
          <a:xfrm>
            <a:off x="3671051" y="1556500"/>
            <a:ext cx="5168153" cy="591671"/>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smtClean="0">
                <a:latin typeface="Arial" panose="020B0604020202020204" pitchFamily="34" charset="0"/>
                <a:cs typeface="Arial" panose="020B0604020202020204" pitchFamily="34" charset="0"/>
              </a:rPr>
              <a:t>COST OF STAFF</a:t>
            </a:r>
            <a:endParaRPr lang="en-US" sz="1600" dirty="0">
              <a:latin typeface="Arial" panose="020B0604020202020204" pitchFamily="34" charset="0"/>
              <a:cs typeface="Arial" panose="020B0604020202020204" pitchFamily="34" charset="0"/>
            </a:endParaRPr>
          </a:p>
        </p:txBody>
      </p:sp>
      <p:sp>
        <p:nvSpPr>
          <p:cNvPr id="16" name="Rectangle 15"/>
          <p:cNvSpPr/>
          <p:nvPr/>
        </p:nvSpPr>
        <p:spPr>
          <a:xfrm>
            <a:off x="3671051" y="2640583"/>
            <a:ext cx="5168153" cy="506029"/>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smtClean="0">
                <a:latin typeface="Arial" panose="020B0604020202020204" pitchFamily="34" charset="0"/>
                <a:cs typeface="Arial" panose="020B0604020202020204" pitchFamily="34" charset="0"/>
              </a:rPr>
              <a:t>COST OF TRAVEL</a:t>
            </a:r>
            <a:endParaRPr lang="en-US" sz="1600" dirty="0">
              <a:latin typeface="Arial" panose="020B0604020202020204" pitchFamily="34" charset="0"/>
              <a:cs typeface="Arial" panose="020B0604020202020204" pitchFamily="34" charset="0"/>
            </a:endParaRPr>
          </a:p>
        </p:txBody>
      </p:sp>
      <p:sp>
        <p:nvSpPr>
          <p:cNvPr id="19" name="Rectangle 18"/>
          <p:cNvSpPr/>
          <p:nvPr/>
        </p:nvSpPr>
        <p:spPr>
          <a:xfrm>
            <a:off x="3671050" y="3200074"/>
            <a:ext cx="5168154" cy="579984"/>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smtClean="0">
                <a:latin typeface="Arial" panose="020B0604020202020204" pitchFamily="34" charset="0"/>
                <a:cs typeface="Arial" panose="020B0604020202020204" pitchFamily="34" charset="0"/>
              </a:rPr>
              <a:t>COST OF CONSULTANCIES</a:t>
            </a:r>
            <a:endParaRPr lang="en-US" sz="1600" dirty="0">
              <a:latin typeface="Arial" panose="020B0604020202020204" pitchFamily="34" charset="0"/>
              <a:cs typeface="Arial" panose="020B0604020202020204" pitchFamily="34" charset="0"/>
            </a:endParaRPr>
          </a:p>
        </p:txBody>
      </p:sp>
      <p:sp>
        <p:nvSpPr>
          <p:cNvPr id="20" name="Rectangle 19"/>
          <p:cNvSpPr/>
          <p:nvPr/>
        </p:nvSpPr>
        <p:spPr>
          <a:xfrm>
            <a:off x="3671050" y="3845203"/>
            <a:ext cx="5168154" cy="579984"/>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smtClean="0">
                <a:latin typeface="Arial" panose="020B0604020202020204" pitchFamily="34" charset="0"/>
                <a:cs typeface="Arial" panose="020B0604020202020204" pitchFamily="34" charset="0"/>
              </a:rPr>
              <a:t>COST OF SUPPLIES &amp; EQUIPMENT</a:t>
            </a:r>
            <a:endParaRPr lang="en-US" sz="1600" dirty="0">
              <a:latin typeface="Arial" panose="020B0604020202020204" pitchFamily="34" charset="0"/>
              <a:cs typeface="Arial" panose="020B0604020202020204" pitchFamily="34" charset="0"/>
            </a:endParaRPr>
          </a:p>
        </p:txBody>
      </p:sp>
      <p:sp>
        <p:nvSpPr>
          <p:cNvPr id="21" name="Rectangle 20"/>
          <p:cNvSpPr/>
          <p:nvPr/>
        </p:nvSpPr>
        <p:spPr>
          <a:xfrm>
            <a:off x="3671050" y="4490332"/>
            <a:ext cx="5168154" cy="579984"/>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smtClean="0">
                <a:latin typeface="Arial" panose="020B0604020202020204" pitchFamily="34" charset="0"/>
                <a:cs typeface="Arial" panose="020B0604020202020204" pitchFamily="34" charset="0"/>
              </a:rPr>
              <a:t>COST OF ACTIVITIES</a:t>
            </a:r>
            <a:endParaRPr lang="en-US" sz="1600" dirty="0">
              <a:latin typeface="Arial" panose="020B0604020202020204" pitchFamily="34" charset="0"/>
              <a:cs typeface="Arial" panose="020B0604020202020204" pitchFamily="34" charset="0"/>
            </a:endParaRPr>
          </a:p>
        </p:txBody>
      </p:sp>
      <p:sp>
        <p:nvSpPr>
          <p:cNvPr id="22" name="Rectangle 21"/>
          <p:cNvSpPr/>
          <p:nvPr/>
        </p:nvSpPr>
        <p:spPr>
          <a:xfrm>
            <a:off x="3671050" y="5597472"/>
            <a:ext cx="5168154" cy="910903"/>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smtClean="0">
                <a:latin typeface="Arial" panose="020B0604020202020204" pitchFamily="34" charset="0"/>
                <a:cs typeface="Arial" panose="020B0604020202020204" pitchFamily="34" charset="0"/>
              </a:rPr>
              <a:t>COST OF RENT, IT SERVICES, VEHICLES, SECURITY, ETC.</a:t>
            </a:r>
            <a:endParaRPr lang="en-US" sz="1600" dirty="0">
              <a:latin typeface="Arial" panose="020B0604020202020204" pitchFamily="34" charset="0"/>
              <a:cs typeface="Arial" panose="020B0604020202020204" pitchFamily="34" charset="0"/>
            </a:endParaRPr>
          </a:p>
        </p:txBody>
      </p:sp>
      <p:sp>
        <p:nvSpPr>
          <p:cNvPr id="7" name="Isosceles Triangle 6"/>
          <p:cNvSpPr/>
          <p:nvPr/>
        </p:nvSpPr>
        <p:spPr>
          <a:xfrm rot="5400000">
            <a:off x="6760280" y="3808651"/>
            <a:ext cx="5229768" cy="492412"/>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3" name="Rectangle 22"/>
          <p:cNvSpPr/>
          <p:nvPr/>
        </p:nvSpPr>
        <p:spPr>
          <a:xfrm>
            <a:off x="9843246" y="1439975"/>
            <a:ext cx="2111189" cy="522976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TOTAL COST BY OUTPUT, OUTCOME, PROGRAMME COMPONENT</a:t>
            </a:r>
          </a:p>
          <a:p>
            <a:pPr algn="ctr"/>
            <a:r>
              <a:rPr lang="en-US" dirty="0" smtClean="0">
                <a:latin typeface="Arial" panose="020B0604020202020204" pitchFamily="34" charset="0"/>
                <a:cs typeface="Arial" panose="020B0604020202020204" pitchFamily="34" charset="0"/>
              </a:rPr>
              <a:t>AND BY TYPE OF FUNDS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5189120"/>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7422776"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Integrated Budget</a:t>
            </a:r>
          </a:p>
        </p:txBody>
      </p:sp>
      <p:sp>
        <p:nvSpPr>
          <p:cNvPr id="4" name="Rectangle 3"/>
          <p:cNvSpPr/>
          <p:nvPr/>
        </p:nvSpPr>
        <p:spPr>
          <a:xfrm>
            <a:off x="712693" y="1292058"/>
            <a:ext cx="2111189" cy="522976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TOTAL COST BY OUTPUT, OUTCOME, PROGRAMME COMPONENT</a:t>
            </a:r>
          </a:p>
          <a:p>
            <a:pPr algn="ctr"/>
            <a:r>
              <a:rPr lang="en-US" dirty="0" smtClean="0">
                <a:latin typeface="Arial" panose="020B0604020202020204" pitchFamily="34" charset="0"/>
                <a:cs typeface="Arial" panose="020B0604020202020204" pitchFamily="34" charset="0"/>
              </a:rPr>
              <a:t>AND BY TYPE OF FUNDS</a:t>
            </a:r>
            <a:endParaRPr lang="en-US" dirty="0">
              <a:latin typeface="Arial" panose="020B0604020202020204" pitchFamily="34" charset="0"/>
              <a:cs typeface="Arial" panose="020B0604020202020204" pitchFamily="34" charset="0"/>
            </a:endParaRPr>
          </a:p>
        </p:txBody>
      </p:sp>
      <p:sp>
        <p:nvSpPr>
          <p:cNvPr id="5" name="Isosceles Triangle 4"/>
          <p:cNvSpPr/>
          <p:nvPr/>
        </p:nvSpPr>
        <p:spPr>
          <a:xfrm rot="5400000">
            <a:off x="582083" y="3626547"/>
            <a:ext cx="5229768" cy="492412"/>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eft Brace 5"/>
          <p:cNvSpPr/>
          <p:nvPr/>
        </p:nvSpPr>
        <p:spPr>
          <a:xfrm>
            <a:off x="4942780" y="1458166"/>
            <a:ext cx="295275" cy="4829175"/>
          </a:xfrm>
          <a:prstGeom prst="leftBrace">
            <a:avLst>
              <a:gd name="adj1" fmla="val 0"/>
              <a:gd name="adj2" fmla="val 50235"/>
            </a:avLst>
          </a:prstGeom>
          <a:ln w="25400">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latin typeface="Arial" panose="020B0604020202020204" pitchFamily="34" charset="0"/>
              <a:cs typeface="Arial" panose="020B0604020202020204" pitchFamily="34" charset="0"/>
            </a:endParaRPr>
          </a:p>
        </p:txBody>
      </p:sp>
      <p:sp>
        <p:nvSpPr>
          <p:cNvPr id="7" name="Left Brace 6"/>
          <p:cNvSpPr/>
          <p:nvPr/>
        </p:nvSpPr>
        <p:spPr>
          <a:xfrm rot="10800000">
            <a:off x="8612627" y="3193077"/>
            <a:ext cx="206827" cy="1966752"/>
          </a:xfrm>
          <a:prstGeom prst="leftBrace">
            <a:avLst>
              <a:gd name="adj1" fmla="val 0"/>
              <a:gd name="adj2" fmla="val 49578"/>
            </a:avLst>
          </a:prstGeom>
          <a:ln w="25400">
            <a:solidFill>
              <a:srgbClr val="0099FF"/>
            </a:solidFill>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latin typeface="Arial" panose="020B0604020202020204" pitchFamily="34" charset="0"/>
              <a:cs typeface="Arial" panose="020B0604020202020204" pitchFamily="34" charset="0"/>
            </a:endParaRPr>
          </a:p>
        </p:txBody>
      </p:sp>
      <p:sp>
        <p:nvSpPr>
          <p:cNvPr id="9" name="Text Box 2"/>
          <p:cNvSpPr txBox="1">
            <a:spLocks noChangeArrowheads="1"/>
          </p:cNvSpPr>
          <p:nvPr/>
        </p:nvSpPr>
        <p:spPr bwMode="auto">
          <a:xfrm>
            <a:off x="3667349" y="3363099"/>
            <a:ext cx="1186784" cy="956439"/>
          </a:xfrm>
          <a:prstGeom prst="rect">
            <a:avLst/>
          </a:prstGeom>
          <a:solidFill>
            <a:schemeClr val="bg1">
              <a:lumMod val="75000"/>
            </a:schemeClr>
          </a:solidFill>
          <a:ln w="9525">
            <a:noFill/>
            <a:miter lim="800000"/>
            <a:headEnd/>
            <a:tailEnd/>
          </a:ln>
        </p:spPr>
        <p:txBody>
          <a:bodyPr rot="0" vert="horz" wrap="square" lIns="91440" tIns="45720" rIns="91440" bIns="45720" anchor="ctr" anchorCtr="0">
            <a:noAutofit/>
          </a:bodyPr>
          <a:lstStyle/>
          <a:p>
            <a:pPr marL="0" marR="0" indent="0" algn="ctr">
              <a:spcBef>
                <a:spcPts val="0"/>
              </a:spcBef>
              <a:spcAft>
                <a:spcPts val="0"/>
              </a:spcAft>
            </a:pPr>
            <a:r>
              <a:rPr lang="en-US" sz="1600">
                <a:solidFill>
                  <a:schemeClr val="bg1"/>
                </a:solidFill>
                <a:effectLst/>
                <a:latin typeface="Arial" panose="020B0604020202020204" pitchFamily="34" charset="0"/>
                <a:ea typeface="Times" panose="02020603050405020304" pitchFamily="18" charset="0"/>
                <a:cs typeface="Arial" panose="020B0604020202020204" pitchFamily="34" charset="0"/>
              </a:rPr>
              <a:t>Integrated Budget</a:t>
            </a:r>
            <a:endParaRPr lang="en-US" sz="1400">
              <a:solidFill>
                <a:schemeClr val="bg1"/>
              </a:solidFill>
              <a:effectLst/>
              <a:latin typeface="Arial" panose="020B0604020202020204" pitchFamily="34" charset="0"/>
              <a:ea typeface="Times" panose="02020603050405020304" pitchFamily="18" charset="0"/>
              <a:cs typeface="Arial" panose="020B0604020202020204" pitchFamily="34" charset="0"/>
            </a:endParaRPr>
          </a:p>
        </p:txBody>
      </p:sp>
      <p:sp>
        <p:nvSpPr>
          <p:cNvPr id="10" name="Text Box 2"/>
          <p:cNvSpPr txBox="1">
            <a:spLocks noChangeArrowheads="1"/>
          </p:cNvSpPr>
          <p:nvPr/>
        </p:nvSpPr>
        <p:spPr bwMode="auto">
          <a:xfrm>
            <a:off x="8848948" y="3841319"/>
            <a:ext cx="1372737" cy="670267"/>
          </a:xfrm>
          <a:prstGeom prst="rect">
            <a:avLst/>
          </a:prstGeom>
          <a:solidFill>
            <a:srgbClr val="0099FF"/>
          </a:solidFill>
          <a:ln w="9525">
            <a:noFill/>
            <a:miter lim="800000"/>
            <a:headEnd/>
            <a:tailEnd/>
          </a:ln>
        </p:spPr>
        <p:txBody>
          <a:bodyPr rot="0" vert="horz" wrap="square" lIns="91440" tIns="45720" rIns="91440" bIns="45720" anchor="ctr" anchorCtr="0">
            <a:noAutofit/>
          </a:bodyPr>
          <a:lstStyle/>
          <a:p>
            <a:pPr marL="0" marR="0" indent="0" algn="ctr">
              <a:spcBef>
                <a:spcPts val="0"/>
              </a:spcBef>
              <a:spcAft>
                <a:spcPts val="0"/>
              </a:spcAft>
            </a:pPr>
            <a:r>
              <a:rPr lang="en-US" sz="1400" dirty="0">
                <a:solidFill>
                  <a:schemeClr val="bg1"/>
                </a:solidFill>
                <a:effectLst/>
                <a:latin typeface="Arial" panose="020B0604020202020204" pitchFamily="34" charset="0"/>
                <a:ea typeface="Times" panose="02020603050405020304" pitchFamily="18" charset="0"/>
                <a:cs typeface="Arial" panose="020B0604020202020204" pitchFamily="34" charset="0"/>
              </a:rPr>
              <a:t>Institutional </a:t>
            </a:r>
            <a:r>
              <a:rPr lang="en-US" sz="1400" dirty="0" smtClean="0">
                <a:solidFill>
                  <a:schemeClr val="bg1"/>
                </a:solidFill>
                <a:effectLst/>
                <a:latin typeface="Arial" panose="020B0604020202020204" pitchFamily="34" charset="0"/>
                <a:ea typeface="Times" panose="02020603050405020304" pitchFamily="18" charset="0"/>
                <a:cs typeface="Arial" panose="020B0604020202020204" pitchFamily="34" charset="0"/>
              </a:rPr>
              <a:t>Budget</a:t>
            </a:r>
            <a:r>
              <a:rPr lang="en-US" sz="1200" dirty="0">
                <a:solidFill>
                  <a:schemeClr val="bg1"/>
                </a:solidFill>
                <a:effectLst/>
                <a:latin typeface="Arial" panose="020B0604020202020204" pitchFamily="34" charset="0"/>
                <a:ea typeface="Times" panose="02020603050405020304" pitchFamily="18" charset="0"/>
                <a:cs typeface="Arial" panose="020B0604020202020204" pitchFamily="34" charset="0"/>
              </a:rPr>
              <a:t> </a:t>
            </a:r>
          </a:p>
        </p:txBody>
      </p:sp>
      <p:sp>
        <p:nvSpPr>
          <p:cNvPr id="28" name="Rounded Rectangle 4"/>
          <p:cNvSpPr/>
          <p:nvPr/>
        </p:nvSpPr>
        <p:spPr>
          <a:xfrm>
            <a:off x="5283220" y="1688532"/>
            <a:ext cx="3240760" cy="1494004"/>
          </a:xfrm>
          <a:prstGeom prst="rect">
            <a:avLst/>
          </a:prstGeom>
          <a:solidFill>
            <a:schemeClr val="bg1">
              <a:lumMod val="95000"/>
            </a:schemeClr>
          </a:solidFill>
          <a:ln>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sz="1400" kern="1200">
                <a:solidFill>
                  <a:sysClr val="windowText" lastClr="000000"/>
                </a:solidFill>
                <a:latin typeface="Arial" panose="020B0604020202020204" pitchFamily="34" charset="0"/>
                <a:cs typeface="Arial" panose="020B0604020202020204" pitchFamily="34" charset="0"/>
              </a:rPr>
              <a:t>Programmes, including Global and Regional Programme</a:t>
            </a:r>
          </a:p>
        </p:txBody>
      </p:sp>
      <p:sp>
        <p:nvSpPr>
          <p:cNvPr id="26" name="Rounded Rectangle 6"/>
          <p:cNvSpPr/>
          <p:nvPr/>
        </p:nvSpPr>
        <p:spPr>
          <a:xfrm>
            <a:off x="5283220" y="3278104"/>
            <a:ext cx="3240760" cy="490758"/>
          </a:xfrm>
          <a:prstGeom prst="rect">
            <a:avLst/>
          </a:prstGeom>
          <a:solidFill>
            <a:schemeClr val="bg1">
              <a:lumMod val="95000"/>
            </a:schemeClr>
          </a:solidFill>
          <a:ln>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sz="1400" kern="1200" dirty="0" smtClean="0">
                <a:solidFill>
                  <a:sysClr val="windowText" lastClr="000000"/>
                </a:solidFill>
                <a:latin typeface="Arial" panose="020B0604020202020204" pitchFamily="34" charset="0"/>
                <a:cs typeface="Arial" panose="020B0604020202020204" pitchFamily="34" charset="0"/>
              </a:rPr>
              <a:t>Programme Effectiveness</a:t>
            </a:r>
            <a:endParaRPr lang="en-US" sz="1400" kern="1200" dirty="0">
              <a:solidFill>
                <a:sysClr val="windowText" lastClr="000000"/>
              </a:solidFill>
              <a:latin typeface="Arial" panose="020B0604020202020204" pitchFamily="34" charset="0"/>
              <a:cs typeface="Arial" panose="020B0604020202020204" pitchFamily="34" charset="0"/>
            </a:endParaRPr>
          </a:p>
        </p:txBody>
      </p:sp>
      <p:sp>
        <p:nvSpPr>
          <p:cNvPr id="24" name="Rounded Rectangle 8"/>
          <p:cNvSpPr/>
          <p:nvPr/>
        </p:nvSpPr>
        <p:spPr>
          <a:xfrm>
            <a:off x="5276357" y="3864429"/>
            <a:ext cx="3247624" cy="568461"/>
          </a:xfrm>
          <a:prstGeom prst="rect">
            <a:avLst/>
          </a:prstGeom>
          <a:solidFill>
            <a:schemeClr val="bg1">
              <a:lumMod val="95000"/>
            </a:schemeClr>
          </a:solidFill>
          <a:ln>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sz="1400" kern="1200">
                <a:solidFill>
                  <a:sysClr val="windowText" lastClr="000000"/>
                </a:solidFill>
                <a:latin typeface="Arial" panose="020B0604020202020204" pitchFamily="34" charset="0"/>
                <a:cs typeface="Arial" panose="020B0604020202020204" pitchFamily="34" charset="0"/>
              </a:rPr>
              <a:t>Management</a:t>
            </a:r>
          </a:p>
        </p:txBody>
      </p:sp>
      <p:sp>
        <p:nvSpPr>
          <p:cNvPr id="22" name="Rounded Rectangle 10"/>
          <p:cNvSpPr/>
          <p:nvPr/>
        </p:nvSpPr>
        <p:spPr>
          <a:xfrm>
            <a:off x="5276356" y="4528457"/>
            <a:ext cx="3247624" cy="381000"/>
          </a:xfrm>
          <a:prstGeom prst="rect">
            <a:avLst/>
          </a:prstGeom>
          <a:solidFill>
            <a:schemeClr val="bg1">
              <a:lumMod val="95000"/>
            </a:schemeClr>
          </a:solidFill>
          <a:ln>
            <a:solidFill>
              <a:schemeClr val="bg1">
                <a:lumMod val="65000"/>
              </a:schemeClr>
            </a:solidFill>
          </a:ln>
        </p:spPr>
        <p:style>
          <a:lnRef idx="2">
            <a:schemeClr val="accent5"/>
          </a:lnRef>
          <a:fillRef idx="1">
            <a:schemeClr val="lt1"/>
          </a:fillRef>
          <a:effectRef idx="0">
            <a:schemeClr val="accent5"/>
          </a:effectRef>
          <a:fontRef idx="minor">
            <a:schemeClr val="dk1"/>
          </a:fontRef>
        </p:style>
        <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sz="1400" kern="1200" dirty="0">
                <a:solidFill>
                  <a:sysClr val="windowText" lastClr="000000"/>
                </a:solidFill>
                <a:latin typeface="Arial" panose="020B0604020202020204" pitchFamily="34" charset="0"/>
                <a:cs typeface="Arial" panose="020B0604020202020204" pitchFamily="34" charset="0"/>
              </a:rPr>
              <a:t>UN Development Coordination</a:t>
            </a:r>
          </a:p>
        </p:txBody>
      </p:sp>
      <p:sp>
        <p:nvSpPr>
          <p:cNvPr id="20" name="Rounded Rectangle 12"/>
          <p:cNvSpPr/>
          <p:nvPr/>
        </p:nvSpPr>
        <p:spPr>
          <a:xfrm>
            <a:off x="5276356" y="5012955"/>
            <a:ext cx="3247624" cy="1234070"/>
          </a:xfrm>
          <a:prstGeom prst="rect">
            <a:avLst/>
          </a:prstGeom>
          <a:solidFill>
            <a:schemeClr val="bg1">
              <a:lumMod val="95000"/>
            </a:schemeClr>
          </a:solidFill>
          <a:ln>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sz="1400" kern="1200" dirty="0">
                <a:solidFill>
                  <a:sysClr val="windowText" lastClr="000000"/>
                </a:solidFill>
                <a:latin typeface="Arial" panose="020B0604020202020204" pitchFamily="34" charset="0"/>
                <a:cs typeface="Arial" panose="020B0604020202020204" pitchFamily="34" charset="0"/>
              </a:rPr>
              <a:t>Special Purpose:</a:t>
            </a:r>
          </a:p>
          <a:p>
            <a:pPr lvl="0" algn="ctr" defTabSz="488950">
              <a:lnSpc>
                <a:spcPct val="90000"/>
              </a:lnSpc>
              <a:spcBef>
                <a:spcPct val="0"/>
              </a:spcBef>
              <a:spcAft>
                <a:spcPct val="35000"/>
              </a:spcAft>
            </a:pPr>
            <a:r>
              <a:rPr lang="en-US" sz="1400" i="1" kern="1200" dirty="0">
                <a:solidFill>
                  <a:sysClr val="windowText" lastClr="000000"/>
                </a:solidFill>
                <a:latin typeface="Arial" panose="020B0604020202020204" pitchFamily="34" charset="0"/>
                <a:cs typeface="Arial" panose="020B0604020202020204" pitchFamily="34" charset="0"/>
              </a:rPr>
              <a:t>Capital </a:t>
            </a:r>
            <a:r>
              <a:rPr lang="en-US" sz="1400" i="1" kern="1200" dirty="0" smtClean="0">
                <a:solidFill>
                  <a:sysClr val="windowText" lastClr="000000"/>
                </a:solidFill>
                <a:latin typeface="Arial" panose="020B0604020202020204" pitchFamily="34" charset="0"/>
                <a:cs typeface="Arial" panose="020B0604020202020204" pitchFamily="34" charset="0"/>
              </a:rPr>
              <a:t>Investments</a:t>
            </a:r>
            <a:endParaRPr lang="en-US" sz="1400" i="1" kern="1200" dirty="0">
              <a:solidFill>
                <a:sysClr val="windowText" lastClr="000000"/>
              </a:solidFill>
              <a:latin typeface="Arial" panose="020B0604020202020204" pitchFamily="34" charset="0"/>
              <a:cs typeface="Arial" panose="020B0604020202020204" pitchFamily="34" charset="0"/>
            </a:endParaRPr>
          </a:p>
          <a:p>
            <a:pPr lvl="0" algn="ctr" defTabSz="488950">
              <a:lnSpc>
                <a:spcPct val="90000"/>
              </a:lnSpc>
              <a:spcBef>
                <a:spcPct val="0"/>
              </a:spcBef>
              <a:spcAft>
                <a:spcPct val="35000"/>
              </a:spcAft>
            </a:pPr>
            <a:r>
              <a:rPr lang="en-US" sz="1400" i="1" kern="1200" dirty="0">
                <a:solidFill>
                  <a:sysClr val="windowText" lastClr="000000"/>
                </a:solidFill>
                <a:latin typeface="Arial" panose="020B0604020202020204" pitchFamily="34" charset="0"/>
                <a:cs typeface="Arial" panose="020B0604020202020204" pitchFamily="34" charset="0"/>
              </a:rPr>
              <a:t>Private Fundraising and Partnerships</a:t>
            </a:r>
          </a:p>
          <a:p>
            <a:pPr lvl="0" algn="ctr" defTabSz="488950">
              <a:lnSpc>
                <a:spcPct val="90000"/>
              </a:lnSpc>
              <a:spcBef>
                <a:spcPct val="0"/>
              </a:spcBef>
              <a:spcAft>
                <a:spcPct val="35000"/>
              </a:spcAft>
            </a:pPr>
            <a:r>
              <a:rPr lang="en-US" sz="1400" i="1" kern="1200" dirty="0">
                <a:solidFill>
                  <a:sysClr val="windowText" lastClr="000000"/>
                </a:solidFill>
                <a:latin typeface="Arial" panose="020B0604020202020204" pitchFamily="34" charset="0"/>
                <a:cs typeface="Arial" panose="020B0604020202020204" pitchFamily="34" charset="0"/>
              </a:rPr>
              <a:t>Procurement Services</a:t>
            </a:r>
          </a:p>
        </p:txBody>
      </p:sp>
      <p:sp>
        <p:nvSpPr>
          <p:cNvPr id="32" name="Text Box 2"/>
          <p:cNvSpPr txBox="1">
            <a:spLocks noChangeArrowheads="1"/>
          </p:cNvSpPr>
          <p:nvPr/>
        </p:nvSpPr>
        <p:spPr bwMode="auto">
          <a:xfrm>
            <a:off x="8975652" y="2353235"/>
            <a:ext cx="1499607" cy="622637"/>
          </a:xfrm>
          <a:prstGeom prst="rect">
            <a:avLst/>
          </a:prstGeom>
          <a:solidFill>
            <a:srgbClr val="FFC000"/>
          </a:solidFill>
          <a:ln w="9525">
            <a:noFill/>
            <a:miter lim="800000"/>
            <a:headEnd/>
            <a:tailEnd/>
          </a:ln>
        </p:spPr>
        <p:txBody>
          <a:bodyPr rot="0" vert="horz" wrap="square" lIns="91440" tIns="45720" rIns="91440" bIns="45720" anchor="ctr" anchorCtr="0">
            <a:noAutofit/>
          </a:bodyPr>
          <a:lstStyle/>
          <a:p>
            <a:pPr marL="0" marR="0" indent="0" algn="ctr">
              <a:spcBef>
                <a:spcPts val="0"/>
              </a:spcBef>
              <a:spcAft>
                <a:spcPts val="0"/>
              </a:spcAft>
            </a:pPr>
            <a:r>
              <a:rPr lang="en-US" sz="1400" dirty="0" smtClean="0">
                <a:solidFill>
                  <a:srgbClr val="000000"/>
                </a:solidFill>
                <a:effectLst/>
                <a:latin typeface="Arial" panose="020B0604020202020204" pitchFamily="34" charset="0"/>
                <a:ea typeface="Times" panose="02020603050405020304" pitchFamily="18" charset="0"/>
                <a:cs typeface="Arial" panose="020B0604020202020204" pitchFamily="34" charset="0"/>
              </a:rPr>
              <a:t>OR / RR</a:t>
            </a:r>
            <a:r>
              <a:rPr lang="en-US" sz="1200" dirty="0">
                <a:solidFill>
                  <a:srgbClr val="000000"/>
                </a:solidFill>
                <a:effectLst/>
                <a:latin typeface="Arial" panose="020B0604020202020204" pitchFamily="34" charset="0"/>
                <a:ea typeface="Times" panose="02020603050405020304" pitchFamily="18" charset="0"/>
                <a:cs typeface="Arial" panose="020B0604020202020204" pitchFamily="34" charset="0"/>
              </a:rPr>
              <a:t> </a:t>
            </a:r>
          </a:p>
        </p:txBody>
      </p:sp>
      <p:sp>
        <p:nvSpPr>
          <p:cNvPr id="33" name="Left Brace 32"/>
          <p:cNvSpPr/>
          <p:nvPr/>
        </p:nvSpPr>
        <p:spPr>
          <a:xfrm rot="10800000">
            <a:off x="8819454" y="1556657"/>
            <a:ext cx="156198" cy="2212205"/>
          </a:xfrm>
          <a:prstGeom prst="leftBrace">
            <a:avLst>
              <a:gd name="adj1" fmla="val 0"/>
              <a:gd name="adj2" fmla="val 49578"/>
            </a:avLst>
          </a:prstGeom>
          <a:ln w="25400">
            <a:solidFill>
              <a:srgbClr val="FFC000"/>
            </a:solidFill>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3066276"/>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311216" y="3788657"/>
            <a:ext cx="3773428" cy="2961319"/>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Tips for Sound Budgeting Practices</a:t>
            </a:r>
          </a:p>
        </p:txBody>
      </p:sp>
      <p:sp>
        <p:nvSpPr>
          <p:cNvPr id="4" name="Rectangle 3"/>
          <p:cNvSpPr/>
          <p:nvPr/>
        </p:nvSpPr>
        <p:spPr>
          <a:xfrm>
            <a:off x="339242" y="917912"/>
            <a:ext cx="7567629" cy="5755422"/>
          </a:xfrm>
          <a:prstGeom prst="rect">
            <a:avLst/>
          </a:prstGeom>
        </p:spPr>
        <p:txBody>
          <a:bodyPr wrap="square">
            <a:spAutoFit/>
          </a:bodyPr>
          <a:lstStyle/>
          <a:p>
            <a:pPr marL="342900" indent="-342900">
              <a:buFont typeface="Arial" panose="020B0604020202020204" pitchFamily="34" charset="0"/>
              <a:buChar char="•"/>
            </a:pPr>
            <a:r>
              <a:rPr lang="en-US" sz="1600" dirty="0" smtClean="0">
                <a:latin typeface="Arial" panose="020B0604020202020204" pitchFamily="34" charset="0"/>
                <a:cs typeface="Arial" panose="020B0604020202020204" pitchFamily="34" charset="0"/>
              </a:rPr>
              <a:t>Is the programme </a:t>
            </a:r>
            <a:r>
              <a:rPr lang="en-US" sz="1600" dirty="0">
                <a:latin typeface="Arial" panose="020B0604020202020204" pitchFamily="34" charset="0"/>
                <a:cs typeface="Arial" panose="020B0604020202020204" pitchFamily="34" charset="0"/>
              </a:rPr>
              <a:t>affordable? Do the budget lines look economic, plausible, reasonable and realistic?</a:t>
            </a:r>
          </a:p>
          <a:p>
            <a:pPr marL="342900" indent="-342900">
              <a:buFont typeface="Arial" panose="020B0604020202020204" pitchFamily="34" charset="0"/>
              <a:buChar char="•"/>
            </a:pPr>
            <a:endParaRPr lang="en-US" sz="16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1600" dirty="0" smtClean="0">
                <a:latin typeface="Arial" panose="020B0604020202020204" pitchFamily="34" charset="0"/>
                <a:cs typeface="Arial" panose="020B0604020202020204" pitchFamily="34" charset="0"/>
              </a:rPr>
              <a:t>Is the budget aligned with programme priorities?</a:t>
            </a:r>
            <a:r>
              <a:rPr lang="en-US" sz="1600" dirty="0">
                <a:latin typeface="Arial" panose="020B0604020202020204" pitchFamily="34" charset="0"/>
                <a:cs typeface="Arial" panose="020B0604020202020204" pitchFamily="34" charset="0"/>
              </a:rPr>
              <a:t> </a:t>
            </a:r>
            <a:endParaRPr lang="en-US" sz="16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sz="16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1600" dirty="0" smtClean="0">
                <a:latin typeface="Arial" panose="020B0604020202020204" pitchFamily="34" charset="0"/>
                <a:cs typeface="Arial" panose="020B0604020202020204" pitchFamily="34" charset="0"/>
              </a:rPr>
              <a:t>Does </a:t>
            </a:r>
            <a:r>
              <a:rPr lang="en-US" sz="1600" dirty="0">
                <a:latin typeface="Arial" panose="020B0604020202020204" pitchFamily="34" charset="0"/>
                <a:cs typeface="Arial" panose="020B0604020202020204" pitchFamily="34" charset="0"/>
              </a:rPr>
              <a:t>the overall budget </a:t>
            </a:r>
            <a:r>
              <a:rPr lang="en-US" sz="1600" dirty="0" smtClean="0">
                <a:latin typeface="Arial" panose="020B0604020202020204" pitchFamily="34" charset="0"/>
                <a:cs typeface="Arial" panose="020B0604020202020204" pitchFamily="34" charset="0"/>
              </a:rPr>
              <a:t>reflect the Theory of Change – particularly the programme areas, determinants and </a:t>
            </a:r>
            <a:r>
              <a:rPr lang="en-US" sz="1600" dirty="0">
                <a:latin typeface="Arial" panose="020B0604020202020204" pitchFamily="34" charset="0"/>
                <a:cs typeface="Arial" panose="020B0604020202020204" pitchFamily="34" charset="0"/>
              </a:rPr>
              <a:t>strategies</a:t>
            </a:r>
            <a:r>
              <a:rPr lang="en-US" sz="1600" dirty="0" smtClean="0">
                <a:latin typeface="Arial" panose="020B0604020202020204" pitchFamily="34" charset="0"/>
                <a:cs typeface="Arial" panose="020B0604020202020204" pitchFamily="34" charset="0"/>
              </a:rPr>
              <a:t>?</a:t>
            </a:r>
            <a:r>
              <a:rPr lang="en-US" sz="1600" dirty="0">
                <a:latin typeface="Arial" panose="020B0604020202020204" pitchFamily="34" charset="0"/>
                <a:cs typeface="Arial" panose="020B0604020202020204" pitchFamily="34" charset="0"/>
              </a:rPr>
              <a:t> Do the budget lines correspond to the project design and to the planned results as indicated in the Results Framework? </a:t>
            </a:r>
            <a:r>
              <a:rPr lang="en-US" sz="1600" dirty="0" smtClean="0">
                <a:latin typeface="Arial" panose="020B0604020202020204" pitchFamily="34" charset="0"/>
                <a:cs typeface="Arial" panose="020B0604020202020204" pitchFamily="34" charset="0"/>
              </a:rPr>
              <a:t>Keep PIDB coding in mind!</a:t>
            </a:r>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1600" dirty="0">
                <a:latin typeface="Arial" panose="020B0604020202020204" pitchFamily="34" charset="0"/>
                <a:cs typeface="Arial" panose="020B0604020202020204" pitchFamily="34" charset="0"/>
              </a:rPr>
              <a:t>Where could the budget be cut without substantially hampering the desired results? </a:t>
            </a:r>
            <a:endParaRPr lang="en-US" sz="16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1600" dirty="0">
                <a:latin typeface="Arial" panose="020B0604020202020204" pitchFamily="34" charset="0"/>
                <a:cs typeface="Arial" panose="020B0604020202020204" pitchFamily="34" charset="0"/>
              </a:rPr>
              <a:t>Does the budget attribution look reasonable over the planned period (planning per year)? </a:t>
            </a:r>
            <a:endParaRPr lang="en-US" sz="16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1600" dirty="0">
                <a:latin typeface="Arial" panose="020B0604020202020204" pitchFamily="34" charset="0"/>
                <a:cs typeface="Arial" panose="020B0604020202020204" pitchFamily="34" charset="0"/>
              </a:rPr>
              <a:t>Which budget lines are direct costs (directly linked to the activities/progress) and which budget lines are indirect costs (independent of operational activities/progress</a:t>
            </a:r>
            <a:r>
              <a:rPr lang="en-US" sz="1600" dirty="0" smtClean="0">
                <a:latin typeface="Arial" panose="020B0604020202020204" pitchFamily="34" charset="0"/>
                <a:cs typeface="Arial" panose="020B0604020202020204" pitchFamily="34" charset="0"/>
              </a:rPr>
              <a:t>)?</a:t>
            </a:r>
          </a:p>
          <a:p>
            <a:pPr marL="342900" indent="-34290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1600" dirty="0">
                <a:latin typeface="Arial" panose="020B0604020202020204" pitchFamily="34" charset="0"/>
                <a:cs typeface="Arial" panose="020B0604020202020204" pitchFamily="34" charset="0"/>
              </a:rPr>
              <a:t>Last but not least, are the calculations of the budget lines and of the totals mathematically correct? </a:t>
            </a:r>
          </a:p>
          <a:p>
            <a:pPr marL="342900" indent="-342900">
              <a:buFont typeface="Arial" panose="020B0604020202020204" pitchFamily="34" charset="0"/>
              <a:buChar char="•"/>
            </a:pPr>
            <a:endParaRPr lang="en-US" sz="1600" dirty="0" smtClean="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2"/>
          <a:stretch>
            <a:fillRect/>
          </a:stretch>
        </p:blipFill>
        <p:spPr>
          <a:xfrm rot="402679">
            <a:off x="8726798" y="238605"/>
            <a:ext cx="3064816" cy="328519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9" name="TextBox 8"/>
          <p:cNvSpPr txBox="1"/>
          <p:nvPr/>
        </p:nvSpPr>
        <p:spPr>
          <a:xfrm>
            <a:off x="10744201" y="5153470"/>
            <a:ext cx="1259761" cy="738664"/>
          </a:xfrm>
          <a:prstGeom prst="rect">
            <a:avLst/>
          </a:prstGeom>
          <a:solidFill>
            <a:schemeClr val="bg1"/>
          </a:solidFill>
        </p:spPr>
        <p:txBody>
          <a:bodyPr wrap="square" rtlCol="0">
            <a:spAutoFit/>
          </a:bodyPr>
          <a:lstStyle/>
          <a:p>
            <a:pPr algn="ctr"/>
            <a:r>
              <a:rPr lang="en-US" sz="1400" dirty="0" smtClean="0">
                <a:latin typeface="Arial" panose="020B0604020202020204" pitchFamily="34" charset="0"/>
                <a:cs typeface="Arial" panose="020B0604020202020204" pitchFamily="34" charset="0"/>
              </a:rPr>
              <a:t>ESAR expenditures, </a:t>
            </a:r>
          </a:p>
          <a:p>
            <a:pPr algn="ctr"/>
            <a:r>
              <a:rPr lang="en-US" sz="1400" dirty="0" smtClean="0">
                <a:latin typeface="Arial" panose="020B0604020202020204" pitchFamily="34" charset="0"/>
                <a:cs typeface="Arial" panose="020B0604020202020204" pitchFamily="34" charset="0"/>
              </a:rPr>
              <a:t>2014-2015</a:t>
            </a:r>
            <a:endParaRPr lang="en-US" sz="1400" dirty="0">
              <a:latin typeface="Arial" panose="020B0604020202020204" pitchFamily="34" charset="0"/>
              <a:cs typeface="Arial" panose="020B0604020202020204" pitchFamily="34" charset="0"/>
            </a:endParaRPr>
          </a:p>
        </p:txBody>
      </p:sp>
      <p:pic>
        <p:nvPicPr>
          <p:cNvPr id="10" name="Picture 9"/>
          <p:cNvPicPr>
            <a:picLocks noChangeAspect="1"/>
          </p:cNvPicPr>
          <p:nvPr/>
        </p:nvPicPr>
        <p:blipFill>
          <a:blip r:embed="rId3"/>
          <a:stretch>
            <a:fillRect/>
          </a:stretch>
        </p:blipFill>
        <p:spPr>
          <a:xfrm>
            <a:off x="8437493" y="3838805"/>
            <a:ext cx="3566469" cy="2871465"/>
          </a:xfrm>
          <a:prstGeom prst="rect">
            <a:avLst/>
          </a:prstGeom>
        </p:spPr>
      </p:pic>
    </p:spTree>
    <p:extLst>
      <p:ext uri="{BB962C8B-B14F-4D97-AF65-F5344CB8AC3E}">
        <p14:creationId xmlns:p14="http://schemas.microsoft.com/office/powerpoint/2010/main" val="3136355753"/>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277470" y="3227295"/>
            <a:ext cx="10914529" cy="770021"/>
          </a:xfrm>
        </p:spPr>
        <p:txBody>
          <a:bodyPr>
            <a:normAutofit/>
          </a:bodyPr>
          <a:lstStyle/>
          <a:p>
            <a:pPr algn="ctr"/>
            <a:r>
              <a:rPr lang="en-US" sz="3600" dirty="0" smtClean="0">
                <a:solidFill>
                  <a:srgbClr val="0099FF"/>
                </a:solidFill>
                <a:latin typeface="Arial" panose="020B0604020202020204" pitchFamily="34" charset="0"/>
                <a:cs typeface="Arial" panose="020B0604020202020204" pitchFamily="34" charset="0"/>
              </a:rPr>
              <a:t>Any Questions?</a:t>
            </a:r>
            <a:endParaRPr lang="en-US" sz="3600" dirty="0">
              <a:solidFill>
                <a:srgbClr val="0099FF"/>
              </a:solidFill>
              <a:latin typeface="Arial" panose="020B0604020202020204" pitchFamily="34" charset="0"/>
              <a:cs typeface="Arial" panose="020B0604020202020204" pitchFamily="34" charset="0"/>
            </a:endParaRPr>
          </a:p>
        </p:txBody>
      </p:sp>
      <p:pic>
        <p:nvPicPr>
          <p:cNvPr id="1026" name="Picture 2" descr="https://cdn2.iconfinder.com/data/icons/freecns-cumulus/16/519660-164_QuestionMark-512.png"/>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79762" y="2773404"/>
            <a:ext cx="1677801" cy="1677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245979"/>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60884" y="2502568"/>
            <a:ext cx="8855242" cy="2839453"/>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860884" y="2502567"/>
            <a:ext cx="8855242" cy="2839453"/>
          </a:xfrm>
        </p:spPr>
        <p:txBody>
          <a:bodyPr vert="horz" lIns="91440" tIns="45720" rIns="91440" bIns="45720" rtlCol="0" anchor="ctr">
            <a:noAutofit/>
          </a:bodyPr>
          <a:lstStyle/>
          <a:p>
            <a:pPr algn="ctr"/>
            <a:r>
              <a:rPr lang="en-US" sz="4000" dirty="0" smtClean="0">
                <a:solidFill>
                  <a:srgbClr val="0099FF"/>
                </a:solidFill>
                <a:latin typeface="Arial" panose="020B0604020202020204" pitchFamily="34" charset="0"/>
                <a:cs typeface="Arial" panose="020B0604020202020204" pitchFamily="34" charset="0"/>
              </a:rPr>
              <a:t>REPORTING</a:t>
            </a:r>
            <a:endParaRPr lang="en-US" sz="2800" dirty="0">
              <a:solidFill>
                <a:schemeClr val="bg1">
                  <a:lumMod val="50000"/>
                </a:schemeClr>
              </a:solidFill>
              <a:latin typeface="Arial" panose="020B0604020202020204" pitchFamily="34" charset="0"/>
              <a:cs typeface="Arial" panose="020B0604020202020204" pitchFamily="34" charset="0"/>
            </a:endParaRPr>
          </a:p>
        </p:txBody>
      </p:sp>
      <p:sp>
        <p:nvSpPr>
          <p:cNvPr id="6" name="Rectangle 5"/>
          <p:cNvSpPr/>
          <p:nvPr/>
        </p:nvSpPr>
        <p:spPr>
          <a:xfrm>
            <a:off x="1860884" y="1612232"/>
            <a:ext cx="8855242" cy="890336"/>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bg1">
                    <a:lumMod val="65000"/>
                  </a:schemeClr>
                </a:solidFill>
                <a:latin typeface="Arial" panose="020B0604020202020204" pitchFamily="34" charset="0"/>
                <a:cs typeface="Arial" panose="020B0604020202020204" pitchFamily="34" charset="0"/>
              </a:rPr>
              <a:t>SESSION 12</a:t>
            </a:r>
            <a:endParaRPr lang="en-US" sz="2800" dirty="0">
              <a:solidFill>
                <a:schemeClr val="bg1">
                  <a:lumMod val="6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23133758"/>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0" y="-121186"/>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Session Objectives</a:t>
            </a:r>
          </a:p>
        </p:txBody>
      </p:sp>
      <p:sp>
        <p:nvSpPr>
          <p:cNvPr id="6" name="Text Placeholder 5"/>
          <p:cNvSpPr txBox="1">
            <a:spLocks/>
          </p:cNvSpPr>
          <p:nvPr/>
        </p:nvSpPr>
        <p:spPr>
          <a:xfrm>
            <a:off x="1232950" y="1510822"/>
            <a:ext cx="9304421" cy="4724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smtClean="0">
                <a:latin typeface="Arial" panose="020B0604020202020204" pitchFamily="34" charset="0"/>
                <a:cs typeface="Arial" panose="020B0604020202020204" pitchFamily="34" charset="0"/>
              </a:rPr>
              <a:t>Identify elements for effective reporting on UNICEF’s contribution to results.</a:t>
            </a:r>
          </a:p>
          <a:p>
            <a:endParaRPr lang="en-US" sz="2000" dirty="0" smtClean="0">
              <a:latin typeface="Arial" panose="020B0604020202020204" pitchFamily="34" charset="0"/>
              <a:cs typeface="Arial" panose="020B0604020202020204" pitchFamily="34" charset="0"/>
            </a:endParaRPr>
          </a:p>
          <a:p>
            <a:r>
              <a:rPr lang="en-US" sz="2000" dirty="0" smtClean="0">
                <a:latin typeface="Arial" panose="020B0604020202020204" pitchFamily="34" charset="0"/>
                <a:cs typeface="Arial" panose="020B0604020202020204" pitchFamily="34" charset="0"/>
              </a:rPr>
              <a:t>Understand the importance of quality reporting to  meeting accountabilities, learning and how UNICEF is perceived.</a:t>
            </a:r>
          </a:p>
          <a:p>
            <a:endParaRPr lang="en-US" sz="2000" dirty="0" smtClean="0">
              <a:latin typeface="Arial" panose="020B0604020202020204" pitchFamily="34" charset="0"/>
              <a:cs typeface="Arial" panose="020B0604020202020204" pitchFamily="34" charset="0"/>
            </a:endParaRPr>
          </a:p>
          <a:p>
            <a:r>
              <a:rPr lang="en-US" sz="2000" dirty="0" smtClean="0">
                <a:latin typeface="Arial" panose="020B0604020202020204" pitchFamily="34" charset="0"/>
                <a:cs typeface="Arial" panose="020B0604020202020204" pitchFamily="34" charset="0"/>
              </a:rPr>
              <a:t>Recognize the importance of transparency to reporting.</a:t>
            </a: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661418"/>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p:cNvGrpSpPr/>
          <p:nvPr/>
        </p:nvGrpSpPr>
        <p:grpSpPr>
          <a:xfrm>
            <a:off x="958328" y="1002534"/>
            <a:ext cx="5784133" cy="5522356"/>
            <a:chOff x="958328" y="1002534"/>
            <a:chExt cx="5784133" cy="5522356"/>
          </a:xfrm>
        </p:grpSpPr>
        <p:pic>
          <p:nvPicPr>
            <p:cNvPr id="14" name="Picture 13"/>
            <p:cNvPicPr>
              <a:picLocks noChangeAspect="1"/>
            </p:cNvPicPr>
            <p:nvPr/>
          </p:nvPicPr>
          <p:blipFill>
            <a:blip r:embed="rId2"/>
            <a:stretch>
              <a:fillRect/>
            </a:stretch>
          </p:blipFill>
          <p:spPr>
            <a:xfrm>
              <a:off x="958328" y="1002534"/>
              <a:ext cx="5784133" cy="4671152"/>
            </a:xfrm>
            <a:prstGeom prst="rect">
              <a:avLst/>
            </a:prstGeom>
          </p:spPr>
        </p:pic>
        <p:sp>
          <p:nvSpPr>
            <p:cNvPr id="11" name="TextBox 10"/>
            <p:cNvSpPr txBox="1"/>
            <p:nvPr/>
          </p:nvSpPr>
          <p:spPr>
            <a:xfrm>
              <a:off x="2886419" y="6186336"/>
              <a:ext cx="1927952" cy="338554"/>
            </a:xfrm>
            <a:prstGeom prst="rect">
              <a:avLst/>
            </a:prstGeom>
            <a:noFill/>
          </p:spPr>
          <p:txBody>
            <a:bodyPr wrap="square" rtlCol="0">
              <a:spAutoFit/>
            </a:bodyPr>
            <a:lstStyle/>
            <a:p>
              <a:pPr algn="ctr"/>
              <a:r>
                <a:rPr lang="en-US" sz="1600" dirty="0" smtClean="0">
                  <a:latin typeface="Arial" panose="020B0604020202020204" pitchFamily="34" charset="0"/>
                  <a:cs typeface="Arial" panose="020B0604020202020204" pitchFamily="34" charset="0"/>
                </a:rPr>
                <a:t>OVERALL</a:t>
              </a:r>
              <a:endParaRPr lang="en-US" sz="1600" dirty="0">
                <a:latin typeface="Arial" panose="020B0604020202020204" pitchFamily="34" charset="0"/>
                <a:cs typeface="Arial" panose="020B0604020202020204" pitchFamily="34" charset="0"/>
              </a:endParaRPr>
            </a:p>
          </p:txBody>
        </p:sp>
      </p:grpSp>
      <p:sp>
        <p:nvSpPr>
          <p:cNvPr id="4"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Quality of Results Reporting in ESAR</a:t>
            </a:r>
          </a:p>
        </p:txBody>
      </p:sp>
      <p:sp>
        <p:nvSpPr>
          <p:cNvPr id="7" name="Rectangle 6"/>
          <p:cNvSpPr/>
          <p:nvPr/>
        </p:nvSpPr>
        <p:spPr>
          <a:xfrm>
            <a:off x="8405870" y="1222872"/>
            <a:ext cx="3327094" cy="38559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latin typeface="Arial" panose="020B0604020202020204" pitchFamily="34" charset="0"/>
                <a:cs typeface="Arial" panose="020B0604020202020204" pitchFamily="34" charset="0"/>
              </a:rPr>
              <a:t>Poor quality of reporting</a:t>
            </a:r>
            <a:endParaRPr lang="en-US" dirty="0">
              <a:solidFill>
                <a:schemeClr val="bg1"/>
              </a:solidFill>
              <a:latin typeface="Arial" panose="020B0604020202020204" pitchFamily="34" charset="0"/>
              <a:cs typeface="Arial" panose="020B0604020202020204" pitchFamily="34" charset="0"/>
            </a:endParaRPr>
          </a:p>
        </p:txBody>
      </p:sp>
      <p:sp>
        <p:nvSpPr>
          <p:cNvPr id="8" name="Rectangle 7"/>
          <p:cNvSpPr/>
          <p:nvPr/>
        </p:nvSpPr>
        <p:spPr>
          <a:xfrm>
            <a:off x="8405870" y="1675723"/>
            <a:ext cx="3327094" cy="38559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lumMod val="50000"/>
                    <a:lumOff val="50000"/>
                  </a:schemeClr>
                </a:solidFill>
                <a:latin typeface="Arial" panose="020B0604020202020204" pitchFamily="34" charset="0"/>
                <a:cs typeface="Arial" panose="020B0604020202020204" pitchFamily="34" charset="0"/>
              </a:rPr>
              <a:t>Average quality of reporting</a:t>
            </a:r>
            <a:endParaRPr lang="en-US"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9" name="Rectangle 8"/>
          <p:cNvSpPr/>
          <p:nvPr/>
        </p:nvSpPr>
        <p:spPr>
          <a:xfrm>
            <a:off x="8405870" y="2128574"/>
            <a:ext cx="3327094" cy="38559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latin typeface="Arial" panose="020B0604020202020204" pitchFamily="34" charset="0"/>
                <a:cs typeface="Arial" panose="020B0604020202020204" pitchFamily="34" charset="0"/>
              </a:rPr>
              <a:t>Good quality of reporting</a:t>
            </a:r>
            <a:endParaRPr lang="en-US" dirty="0">
              <a:solidFill>
                <a:schemeClr val="bg1"/>
              </a:solidFill>
              <a:latin typeface="Arial" panose="020B0604020202020204" pitchFamily="34" charset="0"/>
              <a:cs typeface="Arial" panose="020B0604020202020204" pitchFamily="34" charset="0"/>
            </a:endParaRPr>
          </a:p>
        </p:txBody>
      </p:sp>
      <p:sp>
        <p:nvSpPr>
          <p:cNvPr id="12" name="TextBox 11"/>
          <p:cNvSpPr txBox="1"/>
          <p:nvPr/>
        </p:nvSpPr>
        <p:spPr>
          <a:xfrm>
            <a:off x="9265186" y="6186336"/>
            <a:ext cx="2754217" cy="523220"/>
          </a:xfrm>
          <a:prstGeom prst="rect">
            <a:avLst/>
          </a:prstGeom>
          <a:noFill/>
        </p:spPr>
        <p:txBody>
          <a:bodyPr wrap="square" rtlCol="0">
            <a:spAutoFit/>
          </a:bodyPr>
          <a:lstStyle/>
          <a:p>
            <a:r>
              <a:rPr lang="en-US" sz="1400" u="sng" dirty="0" smtClean="0">
                <a:latin typeface="Arial" panose="020B0604020202020204" pitchFamily="34" charset="0"/>
                <a:cs typeface="Arial" panose="020B0604020202020204" pitchFamily="34" charset="0"/>
              </a:rPr>
              <a:t>Source: </a:t>
            </a:r>
            <a:r>
              <a:rPr lang="en-US" sz="1400" dirty="0" smtClean="0">
                <a:latin typeface="Arial" panose="020B0604020202020204" pitchFamily="34" charset="0"/>
                <a:cs typeface="Arial" panose="020B0604020202020204" pitchFamily="34" charset="0"/>
              </a:rPr>
              <a:t>2015 Country Office Annual Report review</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55634086"/>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3576571" y="2060352"/>
            <a:ext cx="4410636" cy="3576918"/>
          </a:xfrm>
          <a:prstGeom prst="ellipse">
            <a:avLst/>
          </a:prstGeom>
          <a:noFill/>
          <a:ln>
            <a:solidFill>
              <a:srgbClr val="00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a:spLocks noGrp="1"/>
          </p:cNvSpPr>
          <p:nvPr>
            <p:ph type="title"/>
          </p:nvPr>
        </p:nvSpPr>
        <p:spPr>
          <a:xfrm>
            <a:off x="0" y="-121186"/>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Why Do We Report?</a:t>
            </a:r>
          </a:p>
        </p:txBody>
      </p:sp>
      <p:sp>
        <p:nvSpPr>
          <p:cNvPr id="4" name="Rectangle 3"/>
          <p:cNvSpPr/>
          <p:nvPr/>
        </p:nvSpPr>
        <p:spPr>
          <a:xfrm>
            <a:off x="4635372" y="2864073"/>
            <a:ext cx="2293034" cy="1969477"/>
          </a:xfrm>
          <a:prstGeom prst="rect">
            <a:avLst/>
          </a:prstGeom>
          <a:ln>
            <a:no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2800" dirty="0" smtClean="0">
                <a:solidFill>
                  <a:srgbClr val="0099FF"/>
                </a:solidFill>
                <a:latin typeface="Arial" panose="020B0604020202020204" pitchFamily="34" charset="0"/>
                <a:cs typeface="Arial" panose="020B0604020202020204" pitchFamily="34" charset="0"/>
              </a:rPr>
              <a:t>REPORTS</a:t>
            </a:r>
            <a:endParaRPr lang="en-US" sz="2800" dirty="0">
              <a:solidFill>
                <a:srgbClr val="0099FF"/>
              </a:solidFill>
              <a:latin typeface="Arial" panose="020B0604020202020204" pitchFamily="34" charset="0"/>
              <a:cs typeface="Arial" panose="020B0604020202020204" pitchFamily="34" charset="0"/>
            </a:endParaRPr>
          </a:p>
        </p:txBody>
      </p:sp>
      <p:sp>
        <p:nvSpPr>
          <p:cNvPr id="20" name="Oval 19"/>
          <p:cNvSpPr/>
          <p:nvPr/>
        </p:nvSpPr>
        <p:spPr>
          <a:xfrm>
            <a:off x="2430054" y="3848811"/>
            <a:ext cx="2293034" cy="1969477"/>
          </a:xfrm>
          <a:prstGeom prst="ellipse">
            <a:avLst/>
          </a:prstGeom>
          <a:solidFill>
            <a:schemeClr val="accent2">
              <a:lumMod val="40000"/>
              <a:lumOff val="60000"/>
            </a:schemeClr>
          </a:solidFill>
          <a:ln>
            <a:solidFill>
              <a:schemeClr val="bg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Establish contributions made</a:t>
            </a:r>
          </a:p>
        </p:txBody>
      </p:sp>
      <p:sp>
        <p:nvSpPr>
          <p:cNvPr id="22" name="Oval 21"/>
          <p:cNvSpPr/>
          <p:nvPr/>
        </p:nvSpPr>
        <p:spPr>
          <a:xfrm>
            <a:off x="6840690" y="3936734"/>
            <a:ext cx="2293034" cy="1969477"/>
          </a:xfrm>
          <a:prstGeom prst="ellipse">
            <a:avLst/>
          </a:prstGeom>
          <a:solidFill>
            <a:schemeClr val="accent1">
              <a:lumMod val="40000"/>
              <a:lumOff val="60000"/>
            </a:schemeClr>
          </a:solidFill>
          <a:ln>
            <a:solidFill>
              <a:schemeClr val="bg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Accountability</a:t>
            </a:r>
          </a:p>
        </p:txBody>
      </p:sp>
      <p:sp>
        <p:nvSpPr>
          <p:cNvPr id="25" name="Oval 24"/>
          <p:cNvSpPr/>
          <p:nvPr/>
        </p:nvSpPr>
        <p:spPr>
          <a:xfrm>
            <a:off x="4635372" y="770020"/>
            <a:ext cx="2293034" cy="1969477"/>
          </a:xfrm>
          <a:prstGeom prst="ellipse">
            <a:avLst/>
          </a:prstGeom>
          <a:solidFill>
            <a:schemeClr val="bg1">
              <a:lumMod val="85000"/>
            </a:schemeClr>
          </a:solidFill>
          <a:ln>
            <a:solidFill>
              <a:schemeClr val="bg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latin typeface="Arial" panose="020B0604020202020204" pitchFamily="34" charset="0"/>
                <a:cs typeface="Arial" panose="020B0604020202020204" pitchFamily="34" charset="0"/>
              </a:rPr>
              <a:t>L</a:t>
            </a:r>
            <a:r>
              <a:rPr lang="en-US" dirty="0" smtClean="0">
                <a:latin typeface="Arial" panose="020B0604020202020204" pitchFamily="34" charset="0"/>
                <a:cs typeface="Arial" panose="020B0604020202020204" pitchFamily="34" charset="0"/>
              </a:rPr>
              <a:t>earning</a:t>
            </a:r>
          </a:p>
        </p:txBody>
      </p:sp>
    </p:spTree>
    <p:extLst>
      <p:ext uri="{BB962C8B-B14F-4D97-AF65-F5344CB8AC3E}">
        <p14:creationId xmlns:p14="http://schemas.microsoft.com/office/powerpoint/2010/main" val="1898458847"/>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0" y="-121186"/>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Types of Reports</a:t>
            </a:r>
          </a:p>
        </p:txBody>
      </p:sp>
      <p:sp>
        <p:nvSpPr>
          <p:cNvPr id="7" name="Rectangle 6"/>
          <p:cNvSpPr/>
          <p:nvPr/>
        </p:nvSpPr>
        <p:spPr>
          <a:xfrm>
            <a:off x="347730" y="3230136"/>
            <a:ext cx="2190922" cy="1210614"/>
          </a:xfrm>
          <a:prstGeom prst="rect">
            <a:avLst/>
          </a:prstGeom>
          <a:ln>
            <a:solidFill>
              <a:srgbClr val="0099FF"/>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2000" dirty="0" smtClean="0">
                <a:latin typeface="Arial" panose="020B0604020202020204" pitchFamily="34" charset="0"/>
                <a:cs typeface="Arial" panose="020B0604020202020204" pitchFamily="34" charset="0"/>
              </a:rPr>
              <a:t>RAM</a:t>
            </a:r>
            <a:endParaRPr lang="en-US" sz="2000" dirty="0">
              <a:latin typeface="Arial" panose="020B0604020202020204" pitchFamily="34" charset="0"/>
              <a:cs typeface="Arial" panose="020B0604020202020204" pitchFamily="34" charset="0"/>
            </a:endParaRPr>
          </a:p>
        </p:txBody>
      </p:sp>
      <p:sp>
        <p:nvSpPr>
          <p:cNvPr id="8" name="Rectangle 7"/>
          <p:cNvSpPr/>
          <p:nvPr/>
        </p:nvSpPr>
        <p:spPr>
          <a:xfrm>
            <a:off x="2675209" y="3230136"/>
            <a:ext cx="2190922" cy="1210614"/>
          </a:xfrm>
          <a:prstGeom prst="rect">
            <a:avLst/>
          </a:prstGeom>
          <a:ln>
            <a:solidFill>
              <a:srgbClr val="0099FF"/>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2000" dirty="0" smtClean="0">
                <a:latin typeface="Arial" panose="020B0604020202020204" pitchFamily="34" charset="0"/>
                <a:cs typeface="Arial" panose="020B0604020202020204" pitchFamily="34" charset="0"/>
              </a:rPr>
              <a:t>COAR / ROAR</a:t>
            </a:r>
            <a:endParaRPr lang="en-US" sz="2000" dirty="0">
              <a:latin typeface="Arial" panose="020B0604020202020204" pitchFamily="34" charset="0"/>
              <a:cs typeface="Arial" panose="020B0604020202020204" pitchFamily="34" charset="0"/>
            </a:endParaRPr>
          </a:p>
        </p:txBody>
      </p:sp>
      <p:sp>
        <p:nvSpPr>
          <p:cNvPr id="9" name="Rectangle 8"/>
          <p:cNvSpPr/>
          <p:nvPr/>
        </p:nvSpPr>
        <p:spPr>
          <a:xfrm>
            <a:off x="5002688" y="3230136"/>
            <a:ext cx="2190922" cy="1210614"/>
          </a:xfrm>
          <a:prstGeom prst="rect">
            <a:avLst/>
          </a:prstGeom>
          <a:ln>
            <a:solidFill>
              <a:srgbClr val="0099FF"/>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2000" dirty="0" smtClean="0">
                <a:latin typeface="Arial" panose="020B0604020202020204" pitchFamily="34" charset="0"/>
                <a:cs typeface="Arial" panose="020B0604020202020204" pitchFamily="34" charset="0"/>
              </a:rPr>
              <a:t>DONOR REPORTS</a:t>
            </a:r>
            <a:endParaRPr lang="en-US" sz="2000" dirty="0">
              <a:latin typeface="Arial" panose="020B0604020202020204" pitchFamily="34" charset="0"/>
              <a:cs typeface="Arial" panose="020B0604020202020204" pitchFamily="34" charset="0"/>
            </a:endParaRPr>
          </a:p>
        </p:txBody>
      </p:sp>
      <p:sp>
        <p:nvSpPr>
          <p:cNvPr id="10" name="Rectangle 9"/>
          <p:cNvSpPr/>
          <p:nvPr/>
        </p:nvSpPr>
        <p:spPr>
          <a:xfrm>
            <a:off x="7330167" y="3230136"/>
            <a:ext cx="2190922" cy="1210614"/>
          </a:xfrm>
          <a:prstGeom prst="rect">
            <a:avLst/>
          </a:prstGeom>
          <a:ln>
            <a:solidFill>
              <a:srgbClr val="0099FF"/>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2000" dirty="0" smtClean="0">
                <a:latin typeface="Arial" panose="020B0604020202020204" pitchFamily="34" charset="0"/>
                <a:cs typeface="Arial" panose="020B0604020202020204" pitchFamily="34" charset="0"/>
              </a:rPr>
              <a:t>SITREPS</a:t>
            </a:r>
            <a:endParaRPr lang="en-US" sz="2000" dirty="0">
              <a:latin typeface="Arial" panose="020B0604020202020204" pitchFamily="34" charset="0"/>
              <a:cs typeface="Arial" panose="020B0604020202020204" pitchFamily="34" charset="0"/>
            </a:endParaRPr>
          </a:p>
        </p:txBody>
      </p:sp>
      <p:sp>
        <p:nvSpPr>
          <p:cNvPr id="11" name="Rectangle 10"/>
          <p:cNvSpPr/>
          <p:nvPr/>
        </p:nvSpPr>
        <p:spPr>
          <a:xfrm>
            <a:off x="9657644" y="3230136"/>
            <a:ext cx="2190922" cy="1210614"/>
          </a:xfrm>
          <a:prstGeom prst="rect">
            <a:avLst/>
          </a:prstGeom>
          <a:ln>
            <a:solidFill>
              <a:srgbClr val="0099FF"/>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2000" dirty="0" smtClean="0">
                <a:latin typeface="Arial" panose="020B0604020202020204" pitchFamily="34" charset="0"/>
                <a:cs typeface="Arial" panose="020B0604020202020204" pitchFamily="34" charset="0"/>
              </a:rPr>
              <a:t>ANNUAL UN RESULTS REPORTS</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29855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Effective Reporting</a:t>
            </a:r>
          </a:p>
        </p:txBody>
      </p:sp>
      <p:sp>
        <p:nvSpPr>
          <p:cNvPr id="7" name="Content Placeholder 2"/>
          <p:cNvSpPr txBox="1">
            <a:spLocks/>
          </p:cNvSpPr>
          <p:nvPr/>
        </p:nvSpPr>
        <p:spPr>
          <a:xfrm>
            <a:off x="2429317" y="1311520"/>
            <a:ext cx="8155016" cy="6234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dirty="0" smtClean="0">
                <a:latin typeface="Arial" panose="020B0604020202020204" pitchFamily="34" charset="0"/>
                <a:cs typeface="Arial" panose="020B0604020202020204" pitchFamily="34" charset="0"/>
              </a:rPr>
              <a:t>A proper RBM report contains </a:t>
            </a:r>
            <a:r>
              <a:rPr lang="en-US" dirty="0" smtClean="0">
                <a:solidFill>
                  <a:schemeClr val="accent1"/>
                </a:solidFill>
                <a:latin typeface="Arial" panose="020B0604020202020204" pitchFamily="34" charset="0"/>
                <a:cs typeface="Arial" panose="020B0604020202020204" pitchFamily="34" charset="0"/>
              </a:rPr>
              <a:t>two main parts</a:t>
            </a:r>
            <a:r>
              <a:rPr lang="en-US" sz="2400" dirty="0" smtClean="0">
                <a:latin typeface="Arial" panose="020B0604020202020204" pitchFamily="34" charset="0"/>
                <a:cs typeface="Arial" panose="020B0604020202020204" pitchFamily="34" charset="0"/>
              </a:rPr>
              <a:t>: </a:t>
            </a:r>
          </a:p>
        </p:txBody>
      </p:sp>
      <p:sp>
        <p:nvSpPr>
          <p:cNvPr id="2" name="Rectangle 1"/>
          <p:cNvSpPr/>
          <p:nvPr/>
        </p:nvSpPr>
        <p:spPr>
          <a:xfrm>
            <a:off x="443753" y="2456329"/>
            <a:ext cx="3778623" cy="3772018"/>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32864" y="3378317"/>
            <a:ext cx="3200400" cy="2062103"/>
          </a:xfrm>
          <a:prstGeom prst="rect">
            <a:avLst/>
          </a:prstGeom>
          <a:noFill/>
        </p:spPr>
        <p:txBody>
          <a:bodyPr wrap="square" rtlCol="0">
            <a:spAutoFit/>
          </a:bodyPr>
          <a:lstStyle/>
          <a:p>
            <a:pPr algn="ctr"/>
            <a:r>
              <a:rPr lang="en-US" sz="2000" dirty="0" smtClean="0">
                <a:latin typeface="Arial" panose="020B0604020202020204" pitchFamily="34" charset="0"/>
                <a:cs typeface="Arial" panose="020B0604020202020204" pitchFamily="34" charset="0"/>
              </a:rPr>
              <a:t>A </a:t>
            </a:r>
            <a:r>
              <a:rPr lang="en-US" sz="2400" b="1" dirty="0" smtClean="0">
                <a:latin typeface="Arial" panose="020B0604020202020204" pitchFamily="34" charset="0"/>
                <a:cs typeface="Arial" panose="020B0604020202020204" pitchFamily="34" charset="0"/>
              </a:rPr>
              <a:t>Description</a:t>
            </a:r>
            <a:r>
              <a:rPr lang="en-US" sz="24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of what results have been achieved, using the identified indicators, to demonstrate progress made.</a:t>
            </a:r>
          </a:p>
        </p:txBody>
      </p:sp>
      <p:sp>
        <p:nvSpPr>
          <p:cNvPr id="14" name="Rectangle 13"/>
          <p:cNvSpPr/>
          <p:nvPr/>
        </p:nvSpPr>
        <p:spPr>
          <a:xfrm>
            <a:off x="4904910" y="2456329"/>
            <a:ext cx="6918122" cy="3772018"/>
          </a:xfrm>
          <a:prstGeom prst="rect">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5129499" y="3037815"/>
            <a:ext cx="6693533" cy="2985433"/>
          </a:xfrm>
          <a:prstGeom prst="rect">
            <a:avLst/>
          </a:prstGeom>
          <a:noFill/>
        </p:spPr>
        <p:txBody>
          <a:bodyPr wrap="square" rtlCol="0">
            <a:spAutoFit/>
          </a:bodyPr>
          <a:lstStyle/>
          <a:p>
            <a:pPr algn="ctr"/>
            <a:r>
              <a:rPr lang="en-US" sz="2000" dirty="0" smtClean="0">
                <a:latin typeface="Arial" panose="020B0604020202020204" pitchFamily="34" charset="0"/>
                <a:cs typeface="Arial" panose="020B0604020202020204" pitchFamily="34" charset="0"/>
              </a:rPr>
              <a:t>A </a:t>
            </a:r>
            <a:r>
              <a:rPr lang="en-US" sz="2400" b="1" dirty="0" smtClean="0">
                <a:latin typeface="Arial" panose="020B0604020202020204" pitchFamily="34" charset="0"/>
                <a:cs typeface="Arial" panose="020B0604020202020204" pitchFamily="34" charset="0"/>
              </a:rPr>
              <a:t>strong </a:t>
            </a:r>
            <a:r>
              <a:rPr lang="en-US" sz="2400" b="1" dirty="0">
                <a:latin typeface="Arial" panose="020B0604020202020204" pitchFamily="34" charset="0"/>
                <a:cs typeface="Arial" panose="020B0604020202020204" pitchFamily="34" charset="0"/>
              </a:rPr>
              <a:t>analysis </a:t>
            </a:r>
            <a:r>
              <a:rPr lang="en-US" sz="2000" dirty="0">
                <a:latin typeface="Arial" panose="020B0604020202020204" pitchFamily="34" charset="0"/>
                <a:cs typeface="Arial" panose="020B0604020202020204" pitchFamily="34" charset="0"/>
              </a:rPr>
              <a:t>of how these results were obtained, with whom, and the resources and conditions that contributed to their achievement. </a:t>
            </a:r>
            <a:endParaRPr lang="en-US" sz="2000" dirty="0" smtClean="0">
              <a:latin typeface="Arial" panose="020B0604020202020204" pitchFamily="34" charset="0"/>
              <a:cs typeface="Arial" panose="020B0604020202020204" pitchFamily="34" charset="0"/>
            </a:endParaRPr>
          </a:p>
          <a:p>
            <a:pPr algn="ctr"/>
            <a:endParaRPr lang="en-US" sz="2000" dirty="0">
              <a:latin typeface="Arial" panose="020B0604020202020204" pitchFamily="34" charset="0"/>
              <a:cs typeface="Arial" panose="020B0604020202020204" pitchFamily="34" charset="0"/>
            </a:endParaRPr>
          </a:p>
          <a:p>
            <a:pPr algn="ctr"/>
            <a:r>
              <a:rPr lang="en-US" sz="2000" dirty="0" smtClean="0">
                <a:latin typeface="Arial" panose="020B0604020202020204" pitchFamily="34" charset="0"/>
                <a:cs typeface="Arial" panose="020B0604020202020204" pitchFamily="34" charset="0"/>
              </a:rPr>
              <a:t>The </a:t>
            </a:r>
            <a:r>
              <a:rPr lang="en-US" sz="2000" dirty="0">
                <a:latin typeface="Arial" panose="020B0604020202020204" pitchFamily="34" charset="0"/>
                <a:cs typeface="Arial" panose="020B0604020202020204" pitchFamily="34" charset="0"/>
              </a:rPr>
              <a:t>analysis should also provide and indication of shortfalls in the achievement of results, where needed and an explanation of any difficulties, failures, lessons learned as well as future direction.</a:t>
            </a:r>
          </a:p>
          <a:p>
            <a:pPr algn="ctr"/>
            <a:r>
              <a:rPr lang="en-US" sz="2000" dirty="0" smtClean="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850279"/>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Effective reporting on Results</a:t>
            </a:r>
          </a:p>
        </p:txBody>
      </p:sp>
      <p:sp>
        <p:nvSpPr>
          <p:cNvPr id="3" name="Rectangle 2"/>
          <p:cNvSpPr/>
          <p:nvPr/>
        </p:nvSpPr>
        <p:spPr>
          <a:xfrm>
            <a:off x="206828" y="2290544"/>
            <a:ext cx="1811064" cy="328863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spcAft>
                <a:spcPts val="600"/>
              </a:spcAft>
            </a:pPr>
            <a:r>
              <a:rPr lang="en-GB" sz="1600" dirty="0" smtClean="0">
                <a:latin typeface="Arial" panose="020B0604020202020204" pitchFamily="34" charset="0"/>
                <a:cs typeface="Arial" panose="020B0604020202020204" pitchFamily="34" charset="0"/>
              </a:rPr>
              <a:t>Describe </a:t>
            </a:r>
            <a:r>
              <a:rPr lang="en-GB" sz="1600" dirty="0">
                <a:latin typeface="Arial" panose="020B0604020202020204" pitchFamily="34" charset="0"/>
                <a:cs typeface="Arial" panose="020B0604020202020204" pitchFamily="34" charset="0"/>
              </a:rPr>
              <a:t>all steps of the </a:t>
            </a:r>
            <a:r>
              <a:rPr lang="en-GB" sz="1600" dirty="0">
                <a:solidFill>
                  <a:srgbClr val="0099FF"/>
                </a:solidFill>
                <a:latin typeface="Arial" panose="020B0604020202020204" pitchFamily="34" charset="0"/>
                <a:cs typeface="Arial" panose="020B0604020202020204" pitchFamily="34" charset="0"/>
              </a:rPr>
              <a:t>results-chain</a:t>
            </a:r>
            <a:r>
              <a:rPr lang="en-GB" sz="1600" dirty="0">
                <a:latin typeface="Arial" panose="020B0604020202020204" pitchFamily="34" charset="0"/>
                <a:cs typeface="Arial" panose="020B0604020202020204" pitchFamily="34" charset="0"/>
              </a:rPr>
              <a:t> (inputs, activities, outputs and outcomes) to support your </a:t>
            </a:r>
            <a:r>
              <a:rPr lang="en-GB" sz="1600" dirty="0" err="1">
                <a:latin typeface="Arial" panose="020B0604020202020204" pitchFamily="34" charset="0"/>
                <a:cs typeface="Arial" panose="020B0604020202020204" pitchFamily="34" charset="0"/>
              </a:rPr>
              <a:t>ToC</a:t>
            </a:r>
            <a:r>
              <a:rPr lang="en-GB" sz="1600" dirty="0">
                <a:latin typeface="Arial" panose="020B0604020202020204" pitchFamily="34" charset="0"/>
                <a:cs typeface="Arial" panose="020B0604020202020204" pitchFamily="34" charset="0"/>
              </a:rPr>
              <a:t> and show the linkages between interventions and </a:t>
            </a:r>
            <a:r>
              <a:rPr lang="en-GB" sz="1600" dirty="0" smtClean="0">
                <a:latin typeface="Arial" panose="020B0604020202020204" pitchFamily="34" charset="0"/>
                <a:cs typeface="Arial" panose="020B0604020202020204" pitchFamily="34" charset="0"/>
              </a:rPr>
              <a:t>results</a:t>
            </a:r>
            <a:endParaRPr lang="en-GB" sz="1600" dirty="0">
              <a:latin typeface="Arial" panose="020B0604020202020204" pitchFamily="34" charset="0"/>
              <a:cs typeface="Arial" panose="020B0604020202020204" pitchFamily="34" charset="0"/>
            </a:endParaRPr>
          </a:p>
        </p:txBody>
      </p:sp>
      <p:pic>
        <p:nvPicPr>
          <p:cNvPr id="3074" name="Picture 2" descr="https://www.sugaroutfitters.com/assets/img/addons/loaded-advanced-opportunity-organization-chart/logo.png?144418585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711411" y="1073280"/>
            <a:ext cx="882297" cy="882297"/>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5156672" y="943268"/>
            <a:ext cx="1721145" cy="4635908"/>
            <a:chOff x="5291659" y="1428008"/>
            <a:chExt cx="1721145" cy="4635908"/>
          </a:xfrm>
        </p:grpSpPr>
        <p:sp>
          <p:nvSpPr>
            <p:cNvPr id="11" name="Rectangle 10"/>
            <p:cNvSpPr/>
            <p:nvPr/>
          </p:nvSpPr>
          <p:spPr>
            <a:xfrm>
              <a:off x="5291659" y="2775284"/>
              <a:ext cx="1721145" cy="328863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spcAft>
                  <a:spcPts val="600"/>
                </a:spcAft>
              </a:pPr>
              <a:r>
                <a:rPr lang="en-GB" sz="1600" dirty="0" smtClean="0">
                  <a:latin typeface="Arial" panose="020B0604020202020204" pitchFamily="34" charset="0"/>
                  <a:cs typeface="Arial" panose="020B0604020202020204" pitchFamily="34" charset="0"/>
                </a:rPr>
                <a:t>Be </a:t>
              </a:r>
              <a:r>
                <a:rPr lang="en-GB" sz="1600" dirty="0">
                  <a:latin typeface="Arial" panose="020B0604020202020204" pitchFamily="34" charset="0"/>
                  <a:cs typeface="Arial" panose="020B0604020202020204" pitchFamily="34" charset="0"/>
                </a:rPr>
                <a:t>transparent and effectively analyse </a:t>
              </a:r>
              <a:r>
                <a:rPr lang="en-GB" sz="1600" dirty="0">
                  <a:solidFill>
                    <a:srgbClr val="0099FF"/>
                  </a:solidFill>
                  <a:latin typeface="Arial" panose="020B0604020202020204" pitchFamily="34" charset="0"/>
                  <a:cs typeface="Arial" panose="020B0604020202020204" pitchFamily="34" charset="0"/>
                </a:rPr>
                <a:t>bottlenecks </a:t>
              </a:r>
              <a:r>
                <a:rPr lang="en-GB" sz="1600" dirty="0">
                  <a:latin typeface="Arial" panose="020B0604020202020204" pitchFamily="34" charset="0"/>
                  <a:cs typeface="Arial" panose="020B0604020202020204" pitchFamily="34" charset="0"/>
                </a:rPr>
                <a:t>and </a:t>
              </a:r>
              <a:r>
                <a:rPr lang="en-GB" sz="1600" dirty="0" smtClean="0">
                  <a:solidFill>
                    <a:srgbClr val="0099FF"/>
                  </a:solidFill>
                  <a:latin typeface="Arial" panose="020B0604020202020204" pitchFamily="34" charset="0"/>
                  <a:cs typeface="Arial" panose="020B0604020202020204" pitchFamily="34" charset="0"/>
                </a:rPr>
                <a:t>opportunities</a:t>
              </a:r>
              <a:r>
                <a:rPr lang="en-GB" sz="1600" dirty="0" smtClean="0">
                  <a:latin typeface="Arial" panose="020B0604020202020204" pitchFamily="34" charset="0"/>
                  <a:cs typeface="Arial" panose="020B0604020202020204" pitchFamily="34" charset="0"/>
                </a:rPr>
                <a:t> and how the bottlenecks are </a:t>
              </a:r>
              <a:r>
                <a:rPr lang="en-GB" sz="1600" dirty="0">
                  <a:latin typeface="Arial" panose="020B0604020202020204" pitchFamily="34" charset="0"/>
                  <a:cs typeface="Arial" panose="020B0604020202020204" pitchFamily="34" charset="0"/>
                </a:rPr>
                <a:t>being addressed</a:t>
              </a:r>
            </a:p>
          </p:txBody>
        </p:sp>
        <p:pic>
          <p:nvPicPr>
            <p:cNvPr id="3076" name="Picture 4" descr="https://encrypted-tbn2.gstatic.com/images?q=tbn:ANd9GcQM3Jmekx7o9eIa9OlgsFiqBqc7gZ2VtKzSN2eRhnXmzQvhkCK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rot="184514">
              <a:off x="5598847" y="1428008"/>
              <a:ext cx="1232174" cy="12321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Group 13"/>
          <p:cNvGrpSpPr/>
          <p:nvPr/>
        </p:nvGrpSpPr>
        <p:grpSpPr>
          <a:xfrm>
            <a:off x="6955974" y="911103"/>
            <a:ext cx="1635889" cy="4668073"/>
            <a:chOff x="7679262" y="1395843"/>
            <a:chExt cx="1713788" cy="4668073"/>
          </a:xfrm>
        </p:grpSpPr>
        <p:sp>
          <p:nvSpPr>
            <p:cNvPr id="12" name="Rectangle 11"/>
            <p:cNvSpPr/>
            <p:nvPr/>
          </p:nvSpPr>
          <p:spPr>
            <a:xfrm>
              <a:off x="7679262" y="2775284"/>
              <a:ext cx="1713788" cy="328863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spcAft>
                  <a:spcPts val="600"/>
                </a:spcAft>
              </a:pPr>
              <a:r>
                <a:rPr lang="en-US" sz="1600" dirty="0" smtClean="0">
                  <a:latin typeface="Arial" panose="020B0604020202020204" pitchFamily="34" charset="0"/>
                  <a:cs typeface="Arial" panose="020B0604020202020204" pitchFamily="34" charset="0"/>
                </a:rPr>
                <a:t>Acknowledge </a:t>
              </a:r>
              <a:r>
                <a:rPr lang="en-US" sz="1600" dirty="0">
                  <a:latin typeface="Arial" panose="020B0604020202020204" pitchFamily="34" charset="0"/>
                  <a:cs typeface="Arial" panose="020B0604020202020204" pitchFamily="34" charset="0"/>
                </a:rPr>
                <a:t>the contribution of </a:t>
              </a:r>
              <a:r>
                <a:rPr lang="en-US" sz="1600" dirty="0">
                  <a:solidFill>
                    <a:srgbClr val="0099FF"/>
                  </a:solidFill>
                  <a:latin typeface="Arial" panose="020B0604020202020204" pitchFamily="34" charset="0"/>
                  <a:cs typeface="Arial" panose="020B0604020202020204" pitchFamily="34" charset="0"/>
                </a:rPr>
                <a:t>partners </a:t>
              </a:r>
              <a:r>
                <a:rPr lang="en-US" sz="1600" dirty="0">
                  <a:latin typeface="Arial" panose="020B0604020202020204" pitchFamily="34" charset="0"/>
                  <a:cs typeface="Arial" panose="020B0604020202020204" pitchFamily="34" charset="0"/>
                </a:rPr>
                <a:t>to results</a:t>
              </a:r>
            </a:p>
          </p:txBody>
        </p:sp>
        <p:pic>
          <p:nvPicPr>
            <p:cNvPr id="3078" name="Picture 6" descr="http://www.3datx.com/wp-content/uploads/2014/10/partners-ico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64224" y="1395843"/>
              <a:ext cx="1264339" cy="126433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 name="Group 14"/>
          <p:cNvGrpSpPr/>
          <p:nvPr/>
        </p:nvGrpSpPr>
        <p:grpSpPr>
          <a:xfrm>
            <a:off x="8686799" y="1073280"/>
            <a:ext cx="1771506" cy="4505896"/>
            <a:chOff x="9910355" y="1558020"/>
            <a:chExt cx="1771506" cy="4505896"/>
          </a:xfrm>
        </p:grpSpPr>
        <p:sp>
          <p:nvSpPr>
            <p:cNvPr id="13" name="Rectangle 12"/>
            <p:cNvSpPr/>
            <p:nvPr/>
          </p:nvSpPr>
          <p:spPr>
            <a:xfrm>
              <a:off x="9910355" y="2775284"/>
              <a:ext cx="1771506" cy="328863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spcAft>
                  <a:spcPts val="600"/>
                </a:spcAft>
              </a:pPr>
              <a:r>
                <a:rPr lang="en-GB" sz="1600" dirty="0" smtClean="0">
                  <a:latin typeface="Arial" panose="020B0604020202020204" pitchFamily="34" charset="0"/>
                  <a:cs typeface="Arial" panose="020B0604020202020204" pitchFamily="34" charset="0"/>
                </a:rPr>
                <a:t>Show </a:t>
              </a:r>
              <a:r>
                <a:rPr lang="en-GB" sz="1600" dirty="0" smtClean="0">
                  <a:solidFill>
                    <a:srgbClr val="0099FF"/>
                  </a:solidFill>
                  <a:latin typeface="Arial" panose="020B0604020202020204" pitchFamily="34" charset="0"/>
                  <a:cs typeface="Arial" panose="020B0604020202020204" pitchFamily="34" charset="0"/>
                </a:rPr>
                <a:t>lessons learned </a:t>
              </a:r>
              <a:r>
                <a:rPr lang="en-GB" sz="1600" dirty="0" smtClean="0">
                  <a:latin typeface="Arial" panose="020B0604020202020204" pitchFamily="34" charset="0"/>
                  <a:cs typeface="Arial" panose="020B0604020202020204" pitchFamily="34" charset="0"/>
                </a:rPr>
                <a:t>and how </a:t>
              </a:r>
              <a:r>
                <a:rPr lang="en-GB" sz="1600" dirty="0">
                  <a:latin typeface="Arial" panose="020B0604020202020204" pitchFamily="34" charset="0"/>
                  <a:cs typeface="Arial" panose="020B0604020202020204" pitchFamily="34" charset="0"/>
                </a:rPr>
                <a:t>knowledge gained from monitoring and evaluation of programmes is used to inform </a:t>
              </a:r>
              <a:r>
                <a:rPr lang="en-GB" sz="1600" dirty="0">
                  <a:solidFill>
                    <a:schemeClr val="accent1"/>
                  </a:solidFill>
                  <a:latin typeface="Arial" panose="020B0604020202020204" pitchFamily="34" charset="0"/>
                  <a:cs typeface="Arial" panose="020B0604020202020204" pitchFamily="34" charset="0"/>
                </a:rPr>
                <a:t>decision-making</a:t>
              </a:r>
            </a:p>
          </p:txBody>
        </p:sp>
        <p:pic>
          <p:nvPicPr>
            <p:cNvPr id="3080" name="Picture 8" descr="https://www.brightfind.com/images/icons/icon-ux-blu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328712" y="1558020"/>
              <a:ext cx="972149" cy="972149"/>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Rounded Rectangle 15"/>
          <p:cNvSpPr/>
          <p:nvPr/>
        </p:nvSpPr>
        <p:spPr>
          <a:xfrm>
            <a:off x="10578683" y="2290544"/>
            <a:ext cx="1430436" cy="3288632"/>
          </a:xfrm>
          <a:prstGeom prst="roundRect">
            <a:avLst>
              <a:gd name="adj" fmla="val 0"/>
            </a:avLst>
          </a:prstGeom>
        </p:spPr>
        <p:style>
          <a:lnRef idx="2">
            <a:schemeClr val="accent1"/>
          </a:lnRef>
          <a:fillRef idx="1">
            <a:schemeClr val="lt1"/>
          </a:fillRef>
          <a:effectRef idx="0">
            <a:schemeClr val="accent1"/>
          </a:effectRef>
          <a:fontRef idx="minor">
            <a:schemeClr val="dk1"/>
          </a:fontRef>
        </p:style>
        <p:txBody>
          <a:bodyPr rtlCol="0" anchor="ctr"/>
          <a:lstStyle/>
          <a:p>
            <a:pPr algn="ctr">
              <a:spcAft>
                <a:spcPts val="600"/>
              </a:spcAft>
            </a:pPr>
            <a:r>
              <a:rPr lang="en-US" sz="1600" dirty="0" smtClean="0">
                <a:latin typeface="Arial" panose="020B0604020202020204" pitchFamily="34" charset="0"/>
                <a:cs typeface="Arial" panose="020B0604020202020204" pitchFamily="34" charset="0"/>
              </a:rPr>
              <a:t>Identify n</a:t>
            </a:r>
            <a:r>
              <a:rPr lang="en-US" sz="1600" dirty="0" smtClean="0">
                <a:solidFill>
                  <a:schemeClr val="dk1"/>
                </a:solidFill>
                <a:latin typeface="Arial" panose="020B0604020202020204" pitchFamily="34" charset="0"/>
                <a:cs typeface="Arial" panose="020B0604020202020204" pitchFamily="34" charset="0"/>
              </a:rPr>
              <a:t>ext steps: </a:t>
            </a:r>
            <a:r>
              <a:rPr lang="en-US" sz="1600" dirty="0" smtClean="0">
                <a:solidFill>
                  <a:srgbClr val="0099FF"/>
                </a:solidFill>
                <a:latin typeface="Arial" panose="020B0604020202020204" pitchFamily="34" charset="0"/>
                <a:cs typeface="Arial" panose="020B0604020202020204" pitchFamily="34" charset="0"/>
              </a:rPr>
              <a:t>so what?</a:t>
            </a:r>
            <a:endParaRPr lang="en-US" sz="1600" dirty="0">
              <a:solidFill>
                <a:srgbClr val="0099FF"/>
              </a:solidFill>
              <a:latin typeface="Arial" panose="020B0604020202020204" pitchFamily="34" charset="0"/>
              <a:cs typeface="Arial" panose="020B0604020202020204" pitchFamily="34" charset="0"/>
            </a:endParaRPr>
          </a:p>
        </p:txBody>
      </p:sp>
      <p:pic>
        <p:nvPicPr>
          <p:cNvPr id="1028" name="Picture 4" descr="http://marzano-institute.com.au/wp-content/uploads/2014/05/Next-Steps-PLCs-Icon-e1449810531169.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89014" y="1073280"/>
            <a:ext cx="972149" cy="972149"/>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21"/>
          <p:cNvSpPr/>
          <p:nvPr/>
        </p:nvSpPr>
        <p:spPr>
          <a:xfrm>
            <a:off x="2112972" y="2290544"/>
            <a:ext cx="1393200" cy="328863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spcAft>
                <a:spcPts val="600"/>
              </a:spcAft>
            </a:pPr>
            <a:r>
              <a:rPr lang="en-GB" sz="1600" dirty="0" smtClean="0">
                <a:solidFill>
                  <a:srgbClr val="0099FF"/>
                </a:solidFill>
                <a:latin typeface="Arial" panose="020B0604020202020204" pitchFamily="34" charset="0"/>
                <a:cs typeface="Arial" panose="020B0604020202020204" pitchFamily="34" charset="0"/>
              </a:rPr>
              <a:t>Assess</a:t>
            </a:r>
            <a:r>
              <a:rPr lang="en-GB" sz="1600" dirty="0" smtClean="0">
                <a:latin typeface="Arial" panose="020B0604020202020204" pitchFamily="34" charset="0"/>
                <a:cs typeface="Arial" panose="020B0604020202020204" pitchFamily="34" charset="0"/>
              </a:rPr>
              <a:t> all </a:t>
            </a:r>
            <a:r>
              <a:rPr lang="en-GB" sz="1600" dirty="0" smtClean="0">
                <a:solidFill>
                  <a:srgbClr val="0099FF"/>
                </a:solidFill>
                <a:latin typeface="Arial" panose="020B0604020202020204" pitchFamily="34" charset="0"/>
                <a:cs typeface="Arial" panose="020B0604020202020204" pitchFamily="34" charset="0"/>
              </a:rPr>
              <a:t>indicators</a:t>
            </a:r>
            <a:r>
              <a:rPr lang="en-GB" sz="1600" dirty="0" smtClean="0">
                <a:latin typeface="Arial" panose="020B0604020202020204" pitchFamily="34" charset="0"/>
                <a:cs typeface="Arial" panose="020B0604020202020204" pitchFamily="34" charset="0"/>
              </a:rPr>
              <a:t> and provide </a:t>
            </a:r>
            <a:r>
              <a:rPr lang="en-GB" sz="1600" dirty="0" smtClean="0">
                <a:solidFill>
                  <a:srgbClr val="0099FF"/>
                </a:solidFill>
                <a:latin typeface="Arial" panose="020B0604020202020204" pitchFamily="34" charset="0"/>
                <a:cs typeface="Arial" panose="020B0604020202020204" pitchFamily="34" charset="0"/>
              </a:rPr>
              <a:t>reliable data sources</a:t>
            </a:r>
            <a:endParaRPr lang="en-GB" sz="1600" dirty="0">
              <a:solidFill>
                <a:srgbClr val="0099FF"/>
              </a:solidFill>
              <a:latin typeface="Arial" panose="020B0604020202020204" pitchFamily="34" charset="0"/>
              <a:cs typeface="Arial" panose="020B0604020202020204" pitchFamily="34" charset="0"/>
            </a:endParaRPr>
          </a:p>
        </p:txBody>
      </p:sp>
      <p:sp>
        <p:nvSpPr>
          <p:cNvPr id="10" name="Rectangle 9"/>
          <p:cNvSpPr/>
          <p:nvPr/>
        </p:nvSpPr>
        <p:spPr>
          <a:xfrm>
            <a:off x="3545251" y="2290544"/>
            <a:ext cx="1533264" cy="328863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spcAft>
                <a:spcPts val="600"/>
              </a:spcAft>
            </a:pPr>
            <a:r>
              <a:rPr lang="en-GB" sz="1600" dirty="0" smtClean="0">
                <a:latin typeface="Arial" panose="020B0604020202020204" pitchFamily="34" charset="0"/>
                <a:cs typeface="Arial" panose="020B0604020202020204" pitchFamily="34" charset="0"/>
              </a:rPr>
              <a:t>Provide a </a:t>
            </a:r>
            <a:r>
              <a:rPr lang="en-GB" sz="1600" dirty="0" smtClean="0">
                <a:solidFill>
                  <a:srgbClr val="0099FF"/>
                </a:solidFill>
                <a:latin typeface="Arial" panose="020B0604020202020204" pitchFamily="34" charset="0"/>
                <a:cs typeface="Arial" panose="020B0604020202020204" pitchFamily="34" charset="0"/>
              </a:rPr>
              <a:t>results- focused account </a:t>
            </a:r>
            <a:r>
              <a:rPr lang="en-GB" sz="1600" dirty="0" smtClean="0">
                <a:latin typeface="Arial" panose="020B0604020202020204" pitchFamily="34" charset="0"/>
                <a:cs typeface="Arial" panose="020B0604020202020204" pitchFamily="34" charset="0"/>
              </a:rPr>
              <a:t>of achievements along the results chain</a:t>
            </a:r>
            <a:endParaRPr lang="en-GB" sz="1600" dirty="0">
              <a:latin typeface="Arial" panose="020B0604020202020204" pitchFamily="34" charset="0"/>
              <a:cs typeface="Arial" panose="020B0604020202020204" pitchFamily="34" charset="0"/>
            </a:endParaRPr>
          </a:p>
        </p:txBody>
      </p:sp>
      <p:pic>
        <p:nvPicPr>
          <p:cNvPr id="6" name="Picture 2" descr="http://cdn.mysitemyway.com/etc-mysitemyway/icons/legacy-previews/icons-256/glossy-black-icons-transport-travel/038370-glossy-black-icon-transport-travel-car-gauge3.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305417" y="1018211"/>
            <a:ext cx="1024143" cy="102414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http://icons.iconarchive.com/icons/custom-icon-design/pretty-office-7/128/Increase-icon.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68998" y="1018211"/>
            <a:ext cx="956628" cy="956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4575767"/>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8 Tips to Improve Results-Based Reporting</a:t>
            </a:r>
          </a:p>
        </p:txBody>
      </p:sp>
      <p:sp>
        <p:nvSpPr>
          <p:cNvPr id="20" name="Content Placeholder 3"/>
          <p:cNvSpPr txBox="1">
            <a:spLocks/>
          </p:cNvSpPr>
          <p:nvPr/>
        </p:nvSpPr>
        <p:spPr>
          <a:xfrm>
            <a:off x="526950" y="1532490"/>
            <a:ext cx="9866489" cy="4314001"/>
          </a:xfrm>
          <a:prstGeom prst="rect">
            <a:avLst/>
          </a:prstGeom>
          <a:no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US" sz="2400" smtClean="0"/>
              <a:t>Be clear and concise</a:t>
            </a:r>
          </a:p>
          <a:p>
            <a:pPr marL="514350" indent="-514350">
              <a:buFont typeface="+mj-lt"/>
              <a:buAutoNum type="arabicPeriod"/>
            </a:pPr>
            <a:r>
              <a:rPr lang="en-US" sz="2400" smtClean="0"/>
              <a:t>Avoid jargon and the abusive use of acronyms</a:t>
            </a:r>
          </a:p>
          <a:p>
            <a:pPr marL="514350" indent="-514350">
              <a:buFont typeface="+mj-lt"/>
              <a:buAutoNum type="arabicPeriod"/>
            </a:pPr>
            <a:r>
              <a:rPr lang="en-US" sz="2400" smtClean="0"/>
              <a:t>Adapt your language to the audience: Public donors (Govt and bilaterals); Natcoms / Private sector donors</a:t>
            </a:r>
          </a:p>
          <a:p>
            <a:pPr marL="514350" indent="-514350">
              <a:buFont typeface="+mj-lt"/>
              <a:buAutoNum type="arabicPeriod"/>
            </a:pPr>
            <a:r>
              <a:rPr lang="en-US" sz="2400" smtClean="0"/>
              <a:t>Use the change language</a:t>
            </a:r>
          </a:p>
          <a:p>
            <a:pPr marL="514350" indent="-514350">
              <a:buFont typeface="+mj-lt"/>
              <a:buAutoNum type="arabicPeriod"/>
            </a:pPr>
            <a:r>
              <a:rPr lang="en-US" sz="2400" smtClean="0"/>
              <a:t>Report on results, not processes</a:t>
            </a:r>
          </a:p>
          <a:p>
            <a:pPr marL="514350" indent="-514350">
              <a:buFont typeface="+mj-lt"/>
              <a:buAutoNum type="arabicPeriod"/>
            </a:pPr>
            <a:r>
              <a:rPr lang="en-US" sz="2400" smtClean="0"/>
              <a:t>Contextualize progress achieved</a:t>
            </a:r>
          </a:p>
          <a:p>
            <a:pPr marL="514350" indent="-514350">
              <a:buFont typeface="+mj-lt"/>
              <a:buAutoNum type="arabicPeriod"/>
            </a:pPr>
            <a:r>
              <a:rPr lang="en-US" sz="2400" smtClean="0"/>
              <a:t>Analyze progress</a:t>
            </a:r>
          </a:p>
          <a:p>
            <a:pPr marL="514350" indent="-514350">
              <a:buFont typeface="+mj-lt"/>
              <a:buAutoNum type="arabicPeriod"/>
            </a:pPr>
            <a:r>
              <a:rPr lang="en-US" sz="2400" smtClean="0"/>
              <a:t>Be careful with results attribution; acknowledge the exact contribution of partners to results</a:t>
            </a:r>
            <a:endParaRPr lang="en-US" sz="2400" dirty="0"/>
          </a:p>
        </p:txBody>
      </p:sp>
    </p:spTree>
    <p:extLst>
      <p:ext uri="{BB962C8B-B14F-4D97-AF65-F5344CB8AC3E}">
        <p14:creationId xmlns:p14="http://schemas.microsoft.com/office/powerpoint/2010/main" val="1619701117"/>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Establish Workflow Processes</a:t>
            </a:r>
          </a:p>
        </p:txBody>
      </p:sp>
      <p:sp>
        <p:nvSpPr>
          <p:cNvPr id="4" name="TextBox 3"/>
          <p:cNvSpPr txBox="1"/>
          <p:nvPr/>
        </p:nvSpPr>
        <p:spPr>
          <a:xfrm>
            <a:off x="299537" y="1250534"/>
            <a:ext cx="11725743" cy="461665"/>
          </a:xfrm>
          <a:prstGeom prst="rect">
            <a:avLst/>
          </a:prstGeom>
          <a:solidFill>
            <a:schemeClr val="bg1">
              <a:lumMod val="85000"/>
            </a:schemeClr>
          </a:solidFill>
        </p:spPr>
        <p:txBody>
          <a:bodyPr wrap="square" rtlCol="0">
            <a:spAutoFit/>
          </a:bodyPr>
          <a:lstStyle/>
          <a:p>
            <a:pPr lvl="0">
              <a:spcBef>
                <a:spcPct val="20000"/>
              </a:spcBef>
            </a:pPr>
            <a:r>
              <a:rPr lang="en-US" altLang="en-US" sz="2400" dirty="0">
                <a:solidFill>
                  <a:schemeClr val="tx1">
                    <a:lumMod val="75000"/>
                    <a:lumOff val="25000"/>
                  </a:schemeClr>
                </a:solidFill>
                <a:latin typeface="Arial" panose="020B0604020202020204" pitchFamily="34" charset="0"/>
                <a:cs typeface="Arial" panose="020B0604020202020204" pitchFamily="34" charset="0"/>
              </a:rPr>
              <a:t>In order to ensure quality donor reporting, the right work processes must be in place:</a:t>
            </a:r>
          </a:p>
        </p:txBody>
      </p:sp>
      <p:sp>
        <p:nvSpPr>
          <p:cNvPr id="5" name="Rectangle 3"/>
          <p:cNvSpPr txBox="1">
            <a:spLocks noChangeArrowheads="1"/>
          </p:cNvSpPr>
          <p:nvPr/>
        </p:nvSpPr>
        <p:spPr bwMode="auto">
          <a:xfrm>
            <a:off x="1148039" y="2192712"/>
            <a:ext cx="10358160" cy="366974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defRPr sz="1400">
                <a:solidFill>
                  <a:schemeClr val="tx1"/>
                </a:solidFill>
                <a:latin typeface="+mn-lt"/>
                <a:ea typeface="+mn-ea"/>
                <a:cs typeface="+mn-cs"/>
              </a:defRPr>
            </a:lvl1pPr>
            <a:lvl2pPr marL="742950" indent="-285750" algn="l" rtl="0" eaLnBrk="1" fontAlgn="base" hangingPunct="1">
              <a:spcBef>
                <a:spcPct val="20000"/>
              </a:spcBef>
              <a:spcAft>
                <a:spcPct val="0"/>
              </a:spcAft>
              <a:defRPr sz="1400">
                <a:solidFill>
                  <a:schemeClr val="tx1"/>
                </a:solidFill>
                <a:latin typeface="+mn-lt"/>
                <a:ea typeface="+mn-ea"/>
              </a:defRPr>
            </a:lvl2pPr>
            <a:lvl3pPr marL="1143000" indent="-228600" algn="l" rtl="0" eaLnBrk="1" fontAlgn="base" hangingPunct="1">
              <a:spcBef>
                <a:spcPct val="20000"/>
              </a:spcBef>
              <a:spcAft>
                <a:spcPct val="0"/>
              </a:spcAft>
              <a:buChar char="•"/>
              <a:defRPr sz="1400">
                <a:solidFill>
                  <a:schemeClr val="tx1"/>
                </a:solidFill>
                <a:latin typeface="+mn-lt"/>
                <a:ea typeface="+mn-ea"/>
              </a:defRPr>
            </a:lvl3pPr>
            <a:lvl4pPr marL="1600200" indent="-228600" algn="l" rtl="0" eaLnBrk="1" fontAlgn="base" hangingPunct="1">
              <a:spcBef>
                <a:spcPct val="20000"/>
              </a:spcBef>
              <a:spcAft>
                <a:spcPct val="0"/>
              </a:spcAft>
              <a:buChar char="–"/>
              <a:defRPr sz="1400">
                <a:solidFill>
                  <a:schemeClr val="tx1"/>
                </a:solidFill>
                <a:latin typeface="+mn-lt"/>
                <a:ea typeface="+mn-ea"/>
              </a:defRPr>
            </a:lvl4pPr>
            <a:lvl5pPr marL="2057400" indent="-228600" algn="l" rtl="0" eaLnBrk="1" fontAlgn="base" hangingPunct="1">
              <a:spcBef>
                <a:spcPct val="20000"/>
              </a:spcBef>
              <a:spcAft>
                <a:spcPct val="0"/>
              </a:spcAft>
              <a:buChar char="»"/>
              <a:defRPr sz="1400">
                <a:solidFill>
                  <a:schemeClr val="tx1"/>
                </a:solidFill>
                <a:latin typeface="+mn-lt"/>
                <a:ea typeface="+mn-ea"/>
              </a:defRPr>
            </a:lvl5pPr>
            <a:lvl6pPr marL="2514600" indent="-228600" algn="l" rtl="0" eaLnBrk="1" fontAlgn="base" hangingPunct="1">
              <a:spcBef>
                <a:spcPct val="20000"/>
              </a:spcBef>
              <a:spcAft>
                <a:spcPct val="0"/>
              </a:spcAft>
              <a:buChar char="»"/>
              <a:defRPr sz="1400">
                <a:solidFill>
                  <a:schemeClr val="tx1"/>
                </a:solidFill>
                <a:latin typeface="+mn-lt"/>
                <a:ea typeface="+mn-ea"/>
              </a:defRPr>
            </a:lvl6pPr>
            <a:lvl7pPr marL="2971800" indent="-228600" algn="l" rtl="0" eaLnBrk="1" fontAlgn="base" hangingPunct="1">
              <a:spcBef>
                <a:spcPct val="20000"/>
              </a:spcBef>
              <a:spcAft>
                <a:spcPct val="0"/>
              </a:spcAft>
              <a:buChar char="»"/>
              <a:defRPr sz="1400">
                <a:solidFill>
                  <a:schemeClr val="tx1"/>
                </a:solidFill>
                <a:latin typeface="+mn-lt"/>
                <a:ea typeface="+mn-ea"/>
              </a:defRPr>
            </a:lvl7pPr>
            <a:lvl8pPr marL="3429000" indent="-228600" algn="l" rtl="0" eaLnBrk="1" fontAlgn="base" hangingPunct="1">
              <a:spcBef>
                <a:spcPct val="20000"/>
              </a:spcBef>
              <a:spcAft>
                <a:spcPct val="0"/>
              </a:spcAft>
              <a:buChar char="»"/>
              <a:defRPr sz="1400">
                <a:solidFill>
                  <a:schemeClr val="tx1"/>
                </a:solidFill>
                <a:latin typeface="+mn-lt"/>
                <a:ea typeface="+mn-ea"/>
              </a:defRPr>
            </a:lvl8pPr>
            <a:lvl9pPr marL="3886200" indent="-228600" algn="l" rtl="0" eaLnBrk="1" fontAlgn="base" hangingPunct="1">
              <a:spcBef>
                <a:spcPct val="20000"/>
              </a:spcBef>
              <a:spcAft>
                <a:spcPct val="0"/>
              </a:spcAft>
              <a:buChar char="»"/>
              <a:defRPr sz="1400">
                <a:solidFill>
                  <a:schemeClr val="tx1"/>
                </a:solidFill>
                <a:latin typeface="+mn-lt"/>
                <a:ea typeface="+mn-ea"/>
              </a:defRPr>
            </a:lvl9pPr>
          </a:lstStyle>
          <a:p>
            <a:pPr marL="457200" indent="-457200">
              <a:spcBef>
                <a:spcPts val="1200"/>
              </a:spcBef>
              <a:buFontTx/>
              <a:buAutoNum type="arabicPeriod"/>
            </a:pPr>
            <a:r>
              <a:rPr lang="en-US" altLang="en-US" sz="2000" kern="0" dirty="0">
                <a:latin typeface="Arial" panose="020B0604020202020204" pitchFamily="34" charset="0"/>
                <a:cs typeface="Arial" panose="020B0604020202020204" pitchFamily="34" charset="0"/>
              </a:rPr>
              <a:t>Do not begin reports 2 days before report is due. Time is needed for good quality</a:t>
            </a:r>
            <a:r>
              <a:rPr lang="en-US" altLang="en-US" sz="2000" kern="0" dirty="0" smtClean="0">
                <a:latin typeface="Arial" panose="020B0604020202020204" pitchFamily="34" charset="0"/>
                <a:cs typeface="Arial" panose="020B0604020202020204" pitchFamily="34" charset="0"/>
              </a:rPr>
              <a:t>.</a:t>
            </a:r>
          </a:p>
          <a:p>
            <a:pPr marL="457200" indent="-457200">
              <a:spcBef>
                <a:spcPts val="1200"/>
              </a:spcBef>
              <a:buFontTx/>
              <a:buAutoNum type="arabicPeriod"/>
            </a:pPr>
            <a:endParaRPr lang="en-US" altLang="en-US" sz="2000" kern="0" dirty="0">
              <a:latin typeface="Arial" panose="020B0604020202020204" pitchFamily="34" charset="0"/>
              <a:cs typeface="Arial" panose="020B0604020202020204" pitchFamily="34" charset="0"/>
            </a:endParaRPr>
          </a:p>
          <a:p>
            <a:pPr marL="457200" indent="-457200">
              <a:spcBef>
                <a:spcPts val="1200"/>
              </a:spcBef>
              <a:buFontTx/>
              <a:buAutoNum type="arabicPeriod"/>
            </a:pPr>
            <a:r>
              <a:rPr lang="en-US" altLang="en-US" sz="2000" kern="0" dirty="0" smtClean="0">
                <a:latin typeface="Arial" panose="020B0604020202020204" pitchFamily="34" charset="0"/>
                <a:cs typeface="Arial" panose="020B0604020202020204" pitchFamily="34" charset="0"/>
              </a:rPr>
              <a:t>Ensure clear </a:t>
            </a:r>
            <a:r>
              <a:rPr lang="en-US" altLang="en-US" sz="2000" kern="0" dirty="0" smtClean="0">
                <a:solidFill>
                  <a:schemeClr val="accent1"/>
                </a:solidFill>
                <a:latin typeface="Arial" panose="020B0604020202020204" pitchFamily="34" charset="0"/>
                <a:cs typeface="Arial" panose="020B0604020202020204" pitchFamily="34" charset="0"/>
              </a:rPr>
              <a:t>workflow processes</a:t>
            </a:r>
            <a:r>
              <a:rPr lang="en-US" altLang="en-US" sz="2000" kern="0" dirty="0" smtClean="0">
                <a:solidFill>
                  <a:srgbClr val="0099FF"/>
                </a:solidFill>
                <a:latin typeface="Arial" panose="020B0604020202020204" pitchFamily="34" charset="0"/>
                <a:cs typeface="Arial" panose="020B0604020202020204" pitchFamily="34" charset="0"/>
              </a:rPr>
              <a:t> </a:t>
            </a:r>
            <a:r>
              <a:rPr lang="en-US" altLang="en-US" sz="2000" kern="0" dirty="0" smtClean="0">
                <a:latin typeface="Arial" panose="020B0604020202020204" pitchFamily="34" charset="0"/>
                <a:cs typeface="Arial" panose="020B0604020202020204" pitchFamily="34" charset="0"/>
              </a:rPr>
              <a:t>and </a:t>
            </a:r>
            <a:r>
              <a:rPr lang="en-US" altLang="en-US" sz="2000" kern="0" dirty="0" smtClean="0">
                <a:solidFill>
                  <a:schemeClr val="accent1"/>
                </a:solidFill>
                <a:latin typeface="Arial" panose="020B0604020202020204" pitchFamily="34" charset="0"/>
                <a:cs typeface="Arial" panose="020B0604020202020204" pitchFamily="34" charset="0"/>
              </a:rPr>
              <a:t>accountabilities for reporting:</a:t>
            </a:r>
            <a:endParaRPr lang="en-US" altLang="en-US" sz="2000" kern="0" dirty="0">
              <a:solidFill>
                <a:schemeClr val="accent1"/>
              </a:solidFill>
              <a:latin typeface="Arial" panose="020B0604020202020204" pitchFamily="34" charset="0"/>
              <a:cs typeface="Arial" panose="020B0604020202020204" pitchFamily="34" charset="0"/>
            </a:endParaRPr>
          </a:p>
          <a:p>
            <a:pPr marL="1257300" lvl="2" indent="-457200">
              <a:spcBef>
                <a:spcPts val="1200"/>
              </a:spcBef>
              <a:buFont typeface="Arial" panose="020B0604020202020204" pitchFamily="34" charset="0"/>
              <a:buChar char="•"/>
            </a:pPr>
            <a:r>
              <a:rPr lang="en-US" altLang="en-US" sz="2000" kern="0" dirty="0" smtClean="0">
                <a:latin typeface="Arial" panose="020B0604020202020204" pitchFamily="34" charset="0"/>
                <a:cs typeface="Arial" panose="020B0604020202020204" pitchFamily="34" charset="0"/>
              </a:rPr>
              <a:t>Who monitors </a:t>
            </a:r>
            <a:r>
              <a:rPr lang="en-US" altLang="en-US" sz="2000" kern="0" dirty="0">
                <a:solidFill>
                  <a:schemeClr val="accent1"/>
                </a:solidFill>
                <a:latin typeface="Arial" panose="020B0604020202020204" pitchFamily="34" charset="0"/>
                <a:cs typeface="Arial" panose="020B0604020202020204" pitchFamily="34" charset="0"/>
              </a:rPr>
              <a:t>reporting </a:t>
            </a:r>
            <a:r>
              <a:rPr lang="en-US" altLang="en-US" sz="2000" kern="0" dirty="0" smtClean="0">
                <a:solidFill>
                  <a:schemeClr val="accent1"/>
                </a:solidFill>
                <a:latin typeface="Arial" panose="020B0604020202020204" pitchFamily="34" charset="0"/>
                <a:cs typeface="Arial" panose="020B0604020202020204" pitchFamily="34" charset="0"/>
              </a:rPr>
              <a:t>o</a:t>
            </a:r>
            <a:r>
              <a:rPr lang="en-US" altLang="en-US" sz="2000" b="1" kern="0" dirty="0" smtClean="0">
                <a:solidFill>
                  <a:schemeClr val="accent1"/>
                </a:solidFill>
                <a:latin typeface="Arial" panose="020B0604020202020204" pitchFamily="34" charset="0"/>
                <a:cs typeface="Arial" panose="020B0604020202020204" pitchFamily="34" charset="0"/>
              </a:rPr>
              <a:t>blig</a:t>
            </a:r>
            <a:r>
              <a:rPr lang="en-US" altLang="en-US" sz="2000" kern="0" dirty="0" smtClean="0">
                <a:solidFill>
                  <a:schemeClr val="accent1"/>
                </a:solidFill>
                <a:latin typeface="Arial" panose="020B0604020202020204" pitchFamily="34" charset="0"/>
                <a:cs typeface="Arial" panose="020B0604020202020204" pitchFamily="34" charset="0"/>
              </a:rPr>
              <a:t>ations</a:t>
            </a:r>
            <a:r>
              <a:rPr lang="en-US" altLang="en-US" sz="2000" kern="0" dirty="0" smtClean="0">
                <a:latin typeface="Arial" panose="020B0604020202020204" pitchFamily="34" charset="0"/>
                <a:cs typeface="Arial" panose="020B0604020202020204" pitchFamily="34" charset="0"/>
              </a:rPr>
              <a:t>?</a:t>
            </a:r>
          </a:p>
          <a:p>
            <a:pPr marL="1257300" lvl="2" indent="-457200">
              <a:spcBef>
                <a:spcPts val="1200"/>
              </a:spcBef>
              <a:buFont typeface="Arial" panose="020B0604020202020204" pitchFamily="34" charset="0"/>
              <a:buChar char="•"/>
            </a:pPr>
            <a:r>
              <a:rPr lang="en-US" altLang="en-US" sz="2000" kern="0" dirty="0" smtClean="0">
                <a:latin typeface="Arial" panose="020B0604020202020204" pitchFamily="34" charset="0"/>
                <a:cs typeface="Arial" panose="020B0604020202020204" pitchFamily="34" charset="0"/>
              </a:rPr>
              <a:t>Who ensures </a:t>
            </a:r>
            <a:r>
              <a:rPr lang="en-US" altLang="en-US" sz="2000" kern="0" dirty="0">
                <a:solidFill>
                  <a:schemeClr val="accent1"/>
                </a:solidFill>
                <a:latin typeface="Arial" panose="020B0604020202020204" pitchFamily="34" charset="0"/>
                <a:cs typeface="Arial" panose="020B0604020202020204" pitchFamily="34" charset="0"/>
              </a:rPr>
              <a:t>quality assurance </a:t>
            </a:r>
            <a:r>
              <a:rPr lang="en-US" altLang="en-US" sz="2000" kern="0" dirty="0" smtClean="0">
                <a:latin typeface="Arial" panose="020B0604020202020204" pitchFamily="34" charset="0"/>
                <a:cs typeface="Arial" panose="020B0604020202020204" pitchFamily="34" charset="0"/>
              </a:rPr>
              <a:t>of reports?</a:t>
            </a:r>
          </a:p>
          <a:p>
            <a:pPr marL="1257300" lvl="2" indent="-457200">
              <a:spcBef>
                <a:spcPts val="1200"/>
              </a:spcBef>
              <a:buFont typeface="Arial" panose="020B0604020202020204" pitchFamily="34" charset="0"/>
              <a:buChar char="•"/>
            </a:pPr>
            <a:r>
              <a:rPr lang="en-US" altLang="en-US" sz="2000" kern="0" dirty="0" smtClean="0">
                <a:latin typeface="Arial" panose="020B0604020202020204" pitchFamily="34" charset="0"/>
                <a:cs typeface="Arial" panose="020B0604020202020204" pitchFamily="34" charset="0"/>
              </a:rPr>
              <a:t>Who </a:t>
            </a:r>
            <a:r>
              <a:rPr lang="en-US" altLang="en-US" sz="2000" kern="0" dirty="0" smtClean="0">
                <a:solidFill>
                  <a:schemeClr val="accent1"/>
                </a:solidFill>
                <a:latin typeface="Arial" panose="020B0604020202020204" pitchFamily="34" charset="0"/>
                <a:cs typeface="Arial" panose="020B0604020202020204" pitchFamily="34" charset="0"/>
              </a:rPr>
              <a:t>clears</a:t>
            </a:r>
            <a:r>
              <a:rPr lang="en-US" altLang="en-US" sz="2000" kern="0" dirty="0" smtClean="0">
                <a:latin typeface="Arial" panose="020B0604020202020204" pitchFamily="34" charset="0"/>
                <a:cs typeface="Arial" panose="020B0604020202020204" pitchFamily="34" charset="0"/>
              </a:rPr>
              <a:t> the reports?</a:t>
            </a:r>
          </a:p>
          <a:p>
            <a:pPr marL="1257300" lvl="2" indent="-457200">
              <a:spcBef>
                <a:spcPts val="1200"/>
              </a:spcBef>
              <a:buFont typeface="Arial" panose="020B0604020202020204" pitchFamily="34" charset="0"/>
              <a:buChar char="•"/>
            </a:pPr>
            <a:endParaRPr lang="en-US" altLang="en-US" sz="2000" kern="0" dirty="0" smtClean="0">
              <a:latin typeface="Arial" panose="020B0604020202020204" pitchFamily="34" charset="0"/>
              <a:cs typeface="Arial" panose="020B0604020202020204" pitchFamily="34" charset="0"/>
            </a:endParaRPr>
          </a:p>
          <a:p>
            <a:pPr marL="457200" indent="-457200">
              <a:spcBef>
                <a:spcPts val="1200"/>
              </a:spcBef>
              <a:buFontTx/>
              <a:buAutoNum type="arabicPeriod"/>
            </a:pPr>
            <a:r>
              <a:rPr lang="en-US" altLang="en-US" sz="2000" kern="0" dirty="0" smtClean="0">
                <a:latin typeface="Arial" panose="020B0604020202020204" pitchFamily="34" charset="0"/>
                <a:cs typeface="Arial" panose="020B0604020202020204" pitchFamily="34" charset="0"/>
              </a:rPr>
              <a:t>Does the </a:t>
            </a:r>
            <a:r>
              <a:rPr lang="en-US" altLang="en-US" sz="2000" kern="0" dirty="0">
                <a:solidFill>
                  <a:schemeClr val="accent1"/>
                </a:solidFill>
                <a:latin typeface="Arial" panose="020B0604020202020204" pitchFamily="34" charset="0"/>
                <a:cs typeface="Arial" panose="020B0604020202020204" pitchFamily="34" charset="0"/>
              </a:rPr>
              <a:t>office culture </a:t>
            </a:r>
            <a:r>
              <a:rPr lang="en-US" altLang="en-US" sz="2000" kern="0" dirty="0" smtClean="0">
                <a:latin typeface="Arial" panose="020B0604020202020204" pitchFamily="34" charset="0"/>
                <a:cs typeface="Arial" panose="020B0604020202020204" pitchFamily="34" charset="0"/>
              </a:rPr>
              <a:t>ensure that reporting is taken seriously?</a:t>
            </a:r>
          </a:p>
        </p:txBody>
      </p:sp>
    </p:spTree>
    <p:extLst>
      <p:ext uri="{BB962C8B-B14F-4D97-AF65-F5344CB8AC3E}">
        <p14:creationId xmlns:p14="http://schemas.microsoft.com/office/powerpoint/2010/main" val="266222033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277470" y="3227295"/>
            <a:ext cx="10914529" cy="770021"/>
          </a:xfrm>
        </p:spPr>
        <p:txBody>
          <a:bodyPr>
            <a:normAutofit/>
          </a:bodyPr>
          <a:lstStyle/>
          <a:p>
            <a:pPr algn="ctr"/>
            <a:r>
              <a:rPr lang="en-US" sz="3600" dirty="0" smtClean="0">
                <a:solidFill>
                  <a:srgbClr val="0099FF"/>
                </a:solidFill>
                <a:latin typeface="Arial" panose="020B0604020202020204" pitchFamily="34" charset="0"/>
                <a:cs typeface="Arial" panose="020B0604020202020204" pitchFamily="34" charset="0"/>
              </a:rPr>
              <a:t>Any Questions?</a:t>
            </a:r>
            <a:endParaRPr lang="en-US" sz="3600" dirty="0">
              <a:solidFill>
                <a:srgbClr val="0099FF"/>
              </a:solidFill>
              <a:latin typeface="Arial" panose="020B0604020202020204" pitchFamily="34" charset="0"/>
              <a:cs typeface="Arial" panose="020B0604020202020204" pitchFamily="34" charset="0"/>
            </a:endParaRPr>
          </a:p>
        </p:txBody>
      </p:sp>
      <p:pic>
        <p:nvPicPr>
          <p:cNvPr id="1026" name="Picture 2" descr="https://cdn2.iconfinder.com/data/icons/freecns-cumulus/16/519660-164_QuestionMark-512.png"/>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79762" y="2773404"/>
            <a:ext cx="1677801" cy="1677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5940369"/>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04801" y="1684422"/>
            <a:ext cx="5670884" cy="394635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800" dirty="0" smtClean="0">
                <a:solidFill>
                  <a:srgbClr val="0099FF"/>
                </a:solidFill>
              </a:rPr>
              <a:t>DAY 1</a:t>
            </a:r>
            <a:endParaRPr lang="en-US" sz="2800" dirty="0">
              <a:solidFill>
                <a:srgbClr val="0099FF"/>
              </a:solidFill>
            </a:endParaRPr>
          </a:p>
        </p:txBody>
      </p:sp>
      <p:sp>
        <p:nvSpPr>
          <p:cNvPr id="26" name="Rectangle 25"/>
          <p:cNvSpPr/>
          <p:nvPr/>
        </p:nvSpPr>
        <p:spPr>
          <a:xfrm>
            <a:off x="6120065" y="1684421"/>
            <a:ext cx="5670884" cy="394635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800" dirty="0" smtClean="0">
                <a:solidFill>
                  <a:srgbClr val="0099FF"/>
                </a:solidFill>
              </a:rPr>
              <a:t>DAY 2</a:t>
            </a:r>
            <a:endParaRPr lang="en-US" sz="2800" dirty="0">
              <a:solidFill>
                <a:srgbClr val="0099FF"/>
              </a:solidFill>
            </a:endParaRPr>
          </a:p>
        </p:txBody>
      </p:sp>
      <p:sp>
        <p:nvSpPr>
          <p:cNvPr id="2" name="Title 1"/>
          <p:cNvSpPr>
            <a:spLocks noGrp="1"/>
          </p:cNvSpPr>
          <p:nvPr>
            <p:ph type="title"/>
          </p:nvPr>
        </p:nvSpPr>
        <p:spPr>
          <a:xfrm>
            <a:off x="0" y="0"/>
            <a:ext cx="12192000" cy="770021"/>
          </a:xfrm>
        </p:spPr>
        <p:txBody>
          <a:bodyPr>
            <a:normAutofit/>
          </a:bodyPr>
          <a:lstStyle/>
          <a:p>
            <a:r>
              <a:rPr lang="en-US" sz="3600" dirty="0" smtClean="0">
                <a:solidFill>
                  <a:srgbClr val="0099FF"/>
                </a:solidFill>
                <a:latin typeface="Arial" panose="020B0604020202020204" pitchFamily="34" charset="0"/>
                <a:cs typeface="Arial" panose="020B0604020202020204" pitchFamily="34" charset="0"/>
              </a:rPr>
              <a:t>Wrap-up</a:t>
            </a:r>
            <a:endParaRPr lang="en-US" sz="3600" dirty="0">
              <a:solidFill>
                <a:srgbClr val="0099FF"/>
              </a:solidFill>
              <a:latin typeface="Arial" panose="020B0604020202020204" pitchFamily="34" charset="0"/>
              <a:cs typeface="Arial" panose="020B0604020202020204" pitchFamily="34" charset="0"/>
            </a:endParaRPr>
          </a:p>
        </p:txBody>
      </p:sp>
      <p:sp>
        <p:nvSpPr>
          <p:cNvPr id="7" name="Rectangle 6"/>
          <p:cNvSpPr/>
          <p:nvPr/>
        </p:nvSpPr>
        <p:spPr>
          <a:xfrm>
            <a:off x="505325" y="2566736"/>
            <a:ext cx="1684421" cy="1299410"/>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solidFill>
                  <a:schemeClr val="bg1">
                    <a:lumMod val="65000"/>
                  </a:schemeClr>
                </a:solidFill>
                <a:latin typeface="Arial" panose="020B0604020202020204" pitchFamily="34" charset="0"/>
                <a:cs typeface="Arial" panose="020B0604020202020204" pitchFamily="34" charset="0"/>
              </a:rPr>
              <a:t>Key Drivers and Principles of RBM</a:t>
            </a:r>
            <a:endParaRPr lang="en-US" dirty="0">
              <a:solidFill>
                <a:schemeClr val="bg1">
                  <a:lumMod val="65000"/>
                </a:schemeClr>
              </a:solidFill>
              <a:latin typeface="Arial" panose="020B0604020202020204" pitchFamily="34" charset="0"/>
              <a:cs typeface="Arial" panose="020B0604020202020204" pitchFamily="34" charset="0"/>
            </a:endParaRPr>
          </a:p>
        </p:txBody>
      </p:sp>
      <p:sp>
        <p:nvSpPr>
          <p:cNvPr id="14" name="Rectangle 13"/>
          <p:cNvSpPr/>
          <p:nvPr/>
        </p:nvSpPr>
        <p:spPr>
          <a:xfrm>
            <a:off x="2326104" y="2566736"/>
            <a:ext cx="1684421" cy="1299410"/>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solidFill>
                  <a:schemeClr val="bg1">
                    <a:lumMod val="65000"/>
                  </a:schemeClr>
                </a:solidFill>
                <a:latin typeface="Arial" panose="020B0604020202020204" pitchFamily="34" charset="0"/>
                <a:cs typeface="Arial" panose="020B0604020202020204" pitchFamily="34" charset="0"/>
              </a:rPr>
              <a:t>Problem Analysis</a:t>
            </a:r>
            <a:endParaRPr lang="en-US" dirty="0">
              <a:solidFill>
                <a:schemeClr val="bg1">
                  <a:lumMod val="65000"/>
                </a:schemeClr>
              </a:solidFill>
              <a:latin typeface="Arial" panose="020B0604020202020204" pitchFamily="34" charset="0"/>
              <a:cs typeface="Arial" panose="020B0604020202020204" pitchFamily="34" charset="0"/>
            </a:endParaRPr>
          </a:p>
        </p:txBody>
      </p:sp>
      <p:sp>
        <p:nvSpPr>
          <p:cNvPr id="15" name="Rectangle 14"/>
          <p:cNvSpPr/>
          <p:nvPr/>
        </p:nvSpPr>
        <p:spPr>
          <a:xfrm>
            <a:off x="4146883" y="2566736"/>
            <a:ext cx="1684421" cy="1299410"/>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solidFill>
                  <a:schemeClr val="bg1">
                    <a:lumMod val="65000"/>
                  </a:schemeClr>
                </a:solidFill>
                <a:latin typeface="Arial" panose="020B0604020202020204" pitchFamily="34" charset="0"/>
                <a:cs typeface="Arial" panose="020B0604020202020204" pitchFamily="34" charset="0"/>
              </a:rPr>
              <a:t>Application of Lenses</a:t>
            </a:r>
            <a:endParaRPr lang="en-US" dirty="0">
              <a:solidFill>
                <a:schemeClr val="bg1">
                  <a:lumMod val="65000"/>
                </a:schemeClr>
              </a:solidFill>
              <a:latin typeface="Arial" panose="020B0604020202020204" pitchFamily="34" charset="0"/>
              <a:cs typeface="Arial" panose="020B0604020202020204" pitchFamily="34" charset="0"/>
            </a:endParaRPr>
          </a:p>
        </p:txBody>
      </p:sp>
      <p:sp>
        <p:nvSpPr>
          <p:cNvPr id="16" name="Rectangle 15"/>
          <p:cNvSpPr/>
          <p:nvPr/>
        </p:nvSpPr>
        <p:spPr>
          <a:xfrm>
            <a:off x="505324" y="4066672"/>
            <a:ext cx="1684421" cy="1299410"/>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solidFill>
                  <a:schemeClr val="bg1">
                    <a:lumMod val="65000"/>
                  </a:schemeClr>
                </a:solidFill>
                <a:latin typeface="Arial" panose="020B0604020202020204" pitchFamily="34" charset="0"/>
                <a:cs typeface="Arial" panose="020B0604020202020204" pitchFamily="34" charset="0"/>
              </a:rPr>
              <a:t>Outcome Chain</a:t>
            </a:r>
            <a:endParaRPr lang="en-US" dirty="0">
              <a:solidFill>
                <a:schemeClr val="bg1">
                  <a:lumMod val="65000"/>
                </a:schemeClr>
              </a:solidFill>
              <a:latin typeface="Arial" panose="020B0604020202020204" pitchFamily="34" charset="0"/>
              <a:cs typeface="Arial" panose="020B0604020202020204" pitchFamily="34" charset="0"/>
            </a:endParaRPr>
          </a:p>
        </p:txBody>
      </p:sp>
      <p:sp>
        <p:nvSpPr>
          <p:cNvPr id="17" name="Rectangle 16"/>
          <p:cNvSpPr/>
          <p:nvPr/>
        </p:nvSpPr>
        <p:spPr>
          <a:xfrm>
            <a:off x="2334125" y="4066672"/>
            <a:ext cx="1684421" cy="1299410"/>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solidFill>
                  <a:schemeClr val="bg1">
                    <a:lumMod val="65000"/>
                  </a:schemeClr>
                </a:solidFill>
                <a:latin typeface="Arial" panose="020B0604020202020204" pitchFamily="34" charset="0"/>
                <a:cs typeface="Arial" panose="020B0604020202020204" pitchFamily="34" charset="0"/>
              </a:rPr>
              <a:t>Prioritization</a:t>
            </a:r>
            <a:endParaRPr lang="en-US" dirty="0">
              <a:solidFill>
                <a:schemeClr val="bg1">
                  <a:lumMod val="65000"/>
                </a:schemeClr>
              </a:solidFill>
              <a:latin typeface="Arial" panose="020B0604020202020204" pitchFamily="34" charset="0"/>
              <a:cs typeface="Arial" panose="020B0604020202020204" pitchFamily="34" charset="0"/>
            </a:endParaRPr>
          </a:p>
        </p:txBody>
      </p:sp>
      <p:sp>
        <p:nvSpPr>
          <p:cNvPr id="18" name="Rectangle 17"/>
          <p:cNvSpPr/>
          <p:nvPr/>
        </p:nvSpPr>
        <p:spPr>
          <a:xfrm>
            <a:off x="4154904" y="4066672"/>
            <a:ext cx="1684421" cy="1299410"/>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solidFill>
                  <a:schemeClr val="bg1">
                    <a:lumMod val="65000"/>
                  </a:schemeClr>
                </a:solidFill>
                <a:latin typeface="Arial" panose="020B0604020202020204" pitchFamily="34" charset="0"/>
                <a:cs typeface="Arial" panose="020B0604020202020204" pitchFamily="34" charset="0"/>
              </a:rPr>
              <a:t>Strategies, Risks and Assumptions</a:t>
            </a:r>
            <a:endParaRPr lang="en-US" dirty="0">
              <a:solidFill>
                <a:schemeClr val="bg1">
                  <a:lumMod val="65000"/>
                </a:schemeClr>
              </a:solidFill>
              <a:latin typeface="Arial" panose="020B0604020202020204" pitchFamily="34" charset="0"/>
              <a:cs typeface="Arial" panose="020B0604020202020204" pitchFamily="34" charset="0"/>
            </a:endParaRPr>
          </a:p>
        </p:txBody>
      </p:sp>
      <p:sp>
        <p:nvSpPr>
          <p:cNvPr id="19" name="Rectangle 18"/>
          <p:cNvSpPr/>
          <p:nvPr/>
        </p:nvSpPr>
        <p:spPr>
          <a:xfrm>
            <a:off x="6344651" y="2566736"/>
            <a:ext cx="1684421" cy="1299410"/>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bg1">
                    <a:lumMod val="65000"/>
                  </a:schemeClr>
                </a:solidFill>
                <a:latin typeface="Arial" panose="020B0604020202020204" pitchFamily="34" charset="0"/>
                <a:cs typeface="Arial" panose="020B0604020202020204" pitchFamily="34" charset="0"/>
              </a:rPr>
              <a:t>Results Framework</a:t>
            </a:r>
          </a:p>
        </p:txBody>
      </p:sp>
      <p:sp>
        <p:nvSpPr>
          <p:cNvPr id="20" name="Rectangle 19"/>
          <p:cNvSpPr/>
          <p:nvPr/>
        </p:nvSpPr>
        <p:spPr>
          <a:xfrm>
            <a:off x="8165430" y="2566736"/>
            <a:ext cx="1684421" cy="1299410"/>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bg1">
                    <a:lumMod val="65000"/>
                  </a:schemeClr>
                </a:solidFill>
                <a:latin typeface="Arial" panose="020B0604020202020204" pitchFamily="34" charset="0"/>
                <a:cs typeface="Arial" panose="020B0604020202020204" pitchFamily="34" charset="0"/>
              </a:rPr>
              <a:t>Group Presentations</a:t>
            </a:r>
          </a:p>
        </p:txBody>
      </p:sp>
      <p:sp>
        <p:nvSpPr>
          <p:cNvPr id="21" name="Rectangle 20"/>
          <p:cNvSpPr/>
          <p:nvPr/>
        </p:nvSpPr>
        <p:spPr>
          <a:xfrm>
            <a:off x="9994231" y="2566736"/>
            <a:ext cx="1684421" cy="1299410"/>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bg1">
                    <a:lumMod val="65000"/>
                  </a:schemeClr>
                </a:solidFill>
                <a:latin typeface="Arial" panose="020B0604020202020204" pitchFamily="34" charset="0"/>
                <a:cs typeface="Arial" panose="020B0604020202020204" pitchFamily="34" charset="0"/>
              </a:rPr>
              <a:t>Implementation</a:t>
            </a:r>
          </a:p>
        </p:txBody>
      </p:sp>
      <p:sp>
        <p:nvSpPr>
          <p:cNvPr id="22" name="Rectangle 21"/>
          <p:cNvSpPr/>
          <p:nvPr/>
        </p:nvSpPr>
        <p:spPr>
          <a:xfrm>
            <a:off x="6352673" y="4066672"/>
            <a:ext cx="1684421" cy="1299410"/>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bg1">
                    <a:lumMod val="65000"/>
                  </a:schemeClr>
                </a:solidFill>
                <a:latin typeface="Arial" panose="020B0604020202020204" pitchFamily="34" charset="0"/>
                <a:cs typeface="Arial" panose="020B0604020202020204" pitchFamily="34" charset="0"/>
              </a:rPr>
              <a:t>Monitoring and Evaluation</a:t>
            </a:r>
          </a:p>
        </p:txBody>
      </p:sp>
      <p:sp>
        <p:nvSpPr>
          <p:cNvPr id="23" name="Rectangle 22"/>
          <p:cNvSpPr/>
          <p:nvPr/>
        </p:nvSpPr>
        <p:spPr>
          <a:xfrm>
            <a:off x="8173452" y="4066672"/>
            <a:ext cx="1684421" cy="1299410"/>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bg1">
                    <a:lumMod val="65000"/>
                  </a:schemeClr>
                </a:solidFill>
                <a:latin typeface="Arial" panose="020B0604020202020204" pitchFamily="34" charset="0"/>
                <a:cs typeface="Arial" panose="020B0604020202020204" pitchFamily="34" charset="0"/>
              </a:rPr>
              <a:t>Results Based Budgeting</a:t>
            </a:r>
          </a:p>
        </p:txBody>
      </p:sp>
      <p:sp>
        <p:nvSpPr>
          <p:cNvPr id="24" name="Rectangle 23"/>
          <p:cNvSpPr/>
          <p:nvPr/>
        </p:nvSpPr>
        <p:spPr>
          <a:xfrm>
            <a:off x="9994231" y="4066672"/>
            <a:ext cx="1684421" cy="1299410"/>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bg1">
                    <a:lumMod val="65000"/>
                  </a:schemeClr>
                </a:solidFill>
                <a:latin typeface="Arial" panose="020B0604020202020204" pitchFamily="34" charset="0"/>
                <a:cs typeface="Arial" panose="020B0604020202020204" pitchFamily="34" charset="0"/>
              </a:rPr>
              <a:t>Reporting</a:t>
            </a:r>
          </a:p>
        </p:txBody>
      </p:sp>
      <p:pic>
        <p:nvPicPr>
          <p:cNvPr id="1026" name="Picture 2" descr="http://premierel.com/images/check_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3491" y="2332693"/>
            <a:ext cx="468086" cy="4680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premierel.com/images/check_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42292" y="2366210"/>
            <a:ext cx="468086" cy="468086"/>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http://premierel.com/images/check_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55050" y="2344726"/>
            <a:ext cx="468086" cy="468086"/>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http://premierel.com/images/check_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3491" y="3891068"/>
            <a:ext cx="468086" cy="46808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http://premierel.com/images/check_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4539" y="3906822"/>
            <a:ext cx="468086" cy="468086"/>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http://premierel.com/images/check_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55050" y="3891068"/>
            <a:ext cx="468086" cy="468086"/>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http://premierel.com/images/check_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44067" y="2332693"/>
            <a:ext cx="468086" cy="468086"/>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http://premierel.com/images/check_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72868" y="2366210"/>
            <a:ext cx="468086" cy="468086"/>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http://premierel.com/images/check_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85626" y="2344726"/>
            <a:ext cx="468086" cy="468086"/>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http://premierel.com/images/check_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44067" y="3891068"/>
            <a:ext cx="468086" cy="468086"/>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http://premierel.com/images/check_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15115" y="3906822"/>
            <a:ext cx="468086" cy="468086"/>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http://premierel.com/images/check_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85626" y="3891068"/>
            <a:ext cx="468086" cy="468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5313125"/>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8128000"/>
          </a:xfrm>
          <a:prstGeom prst="rect">
            <a:avLst/>
          </a:prstGeom>
        </p:spPr>
      </p:pic>
      <p:sp>
        <p:nvSpPr>
          <p:cNvPr id="5" name="Rectangle 4"/>
          <p:cNvSpPr/>
          <p:nvPr/>
        </p:nvSpPr>
        <p:spPr>
          <a:xfrm>
            <a:off x="0" y="5402178"/>
            <a:ext cx="12192001" cy="12753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rgbClr val="0099FF"/>
                </a:solidFill>
                <a:latin typeface="Arial" panose="020B0604020202020204" pitchFamily="34" charset="0"/>
                <a:cs typeface="Arial" panose="020B0604020202020204" pitchFamily="34" charset="0"/>
              </a:rPr>
              <a:t>Thank You!</a:t>
            </a:r>
            <a:endParaRPr lang="en-US" sz="2800" dirty="0">
              <a:solidFill>
                <a:srgbClr val="0099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5009708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F9420A29F828A47A89D6743D2F0499D" ma:contentTypeVersion="0" ma:contentTypeDescription="Create a new document." ma:contentTypeScope="" ma:versionID="c8861685174f279a6c039831cd7d2b8e">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837BC70-1C2A-434F-BFA3-EDA47D2F9D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1D14570B-F5E7-42D8-A71D-DC0D0E09D634}">
  <ds:schemaRefs>
    <ds:schemaRef ds:uri="http://schemas.microsoft.com/sharepoint/v3/contenttype/forms"/>
  </ds:schemaRefs>
</ds:datastoreItem>
</file>

<file path=customXml/itemProps3.xml><?xml version="1.0" encoding="utf-8"?>
<ds:datastoreItem xmlns:ds="http://schemas.openxmlformats.org/officeDocument/2006/customXml" ds:itemID="{B1313C36-A4A8-4792-9596-D6B9DC4FF386}">
  <ds:schemaRefs>
    <ds:schemaRef ds:uri="http://purl.org/dc/term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5144</TotalTime>
  <Words>7906</Words>
  <Application>Microsoft Office PowerPoint</Application>
  <PresentationFormat>Widescreen</PresentationFormat>
  <Paragraphs>1502</Paragraphs>
  <Slides>101</Slides>
  <Notes>34</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101</vt:i4>
      </vt:variant>
    </vt:vector>
  </HeadingPairs>
  <TitlesOfParts>
    <vt:vector size="115" baseType="lpstr">
      <vt:lpstr>Gulim</vt:lpstr>
      <vt:lpstr>Gulim</vt:lpstr>
      <vt:lpstr>맑은 고딕</vt:lpstr>
      <vt:lpstr>MS Mincho</vt:lpstr>
      <vt:lpstr>ＭＳ Ｐゴシック</vt:lpstr>
      <vt:lpstr>Arial</vt:lpstr>
      <vt:lpstr>Calibri</vt:lpstr>
      <vt:lpstr>Calibri Light</vt:lpstr>
      <vt:lpstr>Symbol</vt:lpstr>
      <vt:lpstr>Times</vt:lpstr>
      <vt:lpstr>Times New Roman</vt:lpstr>
      <vt:lpstr>Webdings</vt:lpstr>
      <vt:lpstr>Wingdings</vt:lpstr>
      <vt:lpstr>Office Theme</vt:lpstr>
      <vt:lpstr>ESA REGIONAL OFFICE</vt:lpstr>
      <vt:lpstr>Overall objective</vt:lpstr>
      <vt:lpstr>Agenda</vt:lpstr>
      <vt:lpstr>KEY DRIVERS OF RBM &amp; INTRODUCTION TO RBM PRINCIPLES</vt:lpstr>
      <vt:lpstr>Session Objectives</vt:lpstr>
      <vt:lpstr>Starting the RBM conversation</vt:lpstr>
      <vt:lpstr>Results-Based Management Cycle involves</vt:lpstr>
      <vt:lpstr>Key Drivers of Results-Based Management in UNICEF</vt:lpstr>
      <vt:lpstr>State of RBM</vt:lpstr>
      <vt:lpstr>QCPR resolution strong on RBM</vt:lpstr>
      <vt:lpstr>Application of RBM in UNICEF</vt:lpstr>
      <vt:lpstr>Any Questions?</vt:lpstr>
      <vt:lpstr>PROBLEM IDENTIFICATION &amp; CAUSAL ANALYSIS</vt:lpstr>
      <vt:lpstr>Session Objectives</vt:lpstr>
      <vt:lpstr>Problem Analysis</vt:lpstr>
      <vt:lpstr>Causal analysis– using the “whys”</vt:lpstr>
      <vt:lpstr>Problem tree</vt:lpstr>
      <vt:lpstr>Group Work</vt:lpstr>
      <vt:lpstr>Any Questions?</vt:lpstr>
      <vt:lpstr>APPLICATION OF LENSES</vt:lpstr>
      <vt:lpstr>Causal analysis– “whys” and “lenses”</vt:lpstr>
      <vt:lpstr>Causal analysis– “whys” and “lenses”</vt:lpstr>
      <vt:lpstr>Group Work</vt:lpstr>
      <vt:lpstr>Any Questions?</vt:lpstr>
      <vt:lpstr>THEORY OF CHANGE:  THE OUTCOME CHAIN</vt:lpstr>
      <vt:lpstr>Session objectives</vt:lpstr>
      <vt:lpstr>Theory of Change 1</vt:lpstr>
      <vt:lpstr>Solution tree/Outcome chain</vt:lpstr>
      <vt:lpstr>What is a Theory of Change? </vt:lpstr>
      <vt:lpstr>Group work</vt:lpstr>
      <vt:lpstr>Any Questions?</vt:lpstr>
      <vt:lpstr>THEORY OF CHANGE:  PRIORITIZATION</vt:lpstr>
      <vt:lpstr>Session objectives</vt:lpstr>
      <vt:lpstr>PowerPoint Presentation</vt:lpstr>
      <vt:lpstr>Prioritization</vt:lpstr>
      <vt:lpstr>Comparative Advantage Analysis</vt:lpstr>
      <vt:lpstr>Prioritization</vt:lpstr>
      <vt:lpstr>Comparative Advantage: Stakeholder Mapping</vt:lpstr>
      <vt:lpstr>Group work</vt:lpstr>
      <vt:lpstr>Any Questions?</vt:lpstr>
      <vt:lpstr>THEORY OF CHANGE:  STRATEGIES, RISKS AND ASSUMPTIONS</vt:lpstr>
      <vt:lpstr>Session objectives</vt:lpstr>
      <vt:lpstr>PowerPoint Presentation</vt:lpstr>
      <vt:lpstr>PowerPoint Presentation</vt:lpstr>
      <vt:lpstr>PowerPoint Presentation</vt:lpstr>
      <vt:lpstr>PowerPoint Presentation</vt:lpstr>
      <vt:lpstr>Any Questions?</vt:lpstr>
      <vt:lpstr>Agenda</vt:lpstr>
      <vt:lpstr>THE RESULTS FRAMEWORK</vt:lpstr>
      <vt:lpstr>Session objectives</vt:lpstr>
      <vt:lpstr>What is a result</vt:lpstr>
      <vt:lpstr>6 principles for formulating results</vt:lpstr>
      <vt:lpstr>Hierarchy of Results</vt:lpstr>
      <vt:lpstr>PowerPoint Presentation</vt:lpstr>
      <vt:lpstr>Results Chain</vt:lpstr>
      <vt:lpstr>What is an indicator</vt:lpstr>
      <vt:lpstr>Performance Indicators</vt:lpstr>
      <vt:lpstr>Quality Criteria for Indicators</vt:lpstr>
      <vt:lpstr>Measurement Framework for Results</vt:lpstr>
      <vt:lpstr>Group work</vt:lpstr>
      <vt:lpstr>Any Questions?</vt:lpstr>
      <vt:lpstr>PLENARY PRESENTATIONS  </vt:lpstr>
      <vt:lpstr>IMPLEMENTATION</vt:lpstr>
      <vt:lpstr>Session Objectives</vt:lpstr>
      <vt:lpstr>PowerPoint Presentation</vt:lpstr>
      <vt:lpstr>Implementation Strategies</vt:lpstr>
      <vt:lpstr>Implementation Modalities</vt:lpstr>
      <vt:lpstr>PowerPoint Presentation</vt:lpstr>
      <vt:lpstr>Resourcing</vt:lpstr>
      <vt:lpstr>Work planning considerations</vt:lpstr>
      <vt:lpstr>Any Questions?</vt:lpstr>
      <vt:lpstr>MONITORING AND EVALUATION</vt:lpstr>
      <vt:lpstr>Session Objectives</vt:lpstr>
      <vt:lpstr>Introduction</vt:lpstr>
      <vt:lpstr>Framework for programme monitoring </vt:lpstr>
      <vt:lpstr>Level of Results and Programme Monitoring</vt:lpstr>
      <vt:lpstr>Key Questions for Programme Monitoring</vt:lpstr>
      <vt:lpstr>What is an Evaluation?</vt:lpstr>
      <vt:lpstr>Purpose of Evaluation</vt:lpstr>
      <vt:lpstr>Evaluation Contributes to:</vt:lpstr>
      <vt:lpstr>Managing Evaluations</vt:lpstr>
      <vt:lpstr>Any Questions?</vt:lpstr>
      <vt:lpstr>RESULTS BASED BUDGETING</vt:lpstr>
      <vt:lpstr>Session Objectives</vt:lpstr>
      <vt:lpstr>Steps in Results Based Budgeting</vt:lpstr>
      <vt:lpstr>Types of Costs</vt:lpstr>
      <vt:lpstr>Integrated Budget</vt:lpstr>
      <vt:lpstr>Tips for Sound Budgeting Practices</vt:lpstr>
      <vt:lpstr>Any Questions?</vt:lpstr>
      <vt:lpstr>REPORTING</vt:lpstr>
      <vt:lpstr>Session Objectives</vt:lpstr>
      <vt:lpstr>Quality of Results Reporting in ESAR</vt:lpstr>
      <vt:lpstr>Why Do We Report?</vt:lpstr>
      <vt:lpstr>Types of Reports</vt:lpstr>
      <vt:lpstr>Effective Reporting</vt:lpstr>
      <vt:lpstr>Effective reporting on Results</vt:lpstr>
      <vt:lpstr>8 Tips to Improve Results-Based Reporting</vt:lpstr>
      <vt:lpstr>Establish Workflow Processes</vt:lpstr>
      <vt:lpstr>Any Questions?</vt:lpstr>
      <vt:lpstr>Wrap-up</vt:lpstr>
      <vt:lpstr>PowerPoint Presentation</vt:lpstr>
    </vt:vector>
  </TitlesOfParts>
  <Company>UNICEF</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Anthony Bellon</dc:creator>
  <cp:lastModifiedBy>Mandi Chikombero</cp:lastModifiedBy>
  <cp:revision>434</cp:revision>
  <dcterms:created xsi:type="dcterms:W3CDTF">2016-02-26T08:37:18Z</dcterms:created>
  <dcterms:modified xsi:type="dcterms:W3CDTF">2016-06-29T07:44:32Z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0x010100DF9420A29F828A47A89D6743D2F0499D</vt:lpwstr>
  </property>
</Properties>
</file>