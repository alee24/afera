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9" r:id="rId2"/>
    <p:sldId id="260" r:id="rId3"/>
    <p:sldId id="2621" r:id="rId4"/>
    <p:sldId id="257" r:id="rId5"/>
    <p:sldId id="258" r:id="rId6"/>
    <p:sldId id="259" r:id="rId7"/>
  </p:sldIdLst>
  <p:sldSz cx="12192000" cy="6858000"/>
  <p:notesSz cx="6858000" cy="9144000"/>
  <p:defaultTextStyle>
    <a:defPPr>
      <a:defRPr lang="fr-G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42" autoAdjust="0"/>
    <p:restoredTop sz="94660"/>
  </p:normalViewPr>
  <p:slideViewPr>
    <p:cSldViewPr snapToGrid="0">
      <p:cViewPr>
        <p:scale>
          <a:sx n="93" d="100"/>
          <a:sy n="93" d="100"/>
        </p:scale>
        <p:origin x="315"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B720FA-CEF9-4754-9250-26D5B7D7D2A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GN"/>
          </a:p>
        </p:txBody>
      </p:sp>
      <p:sp>
        <p:nvSpPr>
          <p:cNvPr id="3" name="Sous-titre 2">
            <a:extLst>
              <a:ext uri="{FF2B5EF4-FFF2-40B4-BE49-F238E27FC236}">
                <a16:creationId xmlns:a16="http://schemas.microsoft.com/office/drawing/2014/main" id="{225672DA-8304-4AB2-B96B-D4FD7A981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GN"/>
          </a:p>
        </p:txBody>
      </p:sp>
      <p:sp>
        <p:nvSpPr>
          <p:cNvPr id="4" name="Espace réservé de la date 3">
            <a:extLst>
              <a:ext uri="{FF2B5EF4-FFF2-40B4-BE49-F238E27FC236}">
                <a16:creationId xmlns:a16="http://schemas.microsoft.com/office/drawing/2014/main" id="{EA732479-6147-443B-A1F2-2EF44607447F}"/>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5" name="Espace réservé du pied de page 4">
            <a:extLst>
              <a:ext uri="{FF2B5EF4-FFF2-40B4-BE49-F238E27FC236}">
                <a16:creationId xmlns:a16="http://schemas.microsoft.com/office/drawing/2014/main" id="{BC0C3E5E-E356-4855-B11F-7F05EA442E26}"/>
              </a:ext>
            </a:extLst>
          </p:cNvPr>
          <p:cNvSpPr>
            <a:spLocks noGrp="1"/>
          </p:cNvSpPr>
          <p:nvPr>
            <p:ph type="ftr" sz="quarter" idx="11"/>
          </p:nvPr>
        </p:nvSpPr>
        <p:spPr/>
        <p:txBody>
          <a:bodyPr/>
          <a:lstStyle/>
          <a:p>
            <a:endParaRPr lang="fr-GN"/>
          </a:p>
        </p:txBody>
      </p:sp>
      <p:sp>
        <p:nvSpPr>
          <p:cNvPr id="6" name="Espace réservé du numéro de diapositive 5">
            <a:extLst>
              <a:ext uri="{FF2B5EF4-FFF2-40B4-BE49-F238E27FC236}">
                <a16:creationId xmlns:a16="http://schemas.microsoft.com/office/drawing/2014/main" id="{9C8B3C21-0300-4090-9809-A8C1A5E8E0CD}"/>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486750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D84CD9-CA1F-42C1-A9F7-F58E414233D6}"/>
              </a:ext>
            </a:extLst>
          </p:cNvPr>
          <p:cNvSpPr>
            <a:spLocks noGrp="1"/>
          </p:cNvSpPr>
          <p:nvPr>
            <p:ph type="title"/>
          </p:nvPr>
        </p:nvSpPr>
        <p:spPr/>
        <p:txBody>
          <a:bodyPr/>
          <a:lstStyle/>
          <a:p>
            <a:r>
              <a:rPr lang="fr-FR"/>
              <a:t>Modifiez le style du titre</a:t>
            </a:r>
            <a:endParaRPr lang="fr-GN"/>
          </a:p>
        </p:txBody>
      </p:sp>
      <p:sp>
        <p:nvSpPr>
          <p:cNvPr id="3" name="Espace réservé du contenu 2">
            <a:extLst>
              <a:ext uri="{FF2B5EF4-FFF2-40B4-BE49-F238E27FC236}">
                <a16:creationId xmlns:a16="http://schemas.microsoft.com/office/drawing/2014/main" id="{02430F97-40AD-4ACE-8C17-056FEE99846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4" name="Espace réservé de la date 3">
            <a:extLst>
              <a:ext uri="{FF2B5EF4-FFF2-40B4-BE49-F238E27FC236}">
                <a16:creationId xmlns:a16="http://schemas.microsoft.com/office/drawing/2014/main" id="{9DC5912D-B8B4-4F1F-BAA2-62DC6B2825A0}"/>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5" name="Espace réservé du pied de page 4">
            <a:extLst>
              <a:ext uri="{FF2B5EF4-FFF2-40B4-BE49-F238E27FC236}">
                <a16:creationId xmlns:a16="http://schemas.microsoft.com/office/drawing/2014/main" id="{F69BB70F-D8CF-4A3E-B7F0-F2FDEDC10A5C}"/>
              </a:ext>
            </a:extLst>
          </p:cNvPr>
          <p:cNvSpPr>
            <a:spLocks noGrp="1"/>
          </p:cNvSpPr>
          <p:nvPr>
            <p:ph type="ftr" sz="quarter" idx="11"/>
          </p:nvPr>
        </p:nvSpPr>
        <p:spPr/>
        <p:txBody>
          <a:bodyPr/>
          <a:lstStyle/>
          <a:p>
            <a:endParaRPr lang="fr-GN"/>
          </a:p>
        </p:txBody>
      </p:sp>
      <p:sp>
        <p:nvSpPr>
          <p:cNvPr id="6" name="Espace réservé du numéro de diapositive 5">
            <a:extLst>
              <a:ext uri="{FF2B5EF4-FFF2-40B4-BE49-F238E27FC236}">
                <a16:creationId xmlns:a16="http://schemas.microsoft.com/office/drawing/2014/main" id="{79FC4BC7-D0F7-465E-BA11-5391859462FF}"/>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71632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7C5894-1946-488B-9022-5916A63EFE0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GN"/>
          </a:p>
        </p:txBody>
      </p:sp>
      <p:sp>
        <p:nvSpPr>
          <p:cNvPr id="3" name="Espace réservé du texte 2">
            <a:extLst>
              <a:ext uri="{FF2B5EF4-FFF2-40B4-BE49-F238E27FC236}">
                <a16:creationId xmlns:a16="http://schemas.microsoft.com/office/drawing/2014/main" id="{C4342C3B-DB57-4740-B4BC-340B475B75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92099B6-0802-4EC7-8A26-4DCBB1E9A75C}"/>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5" name="Espace réservé du pied de page 4">
            <a:extLst>
              <a:ext uri="{FF2B5EF4-FFF2-40B4-BE49-F238E27FC236}">
                <a16:creationId xmlns:a16="http://schemas.microsoft.com/office/drawing/2014/main" id="{80D59885-BD06-4EDE-B656-26AC0BCF67C3}"/>
              </a:ext>
            </a:extLst>
          </p:cNvPr>
          <p:cNvSpPr>
            <a:spLocks noGrp="1"/>
          </p:cNvSpPr>
          <p:nvPr>
            <p:ph type="ftr" sz="quarter" idx="11"/>
          </p:nvPr>
        </p:nvSpPr>
        <p:spPr/>
        <p:txBody>
          <a:bodyPr/>
          <a:lstStyle/>
          <a:p>
            <a:endParaRPr lang="fr-GN"/>
          </a:p>
        </p:txBody>
      </p:sp>
      <p:sp>
        <p:nvSpPr>
          <p:cNvPr id="6" name="Espace réservé du numéro de diapositive 5">
            <a:extLst>
              <a:ext uri="{FF2B5EF4-FFF2-40B4-BE49-F238E27FC236}">
                <a16:creationId xmlns:a16="http://schemas.microsoft.com/office/drawing/2014/main" id="{23985057-25AB-4B19-9E78-1247884718FB}"/>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2624682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054559-DCA6-44E1-A1A8-36D6D21FF9AE}"/>
              </a:ext>
            </a:extLst>
          </p:cNvPr>
          <p:cNvSpPr>
            <a:spLocks noGrp="1"/>
          </p:cNvSpPr>
          <p:nvPr>
            <p:ph type="title"/>
          </p:nvPr>
        </p:nvSpPr>
        <p:spPr/>
        <p:txBody>
          <a:bodyPr/>
          <a:lstStyle/>
          <a:p>
            <a:r>
              <a:rPr lang="fr-FR"/>
              <a:t>Modifiez le style du titre</a:t>
            </a:r>
            <a:endParaRPr lang="fr-GN"/>
          </a:p>
        </p:txBody>
      </p:sp>
      <p:sp>
        <p:nvSpPr>
          <p:cNvPr id="3" name="Espace réservé du contenu 2">
            <a:extLst>
              <a:ext uri="{FF2B5EF4-FFF2-40B4-BE49-F238E27FC236}">
                <a16:creationId xmlns:a16="http://schemas.microsoft.com/office/drawing/2014/main" id="{7DB2B1CD-2530-4EA4-8CAA-1CCA1C7D7AF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4" name="Espace réservé du contenu 3">
            <a:extLst>
              <a:ext uri="{FF2B5EF4-FFF2-40B4-BE49-F238E27FC236}">
                <a16:creationId xmlns:a16="http://schemas.microsoft.com/office/drawing/2014/main" id="{A0D3C290-4295-4028-BD20-8CE54B7B2F1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5" name="Espace réservé de la date 4">
            <a:extLst>
              <a:ext uri="{FF2B5EF4-FFF2-40B4-BE49-F238E27FC236}">
                <a16:creationId xmlns:a16="http://schemas.microsoft.com/office/drawing/2014/main" id="{280199A5-82A3-4B89-B4A8-186257C09C57}"/>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6" name="Espace réservé du pied de page 5">
            <a:extLst>
              <a:ext uri="{FF2B5EF4-FFF2-40B4-BE49-F238E27FC236}">
                <a16:creationId xmlns:a16="http://schemas.microsoft.com/office/drawing/2014/main" id="{D3DC0268-C816-43E4-AB55-D946956980A4}"/>
              </a:ext>
            </a:extLst>
          </p:cNvPr>
          <p:cNvSpPr>
            <a:spLocks noGrp="1"/>
          </p:cNvSpPr>
          <p:nvPr>
            <p:ph type="ftr" sz="quarter" idx="11"/>
          </p:nvPr>
        </p:nvSpPr>
        <p:spPr/>
        <p:txBody>
          <a:bodyPr/>
          <a:lstStyle/>
          <a:p>
            <a:endParaRPr lang="fr-GN"/>
          </a:p>
        </p:txBody>
      </p:sp>
      <p:sp>
        <p:nvSpPr>
          <p:cNvPr id="7" name="Espace réservé du numéro de diapositive 6">
            <a:extLst>
              <a:ext uri="{FF2B5EF4-FFF2-40B4-BE49-F238E27FC236}">
                <a16:creationId xmlns:a16="http://schemas.microsoft.com/office/drawing/2014/main" id="{FF3924D6-D5F2-43FE-99F9-3FEAB145708F}"/>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989592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6620D7-9219-406B-9828-E1116FDE012A}"/>
              </a:ext>
            </a:extLst>
          </p:cNvPr>
          <p:cNvSpPr>
            <a:spLocks noGrp="1"/>
          </p:cNvSpPr>
          <p:nvPr>
            <p:ph type="title"/>
          </p:nvPr>
        </p:nvSpPr>
        <p:spPr>
          <a:xfrm>
            <a:off x="839788" y="365125"/>
            <a:ext cx="10515600" cy="1325563"/>
          </a:xfrm>
        </p:spPr>
        <p:txBody>
          <a:bodyPr/>
          <a:lstStyle/>
          <a:p>
            <a:r>
              <a:rPr lang="fr-FR"/>
              <a:t>Modifiez le style du titre</a:t>
            </a:r>
            <a:endParaRPr lang="fr-GN"/>
          </a:p>
        </p:txBody>
      </p:sp>
      <p:sp>
        <p:nvSpPr>
          <p:cNvPr id="3" name="Espace réservé du texte 2">
            <a:extLst>
              <a:ext uri="{FF2B5EF4-FFF2-40B4-BE49-F238E27FC236}">
                <a16:creationId xmlns:a16="http://schemas.microsoft.com/office/drawing/2014/main" id="{2837BA18-BE59-40C6-AB3C-EB1F47E5D7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8CC493B-B573-4300-AF26-40B6A4CD007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5" name="Espace réservé du texte 4">
            <a:extLst>
              <a:ext uri="{FF2B5EF4-FFF2-40B4-BE49-F238E27FC236}">
                <a16:creationId xmlns:a16="http://schemas.microsoft.com/office/drawing/2014/main" id="{9DE7C96D-28A1-4197-8FF0-75237596C2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1A0082D-AA66-41C8-B667-6FDBE93FECB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7" name="Espace réservé de la date 6">
            <a:extLst>
              <a:ext uri="{FF2B5EF4-FFF2-40B4-BE49-F238E27FC236}">
                <a16:creationId xmlns:a16="http://schemas.microsoft.com/office/drawing/2014/main" id="{6B3E2566-5294-4A9B-8794-572A73746708}"/>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8" name="Espace réservé du pied de page 7">
            <a:extLst>
              <a:ext uri="{FF2B5EF4-FFF2-40B4-BE49-F238E27FC236}">
                <a16:creationId xmlns:a16="http://schemas.microsoft.com/office/drawing/2014/main" id="{888B67C1-30F5-4520-B72A-F1294B87054D}"/>
              </a:ext>
            </a:extLst>
          </p:cNvPr>
          <p:cNvSpPr>
            <a:spLocks noGrp="1"/>
          </p:cNvSpPr>
          <p:nvPr>
            <p:ph type="ftr" sz="quarter" idx="11"/>
          </p:nvPr>
        </p:nvSpPr>
        <p:spPr/>
        <p:txBody>
          <a:bodyPr/>
          <a:lstStyle/>
          <a:p>
            <a:endParaRPr lang="fr-GN"/>
          </a:p>
        </p:txBody>
      </p:sp>
      <p:sp>
        <p:nvSpPr>
          <p:cNvPr id="9" name="Espace réservé du numéro de diapositive 8">
            <a:extLst>
              <a:ext uri="{FF2B5EF4-FFF2-40B4-BE49-F238E27FC236}">
                <a16:creationId xmlns:a16="http://schemas.microsoft.com/office/drawing/2014/main" id="{C8F88B4D-F32D-4148-B917-D622192DA347}"/>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75831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C8C1A7-C239-4767-B1D5-BCFFC1334571}"/>
              </a:ext>
            </a:extLst>
          </p:cNvPr>
          <p:cNvSpPr>
            <a:spLocks noGrp="1"/>
          </p:cNvSpPr>
          <p:nvPr>
            <p:ph type="title"/>
          </p:nvPr>
        </p:nvSpPr>
        <p:spPr/>
        <p:txBody>
          <a:bodyPr/>
          <a:lstStyle/>
          <a:p>
            <a:r>
              <a:rPr lang="fr-FR"/>
              <a:t>Modifiez le style du titre</a:t>
            </a:r>
            <a:endParaRPr lang="fr-GN"/>
          </a:p>
        </p:txBody>
      </p:sp>
      <p:sp>
        <p:nvSpPr>
          <p:cNvPr id="3" name="Espace réservé de la date 2">
            <a:extLst>
              <a:ext uri="{FF2B5EF4-FFF2-40B4-BE49-F238E27FC236}">
                <a16:creationId xmlns:a16="http://schemas.microsoft.com/office/drawing/2014/main" id="{63F23447-41F8-433D-B187-0AD03D763F6A}"/>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4" name="Espace réservé du pied de page 3">
            <a:extLst>
              <a:ext uri="{FF2B5EF4-FFF2-40B4-BE49-F238E27FC236}">
                <a16:creationId xmlns:a16="http://schemas.microsoft.com/office/drawing/2014/main" id="{2AFCCD9F-0D84-4915-9DC1-0B5A5CB535DA}"/>
              </a:ext>
            </a:extLst>
          </p:cNvPr>
          <p:cNvSpPr>
            <a:spLocks noGrp="1"/>
          </p:cNvSpPr>
          <p:nvPr>
            <p:ph type="ftr" sz="quarter" idx="11"/>
          </p:nvPr>
        </p:nvSpPr>
        <p:spPr/>
        <p:txBody>
          <a:bodyPr/>
          <a:lstStyle/>
          <a:p>
            <a:endParaRPr lang="fr-GN"/>
          </a:p>
        </p:txBody>
      </p:sp>
      <p:sp>
        <p:nvSpPr>
          <p:cNvPr id="5" name="Espace réservé du numéro de diapositive 4">
            <a:extLst>
              <a:ext uri="{FF2B5EF4-FFF2-40B4-BE49-F238E27FC236}">
                <a16:creationId xmlns:a16="http://schemas.microsoft.com/office/drawing/2014/main" id="{9D8E3311-CAB9-4FA6-853C-70A19C5E6CDA}"/>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2414862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ADB6EF1-D74A-49D2-AA86-DA883F18A48B}"/>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3" name="Espace réservé du pied de page 2">
            <a:extLst>
              <a:ext uri="{FF2B5EF4-FFF2-40B4-BE49-F238E27FC236}">
                <a16:creationId xmlns:a16="http://schemas.microsoft.com/office/drawing/2014/main" id="{4DAE64F3-38B0-4C94-89DC-FD443214CD55}"/>
              </a:ext>
            </a:extLst>
          </p:cNvPr>
          <p:cNvSpPr>
            <a:spLocks noGrp="1"/>
          </p:cNvSpPr>
          <p:nvPr>
            <p:ph type="ftr" sz="quarter" idx="11"/>
          </p:nvPr>
        </p:nvSpPr>
        <p:spPr/>
        <p:txBody>
          <a:bodyPr/>
          <a:lstStyle/>
          <a:p>
            <a:endParaRPr lang="fr-GN"/>
          </a:p>
        </p:txBody>
      </p:sp>
      <p:sp>
        <p:nvSpPr>
          <p:cNvPr id="4" name="Espace réservé du numéro de diapositive 3">
            <a:extLst>
              <a:ext uri="{FF2B5EF4-FFF2-40B4-BE49-F238E27FC236}">
                <a16:creationId xmlns:a16="http://schemas.microsoft.com/office/drawing/2014/main" id="{40AF5986-5635-42B4-AF55-8AB6D8905F7A}"/>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3468605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17A24B-7A5B-4A05-85B1-B6C3F746D26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GN"/>
          </a:p>
        </p:txBody>
      </p:sp>
      <p:sp>
        <p:nvSpPr>
          <p:cNvPr id="3" name="Espace réservé du contenu 2">
            <a:extLst>
              <a:ext uri="{FF2B5EF4-FFF2-40B4-BE49-F238E27FC236}">
                <a16:creationId xmlns:a16="http://schemas.microsoft.com/office/drawing/2014/main" id="{4B1484AF-E56E-46B0-AEAF-528517BCCC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4" name="Espace réservé du texte 3">
            <a:extLst>
              <a:ext uri="{FF2B5EF4-FFF2-40B4-BE49-F238E27FC236}">
                <a16:creationId xmlns:a16="http://schemas.microsoft.com/office/drawing/2014/main" id="{A8ABA309-EFB5-405D-849A-4392C6999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891E1B6-5093-484A-95A6-16AAF26BBA77}"/>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6" name="Espace réservé du pied de page 5">
            <a:extLst>
              <a:ext uri="{FF2B5EF4-FFF2-40B4-BE49-F238E27FC236}">
                <a16:creationId xmlns:a16="http://schemas.microsoft.com/office/drawing/2014/main" id="{031DF483-8428-4E81-A6BA-D0BAB27608B5}"/>
              </a:ext>
            </a:extLst>
          </p:cNvPr>
          <p:cNvSpPr>
            <a:spLocks noGrp="1"/>
          </p:cNvSpPr>
          <p:nvPr>
            <p:ph type="ftr" sz="quarter" idx="11"/>
          </p:nvPr>
        </p:nvSpPr>
        <p:spPr/>
        <p:txBody>
          <a:bodyPr/>
          <a:lstStyle/>
          <a:p>
            <a:endParaRPr lang="fr-GN"/>
          </a:p>
        </p:txBody>
      </p:sp>
      <p:sp>
        <p:nvSpPr>
          <p:cNvPr id="7" name="Espace réservé du numéro de diapositive 6">
            <a:extLst>
              <a:ext uri="{FF2B5EF4-FFF2-40B4-BE49-F238E27FC236}">
                <a16:creationId xmlns:a16="http://schemas.microsoft.com/office/drawing/2014/main" id="{F398431D-E92A-4596-8293-ABDB2823D0A9}"/>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2877573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409B4E-62B6-4452-8D95-F9D2385598A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GN"/>
          </a:p>
        </p:txBody>
      </p:sp>
      <p:sp>
        <p:nvSpPr>
          <p:cNvPr id="3" name="Espace réservé pour une image  2">
            <a:extLst>
              <a:ext uri="{FF2B5EF4-FFF2-40B4-BE49-F238E27FC236}">
                <a16:creationId xmlns:a16="http://schemas.microsoft.com/office/drawing/2014/main" id="{6EEE56F9-E698-44E3-A618-8771DC3E51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GN"/>
          </a:p>
        </p:txBody>
      </p:sp>
      <p:sp>
        <p:nvSpPr>
          <p:cNvPr id="4" name="Espace réservé du texte 3">
            <a:extLst>
              <a:ext uri="{FF2B5EF4-FFF2-40B4-BE49-F238E27FC236}">
                <a16:creationId xmlns:a16="http://schemas.microsoft.com/office/drawing/2014/main" id="{1D377D40-402C-41AA-92C4-F793B0EE8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0851F5-2667-4BEE-87C7-6BEC5E78A5AA}"/>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6" name="Espace réservé du pied de page 5">
            <a:extLst>
              <a:ext uri="{FF2B5EF4-FFF2-40B4-BE49-F238E27FC236}">
                <a16:creationId xmlns:a16="http://schemas.microsoft.com/office/drawing/2014/main" id="{E1B65665-04DC-48DF-96DD-AE596733B8C7}"/>
              </a:ext>
            </a:extLst>
          </p:cNvPr>
          <p:cNvSpPr>
            <a:spLocks noGrp="1"/>
          </p:cNvSpPr>
          <p:nvPr>
            <p:ph type="ftr" sz="quarter" idx="11"/>
          </p:nvPr>
        </p:nvSpPr>
        <p:spPr/>
        <p:txBody>
          <a:bodyPr/>
          <a:lstStyle/>
          <a:p>
            <a:endParaRPr lang="fr-GN"/>
          </a:p>
        </p:txBody>
      </p:sp>
      <p:sp>
        <p:nvSpPr>
          <p:cNvPr id="7" name="Espace réservé du numéro de diapositive 6">
            <a:extLst>
              <a:ext uri="{FF2B5EF4-FFF2-40B4-BE49-F238E27FC236}">
                <a16:creationId xmlns:a16="http://schemas.microsoft.com/office/drawing/2014/main" id="{6D8A80DA-7EB0-4908-80F3-970E0823E826}"/>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2363912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2CA838-9751-4CE5-8A35-C90AC1A55C40}"/>
              </a:ext>
            </a:extLst>
          </p:cNvPr>
          <p:cNvSpPr>
            <a:spLocks noGrp="1"/>
          </p:cNvSpPr>
          <p:nvPr>
            <p:ph type="title"/>
          </p:nvPr>
        </p:nvSpPr>
        <p:spPr/>
        <p:txBody>
          <a:bodyPr/>
          <a:lstStyle/>
          <a:p>
            <a:r>
              <a:rPr lang="fr-FR"/>
              <a:t>Modifiez le style du titre</a:t>
            </a:r>
            <a:endParaRPr lang="fr-GN"/>
          </a:p>
        </p:txBody>
      </p:sp>
      <p:sp>
        <p:nvSpPr>
          <p:cNvPr id="3" name="Espace réservé du texte vertical 2">
            <a:extLst>
              <a:ext uri="{FF2B5EF4-FFF2-40B4-BE49-F238E27FC236}">
                <a16:creationId xmlns:a16="http://schemas.microsoft.com/office/drawing/2014/main" id="{17A70747-C784-48D3-8F18-EAD8928B7DE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4" name="Espace réservé de la date 3">
            <a:extLst>
              <a:ext uri="{FF2B5EF4-FFF2-40B4-BE49-F238E27FC236}">
                <a16:creationId xmlns:a16="http://schemas.microsoft.com/office/drawing/2014/main" id="{4773A0DC-38B2-49C2-A315-661480F3D9AE}"/>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5" name="Espace réservé du pied de page 4">
            <a:extLst>
              <a:ext uri="{FF2B5EF4-FFF2-40B4-BE49-F238E27FC236}">
                <a16:creationId xmlns:a16="http://schemas.microsoft.com/office/drawing/2014/main" id="{8F651FB7-3AD1-4796-B073-97B38AD99CCC}"/>
              </a:ext>
            </a:extLst>
          </p:cNvPr>
          <p:cNvSpPr>
            <a:spLocks noGrp="1"/>
          </p:cNvSpPr>
          <p:nvPr>
            <p:ph type="ftr" sz="quarter" idx="11"/>
          </p:nvPr>
        </p:nvSpPr>
        <p:spPr/>
        <p:txBody>
          <a:bodyPr/>
          <a:lstStyle/>
          <a:p>
            <a:endParaRPr lang="fr-GN"/>
          </a:p>
        </p:txBody>
      </p:sp>
      <p:sp>
        <p:nvSpPr>
          <p:cNvPr id="6" name="Espace réservé du numéro de diapositive 5">
            <a:extLst>
              <a:ext uri="{FF2B5EF4-FFF2-40B4-BE49-F238E27FC236}">
                <a16:creationId xmlns:a16="http://schemas.microsoft.com/office/drawing/2014/main" id="{523858B9-DAD5-4636-8FF0-C72667A6A75A}"/>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4083068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2298C6-5D8F-47DC-9536-ED470DED6804}"/>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GN"/>
          </a:p>
        </p:txBody>
      </p:sp>
      <p:sp>
        <p:nvSpPr>
          <p:cNvPr id="3" name="Espace réservé du texte vertical 2">
            <a:extLst>
              <a:ext uri="{FF2B5EF4-FFF2-40B4-BE49-F238E27FC236}">
                <a16:creationId xmlns:a16="http://schemas.microsoft.com/office/drawing/2014/main" id="{893122E9-8274-4DAB-B6B5-8914169C669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4" name="Espace réservé de la date 3">
            <a:extLst>
              <a:ext uri="{FF2B5EF4-FFF2-40B4-BE49-F238E27FC236}">
                <a16:creationId xmlns:a16="http://schemas.microsoft.com/office/drawing/2014/main" id="{050CE33F-97A4-4947-82F1-45C32B3E5B95}"/>
              </a:ext>
            </a:extLst>
          </p:cNvPr>
          <p:cNvSpPr>
            <a:spLocks noGrp="1"/>
          </p:cNvSpPr>
          <p:nvPr>
            <p:ph type="dt" sz="half" idx="10"/>
          </p:nvPr>
        </p:nvSpPr>
        <p:spPr/>
        <p:txBody>
          <a:bodyPr/>
          <a:lstStyle/>
          <a:p>
            <a:fld id="{A3CF9A78-AA1D-4627-ACA8-802049916634}" type="datetimeFigureOut">
              <a:rPr lang="fr-GN" smtClean="0"/>
              <a:t>16/11/2025</a:t>
            </a:fld>
            <a:endParaRPr lang="fr-GN"/>
          </a:p>
        </p:txBody>
      </p:sp>
      <p:sp>
        <p:nvSpPr>
          <p:cNvPr id="5" name="Espace réservé du pied de page 4">
            <a:extLst>
              <a:ext uri="{FF2B5EF4-FFF2-40B4-BE49-F238E27FC236}">
                <a16:creationId xmlns:a16="http://schemas.microsoft.com/office/drawing/2014/main" id="{1FF59E97-597F-4048-80AF-5CCAF3669F5B}"/>
              </a:ext>
            </a:extLst>
          </p:cNvPr>
          <p:cNvSpPr>
            <a:spLocks noGrp="1"/>
          </p:cNvSpPr>
          <p:nvPr>
            <p:ph type="ftr" sz="quarter" idx="11"/>
          </p:nvPr>
        </p:nvSpPr>
        <p:spPr/>
        <p:txBody>
          <a:bodyPr/>
          <a:lstStyle/>
          <a:p>
            <a:endParaRPr lang="fr-GN"/>
          </a:p>
        </p:txBody>
      </p:sp>
      <p:sp>
        <p:nvSpPr>
          <p:cNvPr id="6" name="Espace réservé du numéro de diapositive 5">
            <a:extLst>
              <a:ext uri="{FF2B5EF4-FFF2-40B4-BE49-F238E27FC236}">
                <a16:creationId xmlns:a16="http://schemas.microsoft.com/office/drawing/2014/main" id="{06934659-853A-469F-80A7-894AFD11ADE5}"/>
              </a:ext>
            </a:extLst>
          </p:cNvPr>
          <p:cNvSpPr>
            <a:spLocks noGrp="1"/>
          </p:cNvSpPr>
          <p:nvPr>
            <p:ph type="sldNum" sz="quarter" idx="12"/>
          </p:nvPr>
        </p:nvSpPr>
        <p:spPr/>
        <p:txBody>
          <a:bodyPr/>
          <a:lstStyle/>
          <a:p>
            <a:fld id="{418BC643-1ADF-4D45-8392-62BA3CE31F4C}" type="slidenum">
              <a:rPr lang="fr-GN" smtClean="0"/>
              <a:t>‹N°›</a:t>
            </a:fld>
            <a:endParaRPr lang="fr-GN"/>
          </a:p>
        </p:txBody>
      </p:sp>
    </p:spTree>
    <p:extLst>
      <p:ext uri="{BB962C8B-B14F-4D97-AF65-F5344CB8AC3E}">
        <p14:creationId xmlns:p14="http://schemas.microsoft.com/office/powerpoint/2010/main" val="2462752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ส่วนหัวของส่ว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5862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B2369D9-1787-4D0B-B130-0B9CDFA23F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GN"/>
          </a:p>
        </p:txBody>
      </p:sp>
      <p:sp>
        <p:nvSpPr>
          <p:cNvPr id="3" name="Espace réservé du texte 2">
            <a:extLst>
              <a:ext uri="{FF2B5EF4-FFF2-40B4-BE49-F238E27FC236}">
                <a16:creationId xmlns:a16="http://schemas.microsoft.com/office/drawing/2014/main" id="{53EB9EEE-2E70-4C53-80CF-AE5A278DB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GN"/>
          </a:p>
        </p:txBody>
      </p:sp>
      <p:sp>
        <p:nvSpPr>
          <p:cNvPr id="4" name="Espace réservé de la date 3">
            <a:extLst>
              <a:ext uri="{FF2B5EF4-FFF2-40B4-BE49-F238E27FC236}">
                <a16:creationId xmlns:a16="http://schemas.microsoft.com/office/drawing/2014/main" id="{43CA0D5A-035E-4F24-9A30-D044949872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CF9A78-AA1D-4627-ACA8-802049916634}" type="datetimeFigureOut">
              <a:rPr lang="fr-GN" smtClean="0"/>
              <a:t>16/11/2025</a:t>
            </a:fld>
            <a:endParaRPr lang="fr-GN"/>
          </a:p>
        </p:txBody>
      </p:sp>
      <p:sp>
        <p:nvSpPr>
          <p:cNvPr id="5" name="Espace réservé du pied de page 4">
            <a:extLst>
              <a:ext uri="{FF2B5EF4-FFF2-40B4-BE49-F238E27FC236}">
                <a16:creationId xmlns:a16="http://schemas.microsoft.com/office/drawing/2014/main" id="{3439AF1F-407F-4201-8282-8991A3CAFB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GN"/>
          </a:p>
        </p:txBody>
      </p:sp>
      <p:sp>
        <p:nvSpPr>
          <p:cNvPr id="6" name="Espace réservé du numéro de diapositive 5">
            <a:extLst>
              <a:ext uri="{FF2B5EF4-FFF2-40B4-BE49-F238E27FC236}">
                <a16:creationId xmlns:a16="http://schemas.microsoft.com/office/drawing/2014/main" id="{B17A43AD-85E5-4106-85DE-E54AB509AE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8BC643-1ADF-4D45-8392-62BA3CE31F4C}" type="slidenum">
              <a:rPr lang="fr-GN" smtClean="0"/>
              <a:t>‹N°›</a:t>
            </a:fld>
            <a:endParaRPr lang="fr-GN"/>
          </a:p>
        </p:txBody>
      </p:sp>
    </p:spTree>
    <p:extLst>
      <p:ext uri="{BB962C8B-B14F-4D97-AF65-F5344CB8AC3E}">
        <p14:creationId xmlns:p14="http://schemas.microsoft.com/office/powerpoint/2010/main" val="3982809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G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7E3B759-69FE-4A80-AB6B-E0EBFC8EBD33}"/>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2">
            <a:extLst>
              <a:ext uri="{FF2B5EF4-FFF2-40B4-BE49-F238E27FC236}">
                <a16:creationId xmlns:a16="http://schemas.microsoft.com/office/drawing/2014/main" id="{66ECAE32-9BEC-EB36-5E82-AFAE6D2A504F}"/>
              </a:ext>
            </a:extLst>
          </p:cNvPr>
          <p:cNvSpPr>
            <a:spLocks noChangeArrowheads="1"/>
          </p:cNvSpPr>
          <p:nvPr/>
        </p:nvSpPr>
        <p:spPr bwMode="auto">
          <a:xfrm>
            <a:off x="3422320" y="480593"/>
            <a:ext cx="4998228"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defTabSz="914363" eaLnBrk="0" fontAlgn="base" hangingPunct="0">
              <a:spcBef>
                <a:spcPct val="0"/>
              </a:spcBef>
              <a:spcAft>
                <a:spcPct val="0"/>
              </a:spcAft>
              <a:defRPr/>
            </a:pPr>
            <a:r>
              <a:rPr lang="fr-FR" altLang="fr-FR" sz="1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REPUBLIQUE DE GUINEE</a:t>
            </a:r>
            <a:endParaRPr lang="fr-FR" altLang="fr-FR" sz="800" dirty="0">
              <a:solidFill>
                <a:prstClr val="black"/>
              </a:solidFill>
              <a:latin typeface="Calibri" panose="020F0502020204030204"/>
            </a:endParaRPr>
          </a:p>
          <a:p>
            <a:pPr algn="ctr" defTabSz="914363" eaLnBrk="0" fontAlgn="base" hangingPunct="0">
              <a:spcBef>
                <a:spcPct val="0"/>
              </a:spcBef>
              <a:spcAft>
                <a:spcPct val="0"/>
              </a:spcAft>
              <a:defRPr/>
            </a:pPr>
            <a:r>
              <a:rPr lang="fr-FR" altLang="fr-FR" sz="1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Travail</a:t>
            </a:r>
            <a:r>
              <a:rPr lang="fr-FR" altLang="fr-FR" sz="11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r>
              <a:rPr lang="fr-FR" altLang="fr-FR" sz="11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Justice</a:t>
            </a:r>
            <a:r>
              <a:rPr lang="fr-FR" altLang="fr-FR" sz="11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r>
              <a:rPr lang="fr-FR" altLang="fr-FR" sz="1100" b="1" dirty="0">
                <a:solidFill>
                  <a:srgbClr val="92D050"/>
                </a:solidFill>
                <a:latin typeface="Times New Roman" panose="02020603050405020304" pitchFamily="18" charset="0"/>
                <a:ea typeface="Calibri" panose="020F0502020204030204" pitchFamily="34" charset="0"/>
                <a:cs typeface="Times New Roman" panose="02020603050405020304" pitchFamily="18" charset="0"/>
              </a:rPr>
              <a:t>Solidarit</a:t>
            </a:r>
            <a:r>
              <a:rPr lang="fr-FR" altLang="fr-FR" sz="1100" b="1" dirty="0">
                <a:solidFill>
                  <a:srgbClr val="92D050"/>
                </a:solidFill>
                <a:latin typeface="Calibri" panose="020F0502020204030204" pitchFamily="34" charset="0"/>
                <a:ea typeface="Calibri" panose="020F0502020204030204" pitchFamily="34" charset="0"/>
                <a:cs typeface="Times New Roman" panose="02020603050405020304" pitchFamily="18" charset="0"/>
              </a:rPr>
              <a:t>é</a:t>
            </a:r>
            <a:endParaRPr lang="fr-FR" altLang="fr-FR" sz="800" dirty="0">
              <a:solidFill>
                <a:prstClr val="black"/>
              </a:solidFill>
              <a:latin typeface="Calibri" panose="020F0502020204030204"/>
            </a:endParaRPr>
          </a:p>
          <a:p>
            <a:pPr defTabSz="914363" eaLnBrk="0" fontAlgn="base" hangingPunct="0">
              <a:spcBef>
                <a:spcPct val="0"/>
              </a:spcBef>
              <a:spcAft>
                <a:spcPct val="0"/>
              </a:spcAft>
              <a:defRPr/>
            </a:pPr>
            <a:r>
              <a:rPr lang="fr-FR" altLang="fr-FR" sz="12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MINISTERE DES INFRASTRUCTURES ET DES TRAVAUX PUBLICS</a:t>
            </a:r>
            <a:endParaRPr lang="fr-FR" altLang="fr-FR" sz="800" dirty="0">
              <a:solidFill>
                <a:prstClr val="black"/>
              </a:solidFill>
              <a:latin typeface="Calibri" panose="020F0502020204030204"/>
            </a:endParaRPr>
          </a:p>
          <a:p>
            <a:pPr defTabSz="914363" eaLnBrk="0" fontAlgn="base" hangingPunct="0">
              <a:spcBef>
                <a:spcPct val="0"/>
              </a:spcBef>
              <a:spcAft>
                <a:spcPct val="0"/>
              </a:spcAft>
              <a:defRPr/>
            </a:pPr>
            <a:endParaRPr lang="fr-FR" altLang="fr-FR" dirty="0">
              <a:solidFill>
                <a:prstClr val="black"/>
              </a:solidFill>
              <a:latin typeface="Arial" panose="020B0604020202020204" pitchFamily="34" charset="0"/>
            </a:endParaRPr>
          </a:p>
        </p:txBody>
      </p:sp>
      <p:pic>
        <p:nvPicPr>
          <p:cNvPr id="2049" name="Image 1">
            <a:extLst>
              <a:ext uri="{FF2B5EF4-FFF2-40B4-BE49-F238E27FC236}">
                <a16:creationId xmlns:a16="http://schemas.microsoft.com/office/drawing/2014/main" id="{A1C65435-2A0F-2E33-38FB-C2CA6351B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1452" y="1057613"/>
            <a:ext cx="2239963" cy="16478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AE0FD8-59F7-2712-ABCD-EC6499C211C7}"/>
              </a:ext>
            </a:extLst>
          </p:cNvPr>
          <p:cNvSpPr/>
          <p:nvPr/>
        </p:nvSpPr>
        <p:spPr>
          <a:xfrm>
            <a:off x="2725811" y="2884349"/>
            <a:ext cx="7725841" cy="558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defTabSz="914363">
              <a:defRPr/>
            </a:pPr>
            <a:endParaRPr lang="fr-FR">
              <a:solidFill>
                <a:prstClr val="black"/>
              </a:solidFill>
              <a:latin typeface="Calibri" panose="020F0502020204030204"/>
            </a:endParaRPr>
          </a:p>
        </p:txBody>
      </p:sp>
      <p:sp>
        <p:nvSpPr>
          <p:cNvPr id="5" name="ZoneTexte 4">
            <a:extLst>
              <a:ext uri="{FF2B5EF4-FFF2-40B4-BE49-F238E27FC236}">
                <a16:creationId xmlns:a16="http://schemas.microsoft.com/office/drawing/2014/main" id="{B6554EF5-8B43-D786-77F3-BB51C3C26088}"/>
              </a:ext>
            </a:extLst>
          </p:cNvPr>
          <p:cNvSpPr txBox="1"/>
          <p:nvPr/>
        </p:nvSpPr>
        <p:spPr>
          <a:xfrm>
            <a:off x="2424054" y="2865802"/>
            <a:ext cx="8329353" cy="543675"/>
          </a:xfrm>
          <a:prstGeom prst="rect">
            <a:avLst/>
          </a:prstGeom>
          <a:noFill/>
        </p:spPr>
        <p:txBody>
          <a:bodyPr wrap="square" rtlCol="0">
            <a:spAutoFit/>
          </a:bodyPr>
          <a:lstStyle/>
          <a:p>
            <a:pPr algn="ctr">
              <a:lnSpc>
                <a:spcPts val="4042"/>
              </a:lnSpc>
            </a:pPr>
            <a:r>
              <a:rPr lang="fr-FR" b="1" dirty="0">
                <a:latin typeface="Rockwell" panose="02060603020205020403" pitchFamily="18" charset="0"/>
              </a:rPr>
              <a:t>MODELES DE FINANCEMENT DES POSTES DE PEAGE-PESAGE</a:t>
            </a:r>
            <a:endParaRPr lang="fr-FR" dirty="0">
              <a:latin typeface="Goudy Stout" panose="0202090407030B020401" pitchFamily="18" charset="0"/>
            </a:endParaRPr>
          </a:p>
        </p:txBody>
      </p:sp>
      <p:sp>
        <p:nvSpPr>
          <p:cNvPr id="7" name="ZoneTexte 6">
            <a:extLst>
              <a:ext uri="{FF2B5EF4-FFF2-40B4-BE49-F238E27FC236}">
                <a16:creationId xmlns:a16="http://schemas.microsoft.com/office/drawing/2014/main" id="{B615E503-92F3-0FAC-9B1B-8A133F91FFA1}"/>
              </a:ext>
            </a:extLst>
          </p:cNvPr>
          <p:cNvSpPr txBox="1"/>
          <p:nvPr/>
        </p:nvSpPr>
        <p:spPr>
          <a:xfrm>
            <a:off x="8179150" y="5767521"/>
            <a:ext cx="3987911" cy="1015663"/>
          </a:xfrm>
          <a:prstGeom prst="rect">
            <a:avLst/>
          </a:prstGeom>
          <a:noFill/>
        </p:spPr>
        <p:txBody>
          <a:bodyPr wrap="square">
            <a:spAutoFit/>
          </a:bodyPr>
          <a:lstStyle/>
          <a:p>
            <a:pPr defTabSz="914363">
              <a:defRPr/>
            </a:pPr>
            <a:r>
              <a:rPr lang="fr-FR" sz="1200" b="1" dirty="0">
                <a:solidFill>
                  <a:schemeClr val="bg1">
                    <a:lumMod val="95000"/>
                  </a:schemeClr>
                </a:solidFill>
                <a:latin typeface="Times New Roman" panose="02020603050405020304" pitchFamily="18" charset="0"/>
              </a:rPr>
              <a:t>Société Anonyme Publique avec Conseil d’Administration</a:t>
            </a:r>
          </a:p>
          <a:p>
            <a:pPr defTabSz="914363">
              <a:defRPr/>
            </a:pPr>
            <a:r>
              <a:rPr lang="fr-FR" sz="1200" b="1" dirty="0">
                <a:solidFill>
                  <a:schemeClr val="bg1">
                    <a:lumMod val="95000"/>
                  </a:schemeClr>
                </a:solidFill>
                <a:latin typeface="Times New Roman" panose="02020603050405020304" pitchFamily="18" charset="0"/>
              </a:rPr>
              <a:t>Capital : GNF 1 000 000 000</a:t>
            </a:r>
          </a:p>
          <a:p>
            <a:pPr defTabSz="914363">
              <a:defRPr/>
            </a:pPr>
            <a:r>
              <a:rPr lang="fr-FR" sz="1200" b="1" dirty="0">
                <a:solidFill>
                  <a:schemeClr val="bg1">
                    <a:lumMod val="95000"/>
                  </a:schemeClr>
                </a:solidFill>
                <a:latin typeface="Times New Roman" panose="02020603050405020304" pitchFamily="18" charset="0"/>
              </a:rPr>
              <a:t>Siège social : Quartier Cameroun, Commune de Dixinn,</a:t>
            </a:r>
          </a:p>
          <a:p>
            <a:pPr defTabSz="914363">
              <a:defRPr/>
            </a:pPr>
            <a:r>
              <a:rPr lang="fr-FR" sz="1200" b="1" dirty="0">
                <a:solidFill>
                  <a:schemeClr val="bg1">
                    <a:lumMod val="95000"/>
                  </a:schemeClr>
                </a:solidFill>
                <a:latin typeface="Times New Roman" panose="02020603050405020304" pitchFamily="18" charset="0"/>
              </a:rPr>
              <a:t>Ville de Conakry, République de Guinée</a:t>
            </a:r>
          </a:p>
          <a:p>
            <a:pPr defTabSz="914363">
              <a:defRPr/>
            </a:pPr>
            <a:r>
              <a:rPr lang="fr-FR" sz="1200" b="1" dirty="0">
                <a:solidFill>
                  <a:schemeClr val="bg1">
                    <a:lumMod val="95000"/>
                  </a:schemeClr>
                </a:solidFill>
                <a:latin typeface="Times New Roman" panose="02020603050405020304" pitchFamily="18" charset="0"/>
              </a:rPr>
              <a:t>RCCM : GN.TCC.2021.B.10193</a:t>
            </a:r>
          </a:p>
        </p:txBody>
      </p:sp>
      <p:sp>
        <p:nvSpPr>
          <p:cNvPr id="8" name="Text 1">
            <a:extLst>
              <a:ext uri="{FF2B5EF4-FFF2-40B4-BE49-F238E27FC236}">
                <a16:creationId xmlns:a16="http://schemas.microsoft.com/office/drawing/2014/main" id="{2291DD18-DB03-6415-DDDA-D5443A02CA18}"/>
              </a:ext>
            </a:extLst>
          </p:cNvPr>
          <p:cNvSpPr/>
          <p:nvPr/>
        </p:nvSpPr>
        <p:spPr>
          <a:xfrm>
            <a:off x="136890" y="5734098"/>
            <a:ext cx="4296373" cy="1140421"/>
          </a:xfrm>
          <a:prstGeom prst="rect">
            <a:avLst/>
          </a:prstGeom>
          <a:noFill/>
          <a:ln/>
        </p:spPr>
        <p:txBody>
          <a:bodyPr wrap="square" lIns="0" tIns="0" rIns="0" bIns="0" rtlCol="0" anchor="t"/>
          <a:lstStyle/>
          <a:p>
            <a:pPr>
              <a:lnSpc>
                <a:spcPts val="2083"/>
              </a:lnSpc>
            </a:pPr>
            <a:r>
              <a:rPr lang="en-US" sz="1200" b="1" dirty="0">
                <a:solidFill>
                  <a:schemeClr val="bg1"/>
                </a:solidFill>
                <a:latin typeface="Times New Roman" panose="02020603050405020304" pitchFamily="18" charset="0"/>
                <a:ea typeface="Manrope" pitchFamily="34" charset="-122"/>
                <a:cs typeface="Times New Roman" panose="02020603050405020304" pitchFamily="18" charset="0"/>
              </a:rPr>
              <a:t>Une </a:t>
            </a:r>
            <a:r>
              <a:rPr lang="en-US" sz="1200" b="1" dirty="0" err="1">
                <a:solidFill>
                  <a:schemeClr val="bg1"/>
                </a:solidFill>
                <a:latin typeface="Times New Roman" panose="02020603050405020304" pitchFamily="18" charset="0"/>
                <a:ea typeface="Manrope" pitchFamily="34" charset="-122"/>
                <a:cs typeface="Times New Roman" panose="02020603050405020304" pitchFamily="18" charset="0"/>
              </a:rPr>
              <a:t>stratégie</a:t>
            </a:r>
            <a:r>
              <a:rPr lang="en-US" sz="1200" b="1" dirty="0">
                <a:solidFill>
                  <a:schemeClr val="bg1"/>
                </a:solidFill>
                <a:latin typeface="Times New Roman" panose="02020603050405020304" pitchFamily="18" charset="0"/>
                <a:ea typeface="Manrope" pitchFamily="34" charset="-122"/>
                <a:cs typeface="Times New Roman" panose="02020603050405020304" pitchFamily="18" charset="0"/>
              </a:rPr>
              <a:t> de mobilization et de diversification des </a:t>
            </a:r>
            <a:r>
              <a:rPr lang="en-US" sz="1200" b="1" dirty="0" err="1">
                <a:solidFill>
                  <a:schemeClr val="bg1"/>
                </a:solidFill>
                <a:latin typeface="Times New Roman" panose="02020603050405020304" pitchFamily="18" charset="0"/>
                <a:ea typeface="Manrope" pitchFamily="34" charset="-122"/>
                <a:cs typeface="Times New Roman" panose="02020603050405020304" pitchFamily="18" charset="0"/>
              </a:rPr>
              <a:t>ressources</a:t>
            </a:r>
            <a:r>
              <a:rPr lang="en-US" sz="1200" b="1" dirty="0">
                <a:solidFill>
                  <a:schemeClr val="bg1"/>
                </a:solidFill>
                <a:latin typeface="Times New Roman" panose="02020603050405020304" pitchFamily="18" charset="0"/>
                <a:ea typeface="Manrope" pitchFamily="34" charset="-122"/>
                <a:cs typeface="Times New Roman" panose="02020603050405020304" pitchFamily="18" charset="0"/>
              </a:rPr>
              <a:t> pour améliorer la gestion administrative, opérationnelle et la mobilité des personnes et des biens à travers des infrastructures </a:t>
            </a:r>
            <a:r>
              <a:rPr lang="en-US" sz="1200" b="1" dirty="0" err="1">
                <a:solidFill>
                  <a:schemeClr val="bg1"/>
                </a:solidFill>
                <a:latin typeface="Times New Roman" panose="02020603050405020304" pitchFamily="18" charset="0"/>
                <a:ea typeface="Manrope" pitchFamily="34" charset="-122"/>
                <a:cs typeface="Times New Roman" panose="02020603050405020304" pitchFamily="18" charset="0"/>
              </a:rPr>
              <a:t>routières</a:t>
            </a:r>
            <a:r>
              <a:rPr lang="en-US" sz="1200" b="1" dirty="0">
                <a:solidFill>
                  <a:schemeClr val="bg1"/>
                </a:solidFill>
                <a:latin typeface="Times New Roman" panose="02020603050405020304" pitchFamily="18" charset="0"/>
                <a:ea typeface="Manrope" pitchFamily="34" charset="-122"/>
                <a:cs typeface="Times New Roman" panose="02020603050405020304" pitchFamily="18" charset="0"/>
              </a:rPr>
              <a:t> </a:t>
            </a:r>
            <a:r>
              <a:rPr lang="en-US" sz="1200" b="1" dirty="0" err="1">
                <a:solidFill>
                  <a:schemeClr val="bg1"/>
                </a:solidFill>
                <a:latin typeface="Times New Roman" panose="02020603050405020304" pitchFamily="18" charset="0"/>
                <a:ea typeface="Manrope" pitchFamily="34" charset="-122"/>
                <a:cs typeface="Times New Roman" panose="02020603050405020304" pitchFamily="18" charset="0"/>
              </a:rPr>
              <a:t>innovantes</a:t>
            </a:r>
            <a:r>
              <a:rPr lang="en-US" sz="1200" b="1" dirty="0">
                <a:solidFill>
                  <a:schemeClr val="bg1"/>
                </a:solidFill>
                <a:latin typeface="Times New Roman" panose="02020603050405020304" pitchFamily="18" charset="0"/>
                <a:ea typeface="Manrope" pitchFamily="34" charset="-122"/>
                <a:cs typeface="Times New Roman" panose="02020603050405020304" pitchFamily="18" charset="0"/>
              </a:rPr>
              <a:t>.</a:t>
            </a:r>
            <a:endParaRPr lang="en-US" sz="1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6949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8C420E-989E-4BAD-B0AA-FEAB08B0E594}"/>
              </a:ext>
            </a:extLst>
          </p:cNvPr>
          <p:cNvSpPr>
            <a:spLocks noGrp="1"/>
          </p:cNvSpPr>
          <p:nvPr>
            <p:ph type="title"/>
          </p:nvPr>
        </p:nvSpPr>
        <p:spPr>
          <a:xfrm>
            <a:off x="838200" y="365125"/>
            <a:ext cx="10515600" cy="725849"/>
          </a:xfrm>
        </p:spPr>
        <p:txBody>
          <a:bodyPr/>
          <a:lstStyle/>
          <a:p>
            <a:pPr algn="ctr"/>
            <a:r>
              <a:rPr lang="fr-FR" b="1" dirty="0">
                <a:latin typeface="Rockwell" panose="02060603020205020403" pitchFamily="18" charset="0"/>
              </a:rPr>
              <a:t>PRESENTATION DU FER SA GUINEE</a:t>
            </a:r>
            <a:endParaRPr lang="fr-GN" b="1" dirty="0">
              <a:latin typeface="Rockwell" panose="02060603020205020403" pitchFamily="18" charset="0"/>
            </a:endParaRPr>
          </a:p>
        </p:txBody>
      </p:sp>
      <p:sp>
        <p:nvSpPr>
          <p:cNvPr id="3" name="Espace réservé du contenu 2">
            <a:extLst>
              <a:ext uri="{FF2B5EF4-FFF2-40B4-BE49-F238E27FC236}">
                <a16:creationId xmlns:a16="http://schemas.microsoft.com/office/drawing/2014/main" id="{E89E470B-A584-4413-88DC-AC99C8424F57}"/>
              </a:ext>
            </a:extLst>
          </p:cNvPr>
          <p:cNvSpPr>
            <a:spLocks noGrp="1"/>
          </p:cNvSpPr>
          <p:nvPr>
            <p:ph idx="1"/>
          </p:nvPr>
        </p:nvSpPr>
        <p:spPr>
          <a:xfrm>
            <a:off x="201799" y="1109894"/>
            <a:ext cx="11811525" cy="5353970"/>
          </a:xfrm>
        </p:spPr>
        <p:txBody>
          <a:bodyPr>
            <a:noAutofit/>
          </a:bodyPr>
          <a:lstStyle/>
          <a:p>
            <a:pPr marL="0" indent="0" algn="just">
              <a:lnSpc>
                <a:spcPct val="115000"/>
              </a:lnSpc>
              <a:spcAft>
                <a:spcPts val="1000"/>
              </a:spcAft>
              <a:buNone/>
            </a:pP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La Guinée, à l’instar des autres pays d’Afrique subsaharienne, a engagé avec l’aide des partenaires au développement des reformes au sein dudit secteur, qui ont abouti à la création en 2000 du Fonds d’Entretien Routier (FER) de deuxième génération, doté d’une personnalité morale et de l’autonomie financière.</a:t>
            </a:r>
            <a:endParaRPr lang="fr-GN" sz="2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5000"/>
              </a:lnSpc>
              <a:spcAft>
                <a:spcPts val="1000"/>
              </a:spcAft>
              <a:buNone/>
            </a:pP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Ainsi, dans le cadre du développement de son réseau routier et en particulier sur les axes interconnectés avec les pays frontaliers de la Guinée et en référence à la Loi N° L/2000/0020/AN du 23/11/2000 portant Institution du péage et du pesage-péage pour le financement de l’entretien routier, le Ministère des Infrastructures et des Travaux Public a assigné la Direction Générale du Fond d’Entretien Routier (FER SA) la diversification des ressources, consistant à la réalisation de postes à péage/pesage en République de Guinée sur les routes nationales. </a:t>
            </a:r>
            <a:endParaRPr lang="fr-GN" sz="2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5000"/>
              </a:lnSpc>
              <a:spcAft>
                <a:spcPts val="1000"/>
              </a:spcAft>
              <a:buNone/>
            </a:pP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Rappelant que ses ressources étaient constituées uniquement de la Redevance d’Entretien Routier (RER), suivant la Loi N° L/2000/015/AN du 28/08/2000 l’ayant institué comme destinée exclusivement au financement de l’Entretien Routier en Guinée. </a:t>
            </a:r>
          </a:p>
        </p:txBody>
      </p:sp>
      <p:pic>
        <p:nvPicPr>
          <p:cNvPr id="4" name="Image 1">
            <a:extLst>
              <a:ext uri="{FF2B5EF4-FFF2-40B4-BE49-F238E27FC236}">
                <a16:creationId xmlns:a16="http://schemas.microsoft.com/office/drawing/2014/main" id="{53317D83-C2AC-4FB2-BDEE-EC9B1D2F9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05829" cy="81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8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8C420E-989E-4BAD-B0AA-FEAB08B0E594}"/>
              </a:ext>
            </a:extLst>
          </p:cNvPr>
          <p:cNvSpPr>
            <a:spLocks noGrp="1"/>
          </p:cNvSpPr>
          <p:nvPr>
            <p:ph type="title"/>
          </p:nvPr>
        </p:nvSpPr>
        <p:spPr>
          <a:xfrm>
            <a:off x="838200" y="365125"/>
            <a:ext cx="10515600" cy="725849"/>
          </a:xfrm>
        </p:spPr>
        <p:txBody>
          <a:bodyPr>
            <a:normAutofit/>
          </a:bodyPr>
          <a:lstStyle/>
          <a:p>
            <a:pPr algn="ctr"/>
            <a:r>
              <a:rPr lang="fr-FR" b="1" dirty="0">
                <a:latin typeface="Rockwell" panose="02060603020205020403" pitchFamily="18" charset="0"/>
              </a:rPr>
              <a:t>CADRE JURIDIQUE DES PEAGES</a:t>
            </a:r>
            <a:endParaRPr lang="fr-GN" b="1" dirty="0">
              <a:latin typeface="Rockwell" panose="02060603020205020403" pitchFamily="18" charset="0"/>
            </a:endParaRPr>
          </a:p>
        </p:txBody>
      </p:sp>
      <p:pic>
        <p:nvPicPr>
          <p:cNvPr id="4" name="Image 1">
            <a:extLst>
              <a:ext uri="{FF2B5EF4-FFF2-40B4-BE49-F238E27FC236}">
                <a16:creationId xmlns:a16="http://schemas.microsoft.com/office/drawing/2014/main" id="{53317D83-C2AC-4FB2-BDEE-EC9B1D2F9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05829" cy="813501"/>
          </a:xfrm>
          <a:prstGeom prst="rect">
            <a:avLst/>
          </a:prstGeom>
          <a:noFill/>
          <a:extLst>
            <a:ext uri="{909E8E84-426E-40DD-AFC4-6F175D3DCCD1}">
              <a14:hiddenFill xmlns:a14="http://schemas.microsoft.com/office/drawing/2010/main">
                <a:solidFill>
                  <a:srgbClr val="FFFFFF"/>
                </a:solidFill>
              </a14:hiddenFill>
            </a:ext>
          </a:extLst>
        </p:spPr>
      </p:pic>
      <p:sp>
        <p:nvSpPr>
          <p:cNvPr id="8" name="Text 4">
            <a:extLst>
              <a:ext uri="{FF2B5EF4-FFF2-40B4-BE49-F238E27FC236}">
                <a16:creationId xmlns:a16="http://schemas.microsoft.com/office/drawing/2014/main" id="{AB1F8636-6CE4-44F4-B7B3-3C8B268F4ACF}"/>
              </a:ext>
            </a:extLst>
          </p:cNvPr>
          <p:cNvSpPr/>
          <p:nvPr/>
        </p:nvSpPr>
        <p:spPr>
          <a:xfrm>
            <a:off x="861829" y="1224986"/>
            <a:ext cx="4866340" cy="1741932"/>
          </a:xfrm>
          <a:prstGeom prst="rect">
            <a:avLst/>
          </a:prstGeom>
          <a:noFill/>
          <a:ln>
            <a:solidFill>
              <a:schemeClr val="tx1"/>
            </a:solidFill>
          </a:ln>
        </p:spPr>
        <p:txBody>
          <a:bodyPr wrap="square" lIns="0" tIns="0" rIns="0" bIns="0" rtlCol="0" anchor="t"/>
          <a:lstStyle/>
          <a:p>
            <a:pPr>
              <a:lnSpc>
                <a:spcPts val="3420"/>
              </a:lnSpc>
              <a:spcBef>
                <a:spcPts val="0"/>
              </a:spcBef>
              <a:buFont typeface="Wingdings" panose="05000000000000000000" pitchFamily="2" charset="2"/>
              <a:buChar char="q"/>
            </a:pPr>
            <a:r>
              <a:rPr lang="en-US" sz="1600" b="1" dirty="0" err="1">
                <a:latin typeface="Times New Roman" panose="02020603050405020304" pitchFamily="18" charset="0"/>
                <a:ea typeface="Alice" pitchFamily="34" charset="-122"/>
                <a:cs typeface="Times New Roman" panose="02020603050405020304" pitchFamily="18" charset="0"/>
              </a:rPr>
              <a:t>Loi</a:t>
            </a:r>
            <a:r>
              <a:rPr lang="en-US" sz="1600" b="1" dirty="0">
                <a:latin typeface="Times New Roman" panose="02020603050405020304" pitchFamily="18" charset="0"/>
                <a:ea typeface="Alice" pitchFamily="34" charset="-122"/>
                <a:cs typeface="Times New Roman" panose="02020603050405020304" pitchFamily="18" charset="0"/>
              </a:rPr>
              <a:t> L/2000/00020/AN : </a:t>
            </a:r>
            <a:r>
              <a:rPr lang="fr-FR" sz="1600" dirty="0">
                <a:latin typeface="Times New Roman" panose="02020603050405020304" pitchFamily="18" charset="0"/>
                <a:cs typeface="Times New Roman" panose="02020603050405020304" pitchFamily="18" charset="0"/>
              </a:rPr>
              <a:t>La loi initiale de 2000 a été modifiée pour retirer les tarifs du péage et du pesage-péage du domaine législatif et les placer dans le domaine réglementaire.</a:t>
            </a:r>
          </a:p>
        </p:txBody>
      </p:sp>
      <p:sp>
        <p:nvSpPr>
          <p:cNvPr id="12" name="Text 4">
            <a:extLst>
              <a:ext uri="{FF2B5EF4-FFF2-40B4-BE49-F238E27FC236}">
                <a16:creationId xmlns:a16="http://schemas.microsoft.com/office/drawing/2014/main" id="{6A9D1283-6C07-4880-BB8C-5248F50EEBCA}"/>
              </a:ext>
            </a:extLst>
          </p:cNvPr>
          <p:cNvSpPr/>
          <p:nvPr/>
        </p:nvSpPr>
        <p:spPr>
          <a:xfrm>
            <a:off x="5958671" y="1226662"/>
            <a:ext cx="5167158" cy="1741932"/>
          </a:xfrm>
          <a:prstGeom prst="rect">
            <a:avLst/>
          </a:prstGeom>
          <a:noFill/>
          <a:ln>
            <a:solidFill>
              <a:schemeClr val="tx1"/>
            </a:solidFill>
          </a:ln>
        </p:spPr>
        <p:txBody>
          <a:bodyPr wrap="square" lIns="0" tIns="0" rIns="0" bIns="0" rtlCol="0" anchor="t"/>
          <a:lstStyle/>
          <a:p>
            <a:pPr>
              <a:lnSpc>
                <a:spcPts val="3420"/>
              </a:lnSpc>
              <a:spcBef>
                <a:spcPts val="0"/>
              </a:spcBef>
              <a:buFont typeface="Wingdings" panose="05000000000000000000" pitchFamily="2" charset="2"/>
              <a:buChar char="q"/>
            </a:pPr>
            <a:r>
              <a:rPr lang="en-US" sz="1600" b="1" dirty="0" err="1">
                <a:latin typeface="Times New Roman" panose="02020603050405020304" pitchFamily="18" charset="0"/>
                <a:ea typeface="Alice" pitchFamily="34" charset="-122"/>
                <a:cs typeface="Times New Roman" panose="02020603050405020304" pitchFamily="18" charset="0"/>
              </a:rPr>
              <a:t>Loi</a:t>
            </a:r>
            <a:r>
              <a:rPr lang="en-US" sz="1600" b="1" dirty="0">
                <a:latin typeface="Times New Roman" panose="02020603050405020304" pitchFamily="18" charset="0"/>
                <a:ea typeface="Alice" pitchFamily="34" charset="-122"/>
                <a:cs typeface="Times New Roman" panose="02020603050405020304" pitchFamily="18" charset="0"/>
              </a:rPr>
              <a:t> L/2024/021/CNT : </a:t>
            </a:r>
            <a:r>
              <a:rPr lang="en-US" sz="1600" dirty="0">
                <a:latin typeface="Times New Roman" panose="02020603050405020304" pitchFamily="18" charset="0"/>
                <a:ea typeface="Lora" pitchFamily="34" charset="-122"/>
                <a:cs typeface="Times New Roman" panose="02020603050405020304" pitchFamily="18" charset="0"/>
              </a:rPr>
              <a:t>La nouvelle </a:t>
            </a:r>
            <a:r>
              <a:rPr lang="en-US" sz="1600" dirty="0" err="1">
                <a:latin typeface="Times New Roman" panose="02020603050405020304" pitchFamily="18" charset="0"/>
                <a:ea typeface="Lora" pitchFamily="34" charset="-122"/>
                <a:cs typeface="Times New Roman" panose="02020603050405020304" pitchFamily="18" charset="0"/>
              </a:rPr>
              <a:t>loi</a:t>
            </a:r>
            <a:r>
              <a:rPr lang="en-US" sz="1600" dirty="0">
                <a:latin typeface="Times New Roman" panose="02020603050405020304" pitchFamily="18" charset="0"/>
                <a:ea typeface="Lora" pitchFamily="34" charset="-122"/>
                <a:cs typeface="Times New Roman" panose="02020603050405020304" pitchFamily="18" charset="0"/>
              </a:rPr>
              <a:t> du 2 </a:t>
            </a:r>
            <a:r>
              <a:rPr lang="en-US" sz="1600" dirty="0" err="1">
                <a:latin typeface="Times New Roman" panose="02020603050405020304" pitchFamily="18" charset="0"/>
                <a:ea typeface="Lora" pitchFamily="34" charset="-122"/>
                <a:cs typeface="Times New Roman" panose="02020603050405020304" pitchFamily="18" charset="0"/>
              </a:rPr>
              <a:t>septembre</a:t>
            </a:r>
            <a:r>
              <a:rPr lang="en-US" sz="1600" dirty="0">
                <a:latin typeface="Times New Roman" panose="02020603050405020304" pitchFamily="18" charset="0"/>
                <a:ea typeface="Lora" pitchFamily="34" charset="-122"/>
                <a:cs typeface="Times New Roman" panose="02020603050405020304" pitchFamily="18" charset="0"/>
              </a:rPr>
              <a:t> 2024 a </a:t>
            </a:r>
            <a:r>
              <a:rPr lang="en-US" sz="1600" dirty="0" err="1">
                <a:latin typeface="Times New Roman" panose="02020603050405020304" pitchFamily="18" charset="0"/>
                <a:ea typeface="Lora" pitchFamily="34" charset="-122"/>
                <a:cs typeface="Times New Roman" panose="02020603050405020304" pitchFamily="18" charset="0"/>
              </a:rPr>
              <a:t>apporté</a:t>
            </a:r>
            <a:r>
              <a:rPr lang="en-US" sz="1600" dirty="0">
                <a:latin typeface="Times New Roman" panose="02020603050405020304" pitchFamily="18" charset="0"/>
                <a:ea typeface="Lora" pitchFamily="34" charset="-122"/>
                <a:cs typeface="Times New Roman" panose="02020603050405020304" pitchFamily="18" charset="0"/>
              </a:rPr>
              <a:t> des modifications </a:t>
            </a:r>
            <a:r>
              <a:rPr lang="en-US" sz="1600" dirty="0" err="1">
                <a:latin typeface="Times New Roman" panose="02020603050405020304" pitchFamily="18" charset="0"/>
                <a:ea typeface="Lora" pitchFamily="34" charset="-122"/>
                <a:cs typeface="Times New Roman" panose="02020603050405020304" pitchFamily="18" charset="0"/>
              </a:rPr>
              <a:t>essentielles</a:t>
            </a:r>
            <a:r>
              <a:rPr lang="en-US" sz="1600" dirty="0">
                <a:latin typeface="Times New Roman" panose="02020603050405020304" pitchFamily="18" charset="0"/>
                <a:ea typeface="Lora" pitchFamily="34" charset="-122"/>
                <a:cs typeface="Times New Roman" panose="02020603050405020304" pitchFamily="18" charset="0"/>
              </a:rPr>
              <a:t> à la </a:t>
            </a:r>
            <a:r>
              <a:rPr lang="en-US" sz="1600" dirty="0" err="1">
                <a:latin typeface="Times New Roman" panose="02020603050405020304" pitchFamily="18" charset="0"/>
                <a:ea typeface="Lora" pitchFamily="34" charset="-122"/>
                <a:cs typeface="Times New Roman" panose="02020603050405020304" pitchFamily="18" charset="0"/>
              </a:rPr>
              <a:t>loi</a:t>
            </a:r>
            <a:r>
              <a:rPr lang="en-US" sz="1600" dirty="0">
                <a:latin typeface="Times New Roman" panose="02020603050405020304" pitchFamily="18" charset="0"/>
                <a:ea typeface="Lora" pitchFamily="34" charset="-122"/>
                <a:cs typeface="Times New Roman" panose="02020603050405020304" pitchFamily="18" charset="0"/>
              </a:rPr>
              <a:t> </a:t>
            </a:r>
            <a:r>
              <a:rPr lang="en-US" sz="1600" dirty="0" err="1">
                <a:latin typeface="Times New Roman" panose="02020603050405020304" pitchFamily="18" charset="0"/>
                <a:ea typeface="Lora" pitchFamily="34" charset="-122"/>
                <a:cs typeface="Times New Roman" panose="02020603050405020304" pitchFamily="18" charset="0"/>
              </a:rPr>
              <a:t>initiale</a:t>
            </a:r>
            <a:r>
              <a:rPr lang="en-US" sz="1600" dirty="0">
                <a:latin typeface="Times New Roman" panose="02020603050405020304" pitchFamily="18" charset="0"/>
                <a:ea typeface="Lora" pitchFamily="34" charset="-122"/>
                <a:cs typeface="Times New Roman" panose="02020603050405020304" pitchFamily="18" charset="0"/>
              </a:rPr>
              <a:t> de 2000, </a:t>
            </a:r>
            <a:r>
              <a:rPr lang="en-US" sz="1600" dirty="0" err="1">
                <a:latin typeface="Times New Roman" panose="02020603050405020304" pitchFamily="18" charset="0"/>
                <a:ea typeface="Lora" pitchFamily="34" charset="-122"/>
                <a:cs typeface="Times New Roman" panose="02020603050405020304" pitchFamily="18" charset="0"/>
              </a:rPr>
              <a:t>notamment</a:t>
            </a:r>
            <a:r>
              <a:rPr lang="en-US" sz="1600" dirty="0">
                <a:latin typeface="Times New Roman" panose="02020603050405020304" pitchFamily="18" charset="0"/>
                <a:ea typeface="Lora" pitchFamily="34" charset="-122"/>
                <a:cs typeface="Times New Roman" panose="02020603050405020304" pitchFamily="18" charset="0"/>
              </a:rPr>
              <a:t> la modification des </a:t>
            </a:r>
            <a:r>
              <a:rPr lang="en-US" sz="1600" dirty="0" err="1">
                <a:latin typeface="Times New Roman" panose="02020603050405020304" pitchFamily="18" charset="0"/>
                <a:ea typeface="Lora" pitchFamily="34" charset="-122"/>
                <a:cs typeface="Times New Roman" panose="02020603050405020304" pitchFamily="18" charset="0"/>
              </a:rPr>
              <a:t>tarifs</a:t>
            </a:r>
            <a:r>
              <a:rPr lang="en-US" sz="1600" dirty="0">
                <a:latin typeface="Times New Roman" panose="02020603050405020304" pitchFamily="18" charset="0"/>
                <a:ea typeface="Lora" pitchFamily="34" charset="-122"/>
                <a:cs typeface="Times New Roman" panose="02020603050405020304" pitchFamily="18" charset="0"/>
              </a:rPr>
              <a:t> du </a:t>
            </a:r>
            <a:r>
              <a:rPr lang="en-US" sz="1600" dirty="0" err="1">
                <a:latin typeface="Times New Roman" panose="02020603050405020304" pitchFamily="18" charset="0"/>
                <a:ea typeface="Lora" pitchFamily="34" charset="-122"/>
                <a:cs typeface="Times New Roman" panose="02020603050405020304" pitchFamily="18" charset="0"/>
              </a:rPr>
              <a:t>péage</a:t>
            </a:r>
            <a:r>
              <a:rPr lang="en-US" sz="1600" dirty="0">
                <a:latin typeface="Times New Roman" panose="02020603050405020304" pitchFamily="18" charset="0"/>
                <a:ea typeface="Lora" pitchFamily="34" charset="-122"/>
                <a:cs typeface="Times New Roman" panose="02020603050405020304" pitchFamily="18" charset="0"/>
              </a:rPr>
              <a:t> et du </a:t>
            </a:r>
            <a:r>
              <a:rPr lang="en-US" sz="1600" dirty="0" err="1">
                <a:latin typeface="Times New Roman" panose="02020603050405020304" pitchFamily="18" charset="0"/>
                <a:ea typeface="Lora" pitchFamily="34" charset="-122"/>
                <a:cs typeface="Times New Roman" panose="02020603050405020304" pitchFamily="18" charset="0"/>
              </a:rPr>
              <a:t>pesage-péage</a:t>
            </a:r>
            <a:r>
              <a:rPr lang="en-US" sz="1600" dirty="0">
                <a:latin typeface="Times New Roman" panose="02020603050405020304" pitchFamily="18" charset="0"/>
                <a:ea typeface="Lora"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3" name="Text 4">
            <a:extLst>
              <a:ext uri="{FF2B5EF4-FFF2-40B4-BE49-F238E27FC236}">
                <a16:creationId xmlns:a16="http://schemas.microsoft.com/office/drawing/2014/main" id="{3AE21856-F044-47A9-959C-A87D88B7AAAA}"/>
              </a:ext>
            </a:extLst>
          </p:cNvPr>
          <p:cNvSpPr/>
          <p:nvPr/>
        </p:nvSpPr>
        <p:spPr>
          <a:xfrm>
            <a:off x="863504" y="3231312"/>
            <a:ext cx="4866340" cy="1741932"/>
          </a:xfrm>
          <a:prstGeom prst="rect">
            <a:avLst/>
          </a:prstGeom>
          <a:noFill/>
          <a:ln>
            <a:solidFill>
              <a:schemeClr val="tx1"/>
            </a:solidFill>
          </a:ln>
        </p:spPr>
        <p:txBody>
          <a:bodyPr wrap="square" lIns="0" tIns="0" rIns="0" bIns="0" rtlCol="0" anchor="t"/>
          <a:lstStyle/>
          <a:p>
            <a:pPr>
              <a:lnSpc>
                <a:spcPts val="3420"/>
              </a:lnSpc>
              <a:spcBef>
                <a:spcPts val="0"/>
              </a:spcBef>
              <a:buFont typeface="Wingdings" panose="05000000000000000000" pitchFamily="2" charset="2"/>
              <a:buChar char="q"/>
            </a:pPr>
            <a:r>
              <a:rPr lang="fr-FR" sz="1600" b="1" dirty="0">
                <a:latin typeface="Times New Roman" panose="02020603050405020304" pitchFamily="18" charset="0"/>
                <a:ea typeface="Alice" pitchFamily="34" charset="-122"/>
                <a:cs typeface="Times New Roman" panose="02020603050405020304" pitchFamily="18" charset="0"/>
              </a:rPr>
              <a:t>Décret D/2024/0173/PRG/CNRD/SGG : </a:t>
            </a:r>
            <a:r>
              <a:rPr lang="fr-FR" sz="1600" dirty="0">
                <a:latin typeface="Times New Roman" panose="02020603050405020304" pitchFamily="18" charset="0"/>
                <a:ea typeface="Lora" pitchFamily="34" charset="-122"/>
                <a:cs typeface="Times New Roman" panose="02020603050405020304" pitchFamily="18" charset="0"/>
              </a:rPr>
              <a:t>Le Décret D/2024/0173 promulgue la Loi L/2024/021 sur le pesage-péage. Une commission interministérielle s’est réunie quatre fois pour organiser sa mise en œuvre.</a:t>
            </a:r>
            <a:endParaRPr lang="en-US" sz="1600" dirty="0">
              <a:latin typeface="Times New Roman" panose="02020603050405020304" pitchFamily="18" charset="0"/>
              <a:cs typeface="Times New Roman" panose="02020603050405020304" pitchFamily="18" charset="0"/>
            </a:endParaRPr>
          </a:p>
        </p:txBody>
      </p:sp>
      <p:sp>
        <p:nvSpPr>
          <p:cNvPr id="14" name="Text 4">
            <a:extLst>
              <a:ext uri="{FF2B5EF4-FFF2-40B4-BE49-F238E27FC236}">
                <a16:creationId xmlns:a16="http://schemas.microsoft.com/office/drawing/2014/main" id="{3B8D78C7-948F-4820-835F-A55F99C15035}"/>
              </a:ext>
            </a:extLst>
          </p:cNvPr>
          <p:cNvSpPr/>
          <p:nvPr/>
        </p:nvSpPr>
        <p:spPr>
          <a:xfrm>
            <a:off x="5963698" y="3232988"/>
            <a:ext cx="5162132" cy="1741932"/>
          </a:xfrm>
          <a:prstGeom prst="rect">
            <a:avLst/>
          </a:prstGeom>
          <a:noFill/>
          <a:ln>
            <a:solidFill>
              <a:schemeClr val="tx1"/>
            </a:solidFill>
          </a:ln>
        </p:spPr>
        <p:txBody>
          <a:bodyPr wrap="square" lIns="0" tIns="0" rIns="0" bIns="0" rtlCol="0" anchor="t"/>
          <a:lstStyle/>
          <a:p>
            <a:pPr>
              <a:lnSpc>
                <a:spcPts val="3420"/>
              </a:lnSpc>
              <a:spcBef>
                <a:spcPts val="0"/>
              </a:spcBef>
              <a:buFont typeface="Wingdings" panose="05000000000000000000" pitchFamily="2" charset="2"/>
              <a:buChar char="q"/>
            </a:pPr>
            <a:r>
              <a:rPr lang="fr-FR" sz="1600" b="1" dirty="0">
                <a:latin typeface="Times New Roman" panose="02020603050405020304" pitchFamily="18" charset="0"/>
                <a:ea typeface="Alice" pitchFamily="34" charset="-122"/>
                <a:cs typeface="Times New Roman" panose="02020603050405020304" pitchFamily="18" charset="0"/>
              </a:rPr>
              <a:t>Décret portant modalités d’application : </a:t>
            </a:r>
            <a:r>
              <a:rPr lang="fr-FR" sz="1600" dirty="0">
                <a:latin typeface="Times New Roman" panose="02020603050405020304" pitchFamily="18" charset="0"/>
                <a:ea typeface="Lora" pitchFamily="34" charset="-122"/>
                <a:cs typeface="Times New Roman" panose="02020603050405020304" pitchFamily="18" charset="0"/>
              </a:rPr>
              <a:t>Le Décret D/2025/0023 précisant l’application de la Loi L/2024/021, modifiant la Loi L/2000/00020/AN sur le péage et pesage-péage pour financer l’entretien routier, </a:t>
            </a:r>
            <a:r>
              <a:rPr lang="fr-FR" sz="1600" dirty="0">
                <a:latin typeface="Times New Roman" panose="02020603050405020304" pitchFamily="18" charset="0"/>
                <a:cs typeface="Times New Roman" panose="02020603050405020304" pitchFamily="18" charset="0"/>
              </a:rPr>
              <a:t>paru le 21 février 2025</a:t>
            </a:r>
            <a:r>
              <a:rPr lang="fr-FR" sz="1600" dirty="0">
                <a:latin typeface="Times New Roman" panose="02020603050405020304" pitchFamily="18" charset="0"/>
                <a:ea typeface="Lora" pitchFamily="34" charset="-122"/>
                <a:cs typeface="Times New Roman" panose="02020603050405020304" pitchFamily="18" charset="0"/>
              </a:rPr>
              <a:t>.</a:t>
            </a:r>
          </a:p>
        </p:txBody>
      </p:sp>
      <p:sp>
        <p:nvSpPr>
          <p:cNvPr id="15" name="Text 4">
            <a:extLst>
              <a:ext uri="{FF2B5EF4-FFF2-40B4-BE49-F238E27FC236}">
                <a16:creationId xmlns:a16="http://schemas.microsoft.com/office/drawing/2014/main" id="{9EDC101C-8B7E-4F7F-BC0B-5192C791485C}"/>
              </a:ext>
            </a:extLst>
          </p:cNvPr>
          <p:cNvSpPr/>
          <p:nvPr/>
        </p:nvSpPr>
        <p:spPr>
          <a:xfrm>
            <a:off x="861829" y="5169112"/>
            <a:ext cx="10264000" cy="1348232"/>
          </a:xfrm>
          <a:prstGeom prst="rect">
            <a:avLst/>
          </a:prstGeom>
          <a:noFill/>
          <a:ln>
            <a:solidFill>
              <a:schemeClr val="tx1"/>
            </a:solidFill>
          </a:ln>
        </p:spPr>
        <p:txBody>
          <a:bodyPr wrap="square" lIns="0" tIns="0" rIns="0" bIns="0" rtlCol="0" anchor="t"/>
          <a:lstStyle/>
          <a:p>
            <a:pPr>
              <a:lnSpc>
                <a:spcPts val="3420"/>
              </a:lnSpc>
              <a:spcBef>
                <a:spcPts val="0"/>
              </a:spcBef>
              <a:buFont typeface="Wingdings" panose="05000000000000000000" pitchFamily="2" charset="2"/>
              <a:buChar char="q"/>
            </a:pPr>
            <a:r>
              <a:rPr lang="fr-FR" sz="1600" b="1" dirty="0">
                <a:latin typeface="Times New Roman" panose="02020603050405020304" pitchFamily="18" charset="0"/>
                <a:ea typeface="Alice" pitchFamily="34" charset="-122"/>
                <a:cs typeface="Times New Roman" panose="02020603050405020304" pitchFamily="18" charset="0"/>
              </a:rPr>
              <a:t>Arrêté conjoint : </a:t>
            </a:r>
            <a:r>
              <a:rPr lang="fr-FR" sz="1600" dirty="0">
                <a:latin typeface="Times New Roman" panose="02020603050405020304" pitchFamily="18" charset="0"/>
                <a:cs typeface="Times New Roman" panose="02020603050405020304" pitchFamily="18" charset="0"/>
              </a:rPr>
              <a:t>Conformément au Décret D/2025/0023 (21 février 2025), les tarifs des redevances de péage et de pesage‑péage sont formellement définis par un arrêté conjoint des ministres en charge des Infrastructures et Travaux publics, de l’Économie &amp; Finances, et des Transport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6203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8C420E-989E-4BAD-B0AA-FEAB08B0E594}"/>
              </a:ext>
            </a:extLst>
          </p:cNvPr>
          <p:cNvSpPr>
            <a:spLocks noGrp="1"/>
          </p:cNvSpPr>
          <p:nvPr>
            <p:ph type="title"/>
          </p:nvPr>
        </p:nvSpPr>
        <p:spPr>
          <a:xfrm>
            <a:off x="838200" y="365125"/>
            <a:ext cx="10515600" cy="725849"/>
          </a:xfrm>
        </p:spPr>
        <p:txBody>
          <a:bodyPr/>
          <a:lstStyle/>
          <a:p>
            <a:pPr algn="ctr"/>
            <a:r>
              <a:rPr lang="fr-FR" b="1" dirty="0">
                <a:latin typeface="Rockwell" panose="02060603020205020403" pitchFamily="18" charset="0"/>
              </a:rPr>
              <a:t>MODELE DE FINANCEMENT</a:t>
            </a:r>
            <a:endParaRPr lang="fr-GN" b="1" dirty="0">
              <a:latin typeface="Rockwell" panose="02060603020205020403" pitchFamily="18" charset="0"/>
            </a:endParaRPr>
          </a:p>
        </p:txBody>
      </p:sp>
      <p:sp>
        <p:nvSpPr>
          <p:cNvPr id="3" name="Espace réservé du contenu 2">
            <a:extLst>
              <a:ext uri="{FF2B5EF4-FFF2-40B4-BE49-F238E27FC236}">
                <a16:creationId xmlns:a16="http://schemas.microsoft.com/office/drawing/2014/main" id="{E89E470B-A584-4413-88DC-AC99C8424F57}"/>
              </a:ext>
            </a:extLst>
          </p:cNvPr>
          <p:cNvSpPr>
            <a:spLocks noGrp="1"/>
          </p:cNvSpPr>
          <p:nvPr>
            <p:ph idx="1"/>
          </p:nvPr>
        </p:nvSpPr>
        <p:spPr>
          <a:xfrm>
            <a:off x="201799" y="1097280"/>
            <a:ext cx="11811525" cy="5353970"/>
          </a:xfrm>
        </p:spPr>
        <p:txBody>
          <a:bodyPr>
            <a:noAutofit/>
          </a:bodyPr>
          <a:lstStyle/>
          <a:p>
            <a:pPr marL="0" indent="0" algn="just">
              <a:lnSpc>
                <a:spcPct val="115000"/>
              </a:lnSpc>
              <a:spcAft>
                <a:spcPts val="1000"/>
              </a:spcAft>
              <a:buNone/>
            </a:pPr>
            <a:r>
              <a:rPr lang="fr-FR" sz="2200" dirty="0">
                <a:latin typeface="Times New Roman" panose="02020603050405020304" pitchFamily="18" charset="0"/>
                <a:ea typeface="Times New Roman" panose="02020603050405020304" pitchFamily="18" charset="0"/>
              </a:rPr>
              <a:t>D</a:t>
            </a:r>
            <a:r>
              <a:rPr lang="fr-FR" sz="2200" dirty="0">
                <a:effectLst/>
                <a:latin typeface="Times New Roman" panose="02020603050405020304" pitchFamily="18" charset="0"/>
                <a:ea typeface="Times New Roman" panose="02020603050405020304" pitchFamily="18" charset="0"/>
              </a:rPr>
              <a:t>ans une optique de diversification des ressources, la Direction Générale du Fonds d’Entretien Routier (FER) a réalisé la construction du Pont à péage/pesage de </a:t>
            </a:r>
            <a:r>
              <a:rPr lang="fr-FR" sz="2200" dirty="0" err="1">
                <a:effectLst/>
                <a:latin typeface="Times New Roman" panose="02020603050405020304" pitchFamily="18" charset="0"/>
                <a:ea typeface="Times New Roman" panose="02020603050405020304" pitchFamily="18" charset="0"/>
              </a:rPr>
              <a:t>Tanènè</a:t>
            </a:r>
            <a:r>
              <a:rPr lang="fr-FR" sz="2200" dirty="0">
                <a:effectLst/>
                <a:latin typeface="Times New Roman" panose="02020603050405020304" pitchFamily="18" charset="0"/>
                <a:ea typeface="Times New Roman" panose="02020603050405020304" pitchFamily="18" charset="0"/>
              </a:rPr>
              <a:t> ; et approché l’entreprise Grenobloise d’Electronique et d’Automatique (GEA) pour la réalisation d’une étude de construction de quatre (4) autres postes de péage/pesage.</a:t>
            </a:r>
          </a:p>
          <a:p>
            <a:pPr marL="0" indent="0" algn="just">
              <a:lnSpc>
                <a:spcPct val="115000"/>
              </a:lnSpc>
              <a:spcAft>
                <a:spcPts val="1000"/>
              </a:spcAft>
              <a:buNone/>
            </a:pP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Le modèle financement implémenté pour les deux projet est un emprunt contracté auprès d’une banque primaire. Pour </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la réalisation du Pont à péage/pesage de </a:t>
            </a:r>
            <a:r>
              <a:rPr lang="fr-FR" sz="2200" dirty="0" err="1">
                <a:latin typeface="Times New Roman" panose="02020603050405020304" pitchFamily="18" charset="0"/>
                <a:ea typeface="Times New Roman" panose="02020603050405020304" pitchFamily="18" charset="0"/>
                <a:cs typeface="Times New Roman" panose="02020603050405020304" pitchFamily="18" charset="0"/>
              </a:rPr>
              <a:t>Tanènè</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 l</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es conditions étaient plus contraignante,</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  étant la première opération de partenariat public privé pour le FER SA. En revanche </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le second </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projet des quatre (4) postes à péage/pesage bénéficie </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de meilleures conditions d'emprunt en raison de</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 l’intérêt manifesté par plusieurs </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banques de la place, rassurées par le déroulé du précédent financement n’ayant enregistré aucun impayé et mobilisant des recettes journalières importantes dès l’opérationnalisation du poste. </a:t>
            </a:r>
          </a:p>
          <a:p>
            <a:pPr marL="0" indent="0" algn="just">
              <a:lnSpc>
                <a:spcPct val="115000"/>
              </a:lnSpc>
              <a:spcAft>
                <a:spcPts val="1000"/>
              </a:spcAft>
              <a:buNone/>
            </a:pP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Pour garantir cet emprunt et répondre aux exigences des partenaires financiers, le FER SA a négocié une lettre de garantie autonome de d’Etat à hauteur du coût de chaque projet.</a:t>
            </a:r>
            <a:endParaRPr lang="fr-GN" sz="22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CA90FD10-C59C-45A7-ACD8-9FD561ACF9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05829" cy="81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5574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2086031C-E7CB-409B-9FA2-9CC56E9345BB}"/>
              </a:ext>
            </a:extLst>
          </p:cNvPr>
          <p:cNvGraphicFramePr>
            <a:graphicFrameLocks noGrp="1"/>
          </p:cNvGraphicFramePr>
          <p:nvPr>
            <p:extLst>
              <p:ext uri="{D42A27DB-BD31-4B8C-83A1-F6EECF244321}">
                <p14:modId xmlns:p14="http://schemas.microsoft.com/office/powerpoint/2010/main" val="2786868603"/>
              </p:ext>
            </p:extLst>
          </p:nvPr>
        </p:nvGraphicFramePr>
        <p:xfrm>
          <a:off x="141703" y="566879"/>
          <a:ext cx="11908594" cy="6272199"/>
        </p:xfrm>
        <a:graphic>
          <a:graphicData uri="http://schemas.openxmlformats.org/drawingml/2006/table">
            <a:tbl>
              <a:tblPr firstRow="1" bandRow="1">
                <a:tableStyleId>{5C22544A-7EE6-4342-B048-85BDC9FD1C3A}</a:tableStyleId>
              </a:tblPr>
              <a:tblGrid>
                <a:gridCol w="1390705">
                  <a:extLst>
                    <a:ext uri="{9D8B030D-6E8A-4147-A177-3AD203B41FA5}">
                      <a16:colId xmlns:a16="http://schemas.microsoft.com/office/drawing/2014/main" val="4096265726"/>
                    </a:ext>
                  </a:extLst>
                </a:gridCol>
                <a:gridCol w="5757567">
                  <a:extLst>
                    <a:ext uri="{9D8B030D-6E8A-4147-A177-3AD203B41FA5}">
                      <a16:colId xmlns:a16="http://schemas.microsoft.com/office/drawing/2014/main" val="454987860"/>
                    </a:ext>
                  </a:extLst>
                </a:gridCol>
                <a:gridCol w="4760322">
                  <a:extLst>
                    <a:ext uri="{9D8B030D-6E8A-4147-A177-3AD203B41FA5}">
                      <a16:colId xmlns:a16="http://schemas.microsoft.com/office/drawing/2014/main" val="463683471"/>
                    </a:ext>
                  </a:extLst>
                </a:gridCol>
              </a:tblGrid>
              <a:tr h="322346">
                <a:tc>
                  <a:txBody>
                    <a:bodyPr/>
                    <a:lstStyle/>
                    <a:p>
                      <a:pPr algn="ctr"/>
                      <a:r>
                        <a:rPr lang="fr-FR" sz="1600" dirty="0"/>
                        <a:t>DESCRIPTION</a:t>
                      </a:r>
                      <a:endParaRPr lang="fr-GN" sz="1600" dirty="0"/>
                    </a:p>
                  </a:txBody>
                  <a:tcPr/>
                </a:tc>
                <a:tc>
                  <a:txBody>
                    <a:bodyPr/>
                    <a:lstStyle/>
                    <a:p>
                      <a:pPr algn="ctr"/>
                      <a:r>
                        <a:rPr lang="fr-FR" sz="1600" dirty="0"/>
                        <a:t>CARACTERISTIQUES</a:t>
                      </a:r>
                      <a:endParaRPr lang="fr-GN" sz="1600" dirty="0"/>
                    </a:p>
                  </a:txBody>
                  <a:tcPr/>
                </a:tc>
                <a:tc>
                  <a:txBody>
                    <a:bodyPr/>
                    <a:lstStyle/>
                    <a:p>
                      <a:pPr algn="ctr"/>
                      <a:r>
                        <a:rPr lang="fr-FR" sz="1600" dirty="0"/>
                        <a:t>OBSERVATIONS</a:t>
                      </a:r>
                      <a:endParaRPr lang="fr-GN" sz="1600" dirty="0"/>
                    </a:p>
                  </a:txBody>
                  <a:tcPr/>
                </a:tc>
                <a:extLst>
                  <a:ext uri="{0D108BD9-81ED-4DB2-BD59-A6C34878D82A}">
                    <a16:rowId xmlns:a16="http://schemas.microsoft.com/office/drawing/2014/main" val="2575239594"/>
                  </a:ext>
                </a:extLst>
              </a:tr>
              <a:tr h="556780">
                <a:tc>
                  <a:txBody>
                    <a:bodyPr/>
                    <a:lstStyle/>
                    <a:p>
                      <a:r>
                        <a:rPr lang="fr-FR" sz="1600" b="1" dirty="0"/>
                        <a:t>Type de crédit</a:t>
                      </a:r>
                      <a:endParaRPr lang="fr-GN" sz="1600" b="1" dirty="0"/>
                    </a:p>
                  </a:txBody>
                  <a:tcPr anchor="ctr"/>
                </a:tc>
                <a:tc>
                  <a:txBody>
                    <a:bodyPr/>
                    <a:lstStyle/>
                    <a:p>
                      <a:r>
                        <a:rPr lang="fr-FR" sz="1600" dirty="0"/>
                        <a:t>Crédit à moyen terme (CMT)</a:t>
                      </a:r>
                      <a:endParaRPr lang="fr-GN" sz="1600" dirty="0"/>
                    </a:p>
                  </a:txBody>
                  <a:tcPr anchor="ctr"/>
                </a:tc>
                <a:tc>
                  <a:txBody>
                    <a:bodyPr/>
                    <a:lstStyle/>
                    <a:p>
                      <a:r>
                        <a:rPr lang="fr-FR" sz="1600" dirty="0"/>
                        <a:t>Le mieux approprié pour un mode de financement en local</a:t>
                      </a:r>
                      <a:endParaRPr lang="fr-GN" sz="1600" dirty="0"/>
                    </a:p>
                  </a:txBody>
                  <a:tcPr anchor="ctr"/>
                </a:tc>
                <a:extLst>
                  <a:ext uri="{0D108BD9-81ED-4DB2-BD59-A6C34878D82A}">
                    <a16:rowId xmlns:a16="http://schemas.microsoft.com/office/drawing/2014/main" val="609259868"/>
                  </a:ext>
                </a:extLst>
              </a:tr>
              <a:tr h="791214">
                <a:tc>
                  <a:txBody>
                    <a:bodyPr/>
                    <a:lstStyle/>
                    <a:p>
                      <a:r>
                        <a:rPr lang="fr-FR" sz="1600" b="1" dirty="0"/>
                        <a:t>Montant</a:t>
                      </a:r>
                      <a:endParaRPr lang="fr-GN" sz="1600" b="1" dirty="0"/>
                    </a:p>
                  </a:txBody>
                  <a:tcPr anchor="ctr"/>
                </a:tc>
                <a:tc>
                  <a:txBody>
                    <a:bodyPr/>
                    <a:lstStyle/>
                    <a:p>
                      <a:r>
                        <a:rPr lang="fr-FR" sz="1600" dirty="0"/>
                        <a:t>Coût des travaux</a:t>
                      </a:r>
                      <a:endParaRPr lang="fr-GN" sz="1600" dirty="0"/>
                    </a:p>
                  </a:txBody>
                  <a:tcPr anchor="ctr"/>
                </a:tc>
                <a:tc>
                  <a:txBody>
                    <a:bodyPr/>
                    <a:lstStyle/>
                    <a:p>
                      <a:r>
                        <a:rPr lang="fr-FR" sz="1600" dirty="0"/>
                        <a:t>Un avenant (rallonge dans les mêmes conditions) a été sollicité n’ayant pas prévus les coûts accessoires du projet ; et d’autres ont été supportés par la redevance d’entretien routier.</a:t>
                      </a:r>
                      <a:endParaRPr lang="fr-GN" sz="1600" dirty="0"/>
                    </a:p>
                  </a:txBody>
                  <a:tcPr anchor="ctr"/>
                </a:tc>
                <a:extLst>
                  <a:ext uri="{0D108BD9-81ED-4DB2-BD59-A6C34878D82A}">
                    <a16:rowId xmlns:a16="http://schemas.microsoft.com/office/drawing/2014/main" val="3890868219"/>
                  </a:ext>
                </a:extLst>
              </a:tr>
              <a:tr h="718759">
                <a:tc>
                  <a:txBody>
                    <a:bodyPr/>
                    <a:lstStyle/>
                    <a:p>
                      <a:r>
                        <a:rPr lang="fr-FR" sz="1600" b="1" dirty="0"/>
                        <a:t>Durée</a:t>
                      </a:r>
                      <a:endParaRPr lang="fr-GN" sz="16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5 ans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Avec un différent </a:t>
                      </a:r>
                      <a:r>
                        <a:rPr lang="fr-FR" sz="1600"/>
                        <a:t>de six (6) </a:t>
                      </a:r>
                      <a:r>
                        <a:rPr lang="fr-FR" sz="1600" dirty="0"/>
                        <a:t>mois</a:t>
                      </a:r>
                      <a:endParaRPr lang="fr-GN" sz="1600" dirty="0"/>
                    </a:p>
                  </a:txBody>
                  <a:tcPr anchor="ctr"/>
                </a:tc>
                <a:tc>
                  <a:txBody>
                    <a:bodyPr/>
                    <a:lstStyle/>
                    <a:p>
                      <a:r>
                        <a:rPr lang="fr-FR" sz="1600" dirty="0"/>
                        <a:t>Le durée et le différé étant courts, le remboursement des échéances est assuré par la redevance d’entretien routier (à hauteur de 8%.</a:t>
                      </a:r>
                      <a:endParaRPr lang="fr-GN" sz="1600" dirty="0"/>
                    </a:p>
                  </a:txBody>
                  <a:tcPr anchor="ctr"/>
                </a:tc>
                <a:extLst>
                  <a:ext uri="{0D108BD9-81ED-4DB2-BD59-A6C34878D82A}">
                    <a16:rowId xmlns:a16="http://schemas.microsoft.com/office/drawing/2014/main" val="2197562876"/>
                  </a:ext>
                </a:extLst>
              </a:tr>
              <a:tr h="491683">
                <a:tc>
                  <a:txBody>
                    <a:bodyPr/>
                    <a:lstStyle/>
                    <a:p>
                      <a:r>
                        <a:rPr lang="fr-FR" sz="1600" b="1" dirty="0"/>
                        <a:t>Taux</a:t>
                      </a:r>
                      <a:endParaRPr lang="fr-GN" sz="1600" b="1" dirty="0"/>
                    </a:p>
                  </a:txBody>
                  <a:tcPr anchor="ctr"/>
                </a:tc>
                <a:tc>
                  <a:txBody>
                    <a:bodyPr/>
                    <a:lstStyle/>
                    <a:p>
                      <a:r>
                        <a:rPr lang="fr-FR" sz="1600" dirty="0"/>
                        <a:t>+1% du taux directeur de la Banque Centrale </a:t>
                      </a:r>
                      <a:endParaRPr lang="fr-GN" sz="1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Négocier un taux ≤ à 1% du taux directeur de la Banque Centrale, étant un projet d’intérêt national.</a:t>
                      </a:r>
                      <a:endParaRPr lang="fr-GN" sz="1600" dirty="0"/>
                    </a:p>
                  </a:txBody>
                  <a:tcPr anchor="ctr"/>
                </a:tc>
                <a:extLst>
                  <a:ext uri="{0D108BD9-81ED-4DB2-BD59-A6C34878D82A}">
                    <a16:rowId xmlns:a16="http://schemas.microsoft.com/office/drawing/2014/main" val="2367418984"/>
                  </a:ext>
                </a:extLst>
              </a:tr>
              <a:tr h="1578279">
                <a:tc>
                  <a:txBody>
                    <a:bodyPr/>
                    <a:lstStyle/>
                    <a:p>
                      <a:r>
                        <a:rPr lang="fr-FR" sz="1600" b="1" dirty="0"/>
                        <a:t>Garantie</a:t>
                      </a:r>
                      <a:endParaRPr lang="fr-GN" sz="1600" b="1" dirty="0"/>
                    </a:p>
                  </a:txBody>
                  <a:tcPr anchor="ctr"/>
                </a:tc>
                <a:tc>
                  <a:txBody>
                    <a:bodyPr/>
                    <a:lstStyle/>
                    <a:p>
                      <a:r>
                        <a:rPr lang="fr-FR" sz="1600" kern="1200" dirty="0">
                          <a:solidFill>
                            <a:schemeClr val="dk1"/>
                          </a:solidFill>
                          <a:latin typeface="+mn-lt"/>
                          <a:ea typeface="+mn-ea"/>
                          <a:cs typeface="+mn-cs"/>
                        </a:rPr>
                        <a:t>Accord du Conseil d'Administration pour la levée du financement</a:t>
                      </a:r>
                    </a:p>
                    <a:p>
                      <a:r>
                        <a:rPr lang="fr-FR" sz="1600" kern="1200" dirty="0">
                          <a:solidFill>
                            <a:schemeClr val="dk1"/>
                          </a:solidFill>
                          <a:latin typeface="+mn-lt"/>
                          <a:ea typeface="+mn-ea"/>
                          <a:cs typeface="+mn-cs"/>
                        </a:rPr>
                        <a:t>Convention de crédit entre le FER SA et le banque</a:t>
                      </a:r>
                    </a:p>
                    <a:p>
                      <a:r>
                        <a:rPr lang="fr-FR" sz="1600" kern="1200" dirty="0">
                          <a:solidFill>
                            <a:schemeClr val="dk1"/>
                          </a:solidFill>
                          <a:latin typeface="+mn-lt"/>
                          <a:ea typeface="+mn-ea"/>
                          <a:cs typeface="+mn-cs"/>
                        </a:rPr>
                        <a:t>Garantie Autonome du Ministère de l’Economie et des Finances</a:t>
                      </a:r>
                    </a:p>
                    <a:p>
                      <a:pPr marL="0" indent="0">
                        <a:buFontTx/>
                        <a:buNone/>
                      </a:pPr>
                      <a:r>
                        <a:rPr lang="fr-FR" sz="1600" kern="1200" dirty="0">
                          <a:solidFill>
                            <a:schemeClr val="dk1"/>
                          </a:solidFill>
                          <a:latin typeface="+mn-lt"/>
                          <a:ea typeface="+mn-ea"/>
                          <a:cs typeface="+mn-cs"/>
                        </a:rPr>
                        <a:t>Compte séquestre avec un versement mensuel</a:t>
                      </a:r>
                    </a:p>
                    <a:p>
                      <a:pPr marL="0" indent="0">
                        <a:buFontTx/>
                        <a:buNone/>
                      </a:pPr>
                      <a:r>
                        <a:rPr lang="fr-FR" sz="1600" kern="1200" dirty="0">
                          <a:solidFill>
                            <a:schemeClr val="dk1"/>
                          </a:solidFill>
                          <a:latin typeface="+mn-lt"/>
                          <a:ea typeface="+mn-ea"/>
                          <a:cs typeface="+mn-cs"/>
                        </a:rPr>
                        <a:t>Cash coll représentant 20% du montant du prêt</a:t>
                      </a:r>
                      <a:endParaRPr lang="fr-GN" sz="1600" kern="1200" dirty="0">
                        <a:solidFill>
                          <a:schemeClr val="dk1"/>
                        </a:solidFill>
                        <a:latin typeface="+mn-lt"/>
                        <a:ea typeface="+mn-ea"/>
                        <a:cs typeface="+mn-cs"/>
                      </a:endParaRPr>
                    </a:p>
                  </a:txBody>
                  <a:tcPr anchor="ctr"/>
                </a:tc>
                <a:tc>
                  <a:txBody>
                    <a:bodyPr/>
                    <a:lstStyle/>
                    <a:p>
                      <a:r>
                        <a:rPr lang="fr-FR" sz="1600" dirty="0"/>
                        <a:t>La retenue de garantie de 20% réduit le montant de l’investissement</a:t>
                      </a:r>
                      <a:endParaRPr lang="fr-GN" sz="1600" dirty="0"/>
                    </a:p>
                  </a:txBody>
                  <a:tcPr anchor="ctr"/>
                </a:tc>
                <a:extLst>
                  <a:ext uri="{0D108BD9-81ED-4DB2-BD59-A6C34878D82A}">
                    <a16:rowId xmlns:a16="http://schemas.microsoft.com/office/drawing/2014/main" val="67036791"/>
                  </a:ext>
                </a:extLst>
              </a:tr>
              <a:tr h="1205165">
                <a:tc>
                  <a:txBody>
                    <a:bodyPr/>
                    <a:lstStyle/>
                    <a:p>
                      <a:r>
                        <a:rPr lang="fr-FR" sz="1600" b="1" dirty="0"/>
                        <a:t>Conditions</a:t>
                      </a:r>
                      <a:endParaRPr lang="fr-GN" sz="1600" b="1" dirty="0"/>
                    </a:p>
                  </a:txBody>
                  <a:tcPr anchor="ctr"/>
                </a:tc>
                <a:tc>
                  <a:txBody>
                    <a:bodyPr/>
                    <a:lstStyle/>
                    <a:p>
                      <a:r>
                        <a:rPr lang="fr-FR" sz="1600" dirty="0"/>
                        <a:t>Contrat signé entre l’entreprise, le FER SA et le Ministère des Infrastructures et Travaux Publics</a:t>
                      </a:r>
                    </a:p>
                    <a:p>
                      <a:r>
                        <a:rPr lang="fr-FR" sz="1600" dirty="0"/>
                        <a:t>Ouverture d’un compte dédié au prêt</a:t>
                      </a:r>
                    </a:p>
                    <a:p>
                      <a:r>
                        <a:rPr lang="fr-FR" sz="1600" kern="1200" dirty="0">
                          <a:solidFill>
                            <a:schemeClr val="dk1"/>
                          </a:solidFill>
                          <a:latin typeface="+mn-lt"/>
                          <a:ea typeface="+mn-ea"/>
                          <a:cs typeface="+mn-cs"/>
                        </a:rPr>
                        <a:t>Domiciliation des recettes + Contrat de ramassage de fonds</a:t>
                      </a:r>
                    </a:p>
                    <a:p>
                      <a:r>
                        <a:rPr lang="fr-FR" sz="1600" kern="1200" dirty="0">
                          <a:solidFill>
                            <a:schemeClr val="dk1"/>
                          </a:solidFill>
                          <a:latin typeface="+mn-lt"/>
                          <a:ea typeface="+mn-ea"/>
                          <a:cs typeface="+mn-cs"/>
                        </a:rPr>
                        <a:t>Décaissement par tirages successifs en fonction des décomptes  </a:t>
                      </a:r>
                      <a:endParaRPr lang="fr-GN" sz="1600" kern="1200" dirty="0">
                        <a:solidFill>
                          <a:schemeClr val="dk1"/>
                        </a:solidFill>
                        <a:latin typeface="+mn-lt"/>
                        <a:ea typeface="+mn-ea"/>
                        <a:cs typeface="+mn-cs"/>
                      </a:endParaRPr>
                    </a:p>
                  </a:txBody>
                  <a:tcPr anchor="ctr"/>
                </a:tc>
                <a:tc>
                  <a:txBody>
                    <a:bodyPr/>
                    <a:lstStyle/>
                    <a:p>
                      <a:r>
                        <a:rPr lang="fr-FR" sz="1600" dirty="0"/>
                        <a:t>La séparation du compte de prêt de celui de réception des redevances, la domiciliation des recettes dans un compte séquestre permettent une gestion optimale et sécurisée des ressources.</a:t>
                      </a:r>
                      <a:endParaRPr lang="fr-GN" sz="1600" dirty="0"/>
                    </a:p>
                  </a:txBody>
                  <a:tcPr anchor="ctr"/>
                </a:tc>
                <a:extLst>
                  <a:ext uri="{0D108BD9-81ED-4DB2-BD59-A6C34878D82A}">
                    <a16:rowId xmlns:a16="http://schemas.microsoft.com/office/drawing/2014/main" val="1702759911"/>
                  </a:ext>
                </a:extLst>
              </a:tr>
            </a:tbl>
          </a:graphicData>
        </a:graphic>
      </p:graphicFrame>
      <p:sp>
        <p:nvSpPr>
          <p:cNvPr id="5" name="Titre 1">
            <a:extLst>
              <a:ext uri="{FF2B5EF4-FFF2-40B4-BE49-F238E27FC236}">
                <a16:creationId xmlns:a16="http://schemas.microsoft.com/office/drawing/2014/main" id="{83FE1E7B-AE9D-4C3B-B675-33F8C943640F}"/>
              </a:ext>
            </a:extLst>
          </p:cNvPr>
          <p:cNvSpPr>
            <a:spLocks noGrp="1"/>
          </p:cNvSpPr>
          <p:nvPr>
            <p:ph type="title"/>
          </p:nvPr>
        </p:nvSpPr>
        <p:spPr>
          <a:xfrm>
            <a:off x="838200" y="16827"/>
            <a:ext cx="10515600" cy="575960"/>
          </a:xfrm>
        </p:spPr>
        <p:txBody>
          <a:bodyPr>
            <a:noAutofit/>
          </a:bodyPr>
          <a:lstStyle/>
          <a:p>
            <a:pPr algn="ctr"/>
            <a:r>
              <a:rPr lang="fr-FR" sz="3000" b="1" u="sng" dirty="0">
                <a:latin typeface="Rockwell" panose="02060603020205020403" pitchFamily="18" charset="0"/>
              </a:rPr>
              <a:t>CONDITIONS PROJET PONT A PEAGE-PESAGE</a:t>
            </a:r>
            <a:endParaRPr lang="fr-GN" sz="3000" b="1" u="sng" dirty="0">
              <a:latin typeface="Rockwell" panose="02060603020205020403" pitchFamily="18" charset="0"/>
            </a:endParaRPr>
          </a:p>
        </p:txBody>
      </p:sp>
    </p:spTree>
    <p:extLst>
      <p:ext uri="{BB962C8B-B14F-4D97-AF65-F5344CB8AC3E}">
        <p14:creationId xmlns:p14="http://schemas.microsoft.com/office/powerpoint/2010/main" val="2242415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2086031C-E7CB-409B-9FA2-9CC56E9345BB}"/>
              </a:ext>
            </a:extLst>
          </p:cNvPr>
          <p:cNvGraphicFramePr>
            <a:graphicFrameLocks noGrp="1"/>
          </p:cNvGraphicFramePr>
          <p:nvPr>
            <p:extLst>
              <p:ext uri="{D42A27DB-BD31-4B8C-83A1-F6EECF244321}">
                <p14:modId xmlns:p14="http://schemas.microsoft.com/office/powerpoint/2010/main" val="866767138"/>
              </p:ext>
            </p:extLst>
          </p:nvPr>
        </p:nvGraphicFramePr>
        <p:xfrm>
          <a:off x="141703" y="592102"/>
          <a:ext cx="11908594" cy="6253288"/>
        </p:xfrm>
        <a:graphic>
          <a:graphicData uri="http://schemas.openxmlformats.org/drawingml/2006/table">
            <a:tbl>
              <a:tblPr firstRow="1" bandRow="1">
                <a:tableStyleId>{5C22544A-7EE6-4342-B048-85BDC9FD1C3A}</a:tableStyleId>
              </a:tblPr>
              <a:tblGrid>
                <a:gridCol w="1390705">
                  <a:extLst>
                    <a:ext uri="{9D8B030D-6E8A-4147-A177-3AD203B41FA5}">
                      <a16:colId xmlns:a16="http://schemas.microsoft.com/office/drawing/2014/main" val="4096265726"/>
                    </a:ext>
                  </a:extLst>
                </a:gridCol>
                <a:gridCol w="5240458">
                  <a:extLst>
                    <a:ext uri="{9D8B030D-6E8A-4147-A177-3AD203B41FA5}">
                      <a16:colId xmlns:a16="http://schemas.microsoft.com/office/drawing/2014/main" val="454987860"/>
                    </a:ext>
                  </a:extLst>
                </a:gridCol>
                <a:gridCol w="5277431">
                  <a:extLst>
                    <a:ext uri="{9D8B030D-6E8A-4147-A177-3AD203B41FA5}">
                      <a16:colId xmlns:a16="http://schemas.microsoft.com/office/drawing/2014/main" val="463683471"/>
                    </a:ext>
                  </a:extLst>
                </a:gridCol>
              </a:tblGrid>
              <a:tr h="322346">
                <a:tc>
                  <a:txBody>
                    <a:bodyPr/>
                    <a:lstStyle/>
                    <a:p>
                      <a:pPr algn="ctr"/>
                      <a:r>
                        <a:rPr lang="fr-FR" sz="1600" dirty="0"/>
                        <a:t>DESCRIPTION</a:t>
                      </a:r>
                      <a:endParaRPr lang="fr-GN" sz="1600" dirty="0"/>
                    </a:p>
                  </a:txBody>
                  <a:tcPr/>
                </a:tc>
                <a:tc>
                  <a:txBody>
                    <a:bodyPr/>
                    <a:lstStyle/>
                    <a:p>
                      <a:pPr algn="ctr"/>
                      <a:r>
                        <a:rPr lang="fr-FR" sz="1600" dirty="0"/>
                        <a:t>CARACTERISTIQUES</a:t>
                      </a:r>
                      <a:endParaRPr lang="fr-GN" sz="1600" dirty="0"/>
                    </a:p>
                  </a:txBody>
                  <a:tcPr/>
                </a:tc>
                <a:tc>
                  <a:txBody>
                    <a:bodyPr/>
                    <a:lstStyle/>
                    <a:p>
                      <a:pPr algn="ctr"/>
                      <a:r>
                        <a:rPr lang="fr-FR" sz="1600" dirty="0"/>
                        <a:t>OBSERVATIONS</a:t>
                      </a:r>
                      <a:endParaRPr lang="fr-GN" sz="1600" dirty="0"/>
                    </a:p>
                  </a:txBody>
                  <a:tcPr/>
                </a:tc>
                <a:extLst>
                  <a:ext uri="{0D108BD9-81ED-4DB2-BD59-A6C34878D82A}">
                    <a16:rowId xmlns:a16="http://schemas.microsoft.com/office/drawing/2014/main" val="2575239594"/>
                  </a:ext>
                </a:extLst>
              </a:tr>
              <a:tr h="340168">
                <a:tc>
                  <a:txBody>
                    <a:bodyPr/>
                    <a:lstStyle/>
                    <a:p>
                      <a:r>
                        <a:rPr lang="fr-FR" sz="1600" b="1" dirty="0"/>
                        <a:t>Type de crédit</a:t>
                      </a:r>
                      <a:endParaRPr lang="fr-GN" sz="1600" b="1" dirty="0"/>
                    </a:p>
                  </a:txBody>
                  <a:tcPr anchor="ctr"/>
                </a:tc>
                <a:tc>
                  <a:txBody>
                    <a:bodyPr/>
                    <a:lstStyle/>
                    <a:p>
                      <a:r>
                        <a:rPr lang="fr-FR" sz="1600" dirty="0"/>
                        <a:t>Crédit à moyen terme (CMT)</a:t>
                      </a:r>
                      <a:endParaRPr lang="fr-GN" sz="1600" dirty="0"/>
                    </a:p>
                  </a:txBody>
                  <a:tcPr anchor="ctr"/>
                </a:tc>
                <a:tc>
                  <a:txBody>
                    <a:bodyPr/>
                    <a:lstStyle/>
                    <a:p>
                      <a:r>
                        <a:rPr lang="fr-FR" sz="1600" dirty="0"/>
                        <a:t>Le mieux approprié pour un mode de financement en local</a:t>
                      </a:r>
                      <a:endParaRPr lang="fr-GN" sz="1600" dirty="0"/>
                    </a:p>
                  </a:txBody>
                  <a:tcPr anchor="ctr"/>
                </a:tc>
                <a:extLst>
                  <a:ext uri="{0D108BD9-81ED-4DB2-BD59-A6C34878D82A}">
                    <a16:rowId xmlns:a16="http://schemas.microsoft.com/office/drawing/2014/main" val="609259868"/>
                  </a:ext>
                </a:extLst>
              </a:tr>
              <a:tr h="523415">
                <a:tc>
                  <a:txBody>
                    <a:bodyPr/>
                    <a:lstStyle/>
                    <a:p>
                      <a:r>
                        <a:rPr lang="fr-FR" sz="1600" b="1" dirty="0"/>
                        <a:t>Montant</a:t>
                      </a:r>
                      <a:endParaRPr lang="fr-GN" sz="1600" b="1" dirty="0"/>
                    </a:p>
                  </a:txBody>
                  <a:tcPr anchor="ctr"/>
                </a:tc>
                <a:tc>
                  <a:txBody>
                    <a:bodyPr/>
                    <a:lstStyle/>
                    <a:p>
                      <a:r>
                        <a:rPr lang="fr-FR" sz="1600" dirty="0"/>
                        <a:t>Coût des travaux + Frais accessoires</a:t>
                      </a:r>
                      <a:endParaRPr lang="fr-GN" sz="1600" dirty="0"/>
                    </a:p>
                  </a:txBody>
                  <a:tcPr anchor="ctr"/>
                </a:tc>
                <a:tc>
                  <a:txBody>
                    <a:bodyPr/>
                    <a:lstStyle/>
                    <a:p>
                      <a:r>
                        <a:rPr lang="fr-FR" sz="1600" dirty="0"/>
                        <a:t>Inclure les coûts annexes du projet (indemnisation, honoraire bureau de contrôle, frais de mission, frais accessoires, etc.).</a:t>
                      </a:r>
                      <a:endParaRPr lang="fr-GN" sz="1600" dirty="0"/>
                    </a:p>
                  </a:txBody>
                  <a:tcPr anchor="ctr"/>
                </a:tc>
                <a:extLst>
                  <a:ext uri="{0D108BD9-81ED-4DB2-BD59-A6C34878D82A}">
                    <a16:rowId xmlns:a16="http://schemas.microsoft.com/office/drawing/2014/main" val="3890868219"/>
                  </a:ext>
                </a:extLst>
              </a:tr>
              <a:tr h="718759">
                <a:tc>
                  <a:txBody>
                    <a:bodyPr/>
                    <a:lstStyle/>
                    <a:p>
                      <a:r>
                        <a:rPr lang="fr-FR" sz="1600" b="1" dirty="0"/>
                        <a:t>Durée</a:t>
                      </a:r>
                      <a:endParaRPr lang="fr-GN" sz="16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10 ans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Avec un différent de 18 mois</a:t>
                      </a:r>
                      <a:endParaRPr lang="fr-GN" sz="1600" dirty="0"/>
                    </a:p>
                  </a:txBody>
                  <a:tcPr anchor="ctr"/>
                </a:tc>
                <a:tc>
                  <a:txBody>
                    <a:bodyPr/>
                    <a:lstStyle/>
                    <a:p>
                      <a:r>
                        <a:rPr lang="fr-FR" sz="1600" dirty="0"/>
                        <a:t>Négocier une durée minimale de 10 ans et un différé égale à la période de construction plus 6 ou 12 mois. Le différé permet de constituer des cash coll pour faire face aux premières échéances et éviter les tensions de trésorerie.</a:t>
                      </a:r>
                      <a:endParaRPr lang="fr-GN" sz="1600" dirty="0"/>
                    </a:p>
                  </a:txBody>
                  <a:tcPr anchor="ctr"/>
                </a:tc>
                <a:extLst>
                  <a:ext uri="{0D108BD9-81ED-4DB2-BD59-A6C34878D82A}">
                    <a16:rowId xmlns:a16="http://schemas.microsoft.com/office/drawing/2014/main" val="2197562876"/>
                  </a:ext>
                </a:extLst>
              </a:tr>
              <a:tr h="480121">
                <a:tc>
                  <a:txBody>
                    <a:bodyPr/>
                    <a:lstStyle/>
                    <a:p>
                      <a:r>
                        <a:rPr lang="fr-FR" sz="1600" b="1" dirty="0"/>
                        <a:t>Taux</a:t>
                      </a:r>
                      <a:endParaRPr lang="fr-GN" sz="1600" b="1" dirty="0"/>
                    </a:p>
                  </a:txBody>
                  <a:tcPr anchor="ctr"/>
                </a:tc>
                <a:tc>
                  <a:txBody>
                    <a:bodyPr/>
                    <a:lstStyle/>
                    <a:p>
                      <a:r>
                        <a:rPr lang="fr-FR" sz="1600" dirty="0"/>
                        <a:t>+1% du taux directeur de la Banque Centrale </a:t>
                      </a:r>
                      <a:endParaRPr lang="fr-GN" sz="1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Négocier un taux ≤ à 1% du taux directeur de la Banque Centrale, étant un projet d’intérêt national.</a:t>
                      </a:r>
                      <a:endParaRPr lang="fr-GN" sz="1600" dirty="0"/>
                    </a:p>
                  </a:txBody>
                  <a:tcPr anchor="ctr"/>
                </a:tc>
                <a:extLst>
                  <a:ext uri="{0D108BD9-81ED-4DB2-BD59-A6C34878D82A}">
                    <a16:rowId xmlns:a16="http://schemas.microsoft.com/office/drawing/2014/main" val="2367418984"/>
                  </a:ext>
                </a:extLst>
              </a:tr>
              <a:tr h="1534135">
                <a:tc>
                  <a:txBody>
                    <a:bodyPr/>
                    <a:lstStyle/>
                    <a:p>
                      <a:r>
                        <a:rPr lang="fr-FR" sz="1600" b="1" dirty="0"/>
                        <a:t>Garantie</a:t>
                      </a:r>
                      <a:endParaRPr lang="fr-GN" sz="1600" b="1" dirty="0"/>
                    </a:p>
                  </a:txBody>
                  <a:tcPr anchor="ctr"/>
                </a:tc>
                <a:tc>
                  <a:txBody>
                    <a:bodyPr/>
                    <a:lstStyle/>
                    <a:p>
                      <a:r>
                        <a:rPr lang="fr-FR" sz="1600" kern="1200" dirty="0">
                          <a:solidFill>
                            <a:schemeClr val="dk1"/>
                          </a:solidFill>
                          <a:latin typeface="+mn-lt"/>
                          <a:ea typeface="+mn-ea"/>
                          <a:cs typeface="+mn-cs"/>
                        </a:rPr>
                        <a:t>Accord du Conseil d'Administration pour la levée du financement</a:t>
                      </a:r>
                    </a:p>
                    <a:p>
                      <a:r>
                        <a:rPr lang="fr-FR" sz="1600" kern="1200" dirty="0">
                          <a:solidFill>
                            <a:schemeClr val="dk1"/>
                          </a:solidFill>
                          <a:latin typeface="+mn-lt"/>
                          <a:ea typeface="+mn-ea"/>
                          <a:cs typeface="+mn-cs"/>
                        </a:rPr>
                        <a:t>Convention de crédit entre le FER SA et le banque</a:t>
                      </a:r>
                    </a:p>
                    <a:p>
                      <a:r>
                        <a:rPr lang="fr-FR" sz="1600" kern="1200" dirty="0">
                          <a:solidFill>
                            <a:schemeClr val="dk1"/>
                          </a:solidFill>
                          <a:latin typeface="+mn-lt"/>
                          <a:ea typeface="+mn-ea"/>
                          <a:cs typeface="+mn-cs"/>
                        </a:rPr>
                        <a:t>Titres d’ETAT / Garantie Autonome du Ministère de l’Economie et des Finances</a:t>
                      </a:r>
                    </a:p>
                    <a:p>
                      <a:r>
                        <a:rPr lang="fr-FR" sz="1600" kern="1200" dirty="0">
                          <a:solidFill>
                            <a:schemeClr val="dk1"/>
                          </a:solidFill>
                          <a:latin typeface="+mn-lt"/>
                          <a:ea typeface="+mn-ea"/>
                          <a:cs typeface="+mn-cs"/>
                        </a:rPr>
                        <a:t>Compte séquestre avec l'équivalent de deux (2) échéances trimestrielles</a:t>
                      </a:r>
                      <a:endParaRPr lang="fr-GN" sz="1600" kern="1200" dirty="0">
                        <a:solidFill>
                          <a:schemeClr val="dk1"/>
                        </a:solidFill>
                        <a:latin typeface="+mn-lt"/>
                        <a:ea typeface="+mn-ea"/>
                        <a:cs typeface="+mn-cs"/>
                      </a:endParaRPr>
                    </a:p>
                  </a:txBody>
                  <a:tcPr anchor="ctr"/>
                </a:tc>
                <a:tc>
                  <a:txBody>
                    <a:bodyPr/>
                    <a:lstStyle/>
                    <a:p>
                      <a:r>
                        <a:rPr lang="fr-FR" sz="1600" dirty="0"/>
                        <a:t>L’engagement et l’accompagnement de l’ETAT à travers les ministères de tutelle, ainsi que l’adhésion du Conseil d’Administration restent une étape primordiale pour garantir le business modèle.</a:t>
                      </a:r>
                      <a:endParaRPr lang="fr-GN" sz="1600" dirty="0"/>
                    </a:p>
                  </a:txBody>
                  <a:tcPr anchor="ctr"/>
                </a:tc>
                <a:extLst>
                  <a:ext uri="{0D108BD9-81ED-4DB2-BD59-A6C34878D82A}">
                    <a16:rowId xmlns:a16="http://schemas.microsoft.com/office/drawing/2014/main" val="67036791"/>
                  </a:ext>
                </a:extLst>
              </a:tr>
              <a:tr h="1205165">
                <a:tc>
                  <a:txBody>
                    <a:bodyPr/>
                    <a:lstStyle/>
                    <a:p>
                      <a:r>
                        <a:rPr lang="fr-FR" sz="1600" b="1" dirty="0"/>
                        <a:t>Conditions</a:t>
                      </a:r>
                      <a:endParaRPr lang="fr-GN" sz="1600" b="1" dirty="0"/>
                    </a:p>
                  </a:txBody>
                  <a:tcPr anchor="ctr"/>
                </a:tc>
                <a:tc>
                  <a:txBody>
                    <a:bodyPr/>
                    <a:lstStyle/>
                    <a:p>
                      <a:r>
                        <a:rPr lang="fr-FR" sz="1600" dirty="0"/>
                        <a:t>Contrat signé entre l’entreprise, le FER SA et le Ministère des Infrastructures et Travaux Publics</a:t>
                      </a:r>
                    </a:p>
                    <a:p>
                      <a:r>
                        <a:rPr lang="fr-FR" sz="1600" dirty="0"/>
                        <a:t>Ouverture d’un compte dédié au prêt</a:t>
                      </a:r>
                    </a:p>
                    <a:p>
                      <a:r>
                        <a:rPr lang="fr-FR" sz="1600" kern="1200" dirty="0">
                          <a:solidFill>
                            <a:schemeClr val="dk1"/>
                          </a:solidFill>
                          <a:latin typeface="+mn-lt"/>
                          <a:ea typeface="+mn-ea"/>
                          <a:cs typeface="+mn-cs"/>
                        </a:rPr>
                        <a:t>Domiciliation des recettes + Contrat de ramassage de fonds</a:t>
                      </a:r>
                    </a:p>
                    <a:p>
                      <a:r>
                        <a:rPr lang="fr-FR" sz="1600" kern="1200" dirty="0">
                          <a:solidFill>
                            <a:schemeClr val="dk1"/>
                          </a:solidFill>
                          <a:latin typeface="+mn-lt"/>
                          <a:ea typeface="+mn-ea"/>
                          <a:cs typeface="+mn-cs"/>
                        </a:rPr>
                        <a:t>Décaissement par tirages successifs en fonction des décomptes  </a:t>
                      </a:r>
                      <a:endParaRPr lang="fr-GN" sz="1600" kern="1200" dirty="0">
                        <a:solidFill>
                          <a:schemeClr val="dk1"/>
                        </a:solidFill>
                        <a:latin typeface="+mn-lt"/>
                        <a:ea typeface="+mn-ea"/>
                        <a:cs typeface="+mn-cs"/>
                      </a:endParaRPr>
                    </a:p>
                  </a:txBody>
                  <a:tcPr anchor="ctr"/>
                </a:tc>
                <a:tc>
                  <a:txBody>
                    <a:bodyPr/>
                    <a:lstStyle/>
                    <a:p>
                      <a:r>
                        <a:rPr lang="fr-FR" sz="1600" dirty="0"/>
                        <a:t>La séparation du compte de prêt de celui de réception des redevances, la domiciliation des recettes dans un compte séquestre permettent une gestion optimale et sécurisée des ressources.</a:t>
                      </a:r>
                      <a:endParaRPr lang="fr-GN" sz="1600" dirty="0"/>
                    </a:p>
                  </a:txBody>
                  <a:tcPr anchor="ctr"/>
                </a:tc>
                <a:extLst>
                  <a:ext uri="{0D108BD9-81ED-4DB2-BD59-A6C34878D82A}">
                    <a16:rowId xmlns:a16="http://schemas.microsoft.com/office/drawing/2014/main" val="1702759911"/>
                  </a:ext>
                </a:extLst>
              </a:tr>
            </a:tbl>
          </a:graphicData>
        </a:graphic>
      </p:graphicFrame>
      <p:sp>
        <p:nvSpPr>
          <p:cNvPr id="5" name="Titre 1">
            <a:extLst>
              <a:ext uri="{FF2B5EF4-FFF2-40B4-BE49-F238E27FC236}">
                <a16:creationId xmlns:a16="http://schemas.microsoft.com/office/drawing/2014/main" id="{83FE1E7B-AE9D-4C3B-B675-33F8C943640F}"/>
              </a:ext>
            </a:extLst>
          </p:cNvPr>
          <p:cNvSpPr>
            <a:spLocks noGrp="1"/>
          </p:cNvSpPr>
          <p:nvPr>
            <p:ph type="title"/>
          </p:nvPr>
        </p:nvSpPr>
        <p:spPr>
          <a:xfrm>
            <a:off x="378372" y="16826"/>
            <a:ext cx="11319642" cy="575960"/>
          </a:xfrm>
        </p:spPr>
        <p:txBody>
          <a:bodyPr>
            <a:noAutofit/>
          </a:bodyPr>
          <a:lstStyle/>
          <a:p>
            <a:pPr algn="ctr"/>
            <a:r>
              <a:rPr lang="fr-FR" sz="3000" b="1" u="sng" dirty="0">
                <a:latin typeface="Rockwell" panose="02060603020205020403" pitchFamily="18" charset="0"/>
              </a:rPr>
              <a:t>CONDITIONS DES QUATRE (4) POSTES A PEAGE-PESAGE</a:t>
            </a:r>
            <a:endParaRPr lang="fr-GN" sz="3000" b="1" u="sng" dirty="0">
              <a:latin typeface="Rockwell" panose="02060603020205020403" pitchFamily="18" charset="0"/>
            </a:endParaRPr>
          </a:p>
        </p:txBody>
      </p:sp>
    </p:spTree>
    <p:extLst>
      <p:ext uri="{BB962C8B-B14F-4D97-AF65-F5344CB8AC3E}">
        <p14:creationId xmlns:p14="http://schemas.microsoft.com/office/powerpoint/2010/main" val="253406456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TotalTime>
  <Words>1240</Words>
  <Application>Microsoft Office PowerPoint</Application>
  <PresentationFormat>Grand écran</PresentationFormat>
  <Paragraphs>83</Paragraphs>
  <Slides>6</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Calibri</vt:lpstr>
      <vt:lpstr>Calibri Light</vt:lpstr>
      <vt:lpstr>Goudy Stout</vt:lpstr>
      <vt:lpstr>Rockwell</vt:lpstr>
      <vt:lpstr>Times New Roman</vt:lpstr>
      <vt:lpstr>Wingdings</vt:lpstr>
      <vt:lpstr>Thème Office</vt:lpstr>
      <vt:lpstr>Présentation PowerPoint</vt:lpstr>
      <vt:lpstr>PRESENTATION DU FER SA GUINEE</vt:lpstr>
      <vt:lpstr>CADRE JURIDIQUE DES PEAGES</vt:lpstr>
      <vt:lpstr>MODELE DE FINANCEMENT</vt:lpstr>
      <vt:lpstr>CONDITIONS PROJET PONT A PEAGE-PESAGE</vt:lpstr>
      <vt:lpstr>CONDITIONS DES QUATRE (4) POSTES A PEAGE-PESAGE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Mohamed Douty Soumah</dc:creator>
  <cp:lastModifiedBy>Oumar Barou. Toure</cp:lastModifiedBy>
  <cp:revision>26</cp:revision>
  <dcterms:created xsi:type="dcterms:W3CDTF">2025-11-15T14:21:10Z</dcterms:created>
  <dcterms:modified xsi:type="dcterms:W3CDTF">2025-11-16T08:21:54Z</dcterms:modified>
</cp:coreProperties>
</file>