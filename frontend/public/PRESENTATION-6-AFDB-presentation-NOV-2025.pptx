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7" r:id="rId3"/>
    <p:sldId id="4511" r:id="rId4"/>
    <p:sldId id="4513" r:id="rId5"/>
    <p:sldId id="4518" r:id="rId6"/>
    <p:sldId id="4536" r:id="rId7"/>
    <p:sldId id="4515" r:id="rId8"/>
    <p:sldId id="4525" r:id="rId9"/>
    <p:sldId id="4535" r:id="rId10"/>
    <p:sldId id="4541" r:id="rId11"/>
    <p:sldId id="4581" r:id="rId12"/>
    <p:sldId id="4593" r:id="rId13"/>
    <p:sldId id="4591" r:id="rId14"/>
    <p:sldId id="4592" r:id="rId15"/>
    <p:sldId id="4594" r:id="rId16"/>
    <p:sldId id="4610" r:id="rId17"/>
    <p:sldId id="4612" r:id="rId18"/>
    <p:sldId id="4603" r:id="rId19"/>
    <p:sldId id="4611" r:id="rId20"/>
    <p:sldId id="36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26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cat>
            <c:strRef>
              <c:f>Sheet1!$F$5:$F$8</c:f>
              <c:strCache>
                <c:ptCount val="4"/>
                <c:pt idx="0">
                  <c:v>Power</c:v>
                </c:pt>
                <c:pt idx="1">
                  <c:v>Transport</c:v>
                </c:pt>
                <c:pt idx="2">
                  <c:v>Agriculture</c:v>
                </c:pt>
                <c:pt idx="3">
                  <c:v>Industry and Mining</c:v>
                </c:pt>
              </c:strCache>
            </c:strRef>
          </c:cat>
          <c:val>
            <c:numRef>
              <c:f>Sheet1!$G$5:$G$8</c:f>
            </c:numRef>
          </c:val>
          <c:extLst>
            <c:ext xmlns:c16="http://schemas.microsoft.com/office/drawing/2014/chart" uri="{C3380CC4-5D6E-409C-BE32-E72D297353CC}">
              <c16:uniqueId val="{00000000-B572-44E6-9C54-F24729F4052B}"/>
            </c:ext>
          </c:extLst>
        </c:ser>
        <c:ser>
          <c:idx val="1"/>
          <c:order val="1"/>
          <c:dPt>
            <c:idx val="0"/>
            <c:bubble3D val="0"/>
            <c:spPr>
              <a:solidFill>
                <a:schemeClr val="accent1"/>
              </a:solidFill>
              <a:ln w="19050">
                <a:solidFill>
                  <a:schemeClr val="lt1"/>
                </a:solidFill>
              </a:ln>
              <a:effectLst/>
            </c:spPr>
            <c:extLst>
              <c:ext xmlns:c16="http://schemas.microsoft.com/office/drawing/2014/chart" uri="{C3380CC4-5D6E-409C-BE32-E72D297353CC}">
                <c16:uniqueId val="{00000002-B572-44E6-9C54-F24729F4052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B572-44E6-9C54-F24729F4052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6-B572-44E6-9C54-F24729F4052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8-B572-44E6-9C54-F24729F4052B}"/>
              </c:ext>
            </c:extLst>
          </c:dPt>
          <c:cat>
            <c:strRef>
              <c:f>Sheet1!$F$5:$F$8</c:f>
              <c:strCache>
                <c:ptCount val="4"/>
                <c:pt idx="0">
                  <c:v>Power</c:v>
                </c:pt>
                <c:pt idx="1">
                  <c:v>Transport</c:v>
                </c:pt>
                <c:pt idx="2">
                  <c:v>Agriculture</c:v>
                </c:pt>
                <c:pt idx="3">
                  <c:v>Industry and Mining</c:v>
                </c:pt>
              </c:strCache>
            </c:strRef>
          </c:cat>
          <c:val>
            <c:numRef>
              <c:f>Sheet1!$H$5:$H$8</c:f>
              <c:numCache>
                <c:formatCode>General</c:formatCode>
                <c:ptCount val="4"/>
                <c:pt idx="0">
                  <c:v>0.94619999999999993</c:v>
                </c:pt>
                <c:pt idx="1">
                  <c:v>0.61419999999999997</c:v>
                </c:pt>
                <c:pt idx="2">
                  <c:v>6.6400000000000001E-2</c:v>
                </c:pt>
                <c:pt idx="3">
                  <c:v>3.32E-2</c:v>
                </c:pt>
              </c:numCache>
            </c:numRef>
          </c:val>
          <c:extLst>
            <c:ext xmlns:c16="http://schemas.microsoft.com/office/drawing/2014/chart" uri="{C3380CC4-5D6E-409C-BE32-E72D297353CC}">
              <c16:uniqueId val="{00000009-B572-44E6-9C54-F24729F4052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93651432928624"/>
          <c:y val="0"/>
          <c:w val="0.72191012577424951"/>
          <c:h val="0.79351881014873138"/>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0AE-4F1E-A27F-F5DA0DEB27BF}"/>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70AE-4F1E-A27F-F5DA0DEB27BF}"/>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70AE-4F1E-A27F-F5DA0DEB27BF}"/>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70AE-4F1E-A27F-F5DA0DEB27BF}"/>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9-70AE-4F1E-A27F-F5DA0DEB27BF}"/>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70AE-4F1E-A27F-F5DA0DEB27BF}"/>
              </c:ext>
            </c:extLst>
          </c:dPt>
          <c:dLbls>
            <c:dLbl>
              <c:idx val="0"/>
              <c:layout>
                <c:manualLayout>
                  <c:x val="0.29722222222222211"/>
                  <c:y val="0.15740740740740741"/>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r>
                      <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rPr>
                      <a:t>Rail transport10%</a:t>
                    </a:r>
                  </a:p>
                  <a:p>
                    <a:pPr marL="0" marR="0" lvl="0" indent="0" algn="ctr" defTabSz="914400" rtl="0" eaLnBrk="1" fontAlgn="auto" latinLnBrk="0" hangingPunct="1">
                      <a:lnSpc>
                        <a:spcPct val="100000"/>
                      </a:lnSpc>
                      <a:spcBef>
                        <a:spcPts val="0"/>
                      </a:spcBef>
                      <a:spcAft>
                        <a:spcPts val="0"/>
                      </a:spcAft>
                      <a:buClrTx/>
                      <a:buSzTx/>
                      <a:buFontTx/>
                      <a:buNone/>
                      <a:tabLst/>
                      <a:defRPr>
                        <a:solidFill>
                          <a:srgbClr val="000000">
                            <a:lumMod val="75000"/>
                            <a:lumOff val="25000"/>
                          </a:srgbClr>
                        </a:solidFill>
                        <a:latin typeface="Arial" panose="020B0604020202020204" pitchFamily="34" charset="0"/>
                        <a:cs typeface="Arial" panose="020B0604020202020204" pitchFamily="34" charset="0"/>
                      </a:defRPr>
                    </a:pPr>
                    <a:endParaRPr lang="en-US" dirty="0"/>
                  </a:p>
                </c:rich>
              </c:tx>
              <c:spPr>
                <a:noFill/>
                <a:ln>
                  <a:no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70AE-4F1E-A27F-F5DA0DEB27BF}"/>
                </c:ext>
              </c:extLst>
            </c:dLbl>
            <c:dLbl>
              <c:idx val="1"/>
              <c:layout>
                <c:manualLayout>
                  <c:x val="0.22222222222222221"/>
                  <c:y val="7.8703703703703706E-2"/>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r>
                      <a:rPr lang="en-US" dirty="0"/>
                      <a:t>Road transport / highways 60%</a:t>
                    </a:r>
                  </a:p>
                  <a:p>
                    <a:pPr marL="0" marR="0" lvl="0" indent="0" algn="ctr" defTabSz="914400" rtl="0" eaLnBrk="1" fontAlgn="auto" latinLnBrk="0" hangingPunct="1">
                      <a:lnSpc>
                        <a:spcPct val="100000"/>
                      </a:lnSpc>
                      <a:spcBef>
                        <a:spcPts val="0"/>
                      </a:spcBef>
                      <a:spcAft>
                        <a:spcPts val="0"/>
                      </a:spcAft>
                      <a:buClrTx/>
                      <a:buSzTx/>
                      <a:buFontTx/>
                      <a:buNone/>
                      <a:tabLst/>
                      <a:defRPr>
                        <a:solidFill>
                          <a:srgbClr val="000000">
                            <a:lumMod val="75000"/>
                            <a:lumOff val="25000"/>
                          </a:srgbClr>
                        </a:solidFill>
                        <a:latin typeface="Arial" panose="020B0604020202020204" pitchFamily="34" charset="0"/>
                        <a:cs typeface="Arial" panose="020B0604020202020204" pitchFamily="34" charset="0"/>
                      </a:defRPr>
                    </a:pPr>
                    <a:endParaRPr lang="en-US" dirty="0"/>
                  </a:p>
                </c:rich>
              </c:tx>
              <c:spPr>
                <a:noFill/>
                <a:ln>
                  <a:no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70AE-4F1E-A27F-F5DA0DEB27BF}"/>
                </c:ext>
              </c:extLst>
            </c:dLbl>
            <c:dLbl>
              <c:idx val="2"/>
              <c:layout>
                <c:manualLayout>
                  <c:x val="-0.17499999999999999"/>
                  <c:y val="0.30092592592592599"/>
                </c:manualLayout>
              </c:layout>
              <c:tx>
                <c:rich>
                  <a:bodyPr/>
                  <a:lstStyle/>
                  <a:p>
                    <a:r>
                      <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rPr>
                      <a:t>More than one transport sub-sector20%</a:t>
                    </a:r>
                  </a:p>
                </c:rich>
              </c:tx>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70AE-4F1E-A27F-F5DA0DEB27BF}"/>
                </c:ext>
              </c:extLst>
            </c:dLbl>
            <c:dLbl>
              <c:idx val="3"/>
              <c:layout>
                <c:manualLayout>
                  <c:x val="-0.25632386643722405"/>
                  <c:y val="0.16481481481481486"/>
                </c:manualLayout>
              </c:layout>
              <c:tx>
                <c:rich>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r>
                      <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rPr>
                      <a:t>Maritime and river transport / ports
</a:t>
                    </a:r>
                    <a:fld id="{DF490231-6B04-4F41-89E1-B4FFD176EA2F}" type="PERCENTAGE">
                      <a:rPr lang="en-US" sz="900" b="0" i="0" u="none" strike="noStrike" kern="1200" baseline="0" smtClean="0">
                        <a:solidFill>
                          <a:srgbClr val="000000">
                            <a:lumMod val="75000"/>
                            <a:lumOff val="25000"/>
                          </a:srgbClr>
                        </a:solidFill>
                        <a:latin typeface="Arial" panose="020B0604020202020204" pitchFamily="34" charset="0"/>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solidFill>
                            <a:srgbClr val="000000">
                              <a:lumMod val="75000"/>
                              <a:lumOff val="25000"/>
                            </a:srgbClr>
                          </a:solidFill>
                          <a:latin typeface="Arial" panose="020B0604020202020204" pitchFamily="34" charset="0"/>
                          <a:cs typeface="Arial" panose="020B0604020202020204" pitchFamily="34" charset="0"/>
                        </a:defRPr>
                      </a:pPr>
                      <a:t>[PERCENTAGE]</a:t>
                    </a:fld>
                    <a:endPar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solidFill>
                          <a:srgbClr val="000000">
                            <a:lumMod val="75000"/>
                            <a:lumOff val="25000"/>
                          </a:srgbClr>
                        </a:solidFill>
                        <a:latin typeface="Arial" panose="020B0604020202020204" pitchFamily="34" charset="0"/>
                        <a:cs typeface="Arial" panose="020B0604020202020204" pitchFamily="34" charset="0"/>
                      </a:defRPr>
                    </a:pPr>
                    <a:endParaRPr lang="en-US"/>
                  </a:p>
                </c:rich>
              </c:tx>
              <c:spPr>
                <a:noFill/>
                <a:ln>
                  <a:noFill/>
                </a:ln>
                <a:effectLst/>
              </c:spPr>
              <c:txPr>
                <a:bodyPr rot="0" spcFirstLastPara="1" vertOverflow="ellipsis" vert="horz"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baseline="0">
                      <a:solidFill>
                        <a:srgbClr val="000000">
                          <a:lumMod val="75000"/>
                          <a:lumOff val="25000"/>
                        </a:srgb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70AE-4F1E-A27F-F5DA0DEB27BF}"/>
                </c:ext>
              </c:extLst>
            </c:dLbl>
            <c:dLbl>
              <c:idx val="4"/>
              <c:layout>
                <c:manualLayout>
                  <c:x val="-0.28333333333333333"/>
                  <c:y val="-6.4814814814814811E-2"/>
                </c:manualLayout>
              </c:layout>
              <c:tx>
                <c:rich>
                  <a:bodyPr/>
                  <a:lstStyle/>
                  <a:p>
                    <a:r>
                      <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rPr>
                      <a:t>Air transport / Airport
</a:t>
                    </a:r>
                    <a:fld id="{81F889E8-6E91-4F12-89F8-643C64AFD4ED}" type="PERCENTAGE">
                      <a:rPr lang="en-US" sz="900" b="0" i="0" u="none" strike="noStrike" kern="1200" baseline="0" smtClean="0">
                        <a:solidFill>
                          <a:srgbClr val="000000">
                            <a:lumMod val="75000"/>
                            <a:lumOff val="25000"/>
                          </a:srgbClr>
                        </a:solidFill>
                        <a:latin typeface="Arial" panose="020B0604020202020204" pitchFamily="34" charset="0"/>
                        <a:cs typeface="Arial" panose="020B0604020202020204" pitchFamily="34" charset="0"/>
                      </a:rPr>
                      <a:pPr/>
                      <a:t>[PERCENTAGE]</a:t>
                    </a:fld>
                    <a:endPar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endParaRPr>
                  </a:p>
                </c:rich>
              </c:tx>
              <c:showLegendKey val="0"/>
              <c:showVal val="0"/>
              <c:showCatName val="1"/>
              <c:showSerName val="0"/>
              <c:showPercent val="1"/>
              <c:showBubbleSize val="0"/>
              <c:extLst>
                <c:ext xmlns:c15="http://schemas.microsoft.com/office/drawing/2012/chart" uri="{CE6537A1-D6FC-4f65-9D91-7224C49458BB}">
                  <c15:layout>
                    <c:manualLayout>
                      <c:w val="0.149975299365849"/>
                      <c:h val="0.16437037037037036"/>
                    </c:manualLayout>
                  </c15:layout>
                  <c15:dlblFieldTable/>
                  <c15:showDataLabelsRange val="0"/>
                </c:ext>
                <c:ext xmlns:c16="http://schemas.microsoft.com/office/drawing/2014/chart" uri="{C3380CC4-5D6E-409C-BE32-E72D297353CC}">
                  <c16:uniqueId val="{00000009-70AE-4F1E-A27F-F5DA0DEB27BF}"/>
                </c:ext>
              </c:extLst>
            </c:dLbl>
            <c:dLbl>
              <c:idx val="5"/>
              <c:layout>
                <c:manualLayout>
                  <c:x val="0.33888888888888891"/>
                  <c:y val="-5.5555555555555566E-2"/>
                </c:manualLayout>
              </c:layout>
              <c:tx>
                <c:rich>
                  <a:bodyPr/>
                  <a:lstStyle/>
                  <a:p>
                    <a:r>
                      <a:rPr lang="en-US" sz="900" b="0" i="0" u="none" strike="noStrike" kern="1200" baseline="0" dirty="0">
                        <a:solidFill>
                          <a:srgbClr val="000000">
                            <a:lumMod val="75000"/>
                            <a:lumOff val="25000"/>
                          </a:srgbClr>
                        </a:solidFill>
                        <a:latin typeface="Arial" panose="020B0604020202020204" pitchFamily="34" charset="0"/>
                        <a:cs typeface="Arial" panose="020B0604020202020204" pitchFamily="34" charset="0"/>
                      </a:rPr>
                      <a:t>Urban development0.2%</a:t>
                    </a:r>
                  </a:p>
                </c:rich>
              </c:tx>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70AE-4F1E-A27F-F5DA0DEB27B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Feuil1!$A$2:$A$7</c:f>
              <c:strCache>
                <c:ptCount val="6"/>
                <c:pt idx="0">
                  <c:v>Transport ferroviaire</c:v>
                </c:pt>
                <c:pt idx="1">
                  <c:v>Transport routier / autoroutes</c:v>
                </c:pt>
                <c:pt idx="2">
                  <c:v>Plus d'un sous-secteur de transport</c:v>
                </c:pt>
                <c:pt idx="3">
                  <c:v>Transport maritime et fluvial / ports</c:v>
                </c:pt>
                <c:pt idx="4">
                  <c:v>Transport aérien / Aéroport</c:v>
                </c:pt>
                <c:pt idx="5">
                  <c:v>Développement urbain</c:v>
                </c:pt>
              </c:strCache>
            </c:strRef>
          </c:cat>
          <c:val>
            <c:numRef>
              <c:f>Feuil1!$B$2:$B$7</c:f>
              <c:numCache>
                <c:formatCode>_(* #,##0.00_);_(* \(#,##0.00\);_(* "-"??_);_(@_)</c:formatCode>
                <c:ptCount val="6"/>
                <c:pt idx="0">
                  <c:v>1551618451.7456036</c:v>
                </c:pt>
                <c:pt idx="1">
                  <c:v>9325387726.4604568</c:v>
                </c:pt>
                <c:pt idx="2">
                  <c:v>3145116746.2602105</c:v>
                </c:pt>
                <c:pt idx="3">
                  <c:v>630606379.55466068</c:v>
                </c:pt>
                <c:pt idx="4">
                  <c:v>973968631.05780852</c:v>
                </c:pt>
                <c:pt idx="5">
                  <c:v>31148221.211891524</c:v>
                </c:pt>
              </c:numCache>
            </c:numRef>
          </c:val>
          <c:extLst>
            <c:ext xmlns:c16="http://schemas.microsoft.com/office/drawing/2014/chart" uri="{C3380CC4-5D6E-409C-BE32-E72D297353CC}">
              <c16:uniqueId val="{0000000C-70AE-4F1E-A27F-F5DA0DEB27BF}"/>
            </c:ext>
          </c:extLst>
        </c:ser>
        <c:dLbls>
          <c:showLegendKey val="0"/>
          <c:showVal val="0"/>
          <c:showCatName val="1"/>
          <c:showSerName val="0"/>
          <c:showPercent val="1"/>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8FF6E0-34B1-471F-9427-21D83476FAE2}"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30C2A-6D3A-462D-95D0-257CB9652DFF}" type="slidenum">
              <a:rPr lang="en-US" smtClean="0"/>
              <a:t>‹#›</a:t>
            </a:fld>
            <a:endParaRPr lang="en-US"/>
          </a:p>
        </p:txBody>
      </p:sp>
    </p:spTree>
    <p:extLst>
      <p:ext uri="{BB962C8B-B14F-4D97-AF65-F5344CB8AC3E}">
        <p14:creationId xmlns:p14="http://schemas.microsoft.com/office/powerpoint/2010/main" val="162184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f937a3a1c_0_1190: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endParaRPr dirty="0"/>
          </a:p>
        </p:txBody>
      </p:sp>
      <p:sp>
        <p:nvSpPr>
          <p:cNvPr id="159" name="Google Shape;159;g24f937a3a1c_0_1190: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3430483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873871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1548367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592697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3851838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2717634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3179810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3212099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857606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2891730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789468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3701288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1881722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457551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D14F-640D-6500-DBBE-B48142955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6897D-E484-2F67-5E16-8D5E34A13C48}"/>
              </a:ext>
            </a:extLst>
          </p:cNvPr>
          <p:cNvSpPr>
            <a:spLocks noGrp="1" noRot="1" noChangeAspect="1"/>
          </p:cNvSpPr>
          <p:nvPr>
            <p:ph type="sldImg"/>
          </p:nvPr>
        </p:nvSpPr>
        <p:spPr>
          <a:xfrm>
            <a:off x="142875" y="768350"/>
            <a:ext cx="6818313" cy="3836988"/>
          </a:xfrm>
        </p:spPr>
      </p:sp>
      <p:sp>
        <p:nvSpPr>
          <p:cNvPr id="3" name="Notes Placeholder 2">
            <a:extLst>
              <a:ext uri="{FF2B5EF4-FFF2-40B4-BE49-F238E27FC236}">
                <a16:creationId xmlns:a16="http://schemas.microsoft.com/office/drawing/2014/main" id="{AAA2F82B-00CB-7B55-3956-AAA94E70161B}"/>
              </a:ext>
            </a:extLst>
          </p:cNvPr>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1324240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E6D0D-5800-EA4A-32B7-02ADEBE34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F7099-FF72-2DD2-E255-CFB732D30737}"/>
              </a:ext>
            </a:extLst>
          </p:cNvPr>
          <p:cNvSpPr>
            <a:spLocks noGrp="1" noRot="1" noChangeAspect="1"/>
          </p:cNvSpPr>
          <p:nvPr>
            <p:ph type="sldImg"/>
          </p:nvPr>
        </p:nvSpPr>
        <p:spPr>
          <a:xfrm>
            <a:off x="142875" y="768350"/>
            <a:ext cx="6818313" cy="3836988"/>
          </a:xfrm>
        </p:spPr>
      </p:sp>
      <p:sp>
        <p:nvSpPr>
          <p:cNvPr id="3" name="Notes Placeholder 2">
            <a:extLst>
              <a:ext uri="{FF2B5EF4-FFF2-40B4-BE49-F238E27FC236}">
                <a16:creationId xmlns:a16="http://schemas.microsoft.com/office/drawing/2014/main" id="{B853FF91-AE46-8B6D-DE1F-FCD86F2A24E0}"/>
              </a:ext>
            </a:extLst>
          </p:cNvPr>
          <p:cNvSpPr>
            <a:spLocks noGrp="1"/>
          </p:cNvSpPr>
          <p:nvPr>
            <p:ph type="body" idx="1"/>
          </p:nvPr>
        </p:nvSpPr>
        <p:spPr/>
        <p:txBody>
          <a:bodyPr/>
          <a:lstStyle/>
          <a:p>
            <a:endParaRPr lang="en-MU" dirty="0"/>
          </a:p>
        </p:txBody>
      </p:sp>
    </p:spTree>
    <p:extLst>
      <p:ext uri="{BB962C8B-B14F-4D97-AF65-F5344CB8AC3E}">
        <p14:creationId xmlns:p14="http://schemas.microsoft.com/office/powerpoint/2010/main" val="2147198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73CE-FB89-C7D2-D834-760ACD6B20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EB8A60-47FB-AD97-E958-1666934CCE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975CCD-9DBB-5652-B2BC-D98E1481E178}"/>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BE09002D-8C20-B161-E0BA-97C931EE3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B034F-C979-31F2-AE48-D4A199B055DE}"/>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27703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6AEBD-037C-2EF5-1B43-0D8FA71999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962664-3347-F8EB-8F47-E3739ED4A6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A81EA-B916-CEB1-E65D-F56950A12DE0}"/>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8C7ABC0F-FE96-4690-8314-F8AB33587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2D148E-0E20-5E7A-D48F-61185E944509}"/>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547902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CB7D-170C-115A-DAB1-59CE55D73E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4FF440-5B5F-A9DE-16D1-E0E1F3F74A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E371A7-6E76-3BB7-A3C3-D8A2960DD302}"/>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1DE869F4-1E37-96EE-3F36-16A0F00BB9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AA9612-87C0-DA05-C931-D77E8C52975A}"/>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77561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BC303-F549-1452-5F76-92E3EC021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EF1EA0-4C5F-9CAA-72A5-D65FCE762D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437305-AB89-7E12-BD03-DDE9DE75A3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C51E83-CA78-65A9-687F-341F4C20CE70}"/>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6" name="Footer Placeholder 5">
            <a:extLst>
              <a:ext uri="{FF2B5EF4-FFF2-40B4-BE49-F238E27FC236}">
                <a16:creationId xmlns:a16="http://schemas.microsoft.com/office/drawing/2014/main" id="{1ACB44E1-F0CD-8BDA-8134-F396906648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77BEBF-2AFE-B860-82F4-2EBF2404A9EC}"/>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2463444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815A-C961-C620-9341-F0751D5F58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A23275-B601-B682-DC00-C74BA87750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9B2A73-26E0-1592-3989-DCEE376A0A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74B198-9E28-BE21-6117-96E3BDAE5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A3B36B-EF85-7A07-9491-AA08C2C698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FAF06A-9503-7925-6196-32AB258A837A}"/>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8" name="Footer Placeholder 7">
            <a:extLst>
              <a:ext uri="{FF2B5EF4-FFF2-40B4-BE49-F238E27FC236}">
                <a16:creationId xmlns:a16="http://schemas.microsoft.com/office/drawing/2014/main" id="{D37563E3-9C4B-9D02-429D-CC8B5F495F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57EBCC-776D-04AF-6D16-835214FB1315}"/>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206872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5DF9-FEFF-8DC4-99F4-ACABB98B6B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91BA59-FB14-C529-57A2-78ADB9AFBD79}"/>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4" name="Footer Placeholder 3">
            <a:extLst>
              <a:ext uri="{FF2B5EF4-FFF2-40B4-BE49-F238E27FC236}">
                <a16:creationId xmlns:a16="http://schemas.microsoft.com/office/drawing/2014/main" id="{4373411B-7656-58D3-F7A6-AE66166504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3D8658-6115-8261-F3D4-520233548DE0}"/>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158813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D7C0A4-AF9F-BBB5-CBCC-241BA4108C2D}"/>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3" name="Footer Placeholder 2">
            <a:extLst>
              <a:ext uri="{FF2B5EF4-FFF2-40B4-BE49-F238E27FC236}">
                <a16:creationId xmlns:a16="http://schemas.microsoft.com/office/drawing/2014/main" id="{35FD504C-A800-08C5-2AD5-9F9F37321B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2C7EC3-63F6-9F51-6BBD-962505874F79}"/>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110479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9D7D5-9AB2-C164-7FB1-AF72763B9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16DEA-FE5B-C9B0-358F-9270BF070E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696A7E-8B51-27F0-0087-4A61C2C71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5061D5-110E-0D61-BCA1-E70992C45636}"/>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6" name="Footer Placeholder 5">
            <a:extLst>
              <a:ext uri="{FF2B5EF4-FFF2-40B4-BE49-F238E27FC236}">
                <a16:creationId xmlns:a16="http://schemas.microsoft.com/office/drawing/2014/main" id="{23742D3B-FC54-940C-A42C-84C4427E31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A23A8-C106-75ED-7B8C-5F1FDE6CDABA}"/>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62775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CD18E-DCA4-30EC-4DE5-04694D3EB1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055E13-7ACB-5E1B-F49D-B343A8383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8D7E49-B41A-15DE-E7D1-DB52EF3DC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F89DA7-A7FB-F524-4F26-669DF4346C43}"/>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6" name="Footer Placeholder 5">
            <a:extLst>
              <a:ext uri="{FF2B5EF4-FFF2-40B4-BE49-F238E27FC236}">
                <a16:creationId xmlns:a16="http://schemas.microsoft.com/office/drawing/2014/main" id="{EF87254A-F547-EF1E-D1FB-33FD8B0F9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CBFCE-F25D-AF8C-714F-1C1518BCB76E}"/>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3835977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A953-8122-A587-6B85-03128AC8B2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82B1A4-6ACB-D9E3-C10C-FA3AE4EFF0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E6E6D0-A1C4-4408-999F-3948B1425E0F}"/>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55CC74E3-47B0-AAD8-29BA-698AA2A22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7D96C-ADB4-804B-5078-D95525FD6218}"/>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2630006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9A858A-D18A-9D23-5229-1CA2D2EF75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B7BD99-C926-D2A3-4534-81E4A8F253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6702F2-9EBA-E57B-5463-11A258DFCFD4}"/>
              </a:ext>
            </a:extLst>
          </p:cNvPr>
          <p:cNvSpPr>
            <a:spLocks noGrp="1"/>
          </p:cNvSpPr>
          <p:nvPr>
            <p:ph type="dt" sz="half" idx="10"/>
          </p:nvPr>
        </p:nvSpPr>
        <p:spPr/>
        <p:txBody>
          <a:body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6CE778B1-20A6-E845-997A-937D7763C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F4D01-A8A4-DD5F-F365-F4A3CFC44873}"/>
              </a:ext>
            </a:extLst>
          </p:cNvPr>
          <p:cNvSpPr>
            <a:spLocks noGrp="1"/>
          </p:cNvSpPr>
          <p:nvPr>
            <p:ph type="sldNum" sz="quarter" idx="12"/>
          </p:nvPr>
        </p:nvSpPr>
        <p:spPr/>
        <p:txBody>
          <a:bodyPr/>
          <a:lstStyle/>
          <a:p>
            <a:fld id="{7C704673-4490-423C-9D57-3CB2E86F9E46}" type="slidenum">
              <a:rPr lang="en-US" smtClean="0"/>
              <a:t>‹#›</a:t>
            </a:fld>
            <a:endParaRPr lang="en-US"/>
          </a:p>
        </p:txBody>
      </p:sp>
    </p:spTree>
    <p:extLst>
      <p:ext uri="{BB962C8B-B14F-4D97-AF65-F5344CB8AC3E}">
        <p14:creationId xmlns:p14="http://schemas.microsoft.com/office/powerpoint/2010/main" val="4058139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B617024B-A12B-71E5-CCA2-C3599ADE92F0}"/>
              </a:ext>
            </a:extLst>
          </p:cNvPr>
          <p:cNvSpPr>
            <a:spLocks noGrp="1"/>
          </p:cNvSpPr>
          <p:nvPr>
            <p:ph type="title"/>
          </p:nvPr>
        </p:nvSpPr>
        <p:spPr/>
        <p:txBody>
          <a:bodyPr/>
          <a:lstStyle/>
          <a:p>
            <a:r>
              <a:rPr lang="en-US"/>
              <a:t>Click to edit Master title style</a:t>
            </a:r>
          </a:p>
        </p:txBody>
      </p:sp>
      <p:pic>
        <p:nvPicPr>
          <p:cNvPr id="7" name="Image 3">
            <a:extLst>
              <a:ext uri="{FF2B5EF4-FFF2-40B4-BE49-F238E27FC236}">
                <a16:creationId xmlns:a16="http://schemas.microsoft.com/office/drawing/2014/main" id="{7D18FCFE-A5E2-D139-9FCA-7F9ECDDF9AE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50447"/>
          <a:stretch/>
        </p:blipFill>
        <p:spPr>
          <a:xfrm>
            <a:off x="10412321" y="136525"/>
            <a:ext cx="1693363" cy="820688"/>
          </a:xfrm>
          <a:prstGeom prst="rect">
            <a:avLst/>
          </a:prstGeom>
          <a:solidFill>
            <a:schemeClr val="bg1"/>
          </a:solidFill>
        </p:spPr>
      </p:pic>
    </p:spTree>
    <p:extLst>
      <p:ext uri="{BB962C8B-B14F-4D97-AF65-F5344CB8AC3E}">
        <p14:creationId xmlns:p14="http://schemas.microsoft.com/office/powerpoint/2010/main" val="590217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95FAC-BBB7-466B-B574-F5D5A0DF7300}" type="datetime1">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5ECC12-AE2A-7F48-B84B-C0ED28A288D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160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BBB7A6-9497-4D06-81FE-2F1FA85F72AE}" type="datetime1">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757227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4E50C9-EFFC-4CBE-A8E4-527C1F44E30C}" type="datetime1">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1978939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E13878-6EC3-4196-845C-43EBE9C06A08}" type="datetime1">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2437088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E7CE98-CD03-4993-AABB-A4D030BBE76F}" type="datetime1">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306299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009859-DF42-4CDC-8AD0-A87480FBA8FB}" type="datetime1">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326118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66E5C4-7CB0-4055-8570-0CB1D4D14791}" type="datetime1">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5ECC12-AE2A-7F48-B84B-C0ED28A288D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73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06D4DD-75EE-4AEA-9C29-71F8DED5F078}" type="datetime1">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5ECC12-AE2A-7F48-B84B-C0ED28A288DF}" type="slidenum">
              <a:rPr lang="en-US" smtClean="0"/>
              <a:t>‹#›</a:t>
            </a:fld>
            <a:endParaRPr lang="en-US"/>
          </a:p>
        </p:txBody>
      </p:sp>
    </p:spTree>
    <p:extLst>
      <p:ext uri="{BB962C8B-B14F-4D97-AF65-F5344CB8AC3E}">
        <p14:creationId xmlns:p14="http://schemas.microsoft.com/office/powerpoint/2010/main" val="13644594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EAAFEE-2415-4A7F-BB8D-610BECE55B97}" type="datetime1">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5ECC12-AE2A-7F48-B84B-C0ED28A288D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095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FD2C65-C973-E94E-A0AA-8581E236011B}"/>
              </a:ext>
            </a:extLst>
          </p:cNvPr>
          <p:cNvSpPr>
            <a:spLocks noGrp="1"/>
          </p:cNvSpPr>
          <p:nvPr>
            <p:ph type="title"/>
          </p:nvPr>
        </p:nvSpPr>
        <p:spPr>
          <a:xfrm>
            <a:off x="838201" y="365127"/>
            <a:ext cx="10515600" cy="1325563"/>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DBCBC096-3150-DB48-BDB9-28BBE23BF8F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3EBD8A7-B02C-4A42-93D3-6EA594FB8FEE}"/>
              </a:ext>
            </a:extLst>
          </p:cNvPr>
          <p:cNvSpPr>
            <a:spLocks noGrp="1"/>
          </p:cNvSpPr>
          <p:nvPr>
            <p:ph type="dt" sz="half" idx="10"/>
          </p:nvPr>
        </p:nvSpPr>
        <p:spPr/>
        <p:txBody>
          <a:bodyPr/>
          <a:lstStyle/>
          <a:p>
            <a:fld id="{20F99060-453C-4044-913E-52701E92779E}" type="datetimeFigureOut">
              <a:rPr lang="fr-FR" smtClean="0"/>
              <a:t>18/11/2025</a:t>
            </a:fld>
            <a:endParaRPr lang="fr-FR"/>
          </a:p>
        </p:txBody>
      </p:sp>
      <p:sp>
        <p:nvSpPr>
          <p:cNvPr id="5" name="Espace réservé du pied de page 4">
            <a:extLst>
              <a:ext uri="{FF2B5EF4-FFF2-40B4-BE49-F238E27FC236}">
                <a16:creationId xmlns:a16="http://schemas.microsoft.com/office/drawing/2014/main" id="{6E318B6D-EE97-CD4E-94BD-EFE7AE8A87D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A6E1C90-A022-0A48-A275-1C600C857B7F}"/>
              </a:ext>
            </a:extLst>
          </p:cNvPr>
          <p:cNvSpPr>
            <a:spLocks noGrp="1"/>
          </p:cNvSpPr>
          <p:nvPr>
            <p:ph type="sldNum" sz="quarter" idx="12"/>
          </p:nvPr>
        </p:nvSpPr>
        <p:spPr/>
        <p:txBody>
          <a:bodyPr/>
          <a:lstStyle/>
          <a:p>
            <a:fld id="{0DE8D936-EE0F-0341-8BF5-79A27DD48D94}" type="slidenum">
              <a:rPr lang="fr-FR" smtClean="0"/>
              <a:t>‹#›</a:t>
            </a:fld>
            <a:endParaRPr lang="fr-FR"/>
          </a:p>
        </p:txBody>
      </p:sp>
      <p:pic>
        <p:nvPicPr>
          <p:cNvPr id="9" name="Image 3">
            <a:extLst>
              <a:ext uri="{FF2B5EF4-FFF2-40B4-BE49-F238E27FC236}">
                <a16:creationId xmlns:a16="http://schemas.microsoft.com/office/drawing/2014/main" id="{8CCC6B98-6710-4518-8689-1CDD9626BBE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50488" y="6157286"/>
            <a:ext cx="2347026" cy="570480"/>
          </a:xfrm>
          <a:prstGeom prst="rect">
            <a:avLst/>
          </a:prstGeom>
        </p:spPr>
      </p:pic>
    </p:spTree>
    <p:extLst>
      <p:ext uri="{BB962C8B-B14F-4D97-AF65-F5344CB8AC3E}">
        <p14:creationId xmlns:p14="http://schemas.microsoft.com/office/powerpoint/2010/main" val="1329879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F46BB9-8B59-0522-BE3D-5C89B49DEB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01BD11-C3D0-3E28-DDB5-17E475D45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73673A-C08F-06F9-FD30-1B16260E2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C06EF5-FE68-41E7-9A9C-8D0EC004CEDA}" type="datetimeFigureOut">
              <a:rPr lang="en-US" smtClean="0"/>
              <a:t>11/18/2025</a:t>
            </a:fld>
            <a:endParaRPr lang="en-US"/>
          </a:p>
        </p:txBody>
      </p:sp>
      <p:sp>
        <p:nvSpPr>
          <p:cNvPr id="5" name="Footer Placeholder 4">
            <a:extLst>
              <a:ext uri="{FF2B5EF4-FFF2-40B4-BE49-F238E27FC236}">
                <a16:creationId xmlns:a16="http://schemas.microsoft.com/office/drawing/2014/main" id="{84BDEB96-BDA7-F2B8-C81D-E0207BED7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6A2FB-C21E-0129-CDE5-7B14E0E04D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704673-4490-423C-9D57-3CB2E86F9E46}" type="slidenum">
              <a:rPr lang="en-US" smtClean="0"/>
              <a:t>‹#›</a:t>
            </a:fld>
            <a:endParaRPr lang="en-US"/>
          </a:p>
        </p:txBody>
      </p:sp>
    </p:spTree>
    <p:extLst>
      <p:ext uri="{BB962C8B-B14F-4D97-AF65-F5344CB8AC3E}">
        <p14:creationId xmlns:p14="http://schemas.microsoft.com/office/powerpoint/2010/main" val="2831760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D82A2DA-E023-482E-B172-8180449E0C83}" type="datetime1">
              <a:rPr lang="en-US" smtClean="0"/>
              <a:t>11/18/2025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B5ECC12-AE2A-7F48-B84B-C0ED28A288D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Image 3">
            <a:extLst>
              <a:ext uri="{FF2B5EF4-FFF2-40B4-BE49-F238E27FC236}">
                <a16:creationId xmlns:a16="http://schemas.microsoft.com/office/drawing/2014/main" id="{9B172F8F-F182-A36C-02C1-1F7D5183E5A1}"/>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r="50447"/>
          <a:stretch/>
        </p:blipFill>
        <p:spPr>
          <a:xfrm>
            <a:off x="10412321" y="136525"/>
            <a:ext cx="1693363" cy="820688"/>
          </a:xfrm>
          <a:prstGeom prst="rect">
            <a:avLst/>
          </a:prstGeom>
          <a:solidFill>
            <a:schemeClr val="bg1"/>
          </a:solidFill>
        </p:spPr>
      </p:pic>
    </p:spTree>
    <p:extLst>
      <p:ext uri="{BB962C8B-B14F-4D97-AF65-F5344CB8AC3E}">
        <p14:creationId xmlns:p14="http://schemas.microsoft.com/office/powerpoint/2010/main" val="38969602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Tahoma" panose="020B0604030504040204" pitchFamily="34" charset="0"/>
          <a:ea typeface="Tahoma" panose="020B0604030504040204" pitchFamily="34" charset="0"/>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3" name="Picture 2">
            <a:extLst>
              <a:ext uri="{FF2B5EF4-FFF2-40B4-BE49-F238E27FC236}">
                <a16:creationId xmlns:a16="http://schemas.microsoft.com/office/drawing/2014/main" id="{2F58E5D3-9AD2-1FCB-4164-A359D8B64A37}"/>
              </a:ext>
            </a:extLst>
          </p:cNvPr>
          <p:cNvPicPr>
            <a:picLocks noChangeAspect="1"/>
          </p:cNvPicPr>
          <p:nvPr/>
        </p:nvPicPr>
        <p:blipFill>
          <a:blip r:embed="rId3"/>
          <a:srcRect/>
          <a:stretch/>
        </p:blipFill>
        <p:spPr>
          <a:xfrm>
            <a:off x="1" y="0"/>
            <a:ext cx="12180566" cy="6858000"/>
          </a:xfrm>
          <a:prstGeom prst="rect">
            <a:avLst/>
          </a:prstGeom>
        </p:spPr>
      </p:pic>
      <p:sp>
        <p:nvSpPr>
          <p:cNvPr id="162" name="Google Shape;162;p25"/>
          <p:cNvSpPr txBox="1">
            <a:spLocks noGrp="1"/>
          </p:cNvSpPr>
          <p:nvPr>
            <p:ph type="title"/>
          </p:nvPr>
        </p:nvSpPr>
        <p:spPr>
          <a:xfrm>
            <a:off x="11432" y="1179595"/>
            <a:ext cx="11567423" cy="5569997"/>
          </a:xfrm>
          <a:prstGeom prst="rect">
            <a:avLst/>
          </a:prstGeom>
          <a:noFill/>
          <a:effectLst>
            <a:reflection stA="77000" endPos="65000" dist="50800" dir="5400000" sy="-100000" algn="bl" rotWithShape="0"/>
          </a:effectLst>
        </p:spPr>
        <p:txBody>
          <a:bodyPr spcFirstLastPara="1" vert="horz" lIns="121920" tIns="60960" rIns="121920" bIns="60960" rtlCol="0" anchor="b" anchorCtr="0">
            <a:noAutofit/>
          </a:bodyPr>
          <a:lstStyle/>
          <a:p>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br>
              <a:rPr lang="en-GB" sz="3800" b="1" kern="1200" cap="small" dirty="0">
                <a:solidFill>
                  <a:schemeClr val="accent4">
                    <a:lumMod val="60000"/>
                    <a:lumOff val="40000"/>
                  </a:schemeClr>
                </a:solidFill>
                <a:latin typeface="Aptos Black" panose="020B0004020202020204" pitchFamily="34" charset="0"/>
                <a:cs typeface="Arial" panose="020B0604020202020204" pitchFamily="34" charset="0"/>
              </a:rPr>
            </a:br>
            <a:r>
              <a:rPr lang="en-US" dirty="0">
                <a:solidFill>
                  <a:schemeClr val="bg1"/>
                </a:solidFill>
                <a:latin typeface="Arial Black" panose="020B0A04020102020204" pitchFamily="34" charset="0"/>
              </a:rPr>
              <a:t>Infrastructure Development and Maintenance</a:t>
            </a:r>
            <a:br>
              <a:rPr lang="en-GB" sz="2800" b="1" kern="1200" cap="small" dirty="0">
                <a:solidFill>
                  <a:schemeClr val="bg1"/>
                </a:solidFill>
                <a:latin typeface="Arial Black" panose="020B0A04020102020204" pitchFamily="34" charset="0"/>
                <a:cs typeface="Arial" panose="020B0604020202020204" pitchFamily="34" charset="0"/>
              </a:rPr>
            </a:br>
            <a:br>
              <a:rPr lang="en-GB" sz="1800" b="1" kern="1200" cap="small" dirty="0">
                <a:solidFill>
                  <a:schemeClr val="bg1"/>
                </a:solidFill>
                <a:latin typeface="Arial Black" panose="020B0A04020102020204" pitchFamily="34" charset="0"/>
                <a:cs typeface="Arial" panose="020B0604020202020204" pitchFamily="34" charset="0"/>
              </a:rPr>
            </a:br>
            <a:r>
              <a:rPr lang="en-US" sz="1800" dirty="0">
                <a:solidFill>
                  <a:schemeClr val="bg1"/>
                </a:solidFill>
                <a:latin typeface="Arial Black" panose="020B0A04020102020204" pitchFamily="34" charset="0"/>
              </a:rPr>
              <a:t>“</a:t>
            </a:r>
            <a:r>
              <a:rPr lang="en-US" sz="1800" cap="none" dirty="0">
                <a:solidFill>
                  <a:schemeClr val="bg1"/>
                </a:solidFill>
                <a:latin typeface="Arial Black" panose="020B0A04020102020204" pitchFamily="34" charset="0"/>
              </a:rPr>
              <a:t>The Forefront of PPP and Maintenance Management for Sustainable Infrastructure Development</a:t>
            </a:r>
            <a:r>
              <a:rPr lang="en-US" sz="1800" dirty="0">
                <a:solidFill>
                  <a:schemeClr val="bg1"/>
                </a:solidFill>
                <a:latin typeface="Arial Black" panose="020B0A04020102020204" pitchFamily="34" charset="0"/>
              </a:rPr>
              <a:t>”</a:t>
            </a:r>
            <a:br>
              <a:rPr lang="en-US" sz="1800" dirty="0">
                <a:solidFill>
                  <a:schemeClr val="bg1"/>
                </a:solidFill>
                <a:latin typeface="Arial Black" panose="020B0A04020102020204" pitchFamily="34" charset="0"/>
              </a:rPr>
            </a:br>
            <a:br>
              <a:rPr lang="en-US" sz="1800" dirty="0">
                <a:solidFill>
                  <a:schemeClr val="bg1"/>
                </a:solidFill>
                <a:latin typeface="Arial Black" panose="020B0A04020102020204" pitchFamily="34" charset="0"/>
              </a:rPr>
            </a:br>
            <a:r>
              <a:rPr lang="en-US" sz="1800" dirty="0">
                <a:solidFill>
                  <a:schemeClr val="bg1"/>
                </a:solidFill>
                <a:latin typeface="Arial Black" panose="020B0A04020102020204" pitchFamily="34" charset="0"/>
              </a:rPr>
              <a:t>18 November 2025</a:t>
            </a:r>
            <a:br>
              <a:rPr lang="en-US" sz="2800" b="1" cap="small" dirty="0">
                <a:solidFill>
                  <a:schemeClr val="accent4">
                    <a:lumMod val="60000"/>
                    <a:lumOff val="40000"/>
                  </a:schemeClr>
                </a:solidFill>
                <a:latin typeface="Arial Black" panose="020B0A04020102020204" pitchFamily="34" charset="0"/>
                <a:cs typeface="Arial" panose="020B0604020202020204" pitchFamily="34" charset="0"/>
              </a:rPr>
            </a:br>
            <a:br>
              <a:rPr lang="en-US" sz="2800" b="1" cap="small" dirty="0">
                <a:solidFill>
                  <a:schemeClr val="accent4">
                    <a:lumMod val="60000"/>
                    <a:lumOff val="40000"/>
                  </a:schemeClr>
                </a:solidFill>
                <a:latin typeface="Arial Black" panose="020B0A04020102020204" pitchFamily="34" charset="0"/>
                <a:cs typeface="Arial" panose="020B0604020202020204" pitchFamily="34" charset="0"/>
              </a:rPr>
            </a:br>
            <a:r>
              <a:rPr lang="en-GB" sz="1400" b="1" kern="1200" cap="small" dirty="0">
                <a:solidFill>
                  <a:schemeClr val="bg1"/>
                </a:solidFill>
                <a:latin typeface="Arial Black" panose="020B0A04020102020204" pitchFamily="34" charset="0"/>
                <a:cs typeface="Arial" panose="020B0604020202020204" pitchFamily="34" charset="0"/>
              </a:rPr>
              <a:t>Infrastructure and Urban Development DEPARTMENT </a:t>
            </a:r>
            <a:br>
              <a:rPr lang="en-GB" sz="1400" b="1" kern="1200" cap="small" dirty="0">
                <a:solidFill>
                  <a:schemeClr val="bg1"/>
                </a:solidFill>
                <a:latin typeface="Arial Black" panose="020B0A04020102020204" pitchFamily="34" charset="0"/>
                <a:cs typeface="Arial" panose="020B0604020202020204" pitchFamily="34" charset="0"/>
              </a:rPr>
            </a:br>
            <a:r>
              <a:rPr lang="en-GB" sz="1400" b="1" kern="1200" cap="small" dirty="0">
                <a:solidFill>
                  <a:schemeClr val="bg1"/>
                </a:solidFill>
                <a:latin typeface="Arial Black" panose="020B0A04020102020204" pitchFamily="34" charset="0"/>
                <a:cs typeface="Arial" panose="020B0604020202020204" pitchFamily="34" charset="0"/>
              </a:rPr>
              <a:t>African Development Bank </a:t>
            </a:r>
            <a:br>
              <a:rPr lang="en-GB" sz="2800" kern="1200" cap="small" dirty="0">
                <a:solidFill>
                  <a:schemeClr val="bg1"/>
                </a:solidFill>
                <a:latin typeface="Aptos Black" panose="020B0004020202020204" pitchFamily="34" charset="0"/>
                <a:cs typeface="Tahoma" panose="020B0604030504040204" pitchFamily="34" charset="0"/>
              </a:rPr>
            </a:br>
            <a:endParaRPr lang="en-US" sz="2000" dirty="0">
              <a:solidFill>
                <a:schemeClr val="bg1"/>
              </a:solidFill>
              <a:latin typeface="Aptos Black" panose="020B0004020202020204" pitchFamily="34" charset="0"/>
              <a:cs typeface="Tahoma" panose="020B0604030504040204" pitchFamily="34" charset="0"/>
              <a:sym typeface="Arial"/>
            </a:endParaRPr>
          </a:p>
        </p:txBody>
      </p:sp>
      <p:sp>
        <p:nvSpPr>
          <p:cNvPr id="10" name="TextBox 9">
            <a:extLst>
              <a:ext uri="{FF2B5EF4-FFF2-40B4-BE49-F238E27FC236}">
                <a16:creationId xmlns:a16="http://schemas.microsoft.com/office/drawing/2014/main" id="{B5D2AD48-572B-6D86-24CB-90F7475AD80A}"/>
              </a:ext>
            </a:extLst>
          </p:cNvPr>
          <p:cNvSpPr txBox="1"/>
          <p:nvPr/>
        </p:nvSpPr>
        <p:spPr>
          <a:xfrm>
            <a:off x="470450" y="627149"/>
            <a:ext cx="1176680" cy="283424"/>
          </a:xfrm>
          <a:prstGeom prst="rect">
            <a:avLst/>
          </a:prstGeom>
          <a:solidFill>
            <a:schemeClr val="accent6"/>
          </a:solidFill>
        </p:spPr>
        <p:txBody>
          <a:bodyPr wrap="square" rtlCol="0">
            <a:spAutoFit/>
          </a:bodyPr>
          <a:lstStyle/>
          <a:p>
            <a:endParaRPr lang="en-FR" sz="2400" dirty="0"/>
          </a:p>
        </p:txBody>
      </p:sp>
      <p:sp>
        <p:nvSpPr>
          <p:cNvPr id="2" name="Slide Number Placeholder 1">
            <a:extLst>
              <a:ext uri="{FF2B5EF4-FFF2-40B4-BE49-F238E27FC236}">
                <a16:creationId xmlns:a16="http://schemas.microsoft.com/office/drawing/2014/main" id="{B9CE95F9-DBC2-D70B-7EAF-70A18AC67258}"/>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1</a:t>
            </a:fld>
            <a:endParaRPr lang="en-US" dirty="0"/>
          </a:p>
        </p:txBody>
      </p:sp>
      <p:pic>
        <p:nvPicPr>
          <p:cNvPr id="5" name="Image 3">
            <a:extLst>
              <a:ext uri="{FF2B5EF4-FFF2-40B4-BE49-F238E27FC236}">
                <a16:creationId xmlns:a16="http://schemas.microsoft.com/office/drawing/2014/main" id="{60BAE5C4-4933-E8DA-176C-F8F1857B2C0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82451" y="306003"/>
            <a:ext cx="3512327" cy="8537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4128" y="585216"/>
            <a:ext cx="9720072" cy="1046852"/>
          </a:xfrm>
        </p:spPr>
        <p:txBody>
          <a:bodyPr>
            <a:normAutofit/>
          </a:bodyPr>
          <a:lstStyle/>
          <a:p>
            <a:r>
              <a:rPr lang="en-GB" sz="3600" b="1" dirty="0">
                <a:latin typeface="Tahoma" panose="020B0604030504040204" pitchFamily="34" charset="0"/>
                <a:ea typeface="Tahoma" panose="020B0604030504040204" pitchFamily="34" charset="0"/>
                <a:cs typeface="Tahoma" panose="020B0604030504040204" pitchFamily="34" charset="0"/>
              </a:rPr>
              <a:t>Topics</a:t>
            </a:r>
            <a:endParaRPr lang="en-UG" sz="3600" b="1" dirty="0">
              <a:latin typeface="Tahoma" panose="020B0604030504040204" pitchFamily="34" charset="0"/>
              <a:ea typeface="Tahoma" panose="020B0604030504040204" pitchFamily="34" charset="0"/>
              <a:cs typeface="Tahoma" panose="020B0604030504040204" pitchFamily="34" charset="0"/>
            </a:endParaRPr>
          </a:p>
        </p:txBody>
      </p:sp>
      <p:sp>
        <p:nvSpPr>
          <p:cNvPr id="9" name="Content Placeholder 8">
            <a:extLst>
              <a:ext uri="{FF2B5EF4-FFF2-40B4-BE49-F238E27FC236}">
                <a16:creationId xmlns:a16="http://schemas.microsoft.com/office/drawing/2014/main" id="{59AACB25-A327-09CC-B375-0ECE7CDF6470}"/>
              </a:ext>
            </a:extLst>
          </p:cNvPr>
          <p:cNvSpPr>
            <a:spLocks noGrp="1"/>
          </p:cNvSpPr>
          <p:nvPr>
            <p:ph idx="1"/>
          </p:nvPr>
        </p:nvSpPr>
        <p:spPr>
          <a:xfrm>
            <a:off x="838200" y="1825625"/>
            <a:ext cx="5533570" cy="4351338"/>
          </a:xfrm>
        </p:spPr>
        <p:txBody>
          <a:bodyPr>
            <a:normAutofit fontScale="92500" lnSpcReduction="10000"/>
          </a:bodyPr>
          <a:lstStyle/>
          <a:p>
            <a:pPr marL="514350" indent="-514350">
              <a:buAutoNum type="arabicPeriod"/>
            </a:pPr>
            <a:r>
              <a:rPr lang="en-GB" sz="2400" dirty="0"/>
              <a:t>T</a:t>
            </a:r>
            <a:r>
              <a:rPr lang="en-GB" sz="2400" dirty="0">
                <a:latin typeface="Tahoma" panose="020B0604030504040204" pitchFamily="34" charset="0"/>
                <a:ea typeface="Tahoma" panose="020B0604030504040204" pitchFamily="34" charset="0"/>
                <a:cs typeface="Tahoma" panose="020B0604030504040204" pitchFamily="34" charset="0"/>
              </a:rPr>
              <a:t>he Road Sector in Africa</a:t>
            </a:r>
          </a:p>
          <a:p>
            <a:pPr marL="514350" indent="-51435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AutoNum type="arabicPeriod"/>
            </a:pPr>
            <a:r>
              <a:rPr lang="en-GB" sz="2400" dirty="0">
                <a:latin typeface="Tahoma" panose="020B0604030504040204" pitchFamily="34" charset="0"/>
                <a:ea typeface="Tahoma" panose="020B0604030504040204" pitchFamily="34" charset="0"/>
                <a:cs typeface="Tahoma" panose="020B0604030504040204" pitchFamily="34" charset="0"/>
              </a:rPr>
              <a:t>Bank Support to the Road Sector in Africa</a:t>
            </a:r>
          </a:p>
          <a:p>
            <a:pPr marL="514350" indent="-51435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Tw Cen MT" panose="020B0602020104020603" pitchFamily="34" charset="0"/>
              <a:buAutoNum type="arabicPeriod"/>
            </a:pPr>
            <a:r>
              <a:rPr lang="en-GB" sz="2400" dirty="0"/>
              <a:t>Technical Overview of </a:t>
            </a:r>
            <a:r>
              <a:rPr lang="en-GB" sz="2400" dirty="0">
                <a:latin typeface="Tahoma" panose="020B0604030504040204" pitchFamily="34" charset="0"/>
                <a:ea typeface="Tahoma" panose="020B0604030504040204" pitchFamily="34" charset="0"/>
                <a:cs typeface="Tahoma" panose="020B0604030504040204" pitchFamily="34" charset="0"/>
              </a:rPr>
              <a:t>Sustainable Road Maintenance Program for Africa (SRMPA)</a:t>
            </a:r>
          </a:p>
          <a:p>
            <a:pPr marL="514350" indent="-514350">
              <a:buFont typeface="Tw Cen MT" panose="020B0602020104020603" pitchFamily="34" charset="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Tw Cen MT" panose="020B0602020104020603" pitchFamily="34" charset="0"/>
              <a:buAutoNum type="arabicPeriod"/>
            </a:pPr>
            <a:r>
              <a:rPr lang="en-GB" sz="2400" dirty="0">
                <a:latin typeface="Tahoma" panose="020B0604030504040204" pitchFamily="34" charset="0"/>
                <a:ea typeface="Tahoma" panose="020B0604030504040204" pitchFamily="34" charset="0"/>
                <a:cs typeface="Tahoma" panose="020B0604030504040204" pitchFamily="34" charset="0"/>
              </a:rPr>
              <a:t>SRMPA Phase 2</a:t>
            </a:r>
          </a:p>
          <a:p>
            <a:pPr marL="514350" indent="-514350">
              <a:buFont typeface="Tw Cen MT" panose="020B0602020104020603" pitchFamily="34" charset="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Tw Cen MT" panose="020B0602020104020603" pitchFamily="34" charset="0"/>
              <a:buAutoNum type="arabicPeriod"/>
            </a:pPr>
            <a:r>
              <a:rPr lang="en-GB" sz="2400" dirty="0">
                <a:latin typeface="Tahoma" panose="020B0604030504040204" pitchFamily="34" charset="0"/>
                <a:ea typeface="Tahoma" panose="020B0604030504040204" pitchFamily="34" charset="0"/>
                <a:cs typeface="Tahoma" panose="020B0604030504040204" pitchFamily="34" charset="0"/>
              </a:rPr>
              <a:t>Conclusion</a:t>
            </a:r>
          </a:p>
          <a:p>
            <a:pPr marL="514350" indent="-514350">
              <a:buFont typeface="Tw Cen MT" panose="020B0602020104020603" pitchFamily="34" charset="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Tw Cen MT" panose="020B0602020104020603" pitchFamily="34" charset="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AutoNum type="arabicPeriod"/>
            </a:pPr>
            <a:endParaRPr lang="en-GB" sz="2400" dirty="0">
              <a:latin typeface="Tahoma" panose="020B0604030504040204" pitchFamily="34" charset="0"/>
              <a:ea typeface="Tahoma" panose="020B0604030504040204" pitchFamily="34" charset="0"/>
              <a:cs typeface="Tahoma" panose="020B0604030504040204" pitchFamily="34" charset="0"/>
            </a:endParaRPr>
          </a:p>
          <a:p>
            <a:pPr marL="514350" indent="-514350">
              <a:buAutoNum type="arabicPeriod"/>
            </a:pPr>
            <a:endParaRPr lang="en-UG" dirty="0">
              <a:latin typeface="Tahoma" panose="020B0604030504040204" pitchFamily="34" charset="0"/>
              <a:ea typeface="Tahoma" panose="020B0604030504040204" pitchFamily="34" charset="0"/>
              <a:cs typeface="Tahoma" panose="020B0604030504040204" pitchFamily="34" charset="0"/>
            </a:endParaRPr>
          </a:p>
          <a:p>
            <a:pPr marL="514350" indent="-514350">
              <a:buAutoNum type="arabicPeriod"/>
            </a:pPr>
            <a:endParaRPr lang="en-UG" dirty="0">
              <a:latin typeface="Tahoma" panose="020B0604030504040204" pitchFamily="34" charset="0"/>
              <a:ea typeface="Tahoma" panose="020B0604030504040204" pitchFamily="34" charset="0"/>
              <a:cs typeface="Tahoma" panose="020B0604030504040204" pitchFamily="34" charset="0"/>
            </a:endParaRPr>
          </a:p>
        </p:txBody>
      </p:sp>
      <p:pic>
        <p:nvPicPr>
          <p:cNvPr id="2" name="Picture 1">
            <a:extLst>
              <a:ext uri="{FF2B5EF4-FFF2-40B4-BE49-F238E27FC236}">
                <a16:creationId xmlns:a16="http://schemas.microsoft.com/office/drawing/2014/main" id="{E98D6D32-EF8F-7786-F52D-3453193B3655}"/>
              </a:ext>
            </a:extLst>
          </p:cNvPr>
          <p:cNvPicPr>
            <a:picLocks noChangeAspect="1"/>
          </p:cNvPicPr>
          <p:nvPr/>
        </p:nvPicPr>
        <p:blipFill>
          <a:blip r:embed="rId3"/>
          <a:stretch>
            <a:fillRect/>
          </a:stretch>
        </p:blipFill>
        <p:spPr>
          <a:xfrm>
            <a:off x="6550312" y="2141479"/>
            <a:ext cx="5131513" cy="2875584"/>
          </a:xfrm>
          <a:prstGeom prst="rect">
            <a:avLst/>
          </a:prstGeom>
        </p:spPr>
      </p:pic>
      <p:sp>
        <p:nvSpPr>
          <p:cNvPr id="4" name="Slide Number Placeholder 3">
            <a:extLst>
              <a:ext uri="{FF2B5EF4-FFF2-40B4-BE49-F238E27FC236}">
                <a16:creationId xmlns:a16="http://schemas.microsoft.com/office/drawing/2014/main" id="{50FBCDA4-87DA-7A33-DF59-1010E18F349D}"/>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2</a:t>
            </a:fld>
            <a:endParaRPr lang="en-US" dirty="0"/>
          </a:p>
        </p:txBody>
      </p:sp>
    </p:spTree>
    <p:extLst>
      <p:ext uri="{BB962C8B-B14F-4D97-AF65-F5344CB8AC3E}">
        <p14:creationId xmlns:p14="http://schemas.microsoft.com/office/powerpoint/2010/main" val="3016669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marR="0" lvl="0" indent="0" algn="l" defTabSz="457200" rtl="0" eaLnBrk="1" fontAlgn="auto" latinLnBrk="0" hangingPunct="1">
              <a:lnSpc>
                <a:spcPct val="90000"/>
              </a:lnSpc>
              <a:spcBef>
                <a:spcPct val="0"/>
              </a:spcBef>
              <a:spcAft>
                <a:spcPts val="800"/>
              </a:spcAft>
              <a:buClr>
                <a:prstClr val="black"/>
              </a:buClr>
              <a:buSzPts val="1400"/>
              <a:buFont typeface="Calibri"/>
              <a:buNone/>
              <a:tabLst/>
              <a:defRPr/>
            </a:pPr>
            <a:endParaRPr kumimoji="0" lang="en-US" sz="3000" b="0" i="0" u="none" strike="noStrike" kern="1200" cap="none" spc="0" normalizeH="0" baseline="0" noProof="0" dirty="0">
              <a:ln>
                <a:noFill/>
              </a:ln>
              <a:solidFill>
                <a:prstClr val="black"/>
              </a:solidFill>
              <a:effectLst/>
              <a:uLnTx/>
              <a:uFillTx/>
              <a:latin typeface="Calibri"/>
              <a:ea typeface="Calibri"/>
              <a:cs typeface="Calibri"/>
              <a:sym typeface="Calibri"/>
            </a:endParaRPr>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FR"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955916" y="191387"/>
            <a:ext cx="9720072" cy="1102182"/>
          </a:xfrm>
        </p:spPr>
        <p:txBody>
          <a:bodyPr>
            <a:normAutofit/>
          </a:bodyPr>
          <a:lstStyle/>
          <a:p>
            <a:r>
              <a:rPr lang="en-GB" sz="3600" b="1" dirty="0">
                <a:cs typeface="Tahoma" panose="020B0604030504040204" pitchFamily="34" charset="0"/>
              </a:rPr>
              <a:t>the road sector in Africa</a:t>
            </a:r>
            <a:endParaRPr lang="en-UG" sz="3600" b="1" dirty="0">
              <a:cs typeface="Tahoma" panose="020B0604030504040204" pitchFamily="34" charset="0"/>
            </a:endParaRPr>
          </a:p>
        </p:txBody>
      </p:sp>
      <p:sp>
        <p:nvSpPr>
          <p:cNvPr id="2" name="Slide Number Placeholder 1">
            <a:extLst>
              <a:ext uri="{FF2B5EF4-FFF2-40B4-BE49-F238E27FC236}">
                <a16:creationId xmlns:a16="http://schemas.microsoft.com/office/drawing/2014/main" id="{7754F9CD-FF90-B375-FBB7-24124F15DF43}"/>
              </a:ext>
            </a:extLst>
          </p:cNvPr>
          <p:cNvSpPr>
            <a:spLocks noGrp="1"/>
          </p:cNvSpPr>
          <p:nvPr>
            <p:ph type="sldNum" sz="quarter" idx="4294967295"/>
          </p:nvPr>
        </p:nvSpPr>
        <p:spPr>
          <a:xfrm>
            <a:off x="11218863" y="6470650"/>
            <a:ext cx="973137" cy="274638"/>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B5ECC12-AE2A-7F48-B84B-C0ED28A288DF}" type="slidenum">
              <a:rPr kumimoji="0" lang="en-US" sz="1000" b="0" i="0" u="none" strike="noStrike" kern="1200" cap="none" spc="0" normalizeH="0" baseline="0" noProof="0" smtClean="0">
                <a:ln>
                  <a:noFill/>
                </a:ln>
                <a:solidFill>
                  <a:prstClr val="black">
                    <a:lumMod val="95000"/>
                    <a:lumOff val="5000"/>
                  </a:prstClr>
                </a:solidFill>
                <a:effectLst/>
                <a:uLnTx/>
                <a:uFillTx/>
                <a:latin typeface="Tw Cen MT Condensed" panose="020B0606020104020203"/>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grpSp>
        <p:nvGrpSpPr>
          <p:cNvPr id="6" name="Google Shape;183;p4">
            <a:extLst>
              <a:ext uri="{FF2B5EF4-FFF2-40B4-BE49-F238E27FC236}">
                <a16:creationId xmlns:a16="http://schemas.microsoft.com/office/drawing/2014/main" id="{68A2F751-EB81-4C92-31C2-5484A9CE5810}"/>
              </a:ext>
            </a:extLst>
          </p:cNvPr>
          <p:cNvGrpSpPr>
            <a:grpSpLocks/>
          </p:cNvGrpSpPr>
          <p:nvPr/>
        </p:nvGrpSpPr>
        <p:grpSpPr bwMode="auto">
          <a:xfrm>
            <a:off x="1015984" y="1016742"/>
            <a:ext cx="9633766" cy="4840898"/>
            <a:chOff x="1080026" y="967793"/>
            <a:chExt cx="9036165" cy="4577456"/>
          </a:xfrm>
        </p:grpSpPr>
        <p:grpSp>
          <p:nvGrpSpPr>
            <p:cNvPr id="10" name="Google Shape;184;p4">
              <a:extLst>
                <a:ext uri="{FF2B5EF4-FFF2-40B4-BE49-F238E27FC236}">
                  <a16:creationId xmlns:a16="http://schemas.microsoft.com/office/drawing/2014/main" id="{263010AE-DC40-A1D0-99C3-2AA563E5CC10}"/>
                </a:ext>
              </a:extLst>
            </p:cNvPr>
            <p:cNvGrpSpPr>
              <a:grpSpLocks/>
            </p:cNvGrpSpPr>
            <p:nvPr/>
          </p:nvGrpSpPr>
          <p:grpSpPr bwMode="auto">
            <a:xfrm>
              <a:off x="1080026" y="967793"/>
              <a:ext cx="9036165" cy="4577456"/>
              <a:chOff x="1080026" y="967793"/>
              <a:chExt cx="9036165" cy="4577456"/>
            </a:xfrm>
          </p:grpSpPr>
          <p:grpSp>
            <p:nvGrpSpPr>
              <p:cNvPr id="14" name="Google Shape;185;p4">
                <a:extLst>
                  <a:ext uri="{FF2B5EF4-FFF2-40B4-BE49-F238E27FC236}">
                    <a16:creationId xmlns:a16="http://schemas.microsoft.com/office/drawing/2014/main" id="{15ABA954-35CC-7D9E-A476-4C7DC0340600}"/>
                  </a:ext>
                </a:extLst>
              </p:cNvPr>
              <p:cNvGrpSpPr>
                <a:grpSpLocks/>
              </p:cNvGrpSpPr>
              <p:nvPr/>
            </p:nvGrpSpPr>
            <p:grpSpPr bwMode="auto">
              <a:xfrm>
                <a:off x="1080026" y="967793"/>
                <a:ext cx="8775191" cy="3642990"/>
                <a:chOff x="1011936" y="1210478"/>
                <a:chExt cx="8775191" cy="3642990"/>
              </a:xfrm>
            </p:grpSpPr>
            <p:sp>
              <p:nvSpPr>
                <p:cNvPr id="21" name="Google Shape;186;p4">
                  <a:extLst>
                    <a:ext uri="{FF2B5EF4-FFF2-40B4-BE49-F238E27FC236}">
                      <a16:creationId xmlns:a16="http://schemas.microsoft.com/office/drawing/2014/main" id="{FB5E11DD-CC9D-1B60-AA00-5EC564F2302E}"/>
                    </a:ext>
                  </a:extLst>
                </p:cNvPr>
                <p:cNvSpPr>
                  <a:spLocks noChangeArrowheads="1"/>
                </p:cNvSpPr>
                <p:nvPr/>
              </p:nvSpPr>
              <p:spPr bwMode="auto">
                <a:xfrm>
                  <a:off x="1939603" y="1210478"/>
                  <a:ext cx="7796783" cy="71691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2" name="Google Shape;187;p4">
                  <a:extLst>
                    <a:ext uri="{FF2B5EF4-FFF2-40B4-BE49-F238E27FC236}">
                      <a16:creationId xmlns:a16="http://schemas.microsoft.com/office/drawing/2014/main" id="{B92E34BD-DB1E-D974-07DA-570597A36E40}"/>
                    </a:ext>
                  </a:extLst>
                </p:cNvPr>
                <p:cNvSpPr>
                  <a:spLocks noChangeArrowheads="1"/>
                </p:cNvSpPr>
                <p:nvPr/>
              </p:nvSpPr>
              <p:spPr bwMode="auto">
                <a:xfrm>
                  <a:off x="1990344" y="2098058"/>
                  <a:ext cx="7796783" cy="92661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3" name="Google Shape;188;p4">
                  <a:extLst>
                    <a:ext uri="{FF2B5EF4-FFF2-40B4-BE49-F238E27FC236}">
                      <a16:creationId xmlns:a16="http://schemas.microsoft.com/office/drawing/2014/main" id="{4B2A7915-ED25-B68E-534E-DEA675A43B07}"/>
                    </a:ext>
                  </a:extLst>
                </p:cNvPr>
                <p:cNvSpPr>
                  <a:spLocks noChangeArrowheads="1"/>
                </p:cNvSpPr>
                <p:nvPr/>
              </p:nvSpPr>
              <p:spPr bwMode="auto">
                <a:xfrm>
                  <a:off x="1939603" y="3220953"/>
                  <a:ext cx="7796783" cy="768095"/>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4" name="Google Shape;189;p4">
                  <a:extLst>
                    <a:ext uri="{FF2B5EF4-FFF2-40B4-BE49-F238E27FC236}">
                      <a16:creationId xmlns:a16="http://schemas.microsoft.com/office/drawing/2014/main" id="{EDAC200A-DF52-BF77-A271-00ABB1386D0D}"/>
                    </a:ext>
                  </a:extLst>
                </p:cNvPr>
                <p:cNvSpPr>
                  <a:spLocks noChangeArrowheads="1"/>
                </p:cNvSpPr>
                <p:nvPr/>
              </p:nvSpPr>
              <p:spPr bwMode="auto">
                <a:xfrm>
                  <a:off x="1990344" y="4078869"/>
                  <a:ext cx="7796783" cy="774599"/>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5" name="Google Shape;190;p4">
                  <a:extLst>
                    <a:ext uri="{FF2B5EF4-FFF2-40B4-BE49-F238E27FC236}">
                      <a16:creationId xmlns:a16="http://schemas.microsoft.com/office/drawing/2014/main" id="{3FAFFA96-7AD0-8B5C-A102-8983FD5703CE}"/>
                    </a:ext>
                  </a:extLst>
                </p:cNvPr>
                <p:cNvSpPr>
                  <a:spLocks noChangeArrowheads="1"/>
                </p:cNvSpPr>
                <p:nvPr/>
              </p:nvSpPr>
              <p:spPr bwMode="auto">
                <a:xfrm>
                  <a:off x="1011936" y="1342173"/>
                  <a:ext cx="801624" cy="768096"/>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6" name="Google Shape;191;p4">
                  <a:extLst>
                    <a:ext uri="{FF2B5EF4-FFF2-40B4-BE49-F238E27FC236}">
                      <a16:creationId xmlns:a16="http://schemas.microsoft.com/office/drawing/2014/main" id="{9E0C0E35-EECA-C529-DDBF-C4C50298EF4B}"/>
                    </a:ext>
                  </a:extLst>
                </p:cNvPr>
                <p:cNvSpPr>
                  <a:spLocks noChangeArrowheads="1"/>
                </p:cNvSpPr>
                <p:nvPr/>
              </p:nvSpPr>
              <p:spPr bwMode="auto">
                <a:xfrm>
                  <a:off x="1011936" y="2256573"/>
                  <a:ext cx="801624" cy="768096"/>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7" name="Google Shape;192;p4">
                  <a:extLst>
                    <a:ext uri="{FF2B5EF4-FFF2-40B4-BE49-F238E27FC236}">
                      <a16:creationId xmlns:a16="http://schemas.microsoft.com/office/drawing/2014/main" id="{8EE7C761-3E87-287D-6DC3-F36F4A7075C3}"/>
                    </a:ext>
                  </a:extLst>
                </p:cNvPr>
                <p:cNvSpPr>
                  <a:spLocks noChangeArrowheads="1"/>
                </p:cNvSpPr>
                <p:nvPr/>
              </p:nvSpPr>
              <p:spPr bwMode="auto">
                <a:xfrm>
                  <a:off x="1011936" y="3170973"/>
                  <a:ext cx="801624" cy="768095"/>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8" name="Google Shape;193;p4">
                  <a:extLst>
                    <a:ext uri="{FF2B5EF4-FFF2-40B4-BE49-F238E27FC236}">
                      <a16:creationId xmlns:a16="http://schemas.microsoft.com/office/drawing/2014/main" id="{1F4D36E4-4B5F-6EFA-29FA-5208BDBB65F2}"/>
                    </a:ext>
                  </a:extLst>
                </p:cNvPr>
                <p:cNvSpPr>
                  <a:spLocks noChangeArrowheads="1"/>
                </p:cNvSpPr>
                <p:nvPr/>
              </p:nvSpPr>
              <p:spPr bwMode="auto">
                <a:xfrm>
                  <a:off x="1011936" y="4085373"/>
                  <a:ext cx="801624" cy="76809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30" name="Google Shape;194;p4">
                  <a:extLst>
                    <a:ext uri="{FF2B5EF4-FFF2-40B4-BE49-F238E27FC236}">
                      <a16:creationId xmlns:a16="http://schemas.microsoft.com/office/drawing/2014/main" id="{C28B0CA3-6B02-CB60-E36A-F03910A53EC7}"/>
                    </a:ext>
                  </a:extLst>
                </p:cNvPr>
                <p:cNvSpPr>
                  <a:spLocks noChangeArrowheads="1"/>
                </p:cNvSpPr>
                <p:nvPr/>
              </p:nvSpPr>
              <p:spPr bwMode="auto">
                <a:xfrm>
                  <a:off x="1085088" y="1552485"/>
                  <a:ext cx="615695" cy="37490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grpSp>
          <p:sp>
            <p:nvSpPr>
              <p:cNvPr id="15" name="Google Shape;195;p4">
                <a:extLst>
                  <a:ext uri="{FF2B5EF4-FFF2-40B4-BE49-F238E27FC236}">
                    <a16:creationId xmlns:a16="http://schemas.microsoft.com/office/drawing/2014/main" id="{43786FB8-8EC0-971B-8A3F-6F7583F8AA69}"/>
                  </a:ext>
                </a:extLst>
              </p:cNvPr>
              <p:cNvSpPr txBox="1"/>
              <p:nvPr/>
            </p:nvSpPr>
            <p:spPr>
              <a:xfrm>
                <a:off x="2395352" y="1054985"/>
                <a:ext cx="7372902" cy="521034"/>
              </a:xfrm>
              <a:prstGeom prst="rect">
                <a:avLst/>
              </a:prstGeom>
              <a:noFill/>
              <a:ln>
                <a:noFill/>
              </a:ln>
            </p:spPr>
            <p:txBody>
              <a:bodyPr spcFirstLastPara="1" lIns="0" tIns="13434" rIns="0" bIns="0">
                <a:spAutoFit/>
              </a:bodyPr>
              <a:lstStyle/>
              <a:p>
                <a:pPr marL="13434" marR="0" lvl="0" indent="0" algn="l" defTabSz="457200" rtl="0" eaLnBrk="1" fontAlgn="auto" latinLnBrk="0" hangingPunct="1">
                  <a:lnSpc>
                    <a:spcPct val="100000"/>
                  </a:lnSpc>
                  <a:spcBef>
                    <a:spcPts val="0"/>
                  </a:spcBef>
                  <a:spcAft>
                    <a:spcPts val="0"/>
                  </a:spcAft>
                  <a:buClr>
                    <a:srgbClr val="000000"/>
                  </a:buClr>
                  <a:buSzPts val="1100"/>
                  <a:buFontTx/>
                  <a:buNone/>
                  <a:tabLst/>
                  <a:defRPr/>
                </a:pPr>
                <a:r>
                  <a:rPr kumimoji="0" lang="en-US" sz="1164" b="1" i="1" u="none" strike="noStrike" kern="0" cap="none" spc="0" normalizeH="0" baseline="0" noProof="0" dirty="0">
                    <a:ln>
                      <a:noFill/>
                    </a:ln>
                    <a:solidFill>
                      <a:srgbClr val="1D1D1B"/>
                    </a:solidFill>
                    <a:effectLst/>
                    <a:uLnTx/>
                    <a:uFillTx/>
                    <a:latin typeface="Arial"/>
                    <a:ea typeface="Arial"/>
                    <a:cs typeface="Arial"/>
                    <a:sym typeface="Arial"/>
                  </a:rPr>
                  <a:t>Road transport predominates on the continent :</a:t>
                </a:r>
                <a:endParaRPr kumimoji="0" sz="1164" b="0" i="0" u="none" strike="noStrike" kern="0" cap="none" spc="0" normalizeH="0" baseline="0" noProof="0" dirty="0">
                  <a:ln>
                    <a:noFill/>
                  </a:ln>
                  <a:solidFill>
                    <a:prstClr val="black"/>
                  </a:solidFill>
                  <a:effectLst/>
                  <a:uLnTx/>
                  <a:uFillTx/>
                  <a:latin typeface="Arial"/>
                  <a:ea typeface="Arial"/>
                  <a:cs typeface="Arial"/>
                  <a:sym typeface="Arial"/>
                </a:endParaRPr>
              </a:p>
              <a:p>
                <a:pPr marL="386229" marR="0" lvl="0" indent="-105457" algn="l" defTabSz="457200" rtl="0" eaLnBrk="1" fontAlgn="auto" latinLnBrk="0" hangingPunct="1">
                  <a:lnSpc>
                    <a:spcPct val="100000"/>
                  </a:lnSpc>
                  <a:spcBef>
                    <a:spcPts val="0"/>
                  </a:spcBef>
                  <a:spcAft>
                    <a:spcPts val="0"/>
                  </a:spcAft>
                  <a:buClr>
                    <a:srgbClr val="1D1D1B"/>
                  </a:buClr>
                  <a:buSzPts val="1100"/>
                  <a:buFont typeface="Arial"/>
                  <a:buChar char="•"/>
                  <a:tabLst/>
                  <a:defRPr/>
                </a:pPr>
                <a:r>
                  <a:rPr kumimoji="0" lang="en-US" sz="1164" b="0" i="0" u="none" strike="noStrike" kern="0" cap="none" spc="0" normalizeH="0" baseline="0" noProof="0" dirty="0">
                    <a:ln>
                      <a:noFill/>
                    </a:ln>
                    <a:solidFill>
                      <a:srgbClr val="1D1D1B"/>
                    </a:solidFill>
                    <a:effectLst/>
                    <a:uLnTx/>
                    <a:uFillTx/>
                    <a:latin typeface="Arial"/>
                    <a:ea typeface="Arial"/>
                    <a:cs typeface="Arial"/>
                    <a:sym typeface="Arial"/>
                  </a:rPr>
                  <a:t>80% of freight traffic</a:t>
                </a:r>
              </a:p>
              <a:p>
                <a:pPr marL="386229" marR="0" lvl="0" indent="-105457" algn="l" defTabSz="457200" rtl="0" eaLnBrk="1" fontAlgn="auto" latinLnBrk="0" hangingPunct="1">
                  <a:lnSpc>
                    <a:spcPct val="100000"/>
                  </a:lnSpc>
                  <a:spcBef>
                    <a:spcPts val="0"/>
                  </a:spcBef>
                  <a:spcAft>
                    <a:spcPts val="0"/>
                  </a:spcAft>
                  <a:buClr>
                    <a:srgbClr val="1D1D1B"/>
                  </a:buClr>
                  <a:buSzPts val="1100"/>
                  <a:buFont typeface="Arial"/>
                  <a:buChar char="•"/>
                  <a:tabLst/>
                  <a:defRPr/>
                </a:pPr>
                <a:r>
                  <a:rPr kumimoji="0" lang="en-US" sz="1164" b="0" i="0" u="none" strike="noStrike" kern="0" cap="none" spc="0" normalizeH="0" baseline="0" noProof="0" dirty="0">
                    <a:ln>
                      <a:noFill/>
                    </a:ln>
                    <a:solidFill>
                      <a:srgbClr val="1D1D1B"/>
                    </a:solidFill>
                    <a:effectLst/>
                    <a:uLnTx/>
                    <a:uFillTx/>
                    <a:latin typeface="Arial"/>
                    <a:ea typeface="Arial"/>
                    <a:cs typeface="Arial"/>
                    <a:sym typeface="Arial"/>
                  </a:rPr>
                  <a:t>About 90% of passenger traffic</a:t>
                </a:r>
                <a:endParaRPr kumimoji="0" sz="1164" b="0" i="0" u="none" strike="noStrike" kern="0" cap="none" spc="0" normalizeH="0" baseline="0" noProof="0" dirty="0">
                  <a:ln>
                    <a:noFill/>
                  </a:ln>
                  <a:solidFill>
                    <a:prstClr val="black"/>
                  </a:solidFill>
                  <a:effectLst/>
                  <a:uLnTx/>
                  <a:uFillTx/>
                  <a:latin typeface="Arial"/>
                  <a:ea typeface="Arial"/>
                  <a:cs typeface="Arial"/>
                  <a:sym typeface="Arial"/>
                </a:endParaRPr>
              </a:p>
            </p:txBody>
          </p:sp>
          <p:sp>
            <p:nvSpPr>
              <p:cNvPr id="16" name="Google Shape;196;p4">
                <a:extLst>
                  <a:ext uri="{FF2B5EF4-FFF2-40B4-BE49-F238E27FC236}">
                    <a16:creationId xmlns:a16="http://schemas.microsoft.com/office/drawing/2014/main" id="{11E82217-A691-F58D-059A-5792B5A1D16B}"/>
                  </a:ext>
                </a:extLst>
              </p:cNvPr>
              <p:cNvSpPr txBox="1">
                <a:spLocks noChangeArrowheads="1"/>
              </p:cNvSpPr>
              <p:nvPr/>
            </p:nvSpPr>
            <p:spPr bwMode="auto">
              <a:xfrm>
                <a:off x="2221941" y="1562324"/>
                <a:ext cx="7894250" cy="39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434" rIns="0" bIns="0">
                <a:spAutoFit/>
              </a:bodyPr>
              <a:lstStyle>
                <a:lvl1pPr marL="127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Countries have developed extended their road networks, but they remain largely inadequate in terms of length </a:t>
                </a: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and density:</a:t>
                </a:r>
                <a:endParaRPr kumimoji="0" lang="en-US" altLang="en-US" sz="1164"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FFFFFF"/>
                  </a:buClr>
                  <a:buSzPts val="1100"/>
                  <a:buFont typeface="Arial" panose="020B0604020202020204" pitchFamily="34" charset="0"/>
                  <a:buChar char="•"/>
                  <a:tabLst/>
                  <a:defRPr/>
                </a:pPr>
                <a:r>
                  <a:rPr kumimoji="0" lang="en-US" altLang="en-US" sz="1164"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2.5 million kilometers, of which only 27% are surfaced, compared with 60% in India and 66% in China</a:t>
                </a:r>
              </a:p>
              <a:p>
                <a:pPr marL="12700" marR="0" lvl="0" indent="0" algn="l" defTabSz="457200" rtl="0" eaLnBrk="1" fontAlgn="auto" latinLnBrk="0" hangingPunct="1">
                  <a:lnSpc>
                    <a:spcPct val="100000"/>
                  </a:lnSpc>
                  <a:spcBef>
                    <a:spcPts val="0"/>
                  </a:spcBef>
                  <a:spcAft>
                    <a:spcPts val="0"/>
                  </a:spcAft>
                  <a:buClr>
                    <a:srgbClr val="FFFFFF"/>
                  </a:buClr>
                  <a:buSzPts val="1100"/>
                  <a:buFont typeface="Arial" panose="020B0604020202020204" pitchFamily="34" charset="0"/>
                  <a:buChar char="•"/>
                  <a:tabLst/>
                  <a:defRPr/>
                </a:pPr>
                <a:r>
                  <a:rPr kumimoji="0" lang="en-US" altLang="en-US" sz="1164"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204 km of roads per 1,000 km², compared with 944 km per 1,000 km² worldwide</a:t>
                </a:r>
                <a:endParaRPr kumimoji="0" lang="en-US" altLang="en-US" sz="1481"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kumimoji="0" lang="en-US" altLang="en-US" sz="1164" b="1" i="1"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rPr>
                  <a:t>Major investments have been made but not in network maintenance:</a:t>
                </a:r>
                <a:endParaRPr kumimoji="0" lang="en-US" altLang="en-US" sz="1164"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1D1D1B"/>
                  </a:buClr>
                  <a:buSzPts val="1100"/>
                  <a:buFont typeface="Arial" panose="020B0604020202020204" pitchFamily="34" charset="0"/>
                  <a:buChar char="•"/>
                  <a:tabLst/>
                  <a:defRPr/>
                </a:pPr>
                <a:r>
                  <a:rPr kumimoji="0" lang="en-US" altLang="en-US" sz="1164" b="0" i="0"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rPr>
                  <a:t>Since the 1980s, USD 150 billion has been invested in the road sector in sub-Saharan Africa.</a:t>
                </a:r>
              </a:p>
              <a:p>
                <a:pPr marL="12700" marR="0" lvl="0" indent="0" algn="l" defTabSz="457200" rtl="0" eaLnBrk="1" fontAlgn="auto" latinLnBrk="0" hangingPunct="1">
                  <a:lnSpc>
                    <a:spcPct val="100000"/>
                  </a:lnSpc>
                  <a:spcBef>
                    <a:spcPts val="0"/>
                  </a:spcBef>
                  <a:spcAft>
                    <a:spcPts val="0"/>
                  </a:spcAft>
                  <a:buClr>
                    <a:srgbClr val="1D1D1B"/>
                  </a:buClr>
                  <a:buSzPts val="1100"/>
                  <a:buFont typeface="Arial" panose="020B0604020202020204" pitchFamily="34" charset="0"/>
                  <a:buChar char="•"/>
                  <a:tabLst/>
                  <a:defRPr/>
                </a:pPr>
                <a:r>
                  <a:rPr kumimoji="0" lang="en-US" altLang="en-US" sz="1164" b="0" i="0" u="none" strike="noStrike" kern="1200" cap="none" spc="0" normalizeH="0" baseline="0" noProof="0" dirty="0">
                    <a:ln>
                      <a:noFill/>
                    </a:ln>
                    <a:solidFill>
                      <a:srgbClr val="1D1D1B"/>
                    </a:solidFill>
                    <a:effectLst/>
                    <a:uLnTx/>
                    <a:uFillTx/>
                    <a:latin typeface="Arial" panose="020B0604020202020204" pitchFamily="34" charset="0"/>
                    <a:ea typeface="+mn-ea"/>
                    <a:cs typeface="Arial" panose="020B0604020202020204" pitchFamily="34" charset="0"/>
                    <a:sym typeface="Arial" panose="020B0604020202020204" pitchFamily="34" charset="0"/>
                  </a:rPr>
                  <a:t>Over the next decade, 30% of this investment will be lost due to lack of maintenance</a:t>
                </a:r>
                <a:endParaRPr kumimoji="0" lang="en-US" altLang="en-US" sz="1164"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endPar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793"/>
                  </a:spcBef>
                  <a:spcAft>
                    <a:spcPts val="0"/>
                  </a:spcAft>
                  <a:buClr>
                    <a:srgbClr val="000000"/>
                  </a:buClr>
                  <a:buSzPts val="1100"/>
                  <a:buFont typeface="Arial" panose="020B0604020202020204" pitchFamily="34" charset="0"/>
                  <a:buNone/>
                  <a:tabLst/>
                  <a:defRPr/>
                </a:pPr>
                <a:r>
                  <a:rPr kumimoji="0" lang="en-US" altLang="en-US" sz="1164"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Maintenance includes:</a:t>
                </a:r>
                <a:endParaRPr kumimoji="0" lang="en-US" altLang="en-US" sz="1164"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12700" marR="0" lvl="0" indent="0" algn="l" defTabSz="457200" rtl="0" eaLnBrk="1" fontAlgn="auto" latinLnBrk="0" hangingPunct="1">
                  <a:lnSpc>
                    <a:spcPct val="100000"/>
                  </a:lnSpc>
                  <a:spcBef>
                    <a:spcPts val="0"/>
                  </a:spcBef>
                  <a:spcAft>
                    <a:spcPts val="0"/>
                  </a:spcAft>
                  <a:buClr>
                    <a:srgbClr val="FFFFFF"/>
                  </a:buClr>
                  <a:buSzPts val="1100"/>
                  <a:buFont typeface="Arial" panose="020B0604020202020204" pitchFamily="34" charset="0"/>
                  <a:buChar char="•"/>
                  <a:tabLst/>
                  <a:defRPr/>
                </a:pPr>
                <a:r>
                  <a:rPr kumimoji="0" lang="en-US" altLang="en-US" sz="1164"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Routine: work planned and carried out throughout the year to maintain and preserve the road. Periodic: multi-year renewal of the surface course or resurfacing course of an unpaved road to repair wear resulting from traffic by</a:t>
                </a:r>
                <a:endParaRPr kumimoji="0" lang="fr-FR" altLang="en-US" sz="1164"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7" name="Google Shape;197;p4">
                <a:extLst>
                  <a:ext uri="{FF2B5EF4-FFF2-40B4-BE49-F238E27FC236}">
                    <a16:creationId xmlns:a16="http://schemas.microsoft.com/office/drawing/2014/main" id="{4FC8B1A3-5BB8-84D3-F901-C7E8FF4E773E}"/>
                  </a:ext>
                </a:extLst>
              </p:cNvPr>
              <p:cNvSpPr>
                <a:spLocks noChangeArrowheads="1"/>
              </p:cNvSpPr>
              <p:nvPr/>
            </p:nvSpPr>
            <p:spPr bwMode="auto">
              <a:xfrm>
                <a:off x="1231715" y="2123616"/>
                <a:ext cx="551688" cy="548639"/>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18" name="Google Shape;198;p4">
                <a:extLst>
                  <a:ext uri="{FF2B5EF4-FFF2-40B4-BE49-F238E27FC236}">
                    <a16:creationId xmlns:a16="http://schemas.microsoft.com/office/drawing/2014/main" id="{7AF9E601-7542-A718-E8DA-716A75FEA1DF}"/>
                  </a:ext>
                </a:extLst>
              </p:cNvPr>
              <p:cNvSpPr>
                <a:spLocks noChangeArrowheads="1"/>
              </p:cNvSpPr>
              <p:nvPr/>
            </p:nvSpPr>
            <p:spPr bwMode="auto">
              <a:xfrm>
                <a:off x="1177562" y="3110409"/>
                <a:ext cx="606551" cy="502919"/>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19" name="Google Shape;199;p4">
                <a:extLst>
                  <a:ext uri="{FF2B5EF4-FFF2-40B4-BE49-F238E27FC236}">
                    <a16:creationId xmlns:a16="http://schemas.microsoft.com/office/drawing/2014/main" id="{53AF9A0A-0CF9-72E3-5AEE-BCFCD3FD3D77}"/>
                  </a:ext>
                </a:extLst>
              </p:cNvPr>
              <p:cNvSpPr>
                <a:spLocks noChangeArrowheads="1"/>
              </p:cNvSpPr>
              <p:nvPr/>
            </p:nvSpPr>
            <p:spPr bwMode="auto">
              <a:xfrm>
                <a:off x="1195011" y="3987087"/>
                <a:ext cx="554735" cy="554736"/>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20" name="Google Shape;195;p4">
                <a:extLst>
                  <a:ext uri="{FF2B5EF4-FFF2-40B4-BE49-F238E27FC236}">
                    <a16:creationId xmlns:a16="http://schemas.microsoft.com/office/drawing/2014/main" id="{210AB0D7-6A09-0E4C-4CE5-5D77517F850C}"/>
                  </a:ext>
                </a:extLst>
              </p:cNvPr>
              <p:cNvSpPr txBox="1">
                <a:spLocks noChangeArrowheads="1"/>
              </p:cNvSpPr>
              <p:nvPr/>
            </p:nvSpPr>
            <p:spPr bwMode="auto">
              <a:xfrm>
                <a:off x="2353718" y="3827020"/>
                <a:ext cx="7371327" cy="65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434"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altLang="en-US" sz="1058"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Arial" panose="020B0604020202020204" pitchFamily="34" charset="0"/>
                  </a:rPr>
                  <a:t>Maintenance includes:</a:t>
                </a:r>
              </a:p>
              <a:p>
                <a:pPr marL="0" marR="0" lvl="0" indent="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altLang="en-US" sz="1058"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Arial" panose="020B0604020202020204" pitchFamily="34" charset="0"/>
                  </a:rPr>
                  <a:t>Routine maintenance: work planned and carried out throughout the year to maintain and preserve the road.</a:t>
                </a:r>
              </a:p>
              <a:p>
                <a:pPr marL="0" marR="0" lvl="0" indent="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altLang="en-US" sz="1058"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Arial" panose="020B0604020202020204" pitchFamily="34" charset="0"/>
                  </a:rPr>
                  <a:t>Periodic maintenance: multi-year renewal of the surface course or resurfacing by gravelling or other means of the wearing course of an unpaved road to </a:t>
                </a:r>
                <a:r>
                  <a:rPr kumimoji="0" lang="en-US" altLang="en-US" sz="1269"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Arial" panose="020B0604020202020204" pitchFamily="34" charset="0"/>
                  </a:rPr>
                  <a:t>repair wear resulting from trafﬁc</a:t>
                </a:r>
              </a:p>
            </p:txBody>
          </p:sp>
        </p:grpSp>
        <p:sp>
          <p:nvSpPr>
            <p:cNvPr id="11" name="Google Shape;200;p4">
              <a:extLst>
                <a:ext uri="{FF2B5EF4-FFF2-40B4-BE49-F238E27FC236}">
                  <a16:creationId xmlns:a16="http://schemas.microsoft.com/office/drawing/2014/main" id="{01539E1D-BDDC-1196-CD28-B1A8E4FBF9F1}"/>
                </a:ext>
              </a:extLst>
            </p:cNvPr>
            <p:cNvSpPr>
              <a:spLocks noChangeArrowheads="1"/>
            </p:cNvSpPr>
            <p:nvPr/>
          </p:nvSpPr>
          <p:spPr bwMode="auto">
            <a:xfrm>
              <a:off x="1974562" y="4750014"/>
              <a:ext cx="7796700" cy="483021"/>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457200" marR="0" lvl="1" indent="0" algn="l" defTabSz="4572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kumimoji="0" lang="en-US" altLang="en-US" sz="1164" b="1"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Access to rural areas is worse, with only 34% of the population within two (2) km of an all-weather road, compared with 50% in other parts of the developing world.</a:t>
              </a:r>
              <a:endParaRPr kumimoji="0" lang="en-US" altLang="en-US" sz="1904"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12" name="Google Shape;201;p4">
              <a:extLst>
                <a:ext uri="{FF2B5EF4-FFF2-40B4-BE49-F238E27FC236}">
                  <a16:creationId xmlns:a16="http://schemas.microsoft.com/office/drawing/2014/main" id="{6E40D859-45F8-8451-E1BF-5DD1BE8386C0}"/>
                </a:ext>
              </a:extLst>
            </p:cNvPr>
            <p:cNvSpPr>
              <a:spLocks noChangeArrowheads="1"/>
            </p:cNvSpPr>
            <p:nvPr/>
          </p:nvSpPr>
          <p:spPr bwMode="auto">
            <a:xfrm>
              <a:off x="1080026" y="4759580"/>
              <a:ext cx="801624" cy="768095"/>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pic>
          <p:nvPicPr>
            <p:cNvPr id="13" name="Google Shape;202;p4" descr="Une image contenant noir, obscurité&#10;&#10;Description générée automatiquement">
              <a:extLst>
                <a:ext uri="{FF2B5EF4-FFF2-40B4-BE49-F238E27FC236}">
                  <a16:creationId xmlns:a16="http://schemas.microsoft.com/office/drawing/2014/main" id="{824023E0-3250-803D-65B2-9FE8D618949B}"/>
                </a:ext>
              </a:extLst>
            </p:cNvPr>
            <p:cNvPicPr preferRelativeResize="0">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5471" y="4870519"/>
              <a:ext cx="528320" cy="52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 name="Google Shape;176;p4">
            <a:extLst>
              <a:ext uri="{FF2B5EF4-FFF2-40B4-BE49-F238E27FC236}">
                <a16:creationId xmlns:a16="http://schemas.microsoft.com/office/drawing/2014/main" id="{4CA2CE9C-2CDE-17BA-946A-BB6B9AF8D324}"/>
              </a:ext>
            </a:extLst>
          </p:cNvPr>
          <p:cNvGrpSpPr>
            <a:grpSpLocks/>
          </p:cNvGrpSpPr>
          <p:nvPr/>
        </p:nvGrpSpPr>
        <p:grpSpPr bwMode="auto">
          <a:xfrm>
            <a:off x="1160387" y="5734377"/>
            <a:ext cx="9489363" cy="1010911"/>
            <a:chOff x="917447" y="5085112"/>
            <a:chExt cx="8970264" cy="984504"/>
          </a:xfrm>
        </p:grpSpPr>
        <p:grpSp>
          <p:nvGrpSpPr>
            <p:cNvPr id="32" name="Google Shape;177;p4">
              <a:extLst>
                <a:ext uri="{FF2B5EF4-FFF2-40B4-BE49-F238E27FC236}">
                  <a16:creationId xmlns:a16="http://schemas.microsoft.com/office/drawing/2014/main" id="{F44A1906-226F-8D7E-A24A-2CF82529BD6A}"/>
                </a:ext>
              </a:extLst>
            </p:cNvPr>
            <p:cNvGrpSpPr>
              <a:grpSpLocks/>
            </p:cNvGrpSpPr>
            <p:nvPr/>
          </p:nvGrpSpPr>
          <p:grpSpPr bwMode="auto">
            <a:xfrm>
              <a:off x="917447" y="5085112"/>
              <a:ext cx="8970264" cy="984504"/>
              <a:chOff x="917447" y="5085112"/>
              <a:chExt cx="8970264" cy="984504"/>
            </a:xfrm>
          </p:grpSpPr>
          <p:sp>
            <p:nvSpPr>
              <p:cNvPr id="35" name="Google Shape;178;p4">
                <a:extLst>
                  <a:ext uri="{FF2B5EF4-FFF2-40B4-BE49-F238E27FC236}">
                    <a16:creationId xmlns:a16="http://schemas.microsoft.com/office/drawing/2014/main" id="{2EDFC09A-D6D3-F528-8125-3FF24E752188}"/>
                  </a:ext>
                </a:extLst>
              </p:cNvPr>
              <p:cNvSpPr>
                <a:spLocks noChangeArrowheads="1"/>
              </p:cNvSpPr>
              <p:nvPr/>
            </p:nvSpPr>
            <p:spPr bwMode="auto">
              <a:xfrm>
                <a:off x="1014983" y="5191792"/>
                <a:ext cx="8772144" cy="768096"/>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36" name="Google Shape;179;p4">
                <a:extLst>
                  <a:ext uri="{FF2B5EF4-FFF2-40B4-BE49-F238E27FC236}">
                    <a16:creationId xmlns:a16="http://schemas.microsoft.com/office/drawing/2014/main" id="{C64F0A12-258F-199A-2068-04F913E5C2D1}"/>
                  </a:ext>
                </a:extLst>
              </p:cNvPr>
              <p:cNvSpPr>
                <a:spLocks noChangeArrowheads="1"/>
              </p:cNvSpPr>
              <p:nvPr/>
            </p:nvSpPr>
            <p:spPr bwMode="auto">
              <a:xfrm>
                <a:off x="917447" y="5085112"/>
                <a:ext cx="8970264" cy="984504"/>
              </a:xfrm>
              <a:prstGeom prst="rect">
                <a:avLst/>
              </a:prstGeom>
              <a:blipFill dpi="0" rotWithShape="1">
                <a:blip r:embed="rId1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grpSp>
        <p:sp>
          <p:nvSpPr>
            <p:cNvPr id="33" name="Google Shape;180;p4">
              <a:extLst>
                <a:ext uri="{FF2B5EF4-FFF2-40B4-BE49-F238E27FC236}">
                  <a16:creationId xmlns:a16="http://schemas.microsoft.com/office/drawing/2014/main" id="{13FFAE84-C5A2-1522-2187-BD4E990F9AF4}"/>
                </a:ext>
              </a:extLst>
            </p:cNvPr>
            <p:cNvSpPr txBox="1">
              <a:spLocks noChangeArrowheads="1"/>
            </p:cNvSpPr>
            <p:nvPr/>
          </p:nvSpPr>
          <p:spPr bwMode="auto">
            <a:xfrm>
              <a:off x="2708656" y="5401865"/>
              <a:ext cx="6036945" cy="395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434" rIns="0" bIns="0">
              <a:spAutoFit/>
            </a:bodyPr>
            <a:lstStyle>
              <a:lvl1pPr marL="127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2700" marR="0" lvl="0" indent="0" algn="l" defTabSz="4572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kumimoji="0" lang="en-US" altLang="en-US" sz="1481"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The absence or inadequacy of network maintenance will add to the new needs requiring ﬁnancing of USD 140 billion by 2030</a:t>
              </a:r>
              <a:endParaRPr kumimoji="0" lang="en-US" altLang="en-US" sz="1481"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4" name="Google Shape;181;p4">
              <a:extLst>
                <a:ext uri="{FF2B5EF4-FFF2-40B4-BE49-F238E27FC236}">
                  <a16:creationId xmlns:a16="http://schemas.microsoft.com/office/drawing/2014/main" id="{47DA4514-4ECB-6BAB-8555-9CF9FA1BD98B}"/>
                </a:ext>
              </a:extLst>
            </p:cNvPr>
            <p:cNvSpPr>
              <a:spLocks noChangeArrowheads="1"/>
            </p:cNvSpPr>
            <p:nvPr/>
          </p:nvSpPr>
          <p:spPr bwMode="auto">
            <a:xfrm>
              <a:off x="1139415" y="5274243"/>
              <a:ext cx="658368" cy="655319"/>
            </a:xfrm>
            <a:prstGeom prst="rect">
              <a:avLst/>
            </a:prstGeom>
            <a:blipFill dpi="0" rotWithShape="1">
              <a:blip r:embed="rId1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endParaRPr kumimoji="0" lang="en-US" altLang="en-US" sz="1904"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grpSp>
      <p:sp>
        <p:nvSpPr>
          <p:cNvPr id="42" name="Google Shape;181;p4">
            <a:extLst>
              <a:ext uri="{FF2B5EF4-FFF2-40B4-BE49-F238E27FC236}">
                <a16:creationId xmlns:a16="http://schemas.microsoft.com/office/drawing/2014/main" id="{3D9170DF-D003-B256-BE42-B6A97555F868}"/>
              </a:ext>
            </a:extLst>
          </p:cNvPr>
          <p:cNvSpPr>
            <a:spLocks noChangeArrowheads="1"/>
          </p:cNvSpPr>
          <p:nvPr/>
        </p:nvSpPr>
        <p:spPr bwMode="auto">
          <a:xfrm>
            <a:off x="10677191" y="5037383"/>
            <a:ext cx="1355701" cy="586862"/>
          </a:xfrm>
          <a:prstGeom prst="rect">
            <a:avLst/>
          </a:prstGeom>
          <a:noFill/>
          <a:ln>
            <a:noFill/>
          </a:ln>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panose="020B0604020202020204" pitchFamily="34" charset="0"/>
              <a:buNone/>
              <a:tabLst/>
              <a:defRPr/>
            </a:pPr>
            <a:r>
              <a:rPr kumimoji="0" lang="en-US" alt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Source: AfDB Road Asset Management Study 2020</a:t>
            </a:r>
          </a:p>
        </p:txBody>
      </p:sp>
    </p:spTree>
    <p:extLst>
      <p:ext uri="{BB962C8B-B14F-4D97-AF65-F5344CB8AC3E}">
        <p14:creationId xmlns:p14="http://schemas.microsoft.com/office/powerpoint/2010/main" val="761178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p:txBody>
          <a:bodyPr>
            <a:normAutofit/>
          </a:bodyPr>
          <a:lstStyle/>
          <a:p>
            <a:r>
              <a:rPr lang="en-GB" sz="3600" b="1" dirty="0">
                <a:cs typeface="Tahoma" panose="020B0604030504040204" pitchFamily="34" charset="0"/>
              </a:rPr>
              <a:t>Bank support to roads sector</a:t>
            </a:r>
            <a:endParaRPr lang="en-UG" sz="3600" b="1" dirty="0">
              <a:cs typeface="Tahoma" panose="020B0604030504040204" pitchFamily="34" charset="0"/>
            </a:endParaRPr>
          </a:p>
        </p:txBody>
      </p:sp>
      <p:sp>
        <p:nvSpPr>
          <p:cNvPr id="2" name="Text Placeholder 1">
            <a:extLst>
              <a:ext uri="{FF2B5EF4-FFF2-40B4-BE49-F238E27FC236}">
                <a16:creationId xmlns:a16="http://schemas.microsoft.com/office/drawing/2014/main" id="{478FBA7D-8D8B-90EB-5EDA-94249CB604AC}"/>
              </a:ext>
            </a:extLst>
          </p:cNvPr>
          <p:cNvSpPr>
            <a:spLocks noGrp="1"/>
          </p:cNvSpPr>
          <p:nvPr>
            <p:ph type="body" idx="1"/>
          </p:nvPr>
        </p:nvSpPr>
        <p:spPr>
          <a:xfrm>
            <a:off x="6192240" y="1475974"/>
            <a:ext cx="5442857" cy="1043168"/>
          </a:xfrm>
        </p:spPr>
        <p:txBody>
          <a:bodyPr>
            <a:normAutofit/>
          </a:bodyPr>
          <a:lstStyle/>
          <a:p>
            <a:pPr algn="ctr">
              <a:lnSpc>
                <a:spcPct val="100000"/>
              </a:lnSpc>
            </a:pPr>
            <a:r>
              <a:rPr lang="en-GB" sz="2000" b="1" dirty="0">
                <a:latin typeface="Tahoma" panose="020B0604030504040204" pitchFamily="34" charset="0"/>
              </a:rPr>
              <a:t>Focus on PPP Operations 2006 -2017</a:t>
            </a:r>
            <a:endParaRPr lang="en-UG" sz="2000" b="1" dirty="0">
              <a:latin typeface="Tahoma" panose="020B0604030504040204" pitchFamily="34" charset="0"/>
            </a:endParaRPr>
          </a:p>
        </p:txBody>
      </p:sp>
      <p:sp>
        <p:nvSpPr>
          <p:cNvPr id="9" name="Content Placeholder 8">
            <a:extLst>
              <a:ext uri="{FF2B5EF4-FFF2-40B4-BE49-F238E27FC236}">
                <a16:creationId xmlns:a16="http://schemas.microsoft.com/office/drawing/2014/main" id="{59AACB25-A327-09CC-B375-0ECE7CDF6470}"/>
              </a:ext>
            </a:extLst>
          </p:cNvPr>
          <p:cNvSpPr>
            <a:spLocks noGrp="1"/>
          </p:cNvSpPr>
          <p:nvPr>
            <p:ph sz="half" idx="2"/>
          </p:nvPr>
        </p:nvSpPr>
        <p:spPr>
          <a:xfrm>
            <a:off x="6429433" y="5008828"/>
            <a:ext cx="5158958" cy="1361517"/>
          </a:xfrm>
        </p:spPr>
        <p:txBody>
          <a:bodyPr>
            <a:noAutofit/>
          </a:bodyPr>
          <a:lstStyle/>
          <a:p>
            <a:pPr marL="285750" indent="-285750" algn="just">
              <a:buFont typeface="Wingdings" panose="05000000000000000000" pitchFamily="2" charset="2"/>
              <a:buChar char="q"/>
            </a:pPr>
            <a:r>
              <a:rPr lang="en-GB" sz="1600" dirty="0"/>
              <a:t>Between 2006 and 2017 ,65 PPP-related operations in 29 countries equivalent to US$ 3.8 Billion</a:t>
            </a:r>
          </a:p>
          <a:p>
            <a:pPr marL="285750" indent="-285750" algn="just">
              <a:buFont typeface="Wingdings" panose="05000000000000000000" pitchFamily="2" charset="2"/>
              <a:buChar char="q"/>
            </a:pPr>
            <a:r>
              <a:rPr lang="en-GB" sz="1600" dirty="0"/>
              <a:t>Transport sector represents 37%</a:t>
            </a:r>
          </a:p>
          <a:p>
            <a:pPr marL="285750" indent="-285750" algn="just">
              <a:buFont typeface="Wingdings" panose="05000000000000000000" pitchFamily="2" charset="2"/>
              <a:buChar char="q"/>
            </a:pPr>
            <a:r>
              <a:rPr lang="en-GB" sz="1600" dirty="0"/>
              <a:t>Upstream activities, i.e. enabling policy, regulatory and governance in period amount to US$ 884 million</a:t>
            </a:r>
            <a:endParaRPr lang="en-UG" sz="1600" dirty="0"/>
          </a:p>
        </p:txBody>
      </p:sp>
      <p:sp>
        <p:nvSpPr>
          <p:cNvPr id="10" name="Slide Number Placeholder 9">
            <a:extLst>
              <a:ext uri="{FF2B5EF4-FFF2-40B4-BE49-F238E27FC236}">
                <a16:creationId xmlns:a16="http://schemas.microsoft.com/office/drawing/2014/main" id="{AA424F0E-376F-4065-D23A-1A5291B31ABE}"/>
              </a:ext>
            </a:extLst>
          </p:cNvPr>
          <p:cNvSpPr>
            <a:spLocks noGrp="1"/>
          </p:cNvSpPr>
          <p:nvPr>
            <p:ph type="sldNum" sz="quarter" idx="12"/>
          </p:nvPr>
        </p:nvSpPr>
        <p:spPr/>
        <p:txBody>
          <a:bodyPr/>
          <a:lstStyle/>
          <a:p>
            <a:fld id="{6B5ECC12-AE2A-7F48-B84B-C0ED28A288DF}" type="slidenum">
              <a:rPr lang="en-US" smtClean="0"/>
              <a:t>4</a:t>
            </a:fld>
            <a:endParaRPr lang="en-US"/>
          </a:p>
        </p:txBody>
      </p:sp>
      <p:graphicFrame>
        <p:nvGraphicFramePr>
          <p:cNvPr id="3" name="Chart 2">
            <a:extLst>
              <a:ext uri="{FF2B5EF4-FFF2-40B4-BE49-F238E27FC236}">
                <a16:creationId xmlns:a16="http://schemas.microsoft.com/office/drawing/2014/main" id="{2589FD50-4841-5E48-02A9-3AD96F6918FB}"/>
              </a:ext>
            </a:extLst>
          </p:cNvPr>
          <p:cNvGraphicFramePr>
            <a:graphicFrameLocks/>
          </p:cNvGraphicFramePr>
          <p:nvPr/>
        </p:nvGraphicFramePr>
        <p:xfrm>
          <a:off x="5316847" y="224003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F44D0CFE-139E-333C-8DC0-F2415E2665E1}"/>
              </a:ext>
            </a:extLst>
          </p:cNvPr>
          <p:cNvGraphicFramePr>
            <a:graphicFrameLocks noGrp="1"/>
          </p:cNvGraphicFramePr>
          <p:nvPr/>
        </p:nvGraphicFramePr>
        <p:xfrm>
          <a:off x="8911412" y="3217787"/>
          <a:ext cx="2251640" cy="1066800"/>
        </p:xfrm>
        <a:graphic>
          <a:graphicData uri="http://schemas.openxmlformats.org/drawingml/2006/table">
            <a:tbl>
              <a:tblPr>
                <a:tableStyleId>{5C22544A-7EE6-4342-B048-85BDC9FD1C3A}</a:tableStyleId>
              </a:tblPr>
              <a:tblGrid>
                <a:gridCol w="1678147">
                  <a:extLst>
                    <a:ext uri="{9D8B030D-6E8A-4147-A177-3AD203B41FA5}">
                      <a16:colId xmlns:a16="http://schemas.microsoft.com/office/drawing/2014/main" val="3918634060"/>
                    </a:ext>
                  </a:extLst>
                </a:gridCol>
                <a:gridCol w="573493">
                  <a:extLst>
                    <a:ext uri="{9D8B030D-6E8A-4147-A177-3AD203B41FA5}">
                      <a16:colId xmlns:a16="http://schemas.microsoft.com/office/drawing/2014/main" val="1346826711"/>
                    </a:ext>
                  </a:extLst>
                </a:gridCol>
              </a:tblGrid>
              <a:tr h="182880">
                <a:tc>
                  <a:txBody>
                    <a:bodyPr/>
                    <a:lstStyle/>
                    <a:p>
                      <a:pPr algn="l" fontAlgn="b"/>
                      <a:r>
                        <a:rPr lang="en-GB" sz="1400" b="1" u="none" strike="noStrike" dirty="0">
                          <a:effectLst/>
                        </a:rPr>
                        <a:t>Sector</a:t>
                      </a:r>
                      <a:endParaRPr lang="en-GB" sz="14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400" b="1" u="none" strike="noStrike" dirty="0">
                          <a:effectLst/>
                        </a:rPr>
                        <a:t>%</a:t>
                      </a:r>
                      <a:endParaRPr lang="en-GB" sz="1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30335592"/>
                  </a:ext>
                </a:extLst>
              </a:tr>
              <a:tr h="182880">
                <a:tc>
                  <a:txBody>
                    <a:bodyPr/>
                    <a:lstStyle/>
                    <a:p>
                      <a:pPr algn="l" fontAlgn="b"/>
                      <a:r>
                        <a:rPr lang="en-GB" sz="1400" u="none" strike="noStrike">
                          <a:effectLst/>
                        </a:rPr>
                        <a:t>Power</a:t>
                      </a:r>
                      <a:endParaRPr lang="en-GB" sz="14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400" b="0" i="0" u="none" strike="noStrike" dirty="0">
                          <a:solidFill>
                            <a:srgbClr val="000000"/>
                          </a:solidFill>
                          <a:effectLst/>
                          <a:latin typeface="Calibri" panose="020F0502020204030204" pitchFamily="34" charset="0"/>
                        </a:rPr>
                        <a:t>57</a:t>
                      </a:r>
                      <a:endParaRPr lang="en-UG"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95563783"/>
                  </a:ext>
                </a:extLst>
              </a:tr>
              <a:tr h="182880">
                <a:tc>
                  <a:txBody>
                    <a:bodyPr/>
                    <a:lstStyle/>
                    <a:p>
                      <a:pPr algn="l" fontAlgn="b"/>
                      <a:r>
                        <a:rPr lang="en-GB" sz="1400" u="none" strike="noStrike">
                          <a:effectLst/>
                        </a:rPr>
                        <a:t>Transport</a:t>
                      </a:r>
                      <a:endParaRPr lang="en-GB" sz="14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400" u="none" strike="noStrike" dirty="0">
                          <a:effectLst/>
                        </a:rPr>
                        <a:t>37</a:t>
                      </a:r>
                      <a:endParaRPr lang="en-UG"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8432927"/>
                  </a:ext>
                </a:extLst>
              </a:tr>
              <a:tr h="182880">
                <a:tc>
                  <a:txBody>
                    <a:bodyPr/>
                    <a:lstStyle/>
                    <a:p>
                      <a:pPr algn="l" fontAlgn="b"/>
                      <a:r>
                        <a:rPr lang="en-GB" sz="1400" u="none" strike="noStrike" dirty="0">
                          <a:effectLst/>
                        </a:rPr>
                        <a:t>Agriculture</a:t>
                      </a:r>
                      <a:endParaRPr lang="en-GB" sz="14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400" u="none" strike="noStrike" dirty="0">
                          <a:effectLst/>
                        </a:rPr>
                        <a:t>4</a:t>
                      </a:r>
                      <a:endParaRPr lang="en-UG"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89228368"/>
                  </a:ext>
                </a:extLst>
              </a:tr>
              <a:tr h="182880">
                <a:tc>
                  <a:txBody>
                    <a:bodyPr/>
                    <a:lstStyle/>
                    <a:p>
                      <a:pPr algn="l" fontAlgn="b"/>
                      <a:r>
                        <a:rPr lang="en-GB" sz="1400" u="none" strike="noStrike" dirty="0">
                          <a:effectLst/>
                        </a:rPr>
                        <a:t>Industry and Mining</a:t>
                      </a:r>
                      <a:endParaRPr lang="en-GB" sz="14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400" u="none" strike="noStrike" dirty="0">
                          <a:effectLst/>
                        </a:rPr>
                        <a:t>2</a:t>
                      </a:r>
                      <a:endParaRPr lang="en-UG"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98265588"/>
                  </a:ext>
                </a:extLst>
              </a:tr>
            </a:tbl>
          </a:graphicData>
        </a:graphic>
      </p:graphicFrame>
      <p:sp>
        <p:nvSpPr>
          <p:cNvPr id="11" name="TextBox 10">
            <a:extLst>
              <a:ext uri="{FF2B5EF4-FFF2-40B4-BE49-F238E27FC236}">
                <a16:creationId xmlns:a16="http://schemas.microsoft.com/office/drawing/2014/main" id="{9149595F-FBAC-EC22-7416-373FCA90F63B}"/>
              </a:ext>
            </a:extLst>
          </p:cNvPr>
          <p:cNvSpPr txBox="1"/>
          <p:nvPr/>
        </p:nvSpPr>
        <p:spPr>
          <a:xfrm>
            <a:off x="8857757" y="2382321"/>
            <a:ext cx="2358950" cy="646331"/>
          </a:xfrm>
          <a:prstGeom prst="rect">
            <a:avLst/>
          </a:prstGeom>
          <a:noFill/>
        </p:spPr>
        <p:txBody>
          <a:bodyPr wrap="square">
            <a:spAutoFit/>
          </a:bodyPr>
          <a:lstStyle/>
          <a:p>
            <a:r>
              <a:rPr lang="en-GB" sz="1200" b="1" dirty="0"/>
              <a:t>Sectoral distribution of the Bank’s downstream financing support to PPPs</a:t>
            </a:r>
            <a:endParaRPr lang="en-UG" sz="1200" b="1" dirty="0"/>
          </a:p>
        </p:txBody>
      </p:sp>
      <p:sp>
        <p:nvSpPr>
          <p:cNvPr id="12" name="Text Placeholder 1">
            <a:extLst>
              <a:ext uri="{FF2B5EF4-FFF2-40B4-BE49-F238E27FC236}">
                <a16:creationId xmlns:a16="http://schemas.microsoft.com/office/drawing/2014/main" id="{13B22AEE-D920-1193-9D80-733FF5B8925A}"/>
              </a:ext>
            </a:extLst>
          </p:cNvPr>
          <p:cNvSpPr txBox="1">
            <a:spLocks/>
          </p:cNvSpPr>
          <p:nvPr/>
        </p:nvSpPr>
        <p:spPr>
          <a:xfrm>
            <a:off x="653144" y="1490158"/>
            <a:ext cx="4648200" cy="1043168"/>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accent1"/>
              </a:buClr>
              <a:buSzPct val="100000"/>
              <a:buFont typeface="Tw Cen MT" panose="020B0602020104020603" pitchFamily="34" charset="0"/>
              <a:buNone/>
              <a:defRPr sz="2300" b="0" kern="1200" cap="none" baseline="0">
                <a:solidFill>
                  <a:schemeClr val="accent1"/>
                </a:solidFill>
                <a:latin typeface="+mn-lt"/>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2000" b="1"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800" b="1"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9pPr>
          </a:lstStyle>
          <a:p>
            <a:pPr algn="ctr">
              <a:lnSpc>
                <a:spcPct val="100000"/>
              </a:lnSpc>
            </a:pPr>
            <a:r>
              <a:rPr lang="en-GB" sz="2000" b="1" dirty="0">
                <a:latin typeface="Tahoma" panose="020B0604030504040204" pitchFamily="34" charset="0"/>
              </a:rPr>
              <a:t>Road Sector Support 2011- 2023</a:t>
            </a:r>
            <a:endParaRPr lang="en-UG" sz="2000" b="1" dirty="0">
              <a:latin typeface="Tahoma" panose="020B0604030504040204" pitchFamily="34" charset="0"/>
            </a:endParaRPr>
          </a:p>
        </p:txBody>
      </p:sp>
      <p:sp>
        <p:nvSpPr>
          <p:cNvPr id="13" name="Content Placeholder 8">
            <a:extLst>
              <a:ext uri="{FF2B5EF4-FFF2-40B4-BE49-F238E27FC236}">
                <a16:creationId xmlns:a16="http://schemas.microsoft.com/office/drawing/2014/main" id="{48DF690C-04A4-D392-CB69-687D5BEE1A14}"/>
              </a:ext>
            </a:extLst>
          </p:cNvPr>
          <p:cNvSpPr txBox="1">
            <a:spLocks/>
          </p:cNvSpPr>
          <p:nvPr/>
        </p:nvSpPr>
        <p:spPr>
          <a:xfrm>
            <a:off x="548040" y="2519142"/>
            <a:ext cx="5158958" cy="3793693"/>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285750" indent="-285750" algn="just">
              <a:buFont typeface="Wingdings" panose="05000000000000000000" pitchFamily="2" charset="2"/>
              <a:buChar char="q"/>
            </a:pPr>
            <a:r>
              <a:rPr lang="en-GB" sz="1600" dirty="0"/>
              <a:t>The Road sub sector accounted for 60% of total funding of Transport sector between 2011- 2023.</a:t>
            </a:r>
          </a:p>
          <a:p>
            <a:pPr marL="285750" indent="-285750">
              <a:buFont typeface="Wingdings" panose="05000000000000000000" pitchFamily="2" charset="2"/>
              <a:buChar char="q"/>
            </a:pPr>
            <a:endParaRPr lang="en-GB" sz="1800" dirty="0"/>
          </a:p>
          <a:p>
            <a:pPr marL="514350" indent="-514350">
              <a:buFont typeface="Tw Cen MT" panose="020B0602020104020603" pitchFamily="34" charset="0"/>
              <a:buAutoNum type="arabicPeriod"/>
            </a:pPr>
            <a:endParaRPr lang="en-UG" sz="1800" dirty="0"/>
          </a:p>
          <a:p>
            <a:pPr marL="514350" indent="-514350">
              <a:buFont typeface="Tw Cen MT" panose="020B0602020104020603" pitchFamily="34" charset="0"/>
              <a:buAutoNum type="arabicPeriod"/>
            </a:pPr>
            <a:endParaRPr lang="en-UG" sz="1800" dirty="0"/>
          </a:p>
        </p:txBody>
      </p:sp>
      <p:graphicFrame>
        <p:nvGraphicFramePr>
          <p:cNvPr id="14" name="Google Shape;248;p8">
            <a:extLst>
              <a:ext uri="{FF2B5EF4-FFF2-40B4-BE49-F238E27FC236}">
                <a16:creationId xmlns:a16="http://schemas.microsoft.com/office/drawing/2014/main" id="{3675EFEC-5898-4743-778E-455FC52CE4FF}"/>
              </a:ext>
            </a:extLst>
          </p:cNvPr>
          <p:cNvGraphicFramePr/>
          <p:nvPr/>
        </p:nvGraphicFramePr>
        <p:xfrm>
          <a:off x="1318790" y="3595374"/>
          <a:ext cx="3769134"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Google Shape;249;p8">
            <a:extLst>
              <a:ext uri="{FF2B5EF4-FFF2-40B4-BE49-F238E27FC236}">
                <a16:creationId xmlns:a16="http://schemas.microsoft.com/office/drawing/2014/main" id="{CC0812BF-0D3F-72CB-D0E2-01EFFBF5B079}"/>
              </a:ext>
            </a:extLst>
          </p:cNvPr>
          <p:cNvSpPr txBox="1"/>
          <p:nvPr/>
        </p:nvSpPr>
        <p:spPr>
          <a:xfrm>
            <a:off x="2672978" y="4524657"/>
            <a:ext cx="946888" cy="86173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en-US" b="1" dirty="0"/>
              <a:t> </a:t>
            </a:r>
            <a:r>
              <a:rPr lang="en-US" altLang="en-US" sz="1600" b="1" dirty="0">
                <a:latin typeface="Tahoma" panose="020B0604030504040204" pitchFamily="34" charset="0"/>
                <a:ea typeface="Tahoma" panose="020B0604030504040204" pitchFamily="34" charset="0"/>
                <a:cs typeface="Tahoma" panose="020B0604030504040204" pitchFamily="34" charset="0"/>
              </a:rPr>
              <a:t>20.8 Billion US$</a:t>
            </a:r>
            <a:endParaRPr kumimoji="0" sz="14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sym typeface="Arial"/>
            </a:endParaRPr>
          </a:p>
        </p:txBody>
      </p:sp>
      <p:sp>
        <p:nvSpPr>
          <p:cNvPr id="6" name="Google Shape;249;p8">
            <a:extLst>
              <a:ext uri="{FF2B5EF4-FFF2-40B4-BE49-F238E27FC236}">
                <a16:creationId xmlns:a16="http://schemas.microsoft.com/office/drawing/2014/main" id="{209913F1-121B-F431-5432-DDF3B90A1930}"/>
              </a:ext>
            </a:extLst>
          </p:cNvPr>
          <p:cNvSpPr txBox="1"/>
          <p:nvPr/>
        </p:nvSpPr>
        <p:spPr>
          <a:xfrm>
            <a:off x="7113398" y="2984811"/>
            <a:ext cx="946888" cy="83095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en-US" sz="1600" b="1" dirty="0">
                <a:latin typeface="Tahoma" panose="020B0604030504040204" pitchFamily="34" charset="0"/>
                <a:ea typeface="Tahoma" panose="020B0604030504040204" pitchFamily="34" charset="0"/>
                <a:cs typeface="Tahoma" panose="020B0604030504040204" pitchFamily="34" charset="0"/>
              </a:rPr>
              <a:t> 3.8 Billion US$</a:t>
            </a:r>
            <a:endParaRPr kumimoji="0" sz="1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sym typeface="Arial"/>
            </a:endParaRPr>
          </a:p>
        </p:txBody>
      </p:sp>
    </p:spTree>
    <p:extLst>
      <p:ext uri="{BB962C8B-B14F-4D97-AF65-F5344CB8AC3E}">
        <p14:creationId xmlns:p14="http://schemas.microsoft.com/office/powerpoint/2010/main" val="265301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GENESIS of Sustainable Road Maintenance Program for Africa (SRMPA)</a:t>
            </a:r>
          </a:p>
        </p:txBody>
      </p:sp>
      <p:sp>
        <p:nvSpPr>
          <p:cNvPr id="9" name="Content Placeholder 8">
            <a:extLst>
              <a:ext uri="{FF2B5EF4-FFF2-40B4-BE49-F238E27FC236}">
                <a16:creationId xmlns:a16="http://schemas.microsoft.com/office/drawing/2014/main" id="{59AACB25-A327-09CC-B375-0ECE7CDF6470}"/>
              </a:ext>
            </a:extLst>
          </p:cNvPr>
          <p:cNvSpPr>
            <a:spLocks noGrp="1"/>
          </p:cNvSpPr>
          <p:nvPr>
            <p:ph idx="1"/>
          </p:nvPr>
        </p:nvSpPr>
        <p:spPr>
          <a:xfrm>
            <a:off x="914120" y="1639796"/>
            <a:ext cx="6133696" cy="4476978"/>
          </a:xfrm>
        </p:spPr>
        <p:txBody>
          <a:bodyPr>
            <a:noAutofit/>
          </a:bodyPr>
          <a:lstStyle/>
          <a:p>
            <a:pPr marL="285750" indent="-285750">
              <a:buFont typeface="Wingdings" panose="05000000000000000000" pitchFamily="2" charset="2"/>
              <a:buChar char="q"/>
            </a:pPr>
            <a:r>
              <a:rPr lang="en-GB" sz="1600" dirty="0"/>
              <a:t>GI Hub and MDB partners: African Development Bank, Asian Infrastructure Investment Bank, Asian Development Bank, European Bank for Reconstruction and Development, Inter-American Development Bank, Islamic Development Bank, World Bank, World Bank Global Infrastructure Facility.</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The program’s purpose is to help governments and investors in the roads sector in emerging markets make roads more sustainable by providing access to a pipeline of technology-enabled solutions</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Expressions of Interest kicked off in March 2023 for providers to share examples of innovations for scale up in road maintenance.</a:t>
            </a:r>
          </a:p>
          <a:p>
            <a:pPr marL="285750" indent="-285750">
              <a:buFont typeface="Wingdings" panose="05000000000000000000" pitchFamily="2" charset="2"/>
              <a:buChar char="q"/>
            </a:pPr>
            <a:r>
              <a:rPr lang="en-GB" sz="1600" dirty="0"/>
              <a:t>May 2023, GI Hub announced the 5 top innovations</a:t>
            </a:r>
          </a:p>
          <a:p>
            <a:pPr marL="285750" indent="-285750">
              <a:buFont typeface="Wingdings" panose="05000000000000000000" pitchFamily="2" charset="2"/>
              <a:buChar char="q"/>
            </a:pPr>
            <a:r>
              <a:rPr lang="en-GB" sz="1600" dirty="0"/>
              <a:t>SRMPA developed by AfDB and aligned to the GI Hub outcomes of testing and piloting innovation for sustainable road maintenance.</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endParaRPr lang="en-US" sz="1600" dirty="0"/>
          </a:p>
          <a:p>
            <a:pPr marL="514350" indent="-514350">
              <a:buAutoNum type="arabicPeriod"/>
            </a:pPr>
            <a:endParaRPr lang="en-UG" sz="1600" dirty="0"/>
          </a:p>
          <a:p>
            <a:pPr marL="514350" indent="-514350">
              <a:buAutoNum type="arabicPeriod"/>
            </a:pPr>
            <a:endParaRPr lang="en-UG" sz="1600" dirty="0"/>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5</a:t>
            </a:fld>
            <a:endParaRPr lang="en-US" dirty="0"/>
          </a:p>
        </p:txBody>
      </p:sp>
      <p:pic>
        <p:nvPicPr>
          <p:cNvPr id="6" name="Picture 5">
            <a:extLst>
              <a:ext uri="{FF2B5EF4-FFF2-40B4-BE49-F238E27FC236}">
                <a16:creationId xmlns:a16="http://schemas.microsoft.com/office/drawing/2014/main" id="{CD55307E-43A5-81CF-461D-004E0BEA541A}"/>
              </a:ext>
            </a:extLst>
          </p:cNvPr>
          <p:cNvPicPr>
            <a:picLocks noChangeAspect="1"/>
          </p:cNvPicPr>
          <p:nvPr/>
        </p:nvPicPr>
        <p:blipFill>
          <a:blip r:embed="rId3"/>
          <a:stretch>
            <a:fillRect/>
          </a:stretch>
        </p:blipFill>
        <p:spPr>
          <a:xfrm>
            <a:off x="7047816" y="1639796"/>
            <a:ext cx="4924737" cy="2573175"/>
          </a:xfrm>
          <a:prstGeom prst="rect">
            <a:avLst/>
          </a:prstGeom>
        </p:spPr>
      </p:pic>
      <p:pic>
        <p:nvPicPr>
          <p:cNvPr id="10" name="Picture 9">
            <a:extLst>
              <a:ext uri="{FF2B5EF4-FFF2-40B4-BE49-F238E27FC236}">
                <a16:creationId xmlns:a16="http://schemas.microsoft.com/office/drawing/2014/main" id="{DD0542BE-BCBA-9036-5219-ABC476000CD4}"/>
              </a:ext>
            </a:extLst>
          </p:cNvPr>
          <p:cNvPicPr>
            <a:picLocks noChangeAspect="1"/>
          </p:cNvPicPr>
          <p:nvPr/>
        </p:nvPicPr>
        <p:blipFill>
          <a:blip r:embed="rId4"/>
          <a:stretch>
            <a:fillRect/>
          </a:stretch>
        </p:blipFill>
        <p:spPr>
          <a:xfrm>
            <a:off x="7234346" y="4503994"/>
            <a:ext cx="2789339" cy="574902"/>
          </a:xfrm>
          <a:prstGeom prst="rect">
            <a:avLst/>
          </a:prstGeom>
        </p:spPr>
      </p:pic>
      <p:pic>
        <p:nvPicPr>
          <p:cNvPr id="11" name="Picture 10">
            <a:extLst>
              <a:ext uri="{FF2B5EF4-FFF2-40B4-BE49-F238E27FC236}">
                <a16:creationId xmlns:a16="http://schemas.microsoft.com/office/drawing/2014/main" id="{A33BF3E3-0709-CD1C-D0C7-12D4887B683F}"/>
              </a:ext>
            </a:extLst>
          </p:cNvPr>
          <p:cNvPicPr>
            <a:picLocks noChangeAspect="1"/>
          </p:cNvPicPr>
          <p:nvPr/>
        </p:nvPicPr>
        <p:blipFill>
          <a:blip r:embed="rId5"/>
          <a:stretch>
            <a:fillRect/>
          </a:stretch>
        </p:blipFill>
        <p:spPr>
          <a:xfrm>
            <a:off x="7114415" y="5255592"/>
            <a:ext cx="1204637" cy="1204637"/>
          </a:xfrm>
          <a:prstGeom prst="rect">
            <a:avLst/>
          </a:prstGeom>
        </p:spPr>
      </p:pic>
      <p:pic>
        <p:nvPicPr>
          <p:cNvPr id="12" name="Picture 11">
            <a:extLst>
              <a:ext uri="{FF2B5EF4-FFF2-40B4-BE49-F238E27FC236}">
                <a16:creationId xmlns:a16="http://schemas.microsoft.com/office/drawing/2014/main" id="{EB31096F-2D19-C788-C5E5-AA7D5D41D826}"/>
              </a:ext>
            </a:extLst>
          </p:cNvPr>
          <p:cNvPicPr>
            <a:picLocks noChangeAspect="1"/>
          </p:cNvPicPr>
          <p:nvPr/>
        </p:nvPicPr>
        <p:blipFill>
          <a:blip r:embed="rId6"/>
          <a:stretch>
            <a:fillRect/>
          </a:stretch>
        </p:blipFill>
        <p:spPr>
          <a:xfrm>
            <a:off x="8737581" y="5255592"/>
            <a:ext cx="1118380" cy="1046688"/>
          </a:xfrm>
          <a:prstGeom prst="rect">
            <a:avLst/>
          </a:prstGeom>
        </p:spPr>
      </p:pic>
      <p:pic>
        <p:nvPicPr>
          <p:cNvPr id="13" name="Picture 12">
            <a:extLst>
              <a:ext uri="{FF2B5EF4-FFF2-40B4-BE49-F238E27FC236}">
                <a16:creationId xmlns:a16="http://schemas.microsoft.com/office/drawing/2014/main" id="{6E15E1BB-2383-3D98-9B83-AC46ACFCB670}"/>
              </a:ext>
            </a:extLst>
          </p:cNvPr>
          <p:cNvPicPr>
            <a:picLocks noChangeAspect="1"/>
          </p:cNvPicPr>
          <p:nvPr/>
        </p:nvPicPr>
        <p:blipFill>
          <a:blip r:embed="rId7"/>
          <a:stretch>
            <a:fillRect/>
          </a:stretch>
        </p:blipFill>
        <p:spPr>
          <a:xfrm>
            <a:off x="10422257" y="5328415"/>
            <a:ext cx="1456248" cy="973866"/>
          </a:xfrm>
          <a:prstGeom prst="rect">
            <a:avLst/>
          </a:prstGeom>
        </p:spPr>
      </p:pic>
      <p:pic>
        <p:nvPicPr>
          <p:cNvPr id="14" name="Picture 13">
            <a:extLst>
              <a:ext uri="{FF2B5EF4-FFF2-40B4-BE49-F238E27FC236}">
                <a16:creationId xmlns:a16="http://schemas.microsoft.com/office/drawing/2014/main" id="{AA7E9766-9DE9-9E5D-13F6-76F54A8E70CD}"/>
              </a:ext>
            </a:extLst>
          </p:cNvPr>
          <p:cNvPicPr>
            <a:picLocks noChangeAspect="1"/>
          </p:cNvPicPr>
          <p:nvPr/>
        </p:nvPicPr>
        <p:blipFill>
          <a:blip r:embed="rId8"/>
          <a:stretch>
            <a:fillRect/>
          </a:stretch>
        </p:blipFill>
        <p:spPr>
          <a:xfrm>
            <a:off x="10422257" y="4366838"/>
            <a:ext cx="1655129" cy="798848"/>
          </a:xfrm>
          <a:prstGeom prst="rect">
            <a:avLst/>
          </a:prstGeom>
        </p:spPr>
      </p:pic>
    </p:spTree>
    <p:extLst>
      <p:ext uri="{BB962C8B-B14F-4D97-AF65-F5344CB8AC3E}">
        <p14:creationId xmlns:p14="http://schemas.microsoft.com/office/powerpoint/2010/main" val="1582387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a:cs typeface="Tahoma" panose="020B0604030504040204" pitchFamily="34" charset="0"/>
              </a:rPr>
              <a:t>Overview of Sustainable Road Maintenance Program for Africa (SRMPA)</a:t>
            </a:r>
            <a:endParaRPr lang="en-GB" sz="2800" b="1" dirty="0">
              <a:cs typeface="Tahoma" panose="020B0604030504040204" pitchFamily="34" charset="0"/>
            </a:endParaRPr>
          </a:p>
        </p:txBody>
      </p:sp>
      <p:sp>
        <p:nvSpPr>
          <p:cNvPr id="9" name="Content Placeholder 8">
            <a:extLst>
              <a:ext uri="{FF2B5EF4-FFF2-40B4-BE49-F238E27FC236}">
                <a16:creationId xmlns:a16="http://schemas.microsoft.com/office/drawing/2014/main" id="{59AACB25-A327-09CC-B375-0ECE7CDF6470}"/>
              </a:ext>
            </a:extLst>
          </p:cNvPr>
          <p:cNvSpPr>
            <a:spLocks noGrp="1"/>
          </p:cNvSpPr>
          <p:nvPr>
            <p:ph idx="1"/>
          </p:nvPr>
        </p:nvSpPr>
        <p:spPr>
          <a:xfrm>
            <a:off x="1027550" y="1937970"/>
            <a:ext cx="10429439"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GB" sz="1600" dirty="0">
                <a:solidFill>
                  <a:prstClr val="black"/>
                </a:solidFill>
              </a:rPr>
              <a:t>Positioning climate change considerations centrally in maintenance planning.</a:t>
            </a:r>
          </a:p>
          <a:p>
            <a:pPr marL="285750" indent="-285750">
              <a:buFont typeface="Wingdings" panose="05000000000000000000" pitchFamily="2" charset="2"/>
              <a:buChar char="q"/>
            </a:pPr>
            <a:r>
              <a:rPr lang="en-US" sz="1600" b="1" dirty="0"/>
              <a:t>SRMPA</a:t>
            </a:r>
            <a:r>
              <a:rPr lang="en-US" sz="1600" dirty="0"/>
              <a:t> is expected to promote sustainable, climate resilient and safer road infrastructure by conducting two studies per selected country as below:</a:t>
            </a:r>
          </a:p>
          <a:p>
            <a:pPr marL="1108710" lvl="5" indent="-285750">
              <a:buFont typeface="Wingdings" panose="05000000000000000000" pitchFamily="2" charset="2"/>
              <a:buChar char="q"/>
            </a:pPr>
            <a:r>
              <a:rPr lang="en-GB" sz="1600" dirty="0">
                <a:latin typeface="Tahoma" panose="020B0604030504040204" pitchFamily="34" charset="0"/>
                <a:ea typeface="Tahoma" panose="020B0604030504040204" pitchFamily="34" charset="0"/>
                <a:cs typeface="Tahoma" panose="020B0604030504040204" pitchFamily="34" charset="0"/>
              </a:rPr>
              <a:t>Conducting Climate Risk and Vulnerability Assessments to identify the right</a:t>
            </a:r>
            <a:r>
              <a:rPr lang="en-GB" sz="1600" b="1" dirty="0">
                <a:latin typeface="Tahoma" panose="020B0604030504040204" pitchFamily="34" charset="0"/>
                <a:ea typeface="Tahoma" panose="020B0604030504040204" pitchFamily="34" charset="0"/>
                <a:cs typeface="Tahoma" panose="020B0604030504040204" pitchFamily="34" charset="0"/>
              </a:rPr>
              <a:t> </a:t>
            </a:r>
            <a:r>
              <a:rPr lang="en-GB" sz="1600" b="1" dirty="0" err="1">
                <a:latin typeface="Tahoma" panose="020B0604030504040204" pitchFamily="34" charset="0"/>
                <a:ea typeface="Tahoma" panose="020B0604030504040204" pitchFamily="34" charset="0"/>
                <a:cs typeface="Tahoma" panose="020B0604030504040204" pitchFamily="34" charset="0"/>
              </a:rPr>
              <a:t>InfraTech</a:t>
            </a:r>
            <a:r>
              <a:rPr lang="en-GB" sz="1600" b="1" dirty="0">
                <a:latin typeface="Tahoma" panose="020B0604030504040204" pitchFamily="34" charset="0"/>
                <a:ea typeface="Tahoma" panose="020B0604030504040204" pitchFamily="34" charset="0"/>
                <a:cs typeface="Tahoma" panose="020B0604030504040204" pitchFamily="34" charset="0"/>
              </a:rPr>
              <a:t> solutions </a:t>
            </a:r>
            <a:r>
              <a:rPr lang="en-GB" sz="1600" dirty="0">
                <a:latin typeface="Tahoma" panose="020B0604030504040204" pitchFamily="34" charset="0"/>
                <a:ea typeface="Tahoma" panose="020B0604030504040204" pitchFamily="34" charset="0"/>
                <a:cs typeface="Tahoma" panose="020B0604030504040204" pitchFamily="34" charset="0"/>
              </a:rPr>
              <a:t>to address the unique climate related damages on the road network; and </a:t>
            </a:r>
          </a:p>
          <a:p>
            <a:pPr marL="1108710" lvl="5" indent="-285750">
              <a:buFont typeface="Wingdings" panose="05000000000000000000" pitchFamily="2" charset="2"/>
              <a:buChar char="q"/>
            </a:pPr>
            <a:r>
              <a:rPr lang="en-GB" sz="1600" dirty="0">
                <a:latin typeface="Tahoma" panose="020B0604030504040204" pitchFamily="34" charset="0"/>
                <a:ea typeface="Tahoma" panose="020B0604030504040204" pitchFamily="34" charset="0"/>
                <a:cs typeface="Tahoma" panose="020B0604030504040204" pitchFamily="34" charset="0"/>
              </a:rPr>
              <a:t>Innovative </a:t>
            </a:r>
            <a:r>
              <a:rPr lang="en-GB" sz="1600" b="1" dirty="0">
                <a:latin typeface="Tahoma" panose="020B0604030504040204" pitchFamily="34" charset="0"/>
                <a:ea typeface="Tahoma" panose="020B0604030504040204" pitchFamily="34" charset="0"/>
                <a:cs typeface="Tahoma" panose="020B0604030504040204" pitchFamily="34" charset="0"/>
              </a:rPr>
              <a:t>sustainable financing mechanism </a:t>
            </a:r>
            <a:r>
              <a:rPr lang="en-GB" sz="1600" dirty="0">
                <a:latin typeface="Tahoma" panose="020B0604030504040204" pitchFamily="34" charset="0"/>
                <a:ea typeface="Tahoma" panose="020B0604030504040204" pitchFamily="34" charset="0"/>
                <a:cs typeface="Tahoma" panose="020B0604030504040204" pitchFamily="34" charset="0"/>
              </a:rPr>
              <a:t>development, e.g., PPP. </a:t>
            </a:r>
          </a:p>
          <a:p>
            <a:pPr marL="285750" indent="-285750">
              <a:buFont typeface="Wingdings" panose="05000000000000000000" pitchFamily="2" charset="2"/>
              <a:buChar char="q"/>
            </a:pPr>
            <a:r>
              <a:rPr lang="en-GB" sz="1600" dirty="0"/>
              <a:t>Promoting and supporting Output and Performance Based Road Contracts hinged on private sector participation. </a:t>
            </a:r>
          </a:p>
          <a:p>
            <a:pPr marL="285750" indent="-285750">
              <a:buFont typeface="Wingdings" panose="05000000000000000000" pitchFamily="2" charset="2"/>
              <a:buChar char="q"/>
            </a:pPr>
            <a:r>
              <a:rPr lang="en-GB" sz="1600" dirty="0"/>
              <a:t>Lead the identification and structuring of innovative financing arrangements for road maintenance projects through blended financing and working in partnership with various agencies and partners.</a:t>
            </a:r>
          </a:p>
          <a:p>
            <a:pPr marL="285750" indent="-285750">
              <a:buFont typeface="Wingdings" panose="05000000000000000000" pitchFamily="2" charset="2"/>
              <a:buChar char="q"/>
            </a:pPr>
            <a:r>
              <a:rPr lang="en-GB" sz="1600" dirty="0"/>
              <a:t>AfDB is engaging and will partnering with several institutions and agencies in the design and implementation of the Program.  SRMPA targets at 6 countries at the first phase and will be completed by end of this year. </a:t>
            </a:r>
          </a:p>
          <a:p>
            <a:pPr marL="285750" indent="-285750">
              <a:buFont typeface="Wingdings" panose="05000000000000000000" pitchFamily="2" charset="2"/>
              <a:buChar char="q"/>
            </a:pPr>
            <a:r>
              <a:rPr lang="en-GB" sz="1600" dirty="0"/>
              <a:t>Royal HaskoningDHV was the consultant assigned to implement the technical analysis. </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endParaRPr lang="en-US" sz="1600" dirty="0"/>
          </a:p>
          <a:p>
            <a:pPr marL="514350" indent="-514350">
              <a:buAutoNum type="arabicPeriod"/>
            </a:pPr>
            <a:endParaRPr lang="en-UG" sz="1600" dirty="0"/>
          </a:p>
          <a:p>
            <a:pPr marL="514350" indent="-514350">
              <a:buAutoNum type="arabicPeriod"/>
            </a:pPr>
            <a:endParaRPr lang="en-UG" sz="1600" dirty="0"/>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6</a:t>
            </a:fld>
            <a:endParaRPr lang="en-US" dirty="0"/>
          </a:p>
        </p:txBody>
      </p:sp>
    </p:spTree>
    <p:extLst>
      <p:ext uri="{BB962C8B-B14F-4D97-AF65-F5344CB8AC3E}">
        <p14:creationId xmlns:p14="http://schemas.microsoft.com/office/powerpoint/2010/main" val="1162865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Country selection indicators</a:t>
            </a:r>
          </a:p>
        </p:txBody>
      </p:sp>
      <p:sp>
        <p:nvSpPr>
          <p:cNvPr id="9" name="Content Placeholder 8">
            <a:extLst>
              <a:ext uri="{FF2B5EF4-FFF2-40B4-BE49-F238E27FC236}">
                <a16:creationId xmlns:a16="http://schemas.microsoft.com/office/drawing/2014/main" id="{59AACB25-A327-09CC-B375-0ECE7CDF6470}"/>
              </a:ext>
            </a:extLst>
          </p:cNvPr>
          <p:cNvSpPr>
            <a:spLocks noGrp="1"/>
          </p:cNvSpPr>
          <p:nvPr>
            <p:ph idx="1"/>
          </p:nvPr>
        </p:nvSpPr>
        <p:spPr>
          <a:xfrm>
            <a:off x="1027550" y="1937970"/>
            <a:ext cx="10250330"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Objectives: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Define overall characteristics of the road network in African countries, what is the current quality of the road network, if road maintenance is a priority for each country, and if the country is eligible for specific investment windows from AfDB.</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Use indicators to inform selection of further countries the SRMPA.</a:t>
            </a:r>
          </a:p>
          <a:p>
            <a:pPr marL="173736" lvl="1" indent="0">
              <a:lnSpc>
                <a:spcPct val="120000"/>
              </a:lnSpc>
              <a:spcBef>
                <a:spcPts val="0"/>
              </a:spcBef>
              <a:spcAft>
                <a:spcPts val="0"/>
              </a:spcAft>
              <a:buClr>
                <a:srgbClr val="1CADE4"/>
              </a:buClr>
              <a:buSzPct val="100000"/>
              <a:buNone/>
              <a:defRPr/>
            </a:pPr>
            <a:endParaRPr lang="en-US" sz="1600" dirty="0">
              <a:solidFill>
                <a:prstClr val="black"/>
              </a:solidFill>
            </a:endParaRP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Key Factors Considered:</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Country-level characteristics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Eligibility for AfDB Investments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Road network characteristics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Investment programs available</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Private sector investments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Climate hazards of relevance</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Available information</a:t>
            </a: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endParaRPr lang="en-US" sz="1600" dirty="0"/>
          </a:p>
          <a:p>
            <a:pPr marL="514350" indent="-514350">
              <a:buAutoNum type="arabicPeriod"/>
            </a:pPr>
            <a:endParaRPr lang="en-UG" sz="1600" dirty="0"/>
          </a:p>
          <a:p>
            <a:pPr marL="514350" indent="-514350">
              <a:buAutoNum type="arabicPeriod"/>
            </a:pPr>
            <a:endParaRPr lang="en-UG" sz="1600" dirty="0"/>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7</a:t>
            </a:fld>
            <a:endParaRPr lang="en-US" dirty="0"/>
          </a:p>
        </p:txBody>
      </p:sp>
    </p:spTree>
    <p:extLst>
      <p:ext uri="{BB962C8B-B14F-4D97-AF65-F5344CB8AC3E}">
        <p14:creationId xmlns:p14="http://schemas.microsoft.com/office/powerpoint/2010/main" val="2203417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835284" y="65412"/>
            <a:ext cx="9720072" cy="1499616"/>
          </a:xfrm>
        </p:spPr>
        <p:txBody>
          <a:bodyPr>
            <a:normAutofit/>
          </a:bodyPr>
          <a:lstStyle/>
          <a:p>
            <a:r>
              <a:rPr lang="en-GB" sz="3600" b="1" dirty="0">
                <a:cs typeface="Tahoma" panose="020B0604030504040204" pitchFamily="34" charset="0"/>
              </a:rPr>
              <a:t>Sustainable Road Maintenance Program for Africa (SRMPA)</a:t>
            </a:r>
          </a:p>
        </p:txBody>
      </p:sp>
      <p:sp>
        <p:nvSpPr>
          <p:cNvPr id="10" name="Slide Number Placeholder 9">
            <a:extLst>
              <a:ext uri="{FF2B5EF4-FFF2-40B4-BE49-F238E27FC236}">
                <a16:creationId xmlns:a16="http://schemas.microsoft.com/office/drawing/2014/main" id="{AA424F0E-376F-4065-D23A-1A5291B31ABE}"/>
              </a:ext>
            </a:extLst>
          </p:cNvPr>
          <p:cNvSpPr>
            <a:spLocks noGrp="1"/>
          </p:cNvSpPr>
          <p:nvPr>
            <p:ph type="sldNum" sz="quarter" idx="12"/>
          </p:nvPr>
        </p:nvSpPr>
        <p:spPr/>
        <p:txBody>
          <a:bodyPr/>
          <a:lstStyle/>
          <a:p>
            <a:fld id="{6B5ECC12-AE2A-7F48-B84B-C0ED28A288DF}" type="slidenum">
              <a:rPr lang="en-US" smtClean="0"/>
              <a:t>8</a:t>
            </a:fld>
            <a:endParaRPr lang="en-US"/>
          </a:p>
        </p:txBody>
      </p:sp>
      <p:grpSp>
        <p:nvGrpSpPr>
          <p:cNvPr id="2" name="Group 1">
            <a:extLst>
              <a:ext uri="{FF2B5EF4-FFF2-40B4-BE49-F238E27FC236}">
                <a16:creationId xmlns:a16="http://schemas.microsoft.com/office/drawing/2014/main" id="{0E962355-40E8-3C67-35BF-4494AB1EA36B}"/>
              </a:ext>
            </a:extLst>
          </p:cNvPr>
          <p:cNvGrpSpPr/>
          <p:nvPr/>
        </p:nvGrpSpPr>
        <p:grpSpPr>
          <a:xfrm>
            <a:off x="4740964" y="1242139"/>
            <a:ext cx="5814392" cy="5550449"/>
            <a:chOff x="4740964" y="1242139"/>
            <a:chExt cx="5814392" cy="5550449"/>
          </a:xfrm>
        </p:grpSpPr>
        <p:pic>
          <p:nvPicPr>
            <p:cNvPr id="21" name="Picture 20">
              <a:extLst>
                <a:ext uri="{FF2B5EF4-FFF2-40B4-BE49-F238E27FC236}">
                  <a16:creationId xmlns:a16="http://schemas.microsoft.com/office/drawing/2014/main" id="{3E27378C-2E46-1789-3481-F6018FBEB0C2}"/>
                </a:ext>
              </a:extLst>
            </p:cNvPr>
            <p:cNvPicPr>
              <a:picLocks noChangeAspect="1"/>
            </p:cNvPicPr>
            <p:nvPr/>
          </p:nvPicPr>
          <p:blipFill>
            <a:blip r:embed="rId3"/>
            <a:stretch>
              <a:fillRect/>
            </a:stretch>
          </p:blipFill>
          <p:spPr>
            <a:xfrm>
              <a:off x="4999119" y="1242139"/>
              <a:ext cx="5556237" cy="5550449"/>
            </a:xfrm>
            <a:prstGeom prst="rect">
              <a:avLst/>
            </a:prstGeom>
          </p:spPr>
        </p:pic>
        <p:sp>
          <p:nvSpPr>
            <p:cNvPr id="22" name="TextBox 21">
              <a:extLst>
                <a:ext uri="{FF2B5EF4-FFF2-40B4-BE49-F238E27FC236}">
                  <a16:creationId xmlns:a16="http://schemas.microsoft.com/office/drawing/2014/main" id="{53B8745E-9B80-1CBF-5DD0-D7307DAEE198}"/>
                </a:ext>
              </a:extLst>
            </p:cNvPr>
            <p:cNvSpPr txBox="1"/>
            <p:nvPr/>
          </p:nvSpPr>
          <p:spPr>
            <a:xfrm>
              <a:off x="4740964" y="2331178"/>
              <a:ext cx="1202635" cy="369332"/>
            </a:xfrm>
            <a:prstGeom prst="rect">
              <a:avLst/>
            </a:prstGeom>
            <a:noFill/>
          </p:spPr>
          <p:txBody>
            <a:bodyPr wrap="square" rtlCol="0">
              <a:spAutoFit/>
            </a:bodyPr>
            <a:lstStyle/>
            <a:p>
              <a:r>
                <a:rPr lang="en-GB" dirty="0"/>
                <a:t>Mauritania</a:t>
              </a:r>
              <a:endParaRPr lang="en-UG" dirty="0"/>
            </a:p>
          </p:txBody>
        </p:sp>
        <p:sp>
          <p:nvSpPr>
            <p:cNvPr id="23" name="TextBox 22">
              <a:extLst>
                <a:ext uri="{FF2B5EF4-FFF2-40B4-BE49-F238E27FC236}">
                  <a16:creationId xmlns:a16="http://schemas.microsoft.com/office/drawing/2014/main" id="{16DD6595-A1CD-9AC2-3CFE-A389E9FF8C80}"/>
                </a:ext>
              </a:extLst>
            </p:cNvPr>
            <p:cNvSpPr txBox="1"/>
            <p:nvPr/>
          </p:nvSpPr>
          <p:spPr>
            <a:xfrm>
              <a:off x="4843669" y="2749554"/>
              <a:ext cx="1202635" cy="369332"/>
            </a:xfrm>
            <a:prstGeom prst="rect">
              <a:avLst/>
            </a:prstGeom>
            <a:noFill/>
          </p:spPr>
          <p:txBody>
            <a:bodyPr wrap="square" rtlCol="0">
              <a:spAutoFit/>
            </a:bodyPr>
            <a:lstStyle/>
            <a:p>
              <a:r>
                <a:rPr lang="en-GB" dirty="0"/>
                <a:t>Senegal</a:t>
              </a:r>
              <a:endParaRPr lang="en-UG" dirty="0"/>
            </a:p>
          </p:txBody>
        </p:sp>
        <p:sp>
          <p:nvSpPr>
            <p:cNvPr id="24" name="TextBox 23">
              <a:extLst>
                <a:ext uri="{FF2B5EF4-FFF2-40B4-BE49-F238E27FC236}">
                  <a16:creationId xmlns:a16="http://schemas.microsoft.com/office/drawing/2014/main" id="{78EF017A-78C0-C651-FBFD-11E7608E18E4}"/>
                </a:ext>
              </a:extLst>
            </p:cNvPr>
            <p:cNvSpPr txBox="1"/>
            <p:nvPr/>
          </p:nvSpPr>
          <p:spPr>
            <a:xfrm>
              <a:off x="5529468" y="3625375"/>
              <a:ext cx="1348410" cy="369332"/>
            </a:xfrm>
            <a:prstGeom prst="rect">
              <a:avLst/>
            </a:prstGeom>
            <a:noFill/>
          </p:spPr>
          <p:txBody>
            <a:bodyPr wrap="square" rtlCol="0">
              <a:spAutoFit/>
            </a:bodyPr>
            <a:lstStyle/>
            <a:p>
              <a:r>
                <a:rPr lang="en-GB" dirty="0"/>
                <a:t>Ivory Coast</a:t>
              </a:r>
              <a:endParaRPr lang="en-UG" dirty="0"/>
            </a:p>
          </p:txBody>
        </p:sp>
        <p:sp>
          <p:nvSpPr>
            <p:cNvPr id="25" name="TextBox 24">
              <a:extLst>
                <a:ext uri="{FF2B5EF4-FFF2-40B4-BE49-F238E27FC236}">
                  <a16:creationId xmlns:a16="http://schemas.microsoft.com/office/drawing/2014/main" id="{B1430ECB-1FD0-F65B-C0EB-678A3B89AE2F}"/>
                </a:ext>
              </a:extLst>
            </p:cNvPr>
            <p:cNvSpPr txBox="1"/>
            <p:nvPr/>
          </p:nvSpPr>
          <p:spPr>
            <a:xfrm>
              <a:off x="9352721" y="3662307"/>
              <a:ext cx="1202635" cy="369332"/>
            </a:xfrm>
            <a:prstGeom prst="rect">
              <a:avLst/>
            </a:prstGeom>
            <a:noFill/>
          </p:spPr>
          <p:txBody>
            <a:bodyPr wrap="square" rtlCol="0">
              <a:spAutoFit/>
            </a:bodyPr>
            <a:lstStyle/>
            <a:p>
              <a:r>
                <a:rPr lang="en-GB" dirty="0"/>
                <a:t>Kenya</a:t>
              </a:r>
              <a:endParaRPr lang="en-UG" dirty="0"/>
            </a:p>
          </p:txBody>
        </p:sp>
        <p:sp>
          <p:nvSpPr>
            <p:cNvPr id="26" name="TextBox 25">
              <a:extLst>
                <a:ext uri="{FF2B5EF4-FFF2-40B4-BE49-F238E27FC236}">
                  <a16:creationId xmlns:a16="http://schemas.microsoft.com/office/drawing/2014/main" id="{0475F944-4BB0-37EF-DC48-A63B92BEE09F}"/>
                </a:ext>
              </a:extLst>
            </p:cNvPr>
            <p:cNvSpPr txBox="1"/>
            <p:nvPr/>
          </p:nvSpPr>
          <p:spPr>
            <a:xfrm>
              <a:off x="8620538" y="5869257"/>
              <a:ext cx="1358349" cy="369332"/>
            </a:xfrm>
            <a:prstGeom prst="rect">
              <a:avLst/>
            </a:prstGeom>
            <a:noFill/>
          </p:spPr>
          <p:txBody>
            <a:bodyPr wrap="square" rtlCol="0">
              <a:spAutoFit/>
            </a:bodyPr>
            <a:lstStyle/>
            <a:p>
              <a:r>
                <a:rPr lang="en-GB" dirty="0"/>
                <a:t>South Africa</a:t>
              </a:r>
              <a:endParaRPr lang="en-UG" dirty="0"/>
            </a:p>
          </p:txBody>
        </p:sp>
        <p:sp>
          <p:nvSpPr>
            <p:cNvPr id="27" name="TextBox 26">
              <a:extLst>
                <a:ext uri="{FF2B5EF4-FFF2-40B4-BE49-F238E27FC236}">
                  <a16:creationId xmlns:a16="http://schemas.microsoft.com/office/drawing/2014/main" id="{3899A4BF-A9E7-271E-5582-2FFEB88FC486}"/>
                </a:ext>
              </a:extLst>
            </p:cNvPr>
            <p:cNvSpPr txBox="1"/>
            <p:nvPr/>
          </p:nvSpPr>
          <p:spPr>
            <a:xfrm>
              <a:off x="8019220" y="4103657"/>
              <a:ext cx="1202635" cy="369332"/>
            </a:xfrm>
            <a:prstGeom prst="rect">
              <a:avLst/>
            </a:prstGeom>
            <a:noFill/>
          </p:spPr>
          <p:txBody>
            <a:bodyPr wrap="square" rtlCol="0">
              <a:spAutoFit/>
            </a:bodyPr>
            <a:lstStyle/>
            <a:p>
              <a:r>
                <a:rPr lang="en-GB" dirty="0"/>
                <a:t>DRC</a:t>
              </a:r>
              <a:endParaRPr lang="en-UG" dirty="0"/>
            </a:p>
          </p:txBody>
        </p:sp>
      </p:grpSp>
      <p:sp>
        <p:nvSpPr>
          <p:cNvPr id="4" name="Content Placeholder 8">
            <a:extLst>
              <a:ext uri="{FF2B5EF4-FFF2-40B4-BE49-F238E27FC236}">
                <a16:creationId xmlns:a16="http://schemas.microsoft.com/office/drawing/2014/main" id="{C185E608-491E-5BF0-41F9-5F001785F9B8}"/>
              </a:ext>
            </a:extLst>
          </p:cNvPr>
          <p:cNvSpPr txBox="1">
            <a:spLocks/>
          </p:cNvSpPr>
          <p:nvPr/>
        </p:nvSpPr>
        <p:spPr>
          <a:xfrm>
            <a:off x="903725" y="1909782"/>
            <a:ext cx="3518925" cy="4476978"/>
          </a:xfrm>
          <a:prstGeom prst="rect">
            <a:avLst/>
          </a:prstGeom>
        </p:spPr>
        <p:txBody>
          <a:bodyPr vert="horz" lIns="137160" tIns="45720" rIns="137160" bIns="45720" rtlCol="0" anchor="ctr">
            <a:noAutofit/>
          </a:bodyPr>
          <a:lstStyle>
            <a:lvl1pPr marL="0" indent="0" algn="l" defTabSz="914400" rtl="0" eaLnBrk="1" latinLnBrk="0" hangingPunct="1">
              <a:lnSpc>
                <a:spcPct val="90000"/>
              </a:lnSpc>
              <a:spcBef>
                <a:spcPts val="0"/>
              </a:spcBef>
              <a:spcAft>
                <a:spcPts val="0"/>
              </a:spcAft>
              <a:buClr>
                <a:schemeClr val="accent1"/>
              </a:buClr>
              <a:buSzPct val="100000"/>
              <a:buFont typeface="Tw Cen MT" panose="020B0602020104020603" pitchFamily="34" charset="0"/>
              <a:buNone/>
              <a:defRPr sz="2300" b="0" kern="1200" cap="none" baseline="0">
                <a:solidFill>
                  <a:schemeClr val="accent1"/>
                </a:solidFill>
                <a:latin typeface="+mn-lt"/>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2000" b="1"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800" b="1"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9pPr>
          </a:lstStyle>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Selected Countries</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South Africa – Southern Africa</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Kenya – East Africa</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Democratic Republic of Congo (DRC) – Central Africa</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Senegal – West Africa</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Ivory Coast – West Africa</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0" dirty="0">
                <a:solidFill>
                  <a:prstClr val="black"/>
                </a:solidFill>
              </a:rPr>
              <a:t>Mauritania – North Africa.</a:t>
            </a:r>
          </a:p>
          <a:p>
            <a:pPr marL="514350" indent="-514350">
              <a:buFont typeface="Tw Cen MT" panose="020B0602020104020603" pitchFamily="34" charset="0"/>
              <a:buAutoNum type="arabicPeriod"/>
            </a:pPr>
            <a:endParaRPr lang="en-UG" sz="1600" dirty="0"/>
          </a:p>
          <a:p>
            <a:pPr marL="514350" indent="-514350">
              <a:buFont typeface="Tw Cen MT" panose="020B0602020104020603" pitchFamily="34" charset="0"/>
              <a:buAutoNum type="arabicPeriod"/>
            </a:pPr>
            <a:endParaRPr lang="en-UG" sz="1600" dirty="0"/>
          </a:p>
        </p:txBody>
      </p:sp>
    </p:spTree>
    <p:extLst>
      <p:ext uri="{BB962C8B-B14F-4D97-AF65-F5344CB8AC3E}">
        <p14:creationId xmlns:p14="http://schemas.microsoft.com/office/powerpoint/2010/main" val="1889642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Climate risk and vulnerability assessment</a:t>
            </a:r>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9</a:t>
            </a:fld>
            <a:endParaRPr lang="en-US" dirty="0"/>
          </a:p>
        </p:txBody>
      </p:sp>
      <p:sp>
        <p:nvSpPr>
          <p:cNvPr id="6" name="Content Placeholder 8">
            <a:extLst>
              <a:ext uri="{FF2B5EF4-FFF2-40B4-BE49-F238E27FC236}">
                <a16:creationId xmlns:a16="http://schemas.microsoft.com/office/drawing/2014/main" id="{63E24ACB-71D7-0D39-58EB-EF656B839D57}"/>
              </a:ext>
            </a:extLst>
          </p:cNvPr>
          <p:cNvSpPr>
            <a:spLocks noGrp="1"/>
          </p:cNvSpPr>
          <p:nvPr>
            <p:ph idx="1"/>
          </p:nvPr>
        </p:nvSpPr>
        <p:spPr>
          <a:xfrm>
            <a:off x="914120" y="1795805"/>
            <a:ext cx="5839627" cy="4476978"/>
          </a:xfrm>
        </p:spPr>
        <p:txBody>
          <a:bodyPr>
            <a:noAutofit/>
          </a:bodyPr>
          <a:lstStyle/>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Risk is defined as “Risk=Hazard x Exposure x Vulnerability”. </a:t>
            </a: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Hazard: </a:t>
            </a:r>
            <a:r>
              <a:rPr lang="en-US" sz="1600" dirty="0">
                <a:solidFill>
                  <a:prstClr val="black"/>
                </a:solidFill>
              </a:rPr>
              <a:t>extreme temperature (</a:t>
            </a:r>
            <a:r>
              <a:rPr lang="en-GB" sz="1600" dirty="0">
                <a:effectLst/>
              </a:rPr>
              <a:t>days above 35</a:t>
            </a:r>
            <a:r>
              <a:rPr lang="en-GB" sz="1600" baseline="30000" dirty="0">
                <a:effectLst/>
              </a:rPr>
              <a:t>o</a:t>
            </a:r>
            <a:r>
              <a:rPr lang="en-GB" sz="1600" dirty="0">
                <a:effectLst/>
              </a:rPr>
              <a:t>C and 40</a:t>
            </a:r>
            <a:r>
              <a:rPr lang="en-GB" sz="1600" baseline="30000" dirty="0">
                <a:effectLst/>
              </a:rPr>
              <a:t>o</a:t>
            </a:r>
            <a:r>
              <a:rPr lang="en-GB" sz="1600" dirty="0">
                <a:effectLst/>
              </a:rPr>
              <a:t>C) and pluvial and fluvial flooding (flood depth/extent).</a:t>
            </a:r>
            <a:endParaRPr lang="en-US" sz="1600" dirty="0">
              <a:solidFill>
                <a:prstClr val="black"/>
              </a:solidFill>
            </a:endParaRP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Exposure: </a:t>
            </a:r>
            <a:r>
              <a:rPr lang="en-US" sz="1600" dirty="0">
                <a:solidFill>
                  <a:prstClr val="black"/>
                </a:solidFill>
              </a:rPr>
              <a:t>roads and bridges of primary transport network.</a:t>
            </a:r>
            <a:endParaRPr lang="en-US" sz="1600" b="1" dirty="0">
              <a:solidFill>
                <a:prstClr val="black"/>
              </a:solidFill>
            </a:endParaRPr>
          </a:p>
          <a:p>
            <a:pPr marL="642366" lvl="2"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Vulnerability: </a:t>
            </a:r>
            <a:r>
              <a:rPr lang="en-US" sz="1600" dirty="0">
                <a:solidFill>
                  <a:prstClr val="black"/>
                </a:solidFill>
              </a:rPr>
              <a:t>relation between intensity of hazard and the degree of damage or loss caused.</a:t>
            </a:r>
            <a:endParaRPr lang="en-GB" sz="1600" dirty="0"/>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For this Assignment, we calculate risk quantitatively using a risk index score between 0 and 100 for the road infrastructure assets.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dirty="0">
                <a:solidFill>
                  <a:prstClr val="black"/>
                </a:solidFill>
              </a:rPr>
              <a:t>The </a:t>
            </a:r>
            <a:r>
              <a:rPr lang="en-US" sz="1600" b="1" dirty="0">
                <a:solidFill>
                  <a:prstClr val="black"/>
                </a:solidFill>
              </a:rPr>
              <a:t>risk index score </a:t>
            </a:r>
            <a:r>
              <a:rPr lang="en-US" sz="1600" dirty="0">
                <a:solidFill>
                  <a:prstClr val="black"/>
                </a:solidFill>
              </a:rPr>
              <a:t>can be used to determine which roads or bridges are at high or low risk, allowing prioritization of investments in assets that are most at high risk. </a:t>
            </a:r>
          </a:p>
          <a:p>
            <a:pPr marL="285750" indent="-285750">
              <a:buFont typeface="Wingdings" panose="05000000000000000000" pitchFamily="2" charset="2"/>
              <a:buChar char="q"/>
            </a:pPr>
            <a:endParaRPr lang="en-US" sz="1600" dirty="0"/>
          </a:p>
          <a:p>
            <a:pPr marL="514350" indent="-514350">
              <a:buAutoNum type="arabicPeriod"/>
            </a:pPr>
            <a:endParaRPr lang="en-UG" sz="1600" dirty="0"/>
          </a:p>
          <a:p>
            <a:pPr marL="514350" indent="-514350">
              <a:buAutoNum type="arabicPeriod"/>
            </a:pPr>
            <a:endParaRPr lang="en-UG" sz="1600" dirty="0"/>
          </a:p>
        </p:txBody>
      </p:sp>
      <p:pic>
        <p:nvPicPr>
          <p:cNvPr id="3" name="Picture 2">
            <a:extLst>
              <a:ext uri="{FF2B5EF4-FFF2-40B4-BE49-F238E27FC236}">
                <a16:creationId xmlns:a16="http://schemas.microsoft.com/office/drawing/2014/main" id="{8BC5DA81-3205-147C-E955-92D6A8A81232}"/>
              </a:ext>
            </a:extLst>
          </p:cNvPr>
          <p:cNvPicPr>
            <a:picLocks noChangeAspect="1"/>
          </p:cNvPicPr>
          <p:nvPr/>
        </p:nvPicPr>
        <p:blipFill>
          <a:blip r:embed="rId3"/>
          <a:stretch>
            <a:fillRect/>
          </a:stretch>
        </p:blipFill>
        <p:spPr>
          <a:xfrm>
            <a:off x="6753746" y="1795805"/>
            <a:ext cx="3479905" cy="2826001"/>
          </a:xfrm>
          <a:prstGeom prst="rect">
            <a:avLst/>
          </a:prstGeom>
        </p:spPr>
      </p:pic>
      <p:pic>
        <p:nvPicPr>
          <p:cNvPr id="4" name="Picture 3">
            <a:extLst>
              <a:ext uri="{FF2B5EF4-FFF2-40B4-BE49-F238E27FC236}">
                <a16:creationId xmlns:a16="http://schemas.microsoft.com/office/drawing/2014/main" id="{105F3C58-7C67-1612-81B0-6C60FE0BE338}"/>
              </a:ext>
            </a:extLst>
          </p:cNvPr>
          <p:cNvPicPr>
            <a:picLocks noChangeAspect="1"/>
          </p:cNvPicPr>
          <p:nvPr/>
        </p:nvPicPr>
        <p:blipFill>
          <a:blip r:embed="rId4"/>
          <a:stretch>
            <a:fillRect/>
          </a:stretch>
        </p:blipFill>
        <p:spPr>
          <a:xfrm>
            <a:off x="9451097" y="4005534"/>
            <a:ext cx="2579529" cy="2247435"/>
          </a:xfrm>
          <a:prstGeom prst="rect">
            <a:avLst/>
          </a:prstGeom>
        </p:spPr>
      </p:pic>
    </p:spTree>
    <p:extLst>
      <p:ext uri="{BB962C8B-B14F-4D97-AF65-F5344CB8AC3E}">
        <p14:creationId xmlns:p14="http://schemas.microsoft.com/office/powerpoint/2010/main" val="3287955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identification OF Infra tech options</a:t>
            </a:r>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10</a:t>
            </a:fld>
            <a:endParaRPr lang="en-US" dirty="0"/>
          </a:p>
        </p:txBody>
      </p:sp>
      <p:sp>
        <p:nvSpPr>
          <p:cNvPr id="6" name="Content Placeholder 8">
            <a:extLst>
              <a:ext uri="{FF2B5EF4-FFF2-40B4-BE49-F238E27FC236}">
                <a16:creationId xmlns:a16="http://schemas.microsoft.com/office/drawing/2014/main" id="{DA6E1819-D5FA-9F04-E6F3-C7B2246EBFAE}"/>
              </a:ext>
            </a:extLst>
          </p:cNvPr>
          <p:cNvSpPr>
            <a:spLocks noGrp="1"/>
          </p:cNvSpPr>
          <p:nvPr>
            <p:ph idx="1"/>
          </p:nvPr>
        </p:nvSpPr>
        <p:spPr>
          <a:xfrm>
            <a:off x="914120" y="1795805"/>
            <a:ext cx="10801630"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dirty="0">
                <a:solidFill>
                  <a:prstClr val="black"/>
                </a:solidFill>
              </a:rPr>
              <a:t>For this study, we have categorized </a:t>
            </a:r>
            <a:r>
              <a:rPr lang="en-US" sz="1600" dirty="0" err="1">
                <a:solidFill>
                  <a:prstClr val="black"/>
                </a:solidFill>
              </a:rPr>
              <a:t>InfraTech</a:t>
            </a:r>
            <a:r>
              <a:rPr lang="en-US" sz="1600" dirty="0">
                <a:solidFill>
                  <a:prstClr val="black"/>
                </a:solidFill>
              </a:rPr>
              <a:t> options into 3 sub-categories:</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Engineering solutions: </a:t>
            </a:r>
            <a:r>
              <a:rPr lang="en-US" sz="1600" dirty="0">
                <a:solidFill>
                  <a:prstClr val="black"/>
                </a:solidFill>
              </a:rPr>
              <a:t>especially in terms of innovation in road construction and routine road maintenance, plays a significant role in reducing the initial cost associated with construction of new and prioritized road infrastructure but also reducing annual road maintenance budget requirements.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Road asset management: </a:t>
            </a:r>
            <a:r>
              <a:rPr lang="en-US" sz="1600" dirty="0">
                <a:solidFill>
                  <a:prstClr val="black"/>
                </a:solidFill>
              </a:rPr>
              <a:t>RAMS play a crucial role in helping road authorities prioritize spending of roads maintenance budgets. They are important to further prioritize limited budgetary allocation for infrastructure maintenance and risk mitigation interventions needed to maintain and improve the overall condition of the road network against climate risks such as exposure to extreme heat and flooding.</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600" b="1" dirty="0">
                <a:solidFill>
                  <a:prstClr val="black"/>
                </a:solidFill>
              </a:rPr>
              <a:t>Early warning system: </a:t>
            </a:r>
            <a:r>
              <a:rPr lang="en-US" sz="1600" dirty="0">
                <a:solidFill>
                  <a:prstClr val="black"/>
                </a:solidFill>
              </a:rPr>
              <a:t>EWS involve a multifaceted approach that integrates hardware (management measures and infrastructure), software (data analytics, processing, and dissemination), and </a:t>
            </a:r>
            <a:r>
              <a:rPr lang="en-US" sz="1600" dirty="0" err="1">
                <a:solidFill>
                  <a:prstClr val="black"/>
                </a:solidFill>
              </a:rPr>
              <a:t>orgware</a:t>
            </a:r>
            <a:r>
              <a:rPr lang="en-US" sz="1600" dirty="0">
                <a:solidFill>
                  <a:prstClr val="black"/>
                </a:solidFill>
              </a:rPr>
              <a:t> (</a:t>
            </a:r>
            <a:r>
              <a:rPr lang="en-US" sz="1600" dirty="0" err="1">
                <a:solidFill>
                  <a:prstClr val="black"/>
                </a:solidFill>
              </a:rPr>
              <a:t>organisational</a:t>
            </a:r>
            <a:r>
              <a:rPr lang="en-US" sz="1600" dirty="0">
                <a:solidFill>
                  <a:prstClr val="black"/>
                </a:solidFill>
              </a:rPr>
              <a:t> or institutional aspects such as policies and guidelines). They can help to identify damages at an early stage and inform on the need to repair and/or replace assets at the appropriate time.</a:t>
            </a:r>
            <a:endParaRPr lang="en-US" sz="1600" b="1"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S" sz="1600" dirty="0">
              <a:solidFill>
                <a:prstClr val="black"/>
              </a:solidFill>
            </a:endParaRP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endParaRPr lang="en-UG" sz="1600" dirty="0"/>
          </a:p>
        </p:txBody>
      </p:sp>
    </p:spTree>
    <p:extLst>
      <p:ext uri="{BB962C8B-B14F-4D97-AF65-F5344CB8AC3E}">
        <p14:creationId xmlns:p14="http://schemas.microsoft.com/office/powerpoint/2010/main" val="2413000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ROAD MAINTENANCE financing</a:t>
            </a:r>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11</a:t>
            </a:fld>
            <a:endParaRPr lang="en-US" dirty="0"/>
          </a:p>
        </p:txBody>
      </p:sp>
      <p:sp>
        <p:nvSpPr>
          <p:cNvPr id="6" name="Content Placeholder 8">
            <a:extLst>
              <a:ext uri="{FF2B5EF4-FFF2-40B4-BE49-F238E27FC236}">
                <a16:creationId xmlns:a16="http://schemas.microsoft.com/office/drawing/2014/main" id="{DA6E1819-D5FA-9F04-E6F3-C7B2246EBFAE}"/>
              </a:ext>
            </a:extLst>
          </p:cNvPr>
          <p:cNvSpPr>
            <a:spLocks noGrp="1"/>
          </p:cNvSpPr>
          <p:nvPr>
            <p:ph idx="1"/>
          </p:nvPr>
        </p:nvSpPr>
        <p:spPr>
          <a:xfrm>
            <a:off x="914119" y="1570928"/>
            <a:ext cx="11077855"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Decentralized financing of local roads </a:t>
            </a:r>
            <a:r>
              <a:rPr lang="en-US" sz="1600" dirty="0">
                <a:solidFill>
                  <a:prstClr val="black"/>
                </a:solidFill>
              </a:rPr>
              <a:t>– If local governments and private organizations are to carry out decentralized functions effectively, they must have adequate revenues, as well as the authority to make expenditure decisions .  Revenues can be raised locally or transferred from the central government.</a:t>
            </a:r>
          </a:p>
          <a:p>
            <a:pPr marL="0" marR="0" lvl="0" indent="0" defTabSz="914400" rtl="0" eaLnBrk="1" fontAlgn="auto" latinLnBrk="0" hangingPunct="1">
              <a:lnSpc>
                <a:spcPct val="120000"/>
              </a:lnSpc>
              <a:spcBef>
                <a:spcPts val="0"/>
              </a:spcBef>
              <a:spcAft>
                <a:spcPts val="0"/>
              </a:spcAft>
              <a:buClr>
                <a:srgbClr val="1CADE4"/>
              </a:buClr>
              <a:buSzPct val="100000"/>
              <a:buNone/>
              <a:tabLst/>
              <a:defRPr/>
            </a:pPr>
            <a:endParaRPr lang="en-US" sz="1600" dirty="0">
              <a:solidFill>
                <a:prstClr val="black"/>
              </a:solidFill>
            </a:endParaRP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Road funds </a:t>
            </a:r>
            <a:r>
              <a:rPr lang="en-US" sz="1600" dirty="0">
                <a:solidFill>
                  <a:prstClr val="black"/>
                </a:solidFill>
              </a:rPr>
              <a:t>– special accounts, administered and managed by independent organization, into which certain revenues are deposited and can then only be accessed by the roads administration. There must be a separation of money collected from road users into a utility charge that is use-related and into a tax that is paid into general revenue.</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endParaRPr lang="en-US" sz="1600" dirty="0">
              <a:solidFill>
                <a:prstClr val="black"/>
              </a:solidFill>
            </a:endParaRP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Private financing </a:t>
            </a:r>
            <a:r>
              <a:rPr lang="en-US" sz="1600" dirty="0">
                <a:solidFill>
                  <a:prstClr val="black"/>
                </a:solidFill>
              </a:rPr>
              <a:t>– Includes private concessions, public toll roads, PPPs, and community fund raising by targeting local taxation. Successful private finance contracts rely upon a number of pre-conditions, including:</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Economic stability</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Financial viability.</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Attitudes towards risks and rewards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Completion undertakings</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Availability of finance</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Government support</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Complexity</a:t>
            </a:r>
          </a:p>
          <a:p>
            <a:pPr marL="459486" lvl="1" indent="-285750">
              <a:lnSpc>
                <a:spcPct val="120000"/>
              </a:lnSpc>
              <a:spcBef>
                <a:spcPts val="0"/>
              </a:spcBef>
              <a:spcAft>
                <a:spcPts val="0"/>
              </a:spcAft>
              <a:buClr>
                <a:srgbClr val="1CADE4"/>
              </a:buClr>
              <a:buSzPct val="100000"/>
              <a:buFont typeface="Wingdings" panose="05000000000000000000" pitchFamily="2" charset="2"/>
              <a:buChar char="q"/>
              <a:defRPr/>
            </a:pPr>
            <a:r>
              <a:rPr lang="en-US" sz="1200" dirty="0">
                <a:solidFill>
                  <a:prstClr val="black"/>
                </a:solidFill>
              </a:rPr>
              <a:t>Patience and perseverance</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endParaRPr lang="en-US" sz="1600" b="1" dirty="0">
              <a:solidFill>
                <a:prstClr val="black"/>
              </a:solidFill>
            </a:endParaRPr>
          </a:p>
        </p:txBody>
      </p:sp>
    </p:spTree>
    <p:extLst>
      <p:ext uri="{BB962C8B-B14F-4D97-AF65-F5344CB8AC3E}">
        <p14:creationId xmlns:p14="http://schemas.microsoft.com/office/powerpoint/2010/main" val="3072070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ROAD MAINTENANCE FUNDING</a:t>
            </a:r>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12</a:t>
            </a:fld>
            <a:endParaRPr lang="en-US" dirty="0"/>
          </a:p>
        </p:txBody>
      </p:sp>
      <p:sp>
        <p:nvSpPr>
          <p:cNvPr id="6" name="Content Placeholder 8">
            <a:extLst>
              <a:ext uri="{FF2B5EF4-FFF2-40B4-BE49-F238E27FC236}">
                <a16:creationId xmlns:a16="http://schemas.microsoft.com/office/drawing/2014/main" id="{DA6E1819-D5FA-9F04-E6F3-C7B2246EBFAE}"/>
              </a:ext>
            </a:extLst>
          </p:cNvPr>
          <p:cNvSpPr>
            <a:spLocks noGrp="1"/>
          </p:cNvSpPr>
          <p:nvPr>
            <p:ph idx="1"/>
          </p:nvPr>
        </p:nvSpPr>
        <p:spPr>
          <a:xfrm>
            <a:off x="817692" y="1358277"/>
            <a:ext cx="11077855"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Road toll </a:t>
            </a:r>
            <a:r>
              <a:rPr lang="en-US" sz="1600" dirty="0">
                <a:solidFill>
                  <a:prstClr val="black"/>
                </a:solidFill>
              </a:rPr>
              <a:t>- users pay directly for their contribution to the use of the road. More transparent for private financiers. But the administrative cost of collecting tolls can be high and is not suitable for all roads - a high traffic level is required to be feasible;</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Fuel levies </a:t>
            </a:r>
            <a:r>
              <a:rPr lang="en-US" sz="1600" dirty="0">
                <a:solidFill>
                  <a:prstClr val="black"/>
                </a:solidFill>
              </a:rPr>
              <a:t>- reflects usage of road space directly and is an efficient funding source to administer. Poor proxy for road damage, as heavy vehicles cause far more damage to the road pavement and only use marginally more fuel;</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Annual vehicle licenses </a:t>
            </a:r>
            <a:r>
              <a:rPr lang="en-US" sz="1600" dirty="0">
                <a:solidFill>
                  <a:prstClr val="black"/>
                </a:solidFill>
              </a:rPr>
              <a:t>- enables a progressive fee that match the relative degree of pavement damage caused by different classes of vehicle;</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International transit fees </a:t>
            </a:r>
            <a:r>
              <a:rPr lang="en-US" sz="1600" dirty="0">
                <a:solidFill>
                  <a:prstClr val="black"/>
                </a:solidFill>
              </a:rPr>
              <a:t>- can be collected at points of entry and exit;</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dirty="0">
                <a:solidFill>
                  <a:prstClr val="black"/>
                </a:solidFill>
              </a:rPr>
              <a:t>Overloading fees - charges on freight transport who go over maximum weight loads. However, the desire is to eliminate overloading, so these fees should not be used for planning purposes - same as any other revenues made from traffic violation fines;</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Congestion charging </a:t>
            </a:r>
            <a:r>
              <a:rPr lang="en-US" sz="1600" dirty="0">
                <a:solidFill>
                  <a:prstClr val="black"/>
                </a:solidFill>
              </a:rPr>
              <a:t>- suitable for urban areas. Mechanisms available for this include parking charges, cordon charges and area </a:t>
            </a:r>
            <a:r>
              <a:rPr lang="en-US" sz="1600" dirty="0" err="1">
                <a:solidFill>
                  <a:prstClr val="black"/>
                </a:solidFill>
              </a:rPr>
              <a:t>licence</a:t>
            </a:r>
            <a:r>
              <a:rPr lang="en-US" sz="1600" dirty="0">
                <a:solidFill>
                  <a:prstClr val="black"/>
                </a:solidFill>
              </a:rPr>
              <a:t> fees;</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Charging utilities </a:t>
            </a:r>
            <a:r>
              <a:rPr lang="en-US" sz="1600" dirty="0">
                <a:solidFill>
                  <a:prstClr val="black"/>
                </a:solidFill>
              </a:rPr>
              <a:t>- charging utilities for the use of road space, either when they are carried above the road, or buried within it. This is certainly more applicable when utilities are being installed or maintain, since the use of road space is being denied to the principle customers;</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Donor funds</a:t>
            </a:r>
            <a:r>
              <a:rPr lang="en-US" sz="1600" dirty="0">
                <a:solidFill>
                  <a:prstClr val="black"/>
                </a:solidFill>
              </a:rPr>
              <a:t>;</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Capital gains </a:t>
            </a:r>
            <a:r>
              <a:rPr lang="en-US" sz="1600" dirty="0">
                <a:solidFill>
                  <a:prstClr val="black"/>
                </a:solidFill>
              </a:rPr>
              <a:t>from investments.</a:t>
            </a:r>
          </a:p>
        </p:txBody>
      </p:sp>
    </p:spTree>
    <p:extLst>
      <p:ext uri="{BB962C8B-B14F-4D97-AF65-F5344CB8AC3E}">
        <p14:creationId xmlns:p14="http://schemas.microsoft.com/office/powerpoint/2010/main" val="443467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PUBLIC-PRIVATE PARTNERSHIPS</a:t>
            </a:r>
          </a:p>
        </p:txBody>
      </p:sp>
      <p:graphicFrame>
        <p:nvGraphicFramePr>
          <p:cNvPr id="10" name="Table 9">
            <a:extLst>
              <a:ext uri="{FF2B5EF4-FFF2-40B4-BE49-F238E27FC236}">
                <a16:creationId xmlns:a16="http://schemas.microsoft.com/office/drawing/2014/main" id="{3979F352-2FDF-918B-9B02-9387FDA8B013}"/>
              </a:ext>
            </a:extLst>
          </p:cNvPr>
          <p:cNvGraphicFramePr>
            <a:graphicFrameLocks noGrp="1"/>
          </p:cNvGraphicFramePr>
          <p:nvPr>
            <p:extLst>
              <p:ext uri="{D42A27DB-BD31-4B8C-83A1-F6EECF244321}">
                <p14:modId xmlns:p14="http://schemas.microsoft.com/office/powerpoint/2010/main" val="445113467"/>
              </p:ext>
            </p:extLst>
          </p:nvPr>
        </p:nvGraphicFramePr>
        <p:xfrm>
          <a:off x="590410" y="1448369"/>
          <a:ext cx="11011180" cy="5344219"/>
        </p:xfrm>
        <a:graphic>
          <a:graphicData uri="http://schemas.openxmlformats.org/drawingml/2006/table">
            <a:tbl>
              <a:tblPr firstRow="1" firstCol="1" bandRow="1">
                <a:tableStyleId>{5C22544A-7EE6-4342-B048-85BDC9FD1C3A}</a:tableStyleId>
              </a:tblPr>
              <a:tblGrid>
                <a:gridCol w="2035314">
                  <a:extLst>
                    <a:ext uri="{9D8B030D-6E8A-4147-A177-3AD203B41FA5}">
                      <a16:colId xmlns:a16="http://schemas.microsoft.com/office/drawing/2014/main" val="1410520688"/>
                    </a:ext>
                  </a:extLst>
                </a:gridCol>
                <a:gridCol w="8975866">
                  <a:extLst>
                    <a:ext uri="{9D8B030D-6E8A-4147-A177-3AD203B41FA5}">
                      <a16:colId xmlns:a16="http://schemas.microsoft.com/office/drawing/2014/main" val="1548467164"/>
                    </a:ext>
                  </a:extLst>
                </a:gridCol>
              </a:tblGrid>
              <a:tr h="326609">
                <a:tc>
                  <a:txBody>
                    <a:bodyPr/>
                    <a:lstStyle/>
                    <a:p>
                      <a:pPr algn="l">
                        <a:lnSpc>
                          <a:spcPct val="112000"/>
                        </a:lnSpc>
                      </a:pPr>
                      <a:r>
                        <a:rPr lang="en-GB" sz="2400" dirty="0">
                          <a:effectLst/>
                        </a:rPr>
                        <a:t>Topic</a:t>
                      </a:r>
                      <a:endParaRPr lang="en-US" sz="24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2400" dirty="0">
                          <a:effectLst/>
                        </a:rPr>
                        <a:t> Key Considerations</a:t>
                      </a:r>
                      <a:endParaRPr lang="en-US" sz="24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1164077301"/>
                  </a:ext>
                </a:extLst>
              </a:tr>
              <a:tr h="771891">
                <a:tc>
                  <a:txBody>
                    <a:bodyPr/>
                    <a:lstStyle/>
                    <a:p>
                      <a:pPr algn="l">
                        <a:lnSpc>
                          <a:spcPct val="112000"/>
                        </a:lnSpc>
                      </a:pPr>
                      <a:r>
                        <a:rPr lang="en-GB" sz="1600" dirty="0">
                          <a:effectLst/>
                        </a:rPr>
                        <a:t>Role for the Private Sector</a:t>
                      </a:r>
                      <a:endParaRPr lang="en-US" sz="16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1200" dirty="0">
                          <a:effectLst/>
                        </a:rPr>
                        <a:t>The private sector can be responsible for the design, construction, operation, and maintenance of a PPP project depending on the type of contract structure. To integrate climate adaptation and resilience into PPPs, the private partner should build capacity to understand climate risks and the entry points to integrate climate risk assessments, resilient design, appraisal of adaptation options, among others, into the PPP project cycle.</a:t>
                      </a:r>
                      <a:endParaRPr lang="en-US" sz="12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3284918001"/>
                  </a:ext>
                </a:extLst>
              </a:tr>
              <a:tr h="549250">
                <a:tc>
                  <a:txBody>
                    <a:bodyPr/>
                    <a:lstStyle/>
                    <a:p>
                      <a:pPr algn="l">
                        <a:lnSpc>
                          <a:spcPct val="112000"/>
                        </a:lnSpc>
                      </a:pPr>
                      <a:r>
                        <a:rPr lang="en-GB" sz="1600" dirty="0">
                          <a:effectLst/>
                        </a:rPr>
                        <a:t>Governance / Enabling Environment</a:t>
                      </a:r>
                      <a:endParaRPr lang="en-US" sz="16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1200">
                          <a:effectLst/>
                        </a:rPr>
                        <a:t>PPPs require a strong framework for implementation, political support, legal and technical expertise to develop and manage contract and projects.  The capacity on climate risks, adaptation and resilience should be present in both public and private partners.</a:t>
                      </a:r>
                      <a:endParaRPr lang="en-US" sz="120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3129534665"/>
                  </a:ext>
                </a:extLst>
              </a:tr>
              <a:tr h="771891">
                <a:tc>
                  <a:txBody>
                    <a:bodyPr/>
                    <a:lstStyle/>
                    <a:p>
                      <a:pPr algn="l">
                        <a:lnSpc>
                          <a:spcPct val="112000"/>
                        </a:lnSpc>
                      </a:pPr>
                      <a:r>
                        <a:rPr lang="en-GB" sz="1600" dirty="0">
                          <a:effectLst/>
                        </a:rPr>
                        <a:t>Risk Allocation</a:t>
                      </a:r>
                      <a:endParaRPr lang="en-US" sz="16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1200" dirty="0">
                          <a:effectLst/>
                        </a:rPr>
                        <a:t>The allocation of risk between the public and private partner should consider the risk profile and revenue of the project, the expertise/service provided by the private partner, and the institutional / economic strength of the public partner. Furthermore, it requires a common understanding and trust among partners to ensure the project will be effectively implemented.</a:t>
                      </a:r>
                      <a:endParaRPr lang="en-US" sz="12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4103838653"/>
                  </a:ext>
                </a:extLst>
              </a:tr>
              <a:tr h="994532">
                <a:tc>
                  <a:txBody>
                    <a:bodyPr/>
                    <a:lstStyle/>
                    <a:p>
                      <a:pPr algn="l">
                        <a:lnSpc>
                          <a:spcPct val="112000"/>
                        </a:lnSpc>
                      </a:pPr>
                      <a:r>
                        <a:rPr lang="en-GB" sz="1600" dirty="0">
                          <a:effectLst/>
                        </a:rPr>
                        <a:t>Payment Mechanism / Revenue Stream</a:t>
                      </a:r>
                      <a:endParaRPr lang="en-US" sz="16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1200" dirty="0">
                          <a:effectLst/>
                        </a:rPr>
                        <a:t>The remuneration in PPPs is based on user-fees or availability payments, with contractual specifications and requirements that create an incentive for the private partner to optimize the performance of the infrastructure under different climatic conditions. At the same time, since the benefits from climate-resilient infrastructure PPPs often do not result in direct revenues for the project but provide instead provide wider social, economic, and environmental benefits, the public sector should incentivize private partners to innovate and ensure that co-benefits are created and quantified.</a:t>
                      </a:r>
                      <a:endParaRPr lang="en-US" sz="12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2902677422"/>
                  </a:ext>
                </a:extLst>
              </a:tr>
              <a:tr h="1662455">
                <a:tc>
                  <a:txBody>
                    <a:bodyPr/>
                    <a:lstStyle/>
                    <a:p>
                      <a:pPr algn="l">
                        <a:lnSpc>
                          <a:spcPct val="112000"/>
                        </a:lnSpc>
                      </a:pPr>
                      <a:r>
                        <a:rPr lang="en-GB" sz="1600" dirty="0">
                          <a:effectLst/>
                        </a:rPr>
                        <a:t>Adaptation Benefits</a:t>
                      </a:r>
                      <a:endParaRPr lang="en-US" sz="16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tc>
                  <a:txBody>
                    <a:bodyPr/>
                    <a:lstStyle/>
                    <a:p>
                      <a:pPr algn="l">
                        <a:lnSpc>
                          <a:spcPct val="112000"/>
                        </a:lnSpc>
                      </a:pPr>
                      <a:r>
                        <a:rPr lang="en-GB" sz="1200" dirty="0">
                          <a:effectLst/>
                        </a:rPr>
                        <a:t>The remuneration in PPPs is based on user-fees or availability payments, with contractual specifications and requirements, that create an incentive for the private partner to optimize the performance. This provides the opportunity to integrate climate resilience and innovations, such as nature-based solutions, into infrastructure PPP projects to generate additional benefits to the project. Given the long-term contract of a PPP, these principles should be integrated from early stage in the PPP project cycle since a more climate-resilient design can reduce operational and maintenance costs in the future and avoid damages from climate change impacts. Moreover, there are different entry points across the PPP project cycle to integrate physical climate risks and resilience. The World Bank and the Global Center on Adaptation developed guidance for practitioners to integrate climate resilience into infrastructure PPP projects (see Other Useful Resources section).</a:t>
                      </a:r>
                      <a:endParaRPr lang="en-US" sz="1200" dirty="0">
                        <a:solidFill>
                          <a:srgbClr val="00577E"/>
                        </a:solidFill>
                        <a:effectLst/>
                        <a:latin typeface="Tahoma" panose="020B0604030504040204" pitchFamily="34" charset="0"/>
                        <a:ea typeface="Tahoma" panose="020B0604030504040204" pitchFamily="34" charset="0"/>
                        <a:cs typeface="Tahoma" panose="020B0604030504040204" pitchFamily="34" charset="0"/>
                      </a:endParaRPr>
                    </a:p>
                  </a:txBody>
                  <a:tcPr marL="71755" marR="71755" marT="36195" marB="36195" anchor="ctr"/>
                </a:tc>
                <a:extLst>
                  <a:ext uri="{0D108BD9-81ED-4DB2-BD59-A6C34878D82A}">
                    <a16:rowId xmlns:a16="http://schemas.microsoft.com/office/drawing/2014/main" val="4206942293"/>
                  </a:ext>
                </a:extLst>
              </a:tr>
            </a:tbl>
          </a:graphicData>
        </a:graphic>
      </p:graphicFrame>
    </p:spTree>
    <p:extLst>
      <p:ext uri="{BB962C8B-B14F-4D97-AF65-F5344CB8AC3E}">
        <p14:creationId xmlns:p14="http://schemas.microsoft.com/office/powerpoint/2010/main" val="4032881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1027550" y="652274"/>
            <a:ext cx="10250330" cy="1143531"/>
          </a:xfrm>
        </p:spPr>
        <p:txBody>
          <a:bodyPr>
            <a:normAutofit/>
          </a:bodyPr>
          <a:lstStyle/>
          <a:p>
            <a:r>
              <a:rPr lang="en-GB" sz="2800" b="1" dirty="0">
                <a:cs typeface="Tahoma" panose="020B0604030504040204" pitchFamily="34" charset="0"/>
              </a:rPr>
              <a:t>Key lessons from </a:t>
            </a:r>
            <a:r>
              <a:rPr lang="en-GB" sz="2800" b="1" dirty="0" err="1">
                <a:cs typeface="Tahoma" panose="020B0604030504040204" pitchFamily="34" charset="0"/>
              </a:rPr>
              <a:t>Ppp</a:t>
            </a:r>
            <a:r>
              <a:rPr lang="en-GB" sz="2800" b="1" dirty="0">
                <a:cs typeface="Tahoma" panose="020B0604030504040204" pitchFamily="34" charset="0"/>
              </a:rPr>
              <a:t> projects</a:t>
            </a:r>
          </a:p>
        </p:txBody>
      </p:sp>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0837333" y="6470704"/>
            <a:ext cx="973667" cy="274320"/>
          </a:xfrm>
        </p:spPr>
        <p:txBody>
          <a:bodyPr/>
          <a:lstStyle/>
          <a:p>
            <a:fld id="{6B5ECC12-AE2A-7F48-B84B-C0ED28A288DF}" type="slidenum">
              <a:rPr lang="en-US" smtClean="0"/>
              <a:pPr/>
              <a:t>14</a:t>
            </a:fld>
            <a:endParaRPr lang="en-US" dirty="0"/>
          </a:p>
        </p:txBody>
      </p:sp>
      <p:sp>
        <p:nvSpPr>
          <p:cNvPr id="4" name="Content Placeholder 8">
            <a:extLst>
              <a:ext uri="{FF2B5EF4-FFF2-40B4-BE49-F238E27FC236}">
                <a16:creationId xmlns:a16="http://schemas.microsoft.com/office/drawing/2014/main" id="{E6C7E499-A420-616D-E3AC-3F164661CC84}"/>
              </a:ext>
            </a:extLst>
          </p:cNvPr>
          <p:cNvSpPr>
            <a:spLocks noGrp="1"/>
          </p:cNvSpPr>
          <p:nvPr>
            <p:ph idx="1"/>
          </p:nvPr>
        </p:nvSpPr>
        <p:spPr>
          <a:xfrm>
            <a:off x="923645" y="1784537"/>
            <a:ext cx="11077855" cy="4476978"/>
          </a:xfrm>
        </p:spPr>
        <p:txBody>
          <a:bodyPr>
            <a:noAutofit/>
          </a:bodyPr>
          <a:lstStyle/>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1: </a:t>
            </a:r>
            <a:r>
              <a:rPr lang="en-US" sz="1600" dirty="0">
                <a:solidFill>
                  <a:prstClr val="black"/>
                </a:solidFill>
              </a:rPr>
              <a:t>Successful road PPP projects or programs require high-level government championing. </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2: </a:t>
            </a:r>
            <a:r>
              <a:rPr lang="en-US" sz="1600" dirty="0">
                <a:solidFill>
                  <a:prstClr val="black"/>
                </a:solidFill>
              </a:rPr>
              <a:t>A programmatic approach with standardized documents generates many benefits, among which the reduction in transaction costs for both public and private stakeholders is the most notable.</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3: </a:t>
            </a:r>
            <a:r>
              <a:rPr lang="en-US" sz="1600" dirty="0">
                <a:solidFill>
                  <a:prstClr val="black"/>
                </a:solidFill>
              </a:rPr>
              <a:t>Public authorities need to take a realistic look at the local road contracting industry before scaling their road PPP projects or programs. </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4: </a:t>
            </a:r>
            <a:r>
              <a:rPr lang="en-US" sz="1600" dirty="0">
                <a:solidFill>
                  <a:prstClr val="black"/>
                </a:solidFill>
              </a:rPr>
              <a:t>the User-Pays PPP model is not easily replicable when scaling up private participation in the road sector in SSA. </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5: </a:t>
            </a:r>
            <a:r>
              <a:rPr lang="en-US" sz="1600" dirty="0">
                <a:solidFill>
                  <a:prstClr val="black"/>
                </a:solidFill>
              </a:rPr>
              <a:t>Annuity Payments funded by a clear ring-fenced mechanism, independent from annual public budgeting cycle, can strongly enhance a project's bankability. </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6: </a:t>
            </a:r>
            <a:r>
              <a:rPr lang="en-US" sz="1600" dirty="0">
                <a:solidFill>
                  <a:prstClr val="black"/>
                </a:solidFill>
              </a:rPr>
              <a:t>Tolls or other forms of distance-based charges can be successfully implemented. They require strong political support, a transparent tolling policy and visible improvements for road users.</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7: </a:t>
            </a:r>
            <a:r>
              <a:rPr lang="en-US" sz="1600" dirty="0">
                <a:solidFill>
                  <a:prstClr val="black"/>
                </a:solidFill>
              </a:rPr>
              <a:t>National Infrastructure Banks (NIBs) can play a key role in assisting in the implementation of road PPP projects or programs. </a:t>
            </a:r>
          </a:p>
          <a:p>
            <a:pPr marL="285750" marR="0" lvl="0" indent="-285750" defTabSz="914400" rtl="0" eaLnBrk="1" fontAlgn="auto" latinLnBrk="0" hangingPunct="1">
              <a:lnSpc>
                <a:spcPct val="120000"/>
              </a:lnSpc>
              <a:spcBef>
                <a:spcPts val="0"/>
              </a:spcBef>
              <a:spcAft>
                <a:spcPts val="0"/>
              </a:spcAft>
              <a:buClr>
                <a:srgbClr val="1CADE4"/>
              </a:buClr>
              <a:buSzPct val="100000"/>
              <a:buFont typeface="Wingdings" panose="05000000000000000000" pitchFamily="2" charset="2"/>
              <a:buChar char="q"/>
              <a:tabLst/>
              <a:defRPr/>
            </a:pPr>
            <a:r>
              <a:rPr lang="en-US" sz="1600" b="1" dirty="0">
                <a:solidFill>
                  <a:prstClr val="black"/>
                </a:solidFill>
              </a:rPr>
              <a:t>Lesson 8: </a:t>
            </a:r>
            <a:r>
              <a:rPr lang="en-US" sz="1600" dirty="0">
                <a:solidFill>
                  <a:prstClr val="black"/>
                </a:solidFill>
              </a:rPr>
              <a:t>Coordinated MDB support can be instrumental to the success of road PPP projects or programs.</a:t>
            </a:r>
          </a:p>
        </p:txBody>
      </p:sp>
    </p:spTree>
    <p:extLst>
      <p:ext uri="{BB962C8B-B14F-4D97-AF65-F5344CB8AC3E}">
        <p14:creationId xmlns:p14="http://schemas.microsoft.com/office/powerpoint/2010/main" val="2031536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F4D3139-CD2C-DB40-B369-4016F24DF24F}"/>
              </a:ext>
            </a:extLst>
          </p:cNvPr>
          <p:cNvSpPr>
            <a:spLocks noGrp="1"/>
          </p:cNvSpPr>
          <p:nvPr>
            <p:ph type="title"/>
          </p:nvPr>
        </p:nvSpPr>
        <p:spPr>
          <a:xfrm>
            <a:off x="310039" y="640080"/>
            <a:ext cx="3429855" cy="5613236"/>
          </a:xfrm>
        </p:spPr>
        <p:txBody>
          <a:bodyPr vert="horz" lIns="91440" tIns="45720" rIns="91440" bIns="45720" rtlCol="0" anchor="ctr">
            <a:normAutofit/>
          </a:bodyPr>
          <a:lstStyle/>
          <a:p>
            <a:r>
              <a:rPr lang="en-US" sz="5000" b="1">
                <a:solidFill>
                  <a:srgbClr val="FFFFFF"/>
                </a:solidFill>
                <a:latin typeface="+mj-lt"/>
                <a:ea typeface="+mj-ea"/>
              </a:rPr>
              <a:t>POTENTIAL FINANCING MECHANISMS FOR INFRA TECH</a:t>
            </a:r>
          </a:p>
        </p:txBody>
      </p:sp>
      <p:pic>
        <p:nvPicPr>
          <p:cNvPr id="15" name="Graphic 14" descr="Money">
            <a:extLst>
              <a:ext uri="{FF2B5EF4-FFF2-40B4-BE49-F238E27FC236}">
                <a16:creationId xmlns:a16="http://schemas.microsoft.com/office/drawing/2014/main" id="{C7FAA4E5-5923-0EED-5AAB-C058088C1C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83029" y="4947536"/>
            <a:ext cx="1685977" cy="1685977"/>
          </a:xfrm>
          <a:prstGeom prst="rect">
            <a:avLst/>
          </a:prstGeom>
        </p:spPr>
      </p:pic>
      <p:sp>
        <p:nvSpPr>
          <p:cNvPr id="2" name="Slide Number Placeholder 1">
            <a:extLst>
              <a:ext uri="{FF2B5EF4-FFF2-40B4-BE49-F238E27FC236}">
                <a16:creationId xmlns:a16="http://schemas.microsoft.com/office/drawing/2014/main" id="{83338F2D-2375-124E-2D7C-3CE7EEFC3521}"/>
              </a:ext>
            </a:extLst>
          </p:cNvPr>
          <p:cNvSpPr>
            <a:spLocks noGrp="1"/>
          </p:cNvSpPr>
          <p:nvPr>
            <p:ph type="sldNum" sz="quarter" idx="4294967295"/>
          </p:nvPr>
        </p:nvSpPr>
        <p:spPr>
          <a:xfrm>
            <a:off x="11218863" y="6470650"/>
            <a:ext cx="973137" cy="274638"/>
          </a:xfrm>
        </p:spPr>
        <p:txBody>
          <a:bodyPr vert="horz" lIns="91440" tIns="45720" rIns="91440" bIns="45720" rtlCol="0" anchor="ctr">
            <a:normAutofit/>
          </a:bodyPr>
          <a:lstStyle/>
          <a:p>
            <a:pPr>
              <a:spcAft>
                <a:spcPts val="600"/>
              </a:spcAft>
            </a:pPr>
            <a:fld id="{6B5ECC12-AE2A-7F48-B84B-C0ED28A288DF}" type="slidenum">
              <a:rPr lang="en-US" smtClean="0"/>
              <a:pPr>
                <a:spcAft>
                  <a:spcPts val="600"/>
                </a:spcAft>
              </a:pPr>
              <a:t>15</a:t>
            </a:fld>
            <a:endParaRPr lang="en-US"/>
          </a:p>
        </p:txBody>
      </p:sp>
      <p:sp>
        <p:nvSpPr>
          <p:cNvPr id="5" name="Title 1">
            <a:extLst>
              <a:ext uri="{FF2B5EF4-FFF2-40B4-BE49-F238E27FC236}">
                <a16:creationId xmlns:a16="http://schemas.microsoft.com/office/drawing/2014/main" id="{329A0996-0ED7-EFC8-973C-EA6C4886CFF6}"/>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979FEB8D-777C-0100-2916-D70DC07BF927}"/>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13" name="Rectangle 3">
            <a:extLst>
              <a:ext uri="{FF2B5EF4-FFF2-40B4-BE49-F238E27FC236}">
                <a16:creationId xmlns:a16="http://schemas.microsoft.com/office/drawing/2014/main" id="{86AC1DB2-D040-C84A-B9E8-B45CC8E81FE3}"/>
              </a:ext>
            </a:extLst>
          </p:cNvPr>
          <p:cNvSpPr txBox="1">
            <a:spLocks noChangeArrowheads="1"/>
          </p:cNvSpPr>
          <p:nvPr/>
        </p:nvSpPr>
        <p:spPr bwMode="auto">
          <a:xfrm>
            <a:off x="4123941" y="1067475"/>
            <a:ext cx="7758020" cy="42932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eaLnBrk="0" fontAlgn="base" hangingPunct="0">
              <a:spcBef>
                <a:spcPct val="0"/>
              </a:spcBef>
              <a:spcAft>
                <a:spcPts val="600"/>
              </a:spcAft>
              <a:buClrTx/>
              <a:buSzTx/>
              <a:buFontTx/>
              <a:buChar char="•"/>
            </a:pPr>
            <a:r>
              <a:rPr lang="en-US" altLang="en-US" sz="1400" b="1" dirty="0">
                <a:latin typeface="Arial" panose="020B0604020202020204" pitchFamily="34" charset="0"/>
              </a:rPr>
              <a:t>Public budgets &amp; dedicated funds </a:t>
            </a: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National / regional budgets, road / infrastructure funds, trust funds.</a:t>
            </a: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Financed from general revenues, taxes and fees (fuel, vehicle, carbon, surcharges).</a:t>
            </a:r>
          </a:p>
          <a:p>
            <a:pPr marL="0" indent="0" eaLnBrk="0" fontAlgn="base" hangingPunct="0">
              <a:spcBef>
                <a:spcPct val="0"/>
              </a:spcBef>
              <a:spcAft>
                <a:spcPts val="600"/>
              </a:spcAft>
              <a:buClrTx/>
              <a:buSzTx/>
              <a:buNone/>
            </a:pP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b="1" dirty="0">
                <a:latin typeface="Arial" panose="020B0604020202020204" pitchFamily="34" charset="0"/>
              </a:rPr>
              <a:t>Direct user charges &amp; road pricing </a:t>
            </a: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Charges linked to use of ITS and road assets: service fees, project / network tolling, congestion charging, distance-based charges.</a:t>
            </a: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Require clear added value to users and robust legal / institutional framework.</a:t>
            </a:r>
          </a:p>
          <a:p>
            <a:pPr marL="0" indent="0" eaLnBrk="0" fontAlgn="base" hangingPunct="0">
              <a:spcBef>
                <a:spcPct val="0"/>
              </a:spcBef>
              <a:spcAft>
                <a:spcPts val="600"/>
              </a:spcAft>
              <a:buClrTx/>
              <a:buSzTx/>
              <a:buNone/>
            </a:pP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b="1" dirty="0">
                <a:latin typeface="Arial" panose="020B0604020202020204" pitchFamily="34" charset="0"/>
              </a:rPr>
              <a:t>Business-related &amp; commercial charges </a:t>
            </a: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Charges to businesses benefiting from road/ITS (petrol stations, parking, concessions, advertising, data services).</a:t>
            </a: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Often need specific regulations to capture and ring-fence cash flows.</a:t>
            </a:r>
          </a:p>
          <a:p>
            <a:pPr marL="0" indent="0" eaLnBrk="0" fontAlgn="base" hangingPunct="0">
              <a:spcBef>
                <a:spcPct val="0"/>
              </a:spcBef>
              <a:spcAft>
                <a:spcPts val="600"/>
              </a:spcAft>
              <a:buClrTx/>
              <a:buSzTx/>
              <a:buNone/>
            </a:pP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b="1" dirty="0">
                <a:latin typeface="Arial" panose="020B0604020202020204" pitchFamily="34" charset="0"/>
              </a:rPr>
              <a:t>Loans &amp; bonds </a:t>
            </a:r>
            <a:endParaRPr lang="en-US" altLang="en-US" sz="14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Commercial (climate) loans; government, DFI and project (climate) bonds; social impact bonds.</a:t>
            </a:r>
          </a:p>
          <a:p>
            <a:pPr marL="0" indent="0" eaLnBrk="0" fontAlgn="base" hangingPunct="0">
              <a:spcBef>
                <a:spcPct val="0"/>
              </a:spcBef>
              <a:spcAft>
                <a:spcPts val="600"/>
              </a:spcAft>
              <a:buClrTx/>
              <a:buSzTx/>
              <a:buFontTx/>
              <a:buChar char="•"/>
            </a:pPr>
            <a:r>
              <a:rPr lang="en-US" altLang="en-US" sz="1400" dirty="0">
                <a:latin typeface="Arial" panose="020B0604020202020204" pitchFamily="34" charset="0"/>
              </a:rPr>
              <a:t>Provide upfront financing but require predictable revenue streams for debt service.</a:t>
            </a:r>
          </a:p>
          <a:p>
            <a:pPr marL="0" indent="0" eaLnBrk="0" fontAlgn="base" hangingPunct="0">
              <a:spcBef>
                <a:spcPct val="0"/>
              </a:spcBef>
              <a:spcAft>
                <a:spcPts val="600"/>
              </a:spcAft>
              <a:buClrTx/>
              <a:buSzTx/>
              <a:buFontTx/>
              <a:buNone/>
            </a:pPr>
            <a:endParaRPr lang="en-US" altLang="en-US" sz="1100" dirty="0">
              <a:latin typeface="Arial" panose="020B0604020202020204" pitchFamily="34" charset="0"/>
            </a:endParaRPr>
          </a:p>
        </p:txBody>
      </p:sp>
    </p:spTree>
    <p:extLst>
      <p:ext uri="{BB962C8B-B14F-4D97-AF65-F5344CB8AC3E}">
        <p14:creationId xmlns:p14="http://schemas.microsoft.com/office/powerpoint/2010/main" val="3669284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3C0B94-F957-2B43-C816-E8462880962C}"/>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081E157C-2230-B1A9-5DA0-4FA0A471DF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45DB26A-255E-7411-8A36-66B80F9E8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2EE637A4-C89E-732A-17D6-7D47F92E3934}"/>
              </a:ext>
            </a:extLst>
          </p:cNvPr>
          <p:cNvSpPr>
            <a:spLocks noGrp="1"/>
          </p:cNvSpPr>
          <p:nvPr>
            <p:ph type="title"/>
          </p:nvPr>
        </p:nvSpPr>
        <p:spPr>
          <a:xfrm>
            <a:off x="310039" y="640080"/>
            <a:ext cx="3429855" cy="5613236"/>
          </a:xfrm>
        </p:spPr>
        <p:txBody>
          <a:bodyPr vert="horz" lIns="91440" tIns="45720" rIns="91440" bIns="45720" rtlCol="0" anchor="ctr">
            <a:normAutofit/>
          </a:bodyPr>
          <a:lstStyle/>
          <a:p>
            <a:r>
              <a:rPr lang="en-US" sz="5000" b="1">
                <a:solidFill>
                  <a:srgbClr val="FFFFFF"/>
                </a:solidFill>
                <a:latin typeface="+mj-lt"/>
                <a:ea typeface="+mj-ea"/>
              </a:rPr>
              <a:t>POTENTIAL FINANCING MECHANISMS FOR INFRA TECH</a:t>
            </a:r>
          </a:p>
        </p:txBody>
      </p:sp>
      <p:pic>
        <p:nvPicPr>
          <p:cNvPr id="15" name="Graphic 14" descr="Money">
            <a:extLst>
              <a:ext uri="{FF2B5EF4-FFF2-40B4-BE49-F238E27FC236}">
                <a16:creationId xmlns:a16="http://schemas.microsoft.com/office/drawing/2014/main" id="{CD5A1C1D-21DA-0144-4187-0E1D988C1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95984" y="5059311"/>
            <a:ext cx="1685977" cy="1685977"/>
          </a:xfrm>
          <a:prstGeom prst="rect">
            <a:avLst/>
          </a:prstGeom>
        </p:spPr>
      </p:pic>
      <p:sp>
        <p:nvSpPr>
          <p:cNvPr id="2" name="Slide Number Placeholder 1">
            <a:extLst>
              <a:ext uri="{FF2B5EF4-FFF2-40B4-BE49-F238E27FC236}">
                <a16:creationId xmlns:a16="http://schemas.microsoft.com/office/drawing/2014/main" id="{57F6363C-5878-AA4B-E474-70B5E7A72A5F}"/>
              </a:ext>
            </a:extLst>
          </p:cNvPr>
          <p:cNvSpPr>
            <a:spLocks noGrp="1"/>
          </p:cNvSpPr>
          <p:nvPr>
            <p:ph type="sldNum" sz="quarter" idx="4294967295"/>
          </p:nvPr>
        </p:nvSpPr>
        <p:spPr>
          <a:xfrm>
            <a:off x="11218863" y="6470650"/>
            <a:ext cx="973137" cy="274638"/>
          </a:xfrm>
        </p:spPr>
        <p:txBody>
          <a:bodyPr vert="horz" lIns="91440" tIns="45720" rIns="91440" bIns="45720" rtlCol="0" anchor="ctr">
            <a:normAutofit/>
          </a:bodyPr>
          <a:lstStyle/>
          <a:p>
            <a:pPr>
              <a:spcAft>
                <a:spcPts val="600"/>
              </a:spcAft>
            </a:pPr>
            <a:fld id="{6B5ECC12-AE2A-7F48-B84B-C0ED28A288DF}" type="slidenum">
              <a:rPr lang="en-US" smtClean="0"/>
              <a:pPr>
                <a:spcAft>
                  <a:spcPts val="600"/>
                </a:spcAft>
              </a:pPr>
              <a:t>16</a:t>
            </a:fld>
            <a:endParaRPr lang="en-US"/>
          </a:p>
        </p:txBody>
      </p:sp>
      <p:sp>
        <p:nvSpPr>
          <p:cNvPr id="5" name="Title 1">
            <a:extLst>
              <a:ext uri="{FF2B5EF4-FFF2-40B4-BE49-F238E27FC236}">
                <a16:creationId xmlns:a16="http://schemas.microsoft.com/office/drawing/2014/main" id="{C18778D3-22A8-52BD-7151-2B239ECA6783}"/>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159C9400-E646-0BDD-758B-2761543237DA}"/>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sp>
        <p:nvSpPr>
          <p:cNvPr id="14" name="Rectangle 4">
            <a:extLst>
              <a:ext uri="{FF2B5EF4-FFF2-40B4-BE49-F238E27FC236}">
                <a16:creationId xmlns:a16="http://schemas.microsoft.com/office/drawing/2014/main" id="{21EFA53E-E714-DA6D-A0A0-97C8EE708D8C}"/>
              </a:ext>
            </a:extLst>
          </p:cNvPr>
          <p:cNvSpPr txBox="1">
            <a:spLocks noChangeArrowheads="1"/>
          </p:cNvSpPr>
          <p:nvPr/>
        </p:nvSpPr>
        <p:spPr bwMode="auto">
          <a:xfrm>
            <a:off x="4038386" y="717689"/>
            <a:ext cx="7784555" cy="528809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eaLnBrk="0" fontAlgn="base" hangingPunct="0">
              <a:spcBef>
                <a:spcPct val="0"/>
              </a:spcBef>
              <a:spcAft>
                <a:spcPts val="600"/>
              </a:spcAft>
              <a:buClrTx/>
              <a:buSzTx/>
              <a:buFontTx/>
              <a:buChar char="•"/>
            </a:pPr>
            <a:r>
              <a:rPr lang="en-US" altLang="en-US" sz="1300" b="1" dirty="0">
                <a:latin typeface="Arial" panose="020B0604020202020204" pitchFamily="34" charset="0"/>
              </a:rPr>
              <a:t>Equity &amp; PPP structures </a:t>
            </a: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Private equity stakes in projects / SPVs; PPPs based on availability payments or volume / traffic risk (DBFM, toll road and traffic-information concessions).</a:t>
            </a: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Depend on stable PPP framework and bankable risk allocation.</a:t>
            </a:r>
          </a:p>
          <a:p>
            <a:pPr marL="0" indent="0" eaLnBrk="0" fontAlgn="base" hangingPunct="0">
              <a:spcBef>
                <a:spcPct val="0"/>
              </a:spcBef>
              <a:spcAft>
                <a:spcPts val="600"/>
              </a:spcAft>
              <a:buClrTx/>
              <a:buSzTx/>
              <a:buNone/>
            </a:pP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b="1" dirty="0">
                <a:latin typeface="Arial" panose="020B0604020202020204" pitchFamily="34" charset="0"/>
              </a:rPr>
              <a:t>Grants &amp; concessional funds</a:t>
            </a: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DFI “green” grants and trust funds; NGO / philanthropic grants for climate resilience and road safety.</a:t>
            </a: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Time-bound but can improve project viability and de-risk private capital.</a:t>
            </a:r>
          </a:p>
          <a:p>
            <a:pPr marL="0" indent="0" eaLnBrk="0" fontAlgn="base" hangingPunct="0">
              <a:spcBef>
                <a:spcPct val="0"/>
              </a:spcBef>
              <a:spcAft>
                <a:spcPts val="600"/>
              </a:spcAft>
              <a:buClrTx/>
              <a:buSzTx/>
              <a:buNone/>
            </a:pP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b="1" dirty="0">
                <a:latin typeface="Arial" panose="020B0604020202020204" pitchFamily="34" charset="0"/>
              </a:rPr>
              <a:t>Private sector co-funding </a:t>
            </a: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Direct or indirect contributions from mining, logistics and other firms (access roads, concession fees, permit fees, insurance-linked contributions).</a:t>
            </a: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Justified by dependence on reliable road access.</a:t>
            </a:r>
          </a:p>
          <a:p>
            <a:pPr marL="0" indent="0" eaLnBrk="0" fontAlgn="base" hangingPunct="0">
              <a:spcBef>
                <a:spcPct val="0"/>
              </a:spcBef>
              <a:spcAft>
                <a:spcPts val="600"/>
              </a:spcAft>
              <a:buClrTx/>
              <a:buSzTx/>
              <a:buNone/>
            </a:pP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b="1" dirty="0">
                <a:latin typeface="Arial" panose="020B0604020202020204" pitchFamily="34" charset="0"/>
              </a:rPr>
              <a:t>Efficiency &amp; risk-based mechanisms </a:t>
            </a: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Life-cycle cost savings from better design / maintenance; savings on risk coverage and insurance.</a:t>
            </a: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Require integrated planning of construction and long-term O&amp;M and functioning insurance markets.</a:t>
            </a:r>
          </a:p>
          <a:p>
            <a:pPr marL="0" indent="0" eaLnBrk="0" fontAlgn="base" hangingPunct="0">
              <a:spcBef>
                <a:spcPct val="0"/>
              </a:spcBef>
              <a:spcAft>
                <a:spcPts val="600"/>
              </a:spcAft>
              <a:buClrTx/>
              <a:buSzTx/>
              <a:buFontTx/>
              <a:buChar char="•"/>
            </a:pPr>
            <a:r>
              <a:rPr lang="en-US" altLang="en-US" sz="1300" b="1" dirty="0">
                <a:latin typeface="Arial" panose="020B0604020202020204" pitchFamily="34" charset="0"/>
              </a:rPr>
              <a:t>Land &amp; property value capture (J1)</a:t>
            </a:r>
            <a:endParaRPr lang="en-US" altLang="en-US" sz="1300" dirty="0">
              <a:latin typeface="Arial" panose="020B0604020202020204" pitchFamily="34" charset="0"/>
            </a:endParaRP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Capture part of land / property value increases around improved corridors (e.g. strategic land acquisition, betterment levies).</a:t>
            </a:r>
          </a:p>
          <a:p>
            <a:pPr marL="0" indent="0" eaLnBrk="0" fontAlgn="base" hangingPunct="0">
              <a:spcBef>
                <a:spcPct val="0"/>
              </a:spcBef>
              <a:spcAft>
                <a:spcPts val="600"/>
              </a:spcAft>
              <a:buClrTx/>
              <a:buSzTx/>
              <a:buFontTx/>
              <a:buChar char="•"/>
            </a:pPr>
            <a:r>
              <a:rPr lang="en-US" altLang="en-US" sz="1300" dirty="0">
                <a:latin typeface="Arial" panose="020B0604020202020204" pitchFamily="34" charset="0"/>
              </a:rPr>
              <a:t>Needs strong legal basis and clear link between investment and value uplift.</a:t>
            </a:r>
          </a:p>
          <a:p>
            <a:pPr marL="0" indent="0" eaLnBrk="0" fontAlgn="base" hangingPunct="0">
              <a:spcBef>
                <a:spcPct val="0"/>
              </a:spcBef>
              <a:spcAft>
                <a:spcPts val="600"/>
              </a:spcAft>
              <a:buClrTx/>
              <a:buSzTx/>
              <a:buFontTx/>
              <a:buNone/>
            </a:pPr>
            <a:endParaRPr lang="en-US" altLang="en-US" sz="1300" dirty="0">
              <a:latin typeface="Arial" panose="020B0604020202020204" pitchFamily="34" charset="0"/>
            </a:endParaRPr>
          </a:p>
        </p:txBody>
      </p:sp>
    </p:spTree>
    <p:extLst>
      <p:ext uri="{BB962C8B-B14F-4D97-AF65-F5344CB8AC3E}">
        <p14:creationId xmlns:p14="http://schemas.microsoft.com/office/powerpoint/2010/main" val="2136374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BB4151-06CC-192C-827F-43EEA97672A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BFB3F2B-0815-20A7-07B9-294EDDAF862B}"/>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sz="5000" dirty="0">
                <a:solidFill>
                  <a:srgbClr val="FFFFFF"/>
                </a:solidFill>
                <a:latin typeface="+mj-lt"/>
                <a:ea typeface="+mj-ea"/>
              </a:rPr>
              <a:t>SRMPA PHASE 2 – CALL FOR PROPOSALS &amp; STRATEGIC PARTNERSHIPS</a:t>
            </a:r>
            <a:endParaRPr lang="en-US" sz="5000" b="1" dirty="0">
              <a:solidFill>
                <a:srgbClr val="FFFFFF"/>
              </a:solidFill>
              <a:latin typeface="+mj-lt"/>
              <a:ea typeface="+mj-ea"/>
            </a:endParaRPr>
          </a:p>
        </p:txBody>
      </p:sp>
      <p:sp>
        <p:nvSpPr>
          <p:cNvPr id="27" name="TextBox 26">
            <a:extLst>
              <a:ext uri="{FF2B5EF4-FFF2-40B4-BE49-F238E27FC236}">
                <a16:creationId xmlns:a16="http://schemas.microsoft.com/office/drawing/2014/main" id="{1C65F387-D52A-C2BF-3E0B-3363AC5B278C}"/>
              </a:ext>
            </a:extLst>
          </p:cNvPr>
          <p:cNvSpPr txBox="1"/>
          <p:nvPr/>
        </p:nvSpPr>
        <p:spPr>
          <a:xfrm>
            <a:off x="4857083" y="652276"/>
            <a:ext cx="7243048" cy="5982700"/>
          </a:xfrm>
          <a:prstGeom prst="rect">
            <a:avLst/>
          </a:prstGeom>
        </p:spPr>
        <p:txBody>
          <a:bodyPr vert="horz" lIns="45720" tIns="45720" rIns="45720" bIns="45720" rtlCol="0" anchor="ctr">
            <a:normAutofit fontScale="92500" lnSpcReduction="20000"/>
          </a:bodyPr>
          <a:lstStyle/>
          <a:p>
            <a:pPr>
              <a:lnSpc>
                <a:spcPct val="90000"/>
              </a:lnSpc>
              <a:spcAft>
                <a:spcPts val="600"/>
              </a:spcAft>
              <a:buClr>
                <a:schemeClr val="accent1"/>
              </a:buClr>
            </a:pPr>
            <a:r>
              <a:rPr lang="en-US" b="1" dirty="0"/>
              <a:t>Phase 1 – Completed Dec 2024</a:t>
            </a:r>
            <a:endParaRPr lang="en-US" dirty="0"/>
          </a:p>
          <a:p>
            <a:pPr>
              <a:lnSpc>
                <a:spcPct val="90000"/>
              </a:lnSpc>
              <a:spcAft>
                <a:spcPts val="600"/>
              </a:spcAft>
              <a:buClr>
                <a:schemeClr val="accent1"/>
              </a:buClr>
            </a:pPr>
            <a:r>
              <a:rPr lang="en-US" dirty="0"/>
              <a:t>Climate vulnerability assessment of national road networks in 6 countries.</a:t>
            </a:r>
          </a:p>
          <a:p>
            <a:pPr>
              <a:lnSpc>
                <a:spcPct val="90000"/>
              </a:lnSpc>
              <a:spcAft>
                <a:spcPts val="600"/>
              </a:spcAft>
              <a:buClr>
                <a:schemeClr val="accent1"/>
              </a:buClr>
            </a:pPr>
            <a:r>
              <a:rPr lang="en-US" dirty="0" err="1"/>
              <a:t>InfraTECH</a:t>
            </a:r>
            <a:r>
              <a:rPr lang="en-US" dirty="0"/>
              <a:t> options identified for climate-resilient roads.</a:t>
            </a:r>
          </a:p>
          <a:p>
            <a:pPr>
              <a:lnSpc>
                <a:spcPct val="90000"/>
              </a:lnSpc>
              <a:spcAft>
                <a:spcPts val="600"/>
              </a:spcAft>
              <a:buClr>
                <a:schemeClr val="accent1"/>
              </a:buClr>
            </a:pPr>
            <a:r>
              <a:rPr lang="en-US" dirty="0"/>
              <a:t>Sustainable road financing mechanisms developed.</a:t>
            </a:r>
          </a:p>
          <a:p>
            <a:pPr>
              <a:lnSpc>
                <a:spcPct val="90000"/>
              </a:lnSpc>
              <a:spcAft>
                <a:spcPts val="600"/>
              </a:spcAft>
              <a:buClr>
                <a:schemeClr val="accent1"/>
              </a:buClr>
            </a:pPr>
            <a:r>
              <a:rPr lang="en-US" b="1" dirty="0"/>
              <a:t>Phase 2 – Call for Proposals &amp; Pilots</a:t>
            </a:r>
            <a:endParaRPr lang="en-US" dirty="0"/>
          </a:p>
          <a:p>
            <a:pPr>
              <a:lnSpc>
                <a:spcPct val="90000"/>
              </a:lnSpc>
              <a:spcAft>
                <a:spcPts val="600"/>
              </a:spcAft>
              <a:buClr>
                <a:schemeClr val="accent1"/>
              </a:buClr>
            </a:pPr>
            <a:r>
              <a:rPr lang="en-US" dirty="0"/>
              <a:t>Launch Call for Proposals for </a:t>
            </a:r>
            <a:r>
              <a:rPr lang="en-US" dirty="0" err="1"/>
              <a:t>InfraTECH</a:t>
            </a:r>
            <a:r>
              <a:rPr lang="en-US" dirty="0"/>
              <a:t> solutions to mitigate climate damage to roads.</a:t>
            </a:r>
          </a:p>
          <a:p>
            <a:pPr>
              <a:lnSpc>
                <a:spcPct val="90000"/>
              </a:lnSpc>
              <a:spcAft>
                <a:spcPts val="600"/>
              </a:spcAft>
              <a:buClr>
                <a:schemeClr val="accent1"/>
              </a:buClr>
            </a:pPr>
            <a:r>
              <a:rPr lang="en-US" dirty="0"/>
              <a:t>Review proposals and select workable options for pilot implementation.</a:t>
            </a:r>
          </a:p>
          <a:p>
            <a:pPr>
              <a:lnSpc>
                <a:spcPct val="90000"/>
              </a:lnSpc>
              <a:spcAft>
                <a:spcPts val="600"/>
              </a:spcAft>
              <a:buClr>
                <a:schemeClr val="accent1"/>
              </a:buClr>
            </a:pPr>
            <a:r>
              <a:rPr lang="en-US" dirty="0"/>
              <a:t>Develop proof-of-concept framework and assess sustainable financing models for road maintenance using </a:t>
            </a:r>
            <a:r>
              <a:rPr lang="en-US" dirty="0" err="1"/>
              <a:t>InfraTECH</a:t>
            </a:r>
            <a:r>
              <a:rPr lang="en-US" dirty="0"/>
              <a:t>.</a:t>
            </a:r>
          </a:p>
          <a:p>
            <a:pPr>
              <a:lnSpc>
                <a:spcPct val="90000"/>
              </a:lnSpc>
              <a:spcAft>
                <a:spcPts val="600"/>
              </a:spcAft>
              <a:buClr>
                <a:schemeClr val="accent1"/>
              </a:buClr>
            </a:pPr>
            <a:r>
              <a:rPr lang="en-US" b="1" dirty="0"/>
              <a:t>Flagship Phase 2 Partnerships &amp; Studies</a:t>
            </a:r>
            <a:endParaRPr lang="en-US" dirty="0"/>
          </a:p>
          <a:p>
            <a:pPr>
              <a:lnSpc>
                <a:spcPct val="90000"/>
              </a:lnSpc>
              <a:spcAft>
                <a:spcPts val="600"/>
              </a:spcAft>
              <a:buClr>
                <a:schemeClr val="accent1"/>
              </a:buClr>
            </a:pPr>
            <a:r>
              <a:rPr lang="en-US" b="1" dirty="0"/>
              <a:t>Japan Consortium (Shimizu–Kao–Nippon Road):</a:t>
            </a:r>
            <a:r>
              <a:rPr lang="en-US" dirty="0"/>
              <a:t> PET asphalt concrete using recycled PET bottles (circular economy).</a:t>
            </a:r>
          </a:p>
          <a:p>
            <a:pPr>
              <a:lnSpc>
                <a:spcPct val="90000"/>
              </a:lnSpc>
              <a:spcAft>
                <a:spcPts val="600"/>
              </a:spcAft>
              <a:buClr>
                <a:schemeClr val="accent1"/>
              </a:buClr>
            </a:pPr>
            <a:r>
              <a:rPr lang="en-US" b="1" dirty="0" err="1"/>
              <a:t>Aerosense</a:t>
            </a:r>
            <a:r>
              <a:rPr lang="en-US" b="1" dirty="0"/>
              <a:t> (Japan):</a:t>
            </a:r>
            <a:r>
              <a:rPr lang="en-US" dirty="0"/>
              <a:t> Drone and AI-based surveying, monitoring and analytics for road condition assessment.</a:t>
            </a:r>
          </a:p>
          <a:p>
            <a:pPr>
              <a:lnSpc>
                <a:spcPct val="90000"/>
              </a:lnSpc>
              <a:spcAft>
                <a:spcPts val="600"/>
              </a:spcAft>
              <a:buClr>
                <a:schemeClr val="accent1"/>
              </a:buClr>
            </a:pPr>
            <a:r>
              <a:rPr lang="en-US" b="1" dirty="0"/>
              <a:t>JGC Corporation:</a:t>
            </a:r>
            <a:r>
              <a:rPr lang="en-US" dirty="0"/>
              <a:t> Feasibility studies for Sustainable Aviation Fuel (SAF) in African markets.</a:t>
            </a:r>
          </a:p>
          <a:p>
            <a:pPr>
              <a:lnSpc>
                <a:spcPct val="90000"/>
              </a:lnSpc>
              <a:spcAft>
                <a:spcPts val="600"/>
              </a:spcAft>
              <a:buClr>
                <a:schemeClr val="accent1"/>
              </a:buClr>
            </a:pPr>
            <a:r>
              <a:rPr lang="en-US" b="1" dirty="0"/>
              <a:t>DB Engineering &amp; Consulting (Germany):</a:t>
            </a:r>
            <a:r>
              <a:rPr lang="en-US" dirty="0"/>
              <a:t> Rail and multimodal transport cooperation.</a:t>
            </a:r>
          </a:p>
          <a:p>
            <a:pPr>
              <a:lnSpc>
                <a:spcPct val="90000"/>
              </a:lnSpc>
              <a:spcAft>
                <a:spcPts val="600"/>
              </a:spcAft>
              <a:buClr>
                <a:schemeClr val="accent1"/>
              </a:buClr>
            </a:pPr>
            <a:r>
              <a:rPr lang="en-US" b="1" dirty="0"/>
              <a:t>ACEF / KOAFEC (Korea):</a:t>
            </a:r>
            <a:r>
              <a:rPr lang="en-US" dirty="0"/>
              <a:t> Strategic assessment of waste plastics/</a:t>
            </a:r>
            <a:r>
              <a:rPr lang="en-US" dirty="0" err="1"/>
              <a:t>tyres</a:t>
            </a:r>
            <a:r>
              <a:rPr lang="en-US" dirty="0"/>
              <a:t> and GTR low-noise asphalt PFS in up to 6 countries (5–10% LCC savings).</a:t>
            </a:r>
          </a:p>
          <a:p>
            <a:pPr>
              <a:lnSpc>
                <a:spcPct val="90000"/>
              </a:lnSpc>
              <a:spcAft>
                <a:spcPts val="600"/>
              </a:spcAft>
              <a:buClr>
                <a:schemeClr val="accent1"/>
              </a:buClr>
            </a:pPr>
            <a:r>
              <a:rPr lang="en-US" b="1" dirty="0"/>
              <a:t>KSP – Liberia:</a:t>
            </a:r>
            <a:r>
              <a:rPr lang="en-US" dirty="0"/>
              <a:t> Road asset protection through strengthened overload management (legal framework, WIM systems, data-driven enforcement, capacity building, Korean ITS expertise).</a:t>
            </a:r>
          </a:p>
          <a:p>
            <a:pPr>
              <a:lnSpc>
                <a:spcPct val="90000"/>
              </a:lnSpc>
              <a:spcAft>
                <a:spcPts val="600"/>
              </a:spcAft>
              <a:buClr>
                <a:schemeClr val="accent1"/>
              </a:buClr>
            </a:pPr>
            <a:endParaRPr lang="en-US" dirty="0"/>
          </a:p>
        </p:txBody>
      </p:sp>
      <p:sp>
        <p:nvSpPr>
          <p:cNvPr id="2" name="Slide Number Placeholder 1">
            <a:extLst>
              <a:ext uri="{FF2B5EF4-FFF2-40B4-BE49-F238E27FC236}">
                <a16:creationId xmlns:a16="http://schemas.microsoft.com/office/drawing/2014/main" id="{5736F1CE-6B96-7B1E-68DD-9C32B5E6E71A}"/>
              </a:ext>
            </a:extLst>
          </p:cNvPr>
          <p:cNvSpPr>
            <a:spLocks noGrp="1"/>
          </p:cNvSpPr>
          <p:nvPr>
            <p:ph type="sldNum" sz="quarter" idx="4294967295"/>
          </p:nvPr>
        </p:nvSpPr>
        <p:spPr>
          <a:xfrm>
            <a:off x="10837333" y="6470704"/>
            <a:ext cx="973667" cy="274320"/>
          </a:xfrm>
        </p:spPr>
        <p:txBody>
          <a:bodyPr vert="horz" lIns="91440" tIns="45720" rIns="91440" bIns="45720" rtlCol="0" anchor="ctr">
            <a:normAutofit/>
          </a:bodyPr>
          <a:lstStyle/>
          <a:p>
            <a:pPr defTabSz="457200">
              <a:spcAft>
                <a:spcPts val="600"/>
              </a:spcAft>
            </a:pPr>
            <a:fld id="{6B5ECC12-AE2A-7F48-B84B-C0ED28A288DF}" type="slidenum">
              <a:rPr lang="en-US" kern="1200" dirty="0">
                <a:solidFill>
                  <a:schemeClr val="tx1">
                    <a:lumMod val="95000"/>
                    <a:lumOff val="5000"/>
                  </a:schemeClr>
                </a:solidFill>
                <a:latin typeface="+mj-lt"/>
                <a:ea typeface="+mn-ea"/>
                <a:cs typeface="+mn-cs"/>
              </a:rPr>
              <a:pPr defTabSz="457200">
                <a:spcAft>
                  <a:spcPts val="600"/>
                </a:spcAft>
              </a:pPr>
              <a:t>17</a:t>
            </a:fld>
            <a:endParaRPr lang="en-US" kern="1200" dirty="0">
              <a:solidFill>
                <a:schemeClr val="tx1">
                  <a:lumMod val="95000"/>
                  <a:lumOff val="5000"/>
                </a:schemeClr>
              </a:solidFill>
              <a:latin typeface="+mj-lt"/>
              <a:ea typeface="+mn-ea"/>
              <a:cs typeface="+mn-cs"/>
            </a:endParaRPr>
          </a:p>
        </p:txBody>
      </p:sp>
      <p:sp>
        <p:nvSpPr>
          <p:cNvPr id="5" name="Title 1">
            <a:extLst>
              <a:ext uri="{FF2B5EF4-FFF2-40B4-BE49-F238E27FC236}">
                <a16:creationId xmlns:a16="http://schemas.microsoft.com/office/drawing/2014/main" id="{CDF1453F-7B6B-C614-89CD-D7BC7D7ABB7F}"/>
              </a:ext>
            </a:extLst>
          </p:cNvPr>
          <p:cNvSpPr txBox="1">
            <a:spLocks/>
          </p:cNvSpPr>
          <p:nvPr/>
        </p:nvSpPr>
        <p:spPr>
          <a:xfrm>
            <a:off x="494249" y="65412"/>
            <a:ext cx="10677236" cy="586863"/>
          </a:xfrm>
          <a:prstGeom prst="rect">
            <a:avLst/>
          </a:prstGeom>
        </p:spPr>
        <p:txBody>
          <a:bodyPr spcFirstLastPara="1" vert="horz" lIns="121920" tIns="60960" rIns="121920" bIns="60960" rtlCol="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spcBef>
                <a:spcPct val="0"/>
              </a:spcBef>
              <a:spcAft>
                <a:spcPts val="800"/>
              </a:spcAft>
            </a:pPr>
            <a:endParaRPr lang="en-US" sz="3000" dirty="0"/>
          </a:p>
        </p:txBody>
      </p:sp>
      <p:sp>
        <p:nvSpPr>
          <p:cNvPr id="8" name="TextBox 7">
            <a:extLst>
              <a:ext uri="{FF2B5EF4-FFF2-40B4-BE49-F238E27FC236}">
                <a16:creationId xmlns:a16="http://schemas.microsoft.com/office/drawing/2014/main" id="{8940DE45-FCCE-9663-FAF7-9FAEE1E9D005}"/>
              </a:ext>
            </a:extLst>
          </p:cNvPr>
          <p:cNvSpPr txBox="1"/>
          <p:nvPr/>
        </p:nvSpPr>
        <p:spPr>
          <a:xfrm rot="16200000">
            <a:off x="72718" y="66842"/>
            <a:ext cx="402177" cy="461665"/>
          </a:xfrm>
          <a:prstGeom prst="rect">
            <a:avLst/>
          </a:prstGeom>
          <a:solidFill>
            <a:schemeClr val="accent6"/>
          </a:solidFill>
        </p:spPr>
        <p:txBody>
          <a:bodyPr wrap="square" rtlCol="0">
            <a:spAutoFit/>
          </a:bodyPr>
          <a:lstStyle/>
          <a:p>
            <a:endParaRPr lang="en-FR" sz="2400" dirty="0"/>
          </a:p>
        </p:txBody>
      </p:sp>
      <p:pic>
        <p:nvPicPr>
          <p:cNvPr id="4" name="Picture 3">
            <a:extLst>
              <a:ext uri="{FF2B5EF4-FFF2-40B4-BE49-F238E27FC236}">
                <a16:creationId xmlns:a16="http://schemas.microsoft.com/office/drawing/2014/main" id="{74D06A9F-6975-219A-1AE1-E1AF09F1BA7C}"/>
              </a:ext>
            </a:extLst>
          </p:cNvPr>
          <p:cNvPicPr>
            <a:picLocks noChangeAspect="1"/>
          </p:cNvPicPr>
          <p:nvPr/>
        </p:nvPicPr>
        <p:blipFill>
          <a:blip r:embed="rId3"/>
          <a:stretch>
            <a:fillRect/>
          </a:stretch>
        </p:blipFill>
        <p:spPr>
          <a:xfrm>
            <a:off x="10413971" y="65412"/>
            <a:ext cx="1686160" cy="781159"/>
          </a:xfrm>
          <a:prstGeom prst="rect">
            <a:avLst/>
          </a:prstGeom>
        </p:spPr>
      </p:pic>
    </p:spTree>
    <p:extLst>
      <p:ext uri="{BB962C8B-B14F-4D97-AF65-F5344CB8AC3E}">
        <p14:creationId xmlns:p14="http://schemas.microsoft.com/office/powerpoint/2010/main" val="4109783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5F1CC53-719A-4763-BF30-5E25A63CEF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36964341-205C-CFF0-D639-D454FFAD631C}"/>
              </a:ext>
            </a:extLst>
          </p:cNvPr>
          <p:cNvSpPr>
            <a:spLocks noGrp="1"/>
          </p:cNvSpPr>
          <p:nvPr>
            <p:ph type="title"/>
          </p:nvPr>
        </p:nvSpPr>
        <p:spPr>
          <a:xfrm>
            <a:off x="1024128" y="585216"/>
            <a:ext cx="6066818" cy="1499616"/>
          </a:xfrm>
        </p:spPr>
        <p:txBody>
          <a:bodyPr vert="horz" lIns="91440" tIns="45720" rIns="91440" bIns="45720" rtlCol="0" anchor="ctr">
            <a:normAutofit/>
          </a:bodyPr>
          <a:lstStyle/>
          <a:p>
            <a:r>
              <a:rPr lang="en-US" sz="2800" b="1" dirty="0">
                <a:cs typeface="Tahoma" panose="020B0604030504040204" pitchFamily="34" charset="0"/>
              </a:rPr>
              <a:t>Conclusion</a:t>
            </a:r>
          </a:p>
        </p:txBody>
      </p:sp>
      <p:sp>
        <p:nvSpPr>
          <p:cNvPr id="6" name="Content Placeholder 5">
            <a:extLst>
              <a:ext uri="{FF2B5EF4-FFF2-40B4-BE49-F238E27FC236}">
                <a16:creationId xmlns:a16="http://schemas.microsoft.com/office/drawing/2014/main" id="{B53FD45A-22D7-A14F-4C05-C6FF241ECCD4}"/>
              </a:ext>
            </a:extLst>
          </p:cNvPr>
          <p:cNvSpPr>
            <a:spLocks noGrp="1"/>
          </p:cNvSpPr>
          <p:nvPr>
            <p:ph idx="1"/>
          </p:nvPr>
        </p:nvSpPr>
        <p:spPr>
          <a:xfrm>
            <a:off x="289932" y="1527717"/>
            <a:ext cx="7382101" cy="5217307"/>
          </a:xfrm>
        </p:spPr>
        <p:txBody>
          <a:bodyPr vert="horz" lIns="45720" tIns="45720" rIns="45720" bIns="45720" rtlCol="0">
            <a:noAutofit/>
          </a:bodyPr>
          <a:lstStyle/>
          <a:p>
            <a:r>
              <a:rPr lang="en-US" sz="1600" b="1" dirty="0">
                <a:latin typeface="+mn-lt"/>
                <a:ea typeface="+mn-ea"/>
                <a:cs typeface="+mn-cs"/>
              </a:rPr>
              <a:t>Smarter use of every maintenance dollar</a:t>
            </a:r>
            <a:br>
              <a:rPr lang="en-US" sz="1600" dirty="0">
                <a:latin typeface="+mn-lt"/>
                <a:ea typeface="+mn-ea"/>
                <a:cs typeface="+mn-cs"/>
              </a:rPr>
            </a:br>
            <a:r>
              <a:rPr lang="en-US" sz="1600" dirty="0">
                <a:latin typeface="+mn-lt"/>
                <a:ea typeface="+mn-ea"/>
                <a:cs typeface="+mn-cs"/>
              </a:rPr>
              <a:t>SRMPA targets resources where they protect the most people, assets and economic activity, while opening space for private sector participation.</a:t>
            </a:r>
          </a:p>
          <a:p>
            <a:r>
              <a:rPr lang="en-US" sz="1600" b="1" dirty="0">
                <a:latin typeface="+mn-lt"/>
                <a:ea typeface="+mn-ea"/>
                <a:cs typeface="+mn-cs"/>
              </a:rPr>
              <a:t>Climate risk at the core</a:t>
            </a:r>
            <a:br>
              <a:rPr lang="en-US" sz="1600" dirty="0">
                <a:latin typeface="+mn-lt"/>
                <a:ea typeface="+mn-ea"/>
                <a:cs typeface="+mn-cs"/>
              </a:rPr>
            </a:br>
            <a:r>
              <a:rPr lang="en-US" sz="1600" dirty="0">
                <a:latin typeface="+mn-lt"/>
                <a:ea typeface="+mn-ea"/>
                <a:cs typeface="+mn-cs"/>
              </a:rPr>
              <a:t>CRVA is the analytical backbone, mapping hazard, exposure and vulnerability on primary roads and bridges to guide priorities.</a:t>
            </a:r>
          </a:p>
          <a:p>
            <a:r>
              <a:rPr lang="en-US" sz="1600" b="1" dirty="0">
                <a:latin typeface="+mn-lt"/>
                <a:ea typeface="+mn-ea"/>
                <a:cs typeface="+mn-cs"/>
              </a:rPr>
              <a:t>Financing as the enabler</a:t>
            </a:r>
            <a:br>
              <a:rPr lang="en-US" sz="1600" dirty="0">
                <a:latin typeface="+mn-lt"/>
                <a:ea typeface="+mn-ea"/>
                <a:cs typeface="+mn-cs"/>
              </a:rPr>
            </a:br>
            <a:r>
              <a:rPr lang="en-US" sz="1600" dirty="0">
                <a:latin typeface="+mn-lt"/>
                <a:ea typeface="+mn-ea"/>
                <a:cs typeface="+mn-cs"/>
              </a:rPr>
              <a:t>Predictable, ring-fenced maintenance funding is essential to crowd in private capital and sustain </a:t>
            </a:r>
            <a:r>
              <a:rPr lang="en-US" sz="1600" dirty="0" err="1">
                <a:latin typeface="+mn-lt"/>
                <a:ea typeface="+mn-ea"/>
                <a:cs typeface="+mn-cs"/>
              </a:rPr>
              <a:t>InfraTech</a:t>
            </a:r>
            <a:r>
              <a:rPr lang="en-US" sz="1600" dirty="0">
                <a:latin typeface="+mn-lt"/>
                <a:ea typeface="+mn-ea"/>
                <a:cs typeface="+mn-cs"/>
              </a:rPr>
              <a:t> investments.</a:t>
            </a:r>
          </a:p>
          <a:p>
            <a:r>
              <a:rPr lang="en-US" sz="1600" b="1" dirty="0">
                <a:latin typeface="+mn-lt"/>
                <a:ea typeface="+mn-ea"/>
                <a:cs typeface="+mn-cs"/>
              </a:rPr>
              <a:t>Value for ARMFA members</a:t>
            </a:r>
            <a:endParaRPr lang="en-US" sz="1600" dirty="0">
              <a:latin typeface="+mn-lt"/>
              <a:ea typeface="+mn-ea"/>
              <a:cs typeface="+mn-cs"/>
            </a:endParaRPr>
          </a:p>
          <a:p>
            <a:pPr lvl="1"/>
            <a:r>
              <a:rPr lang="en-US" sz="1600" dirty="0">
                <a:latin typeface="+mn-lt"/>
                <a:ea typeface="+mn-ea"/>
                <a:cs typeface="+mn-cs"/>
              </a:rPr>
              <a:t>Identify and </a:t>
            </a:r>
            <a:r>
              <a:rPr lang="en-US" sz="1600" dirty="0" err="1">
                <a:latin typeface="+mn-lt"/>
                <a:ea typeface="+mn-ea"/>
                <a:cs typeface="+mn-cs"/>
              </a:rPr>
              <a:t>prioritise</a:t>
            </a:r>
            <a:r>
              <a:rPr lang="en-US" sz="1600" dirty="0">
                <a:latin typeface="+mn-lt"/>
                <a:ea typeface="+mn-ea"/>
                <a:cs typeface="+mn-cs"/>
              </a:rPr>
              <a:t> pilot corridors and assets.</a:t>
            </a:r>
          </a:p>
          <a:p>
            <a:pPr lvl="1"/>
            <a:r>
              <a:rPr lang="en-US" sz="1600" dirty="0">
                <a:latin typeface="+mn-lt"/>
                <a:ea typeface="+mn-ea"/>
                <a:cs typeface="+mn-cs"/>
              </a:rPr>
              <a:t>Co-design pilots aligned with existing mandates and funding tools.</a:t>
            </a:r>
          </a:p>
          <a:p>
            <a:pPr lvl="1"/>
            <a:r>
              <a:rPr lang="en-US" sz="1600" dirty="0">
                <a:latin typeface="+mn-lt"/>
                <a:ea typeface="+mn-ea"/>
                <a:cs typeface="+mn-cs"/>
              </a:rPr>
              <a:t>Better link road-fund financing with </a:t>
            </a:r>
            <a:r>
              <a:rPr lang="en-US" sz="1600" dirty="0" err="1">
                <a:latin typeface="+mn-lt"/>
                <a:ea typeface="+mn-ea"/>
                <a:cs typeface="+mn-cs"/>
              </a:rPr>
              <a:t>InfraTech</a:t>
            </a:r>
            <a:r>
              <a:rPr lang="en-US" sz="1600" dirty="0">
                <a:latin typeface="+mn-lt"/>
                <a:ea typeface="+mn-ea"/>
                <a:cs typeface="+mn-cs"/>
              </a:rPr>
              <a:t> deployment, leveraging AfDB partnerships.</a:t>
            </a:r>
          </a:p>
          <a:p>
            <a:r>
              <a:rPr lang="en-US" sz="1600" b="1" dirty="0">
                <a:latin typeface="+mn-lt"/>
                <a:ea typeface="+mn-ea"/>
                <a:cs typeface="+mn-cs"/>
              </a:rPr>
              <a:t>Scaling climate-smart maintenance</a:t>
            </a:r>
            <a:br>
              <a:rPr lang="en-US" sz="1600" dirty="0">
                <a:latin typeface="+mn-lt"/>
                <a:ea typeface="+mn-ea"/>
                <a:cs typeface="+mn-cs"/>
              </a:rPr>
            </a:br>
            <a:r>
              <a:rPr lang="en-US" sz="1600" dirty="0">
                <a:latin typeface="+mn-lt"/>
                <a:ea typeface="+mn-ea"/>
                <a:cs typeface="+mn-cs"/>
              </a:rPr>
              <a:t>SRMPA offers an integrated </a:t>
            </a:r>
            <a:r>
              <a:rPr lang="en-US" sz="1600" dirty="0" err="1">
                <a:latin typeface="+mn-lt"/>
                <a:ea typeface="+mn-ea"/>
                <a:cs typeface="+mn-cs"/>
              </a:rPr>
              <a:t>framework,climate</a:t>
            </a:r>
            <a:r>
              <a:rPr lang="en-US" sz="1600" dirty="0">
                <a:latin typeface="+mn-lt"/>
                <a:ea typeface="+mn-ea"/>
                <a:cs typeface="+mn-cs"/>
              </a:rPr>
              <a:t> analytics, </a:t>
            </a:r>
            <a:r>
              <a:rPr lang="en-US" sz="1600" dirty="0" err="1">
                <a:latin typeface="+mn-lt"/>
                <a:ea typeface="+mn-ea"/>
                <a:cs typeface="+mn-cs"/>
              </a:rPr>
              <a:t>InfraTech</a:t>
            </a:r>
            <a:r>
              <a:rPr lang="en-US" sz="1600" dirty="0">
                <a:latin typeface="+mn-lt"/>
                <a:ea typeface="+mn-ea"/>
                <a:cs typeface="+mn-cs"/>
              </a:rPr>
              <a:t> and innovative financing which are fully aligned with the AGM theme and reliant on close collaboration to scale beyond the initial six pilots.</a:t>
            </a:r>
          </a:p>
          <a:p>
            <a:endParaRPr lang="en-US" sz="1600" dirty="0">
              <a:latin typeface="+mn-lt"/>
              <a:ea typeface="+mn-ea"/>
              <a:cs typeface="+mn-cs"/>
            </a:endParaRPr>
          </a:p>
        </p:txBody>
      </p:sp>
      <p:pic>
        <p:nvPicPr>
          <p:cNvPr id="8" name="Picture 7" descr="Aerial view of a highway interchange">
            <a:extLst>
              <a:ext uri="{FF2B5EF4-FFF2-40B4-BE49-F238E27FC236}">
                <a16:creationId xmlns:a16="http://schemas.microsoft.com/office/drawing/2014/main" id="{5EFB5A5D-EA88-A857-CD38-93A065B28788}"/>
              </a:ext>
            </a:extLst>
          </p:cNvPr>
          <p:cNvPicPr>
            <a:picLocks noChangeAspect="1"/>
          </p:cNvPicPr>
          <p:nvPr/>
        </p:nvPicPr>
        <p:blipFill>
          <a:blip r:embed="rId2"/>
          <a:srcRect l="19774" r="23734"/>
          <a:stretch>
            <a:fillRect/>
          </a:stretch>
        </p:blipFill>
        <p:spPr>
          <a:xfrm>
            <a:off x="7552266" y="10"/>
            <a:ext cx="4639733" cy="6857990"/>
          </a:xfrm>
          <a:prstGeom prst="rect">
            <a:avLst/>
          </a:prstGeom>
        </p:spPr>
      </p:pic>
      <p:sp>
        <p:nvSpPr>
          <p:cNvPr id="4" name="Slide Number Placeholder 3">
            <a:extLst>
              <a:ext uri="{FF2B5EF4-FFF2-40B4-BE49-F238E27FC236}">
                <a16:creationId xmlns:a16="http://schemas.microsoft.com/office/drawing/2014/main" id="{34C851D8-38CD-FA14-FB23-46B14D1CA795}"/>
              </a:ext>
            </a:extLst>
          </p:cNvPr>
          <p:cNvSpPr>
            <a:spLocks noGrp="1"/>
          </p:cNvSpPr>
          <p:nvPr>
            <p:ph type="sldNum" sz="quarter" idx="4294967295"/>
          </p:nvPr>
        </p:nvSpPr>
        <p:spPr>
          <a:xfrm>
            <a:off x="10837333" y="6470704"/>
            <a:ext cx="973667" cy="274320"/>
          </a:xfrm>
        </p:spPr>
        <p:txBody>
          <a:bodyPr vert="horz" lIns="91440" tIns="45720" rIns="91440" bIns="45720" rtlCol="0" anchor="ctr">
            <a:normAutofit/>
          </a:bodyPr>
          <a:lstStyle/>
          <a:p>
            <a:pPr>
              <a:spcAft>
                <a:spcPts val="600"/>
              </a:spcAft>
            </a:pPr>
            <a:fld id="{6B5ECC12-AE2A-7F48-B84B-C0ED28A288DF}" type="slidenum">
              <a:rPr lang="en-US">
                <a:solidFill>
                  <a:srgbClr val="FFFFFF"/>
                </a:solidFill>
              </a:rPr>
              <a:pPr>
                <a:spcAft>
                  <a:spcPts val="600"/>
                </a:spcAft>
              </a:pPr>
              <a:t>18</a:t>
            </a:fld>
            <a:endParaRPr lang="en-US">
              <a:solidFill>
                <a:srgbClr val="FFFFFF"/>
              </a:solidFill>
            </a:endParaRPr>
          </a:p>
        </p:txBody>
      </p:sp>
      <p:pic>
        <p:nvPicPr>
          <p:cNvPr id="13" name="Picture 12">
            <a:extLst>
              <a:ext uri="{FF2B5EF4-FFF2-40B4-BE49-F238E27FC236}">
                <a16:creationId xmlns:a16="http://schemas.microsoft.com/office/drawing/2014/main" id="{276E97B0-5E3B-84CC-2CC7-73DD091E20DB}"/>
              </a:ext>
            </a:extLst>
          </p:cNvPr>
          <p:cNvPicPr>
            <a:picLocks noChangeAspect="1"/>
          </p:cNvPicPr>
          <p:nvPr/>
        </p:nvPicPr>
        <p:blipFill>
          <a:blip r:embed="rId3"/>
          <a:stretch>
            <a:fillRect/>
          </a:stretch>
        </p:blipFill>
        <p:spPr>
          <a:xfrm>
            <a:off x="10505839" y="0"/>
            <a:ext cx="1686160" cy="781159"/>
          </a:xfrm>
          <a:prstGeom prst="rect">
            <a:avLst/>
          </a:prstGeom>
        </p:spPr>
      </p:pic>
    </p:spTree>
    <p:extLst>
      <p:ext uri="{BB962C8B-B14F-4D97-AF65-F5344CB8AC3E}">
        <p14:creationId xmlns:p14="http://schemas.microsoft.com/office/powerpoint/2010/main" val="2218162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7A5F563-CF98-7CEF-634D-52F89BA80660}"/>
              </a:ext>
            </a:extLst>
          </p:cNvPr>
          <p:cNvSpPr/>
          <p:nvPr/>
        </p:nvSpPr>
        <p:spPr>
          <a:xfrm>
            <a:off x="0" y="-1"/>
            <a:ext cx="12192000" cy="6059838"/>
          </a:xfrm>
          <a:prstGeom prst="rect">
            <a:avLst/>
          </a:prstGeom>
          <a:solidFill>
            <a:srgbClr val="1597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1" dirty="0">
              <a:solidFill>
                <a:srgbClr val="083C54"/>
              </a:solidFill>
            </a:endParaRPr>
          </a:p>
        </p:txBody>
      </p:sp>
      <p:sp>
        <p:nvSpPr>
          <p:cNvPr id="8" name="TextBox 146"/>
          <p:cNvSpPr txBox="1"/>
          <p:nvPr/>
        </p:nvSpPr>
        <p:spPr>
          <a:xfrm>
            <a:off x="2280900" y="3502152"/>
            <a:ext cx="7630207" cy="2325118"/>
          </a:xfrm>
          <a:prstGeom prst="rect">
            <a:avLst/>
          </a:prstGeom>
          <a:noFill/>
        </p:spPr>
        <p:txBody>
          <a:bodyPr wrap="square" tIns="90000" bIns="90000" rtlCol="0" anchor="t" anchorCtr="0">
            <a:noAutofit/>
          </a:bodyPr>
          <a:lstStyle/>
          <a:p>
            <a:pPr marL="113378" lvl="1" algn="ctr">
              <a:lnSpc>
                <a:spcPts val="1600"/>
              </a:lnSpc>
              <a:spcAft>
                <a:spcPts val="601"/>
              </a:spcAft>
              <a:buClr>
                <a:srgbClr val="14841B"/>
              </a:buClr>
              <a:buSzPct val="100000"/>
            </a:pPr>
            <a:endParaRPr lang="en-US" sz="1500" dirty="0">
              <a:solidFill>
                <a:schemeClr val="bg1"/>
              </a:solidFill>
              <a:latin typeface="Arial Black" panose="020B0A04020102020204" pitchFamily="34" charset="0"/>
              <a:ea typeface="Arial" charset="0"/>
              <a:cs typeface="Arial" charset="0"/>
            </a:endParaRPr>
          </a:p>
          <a:p>
            <a:pPr marL="113378" lvl="1" algn="ctr">
              <a:lnSpc>
                <a:spcPts val="1600"/>
              </a:lnSpc>
              <a:spcAft>
                <a:spcPts val="601"/>
              </a:spcAft>
              <a:buClr>
                <a:srgbClr val="14841B"/>
              </a:buClr>
              <a:buSzPct val="100000"/>
            </a:pPr>
            <a:endParaRPr lang="en-US" sz="1500" dirty="0">
              <a:solidFill>
                <a:schemeClr val="bg1"/>
              </a:solidFill>
              <a:latin typeface="Arial Black" panose="020B0A04020102020204" pitchFamily="34" charset="0"/>
              <a:ea typeface="Arial" charset="0"/>
              <a:cs typeface="Arial" charset="0"/>
            </a:endParaRPr>
          </a:p>
          <a:p>
            <a:pPr marL="113378" lvl="1" algn="ctr">
              <a:lnSpc>
                <a:spcPts val="1600"/>
              </a:lnSpc>
              <a:spcAft>
                <a:spcPts val="601"/>
              </a:spcAft>
              <a:buClr>
                <a:srgbClr val="14841B"/>
              </a:buClr>
              <a:buSzPct val="100000"/>
            </a:pPr>
            <a:endParaRPr lang="en-US" sz="1500" dirty="0">
              <a:solidFill>
                <a:schemeClr val="bg1"/>
              </a:solidFill>
              <a:latin typeface="Arial Black" panose="020B0A04020102020204" pitchFamily="34" charset="0"/>
              <a:ea typeface="Arial" charset="0"/>
              <a:cs typeface="Arial" charset="0"/>
            </a:endParaRPr>
          </a:p>
          <a:p>
            <a:pPr marL="113378" lvl="1" algn="ctr">
              <a:lnSpc>
                <a:spcPts val="1600"/>
              </a:lnSpc>
              <a:spcAft>
                <a:spcPts val="601"/>
              </a:spcAft>
              <a:buClr>
                <a:srgbClr val="14841B"/>
              </a:buClr>
              <a:buSzPct val="100000"/>
            </a:pPr>
            <a:endParaRPr lang="en-US" sz="1500" dirty="0">
              <a:solidFill>
                <a:schemeClr val="bg1"/>
              </a:solidFill>
              <a:latin typeface="Arial Black" panose="020B0A04020102020204" pitchFamily="34" charset="0"/>
              <a:ea typeface="Arial" charset="0"/>
              <a:cs typeface="Arial" charset="0"/>
            </a:endParaRPr>
          </a:p>
          <a:p>
            <a:pPr marL="113378" lvl="1" algn="ctr">
              <a:lnSpc>
                <a:spcPts val="1600"/>
              </a:lnSpc>
              <a:spcAft>
                <a:spcPts val="601"/>
              </a:spcAft>
              <a:buClr>
                <a:srgbClr val="14841B"/>
              </a:buClr>
              <a:buSzPct val="100000"/>
            </a:pPr>
            <a:endParaRPr lang="en-US" sz="1500" dirty="0">
              <a:solidFill>
                <a:schemeClr val="bg1"/>
              </a:solidFill>
              <a:latin typeface="Arial Black" panose="020B0A04020102020204" pitchFamily="34" charset="0"/>
              <a:ea typeface="Arial" charset="0"/>
              <a:cs typeface="Arial" charset="0"/>
            </a:endParaRPr>
          </a:p>
        </p:txBody>
      </p:sp>
      <p:sp>
        <p:nvSpPr>
          <p:cNvPr id="6" name="TextBox 4">
            <a:extLst>
              <a:ext uri="{FF2B5EF4-FFF2-40B4-BE49-F238E27FC236}">
                <a16:creationId xmlns:a16="http://schemas.microsoft.com/office/drawing/2014/main" id="{592289B2-DABF-46E5-BEE7-56A79C27EE66}"/>
              </a:ext>
            </a:extLst>
          </p:cNvPr>
          <p:cNvSpPr txBox="1"/>
          <p:nvPr/>
        </p:nvSpPr>
        <p:spPr>
          <a:xfrm>
            <a:off x="2849525" y="1520889"/>
            <a:ext cx="6492950" cy="1200329"/>
          </a:xfrm>
          <a:prstGeom prst="rect">
            <a:avLst/>
          </a:prstGeom>
          <a:noFill/>
        </p:spPr>
        <p:txBody>
          <a:bodyPr wrap="square" rtlCol="0">
            <a:spAutoFit/>
          </a:bodyPr>
          <a:lstStyle/>
          <a:p>
            <a:pPr algn="ctr"/>
            <a:r>
              <a:rPr lang="en-US" sz="3600" b="1" dirty="0">
                <a:solidFill>
                  <a:schemeClr val="bg1"/>
                </a:solidFill>
                <a:latin typeface="Arial Black" panose="020B0A04020102020204" pitchFamily="34" charset="0"/>
                <a:ea typeface="Arial" charset="0"/>
                <a:cs typeface="Arial" charset="0"/>
              </a:rPr>
              <a:t>THANK YOU</a:t>
            </a:r>
          </a:p>
          <a:p>
            <a:pPr algn="ctr"/>
            <a:r>
              <a:rPr lang="en-US" sz="3600" b="1" dirty="0">
                <a:solidFill>
                  <a:schemeClr val="bg1"/>
                </a:solidFill>
                <a:latin typeface="Arial Black" panose="020B0A04020102020204" pitchFamily="34" charset="0"/>
                <a:ea typeface="Arial" charset="0"/>
                <a:cs typeface="Arial" charset="0"/>
              </a:rPr>
              <a:t>MERCI BEAUCOUP</a:t>
            </a:r>
            <a:endParaRPr lang="en-US" sz="3600" dirty="0">
              <a:solidFill>
                <a:schemeClr val="bg1"/>
              </a:solidFill>
              <a:latin typeface="Arial Black" panose="020B0A04020102020204" pitchFamily="34" charset="0"/>
              <a:ea typeface="Arial" charset="0"/>
              <a:cs typeface="Arial" charset="0"/>
            </a:endParaRPr>
          </a:p>
        </p:txBody>
      </p:sp>
    </p:spTree>
    <p:extLst>
      <p:ext uri="{BB962C8B-B14F-4D97-AF65-F5344CB8AC3E}">
        <p14:creationId xmlns:p14="http://schemas.microsoft.com/office/powerpoint/2010/main" val="107378176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TotalTime>
  <Words>3070</Words>
  <Application>Microsoft Office PowerPoint</Application>
  <PresentationFormat>Widescreen</PresentationFormat>
  <Paragraphs>268</Paragraphs>
  <Slides>19</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Aptos</vt:lpstr>
      <vt:lpstr>Aptos Black</vt:lpstr>
      <vt:lpstr>Aptos Display</vt:lpstr>
      <vt:lpstr>Arial</vt:lpstr>
      <vt:lpstr>Arial Black</vt:lpstr>
      <vt:lpstr>Calibri</vt:lpstr>
      <vt:lpstr>Tahoma</vt:lpstr>
      <vt:lpstr>Tw Cen MT</vt:lpstr>
      <vt:lpstr>Tw Cen MT Condensed</vt:lpstr>
      <vt:lpstr>Wingdings</vt:lpstr>
      <vt:lpstr>Wingdings 3</vt:lpstr>
      <vt:lpstr>Office Theme</vt:lpstr>
      <vt:lpstr>Integral</vt:lpstr>
      <vt:lpstr>       Infrastructure Development and Maintenance  “The Forefront of PPP and Maintenance Management for Sustainable Infrastructure Development”  18 November 2025  Infrastructure and Urban Development DEPARTMENT  African Development Bank  </vt:lpstr>
      <vt:lpstr>Topics</vt:lpstr>
      <vt:lpstr>the road sector in Africa</vt:lpstr>
      <vt:lpstr>Bank support to roads sector</vt:lpstr>
      <vt:lpstr>GENESIS of Sustainable Road Maintenance Program for Africa (SRMPA)</vt:lpstr>
      <vt:lpstr>Overview of Sustainable Road Maintenance Program for Africa (SRMPA)</vt:lpstr>
      <vt:lpstr>Country selection indicators</vt:lpstr>
      <vt:lpstr>Sustainable Road Maintenance Program for Africa (SRMPA)</vt:lpstr>
      <vt:lpstr>Climate risk and vulnerability assessment</vt:lpstr>
      <vt:lpstr>identification OF Infra tech options</vt:lpstr>
      <vt:lpstr>ROAD MAINTENANCE financing</vt:lpstr>
      <vt:lpstr>ROAD MAINTENANCE FUNDING</vt:lpstr>
      <vt:lpstr>PUBLIC-PRIVATE PARTNERSHIPS</vt:lpstr>
      <vt:lpstr>Key lessons from Ppp projects</vt:lpstr>
      <vt:lpstr>POTENTIAL FINANCING MECHANISMS FOR INFRA TECH</vt:lpstr>
      <vt:lpstr>POTENTIAL FINANCING MECHANISMS FOR INFRA TECH</vt:lpstr>
      <vt:lpstr>SRMPA PHASE 2 – CALL FOR PROPOSALS &amp; STRATEGIC PARTNERSHIPS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KIALAIN SARSIH, KAUSTELLA</dc:creator>
  <cp:lastModifiedBy>KIALAIN SARSIH, KAUSTELLA</cp:lastModifiedBy>
  <cp:revision>18</cp:revision>
  <dcterms:created xsi:type="dcterms:W3CDTF">2025-11-16T18:59:31Z</dcterms:created>
  <dcterms:modified xsi:type="dcterms:W3CDTF">2025-11-18T10:16:44Z</dcterms:modified>
</cp:coreProperties>
</file>